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691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1_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4864" cy="4754880"/>
          </a:xfrm>
          <a:prstGeom prst="rect">
            <a:avLst/>
          </a:prstGeom>
          <a:solidFill>
            <a:srgbClr val="2A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2A67B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0698480" cy="4937760"/>
          </a:xfrm>
          <a:prstGeom prst="roundRect">
            <a:avLst/>
          </a:prstGeom>
          <a:solidFill>
            <a:srgbClr val="E8F1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9966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400" b="1">
                <a:solidFill>
                  <a:srgbClr val="131F38"/>
                </a:solidFill>
                <a:latin typeface="Aptos"/>
              </a:defRPr>
            </a:pPr>
            <a:r>
              <a:t>KMP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14600"/>
            <a:ext cx="9692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2A67B4"/>
                </a:solidFill>
                <a:latin typeface="Aptos"/>
              </a:defRPr>
            </a:pPr>
            <a:r>
              <a:t>Knuth–Morris–Pratt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200400"/>
            <a:ext cx="9326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2D3644"/>
                </a:solidFill>
                <a:latin typeface="Aptos"/>
              </a:defRPr>
            </a:pPr>
            <a:r>
              <a:t>Fast String Matching through the LPS Array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16052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20240" y="4370832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PATTERN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4160520"/>
            <a:ext cx="2011680" cy="822960"/>
          </a:xfrm>
          <a:prstGeom prst="roundRect">
            <a:avLst/>
          </a:prstGeom>
          <a:solidFill>
            <a:srgbClr val="F0EB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59" y="4370832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LPS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4160520"/>
            <a:ext cx="2011680" cy="822960"/>
          </a:xfrm>
          <a:prstGeom prst="roundRect">
            <a:avLst/>
          </a:prstGeom>
          <a:solidFill>
            <a:srgbClr val="E6F7F6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4370832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55664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382"/>
                </a:solidFill>
                <a:latin typeface="Aptos"/>
              </a:defRPr>
            </a:pPr>
            <a:r>
              <a:t>DESIGN &amp; ANALYSIS OF ALGORITHMS  •  STRING MATCHING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7382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331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4864" cy="4754880"/>
          </a:xfrm>
          <a:prstGeom prst="rect">
            <a:avLst/>
          </a:prstGeom>
          <a:solidFill>
            <a:srgbClr val="2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20A7A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98755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31F38"/>
                </a:solidFill>
                <a:latin typeface="Aptos"/>
              </a:defRPr>
            </a:pPr>
            <a:r>
              <a:t>01  WHAT IS KMP?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932688"/>
            <a:ext cx="100584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82"/>
                </a:solidFill>
                <a:latin typeface="Aptos"/>
              </a:defRPr>
            </a:pPr>
            <a:r>
              <a:rPr sz="1600">
                <a:latin typeface="Times New Roman" pitchFamily="18" charset="0"/>
                <a:cs typeface="Times New Roman" pitchFamily="18" charset="0"/>
              </a:rPr>
              <a:t>A pattern matching algorithm that avoids unnecessary comparisons.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6400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64592" rtlCol="0" anchor="ctr"/>
          <a:lstStyle/>
          <a:p>
            <a:pPr algn="just">
              <a:spcAft>
                <a:spcPts val="1000"/>
              </a:spcAft>
              <a:defRPr sz="1700">
                <a:solidFill>
                  <a:srgbClr val="2D3644"/>
                </a:solidFill>
                <a:latin typeface="Aptos"/>
              </a:defRPr>
            </a:pPr>
            <a:r>
              <a:t>• Finds a pattern inside a text.</a:t>
            </a:r>
          </a:p>
          <a:p>
            <a:pPr algn="just">
              <a:spcAft>
                <a:spcPts val="1000"/>
              </a:spcAft>
              <a:defRPr sz="1700">
                <a:solidFill>
                  <a:srgbClr val="2D3644"/>
                </a:solidFill>
                <a:latin typeface="Aptos"/>
              </a:defRPr>
            </a:pPr>
            <a:r>
              <a:t>• Preprocesses the pattern using the LPS array.</a:t>
            </a:r>
          </a:p>
          <a:p>
            <a:pPr algn="just">
              <a:spcAft>
                <a:spcPts val="1000"/>
              </a:spcAft>
              <a:defRPr sz="1700">
                <a:solidFill>
                  <a:srgbClr val="2D3644"/>
                </a:solidFill>
                <a:latin typeface="Aptos"/>
              </a:defRPr>
            </a:pPr>
            <a:r>
              <a:t>• Uses previously matched information after a mismatch.</a:t>
            </a:r>
          </a:p>
          <a:p>
            <a:pPr algn="just">
              <a:spcAft>
                <a:spcPts val="1000"/>
              </a:spcAft>
              <a:defRPr sz="1700">
                <a:solidFill>
                  <a:srgbClr val="2D3644"/>
                </a:solidFill>
                <a:latin typeface="Aptos"/>
              </a:defRPr>
            </a:pPr>
            <a:r>
              <a:t>• The text index never moves backward.</a:t>
            </a:r>
          </a:p>
          <a:p>
            <a:pPr algn="just">
              <a:spcAft>
                <a:spcPts val="1000"/>
              </a:spcAft>
              <a:defRPr sz="1700">
                <a:solidFill>
                  <a:srgbClr val="2D3644"/>
                </a:solidFill>
                <a:latin typeface="Aptos"/>
              </a:defRPr>
            </a:pPr>
            <a:r>
              <a:t>• Matching runs in linear time after preprocessing.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508760"/>
            <a:ext cx="3657600" cy="3749039"/>
          </a:xfrm>
          <a:prstGeom prst="roundRect">
            <a:avLst/>
          </a:prstGeom>
          <a:solidFill>
            <a:srgbClr val="F0EB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366760" y="1828800"/>
            <a:ext cx="2011680" cy="347472"/>
          </a:xfrm>
          <a:prstGeom prst="roundRect">
            <a:avLst/>
          </a:prstGeom>
          <a:solidFill>
            <a:srgbClr val="E0D6F7"/>
          </a:solidFill>
          <a:ln>
            <a:solidFill>
              <a:srgbClr val="E0D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F4EB1"/>
                </a:solidFill>
              </a:defRPr>
            </a:pPr>
            <a:r>
              <a:t>CORE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423160"/>
            <a:ext cx="2926080" cy="2148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131F38"/>
                </a:solidFill>
                <a:latin typeface="Aptos"/>
              </a:defRPr>
            </a:pPr>
            <a:r>
              <a:t>MATCH</a:t>
            </a:r>
            <a:br/>
            <a:r>
              <a:t>↓</a:t>
            </a:r>
            <a:br/>
            <a:r>
              <a:t>MISMATCH</a:t>
            </a:r>
            <a:br/>
            <a:r>
              <a:t>↓</a:t>
            </a:r>
            <a:br/>
            <a:r>
              <a:t>USE LPS</a:t>
            </a:r>
            <a:br/>
            <a:r>
              <a:t>↓</a:t>
            </a:r>
            <a:br/>
            <a:r>
              <a:t>CONTINUE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55664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382"/>
                </a:solidFill>
                <a:latin typeface="Aptos"/>
              </a:defRPr>
            </a:pPr>
            <a:r>
              <a:t>DESIGN &amp; ANALYSIS OF ALGORITHMS  •  STRING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55664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7382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4864" cy="4754880"/>
          </a:xfrm>
          <a:prstGeom prst="rect">
            <a:avLst/>
          </a:prstGeom>
          <a:solidFill>
            <a:srgbClr val="2A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2A67B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98755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31F38"/>
                </a:solidFill>
                <a:latin typeface="Aptos"/>
              </a:defRPr>
            </a:pPr>
            <a:r>
              <a:t>02  WHY DO WE USE KMP?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932688"/>
            <a:ext cx="10058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82"/>
                </a:solidFill>
                <a:latin typeface="Aptos"/>
              </a:defRPr>
            </a:pPr>
            <a:r>
              <a:t>Compare KMP with the basic / naive approach.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3246120" cy="3429000"/>
          </a:xfrm>
          <a:prstGeom prst="roundRect">
            <a:avLst/>
          </a:prstGeom>
          <a:solidFill>
            <a:srgbClr val="FCEDF0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371600" y="1965960"/>
            <a:ext cx="20574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05867"/>
                </a:solidFill>
              </a:defRPr>
            </a:pPr>
            <a:r>
              <a:t>NAIVE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60604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2D3644"/>
                </a:solidFill>
                <a:latin typeface="Aptos"/>
              </a:defRPr>
            </a:pPr>
            <a:r>
              <a:t>On mismatch, comparisons may restart from the next text position.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600200"/>
            <a:ext cx="3246120" cy="3429000"/>
          </a:xfrm>
          <a:prstGeom prst="roundRect">
            <a:avLst/>
          </a:prstGeom>
          <a:solidFill>
            <a:srgbClr val="E6F7F6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74920" y="1965960"/>
            <a:ext cx="20574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0A7A5"/>
                </a:solidFill>
              </a:defRPr>
            </a:pPr>
            <a:r>
              <a:t>KMP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599" y="2743200"/>
            <a:ext cx="260604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2D3644"/>
                </a:solidFill>
                <a:latin typeface="Aptos"/>
              </a:defRPr>
            </a:pPr>
            <a:r>
              <a:t>Reuses the prefix/suffix information already computed.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600200"/>
            <a:ext cx="3246120" cy="3429000"/>
          </a:xfrm>
          <a:prstGeom prst="roundRect">
            <a:avLst/>
          </a:prstGeom>
          <a:solidFill>
            <a:srgbClr val="E8F1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778240" y="1965960"/>
            <a:ext cx="20574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A67B4"/>
                </a:solidFill>
              </a:defRPr>
            </a:pPr>
            <a:r>
              <a:t>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743200"/>
            <a:ext cx="260604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2D3644"/>
                </a:solidFill>
                <a:latin typeface="Aptos"/>
              </a:defRPr>
            </a:pPr>
            <a:r>
              <a:t>Fewer repeated comparisons and O(n + m) total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349240"/>
            <a:ext cx="6583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31F38"/>
                </a:solidFill>
                <a:latin typeface="Aptos"/>
              </a:defRPr>
            </a:pPr>
            <a:r>
              <a:t>n = text length     m = pattern length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55664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382"/>
                </a:solidFill>
                <a:latin typeface="Aptos"/>
              </a:defRPr>
            </a:pPr>
            <a:r>
              <a:t>DESIGN &amp; ANALYSIS OF ALGORITHMS  •  STRING MATCHING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7382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05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4864" cy="4754880"/>
          </a:xfrm>
          <a:prstGeom prst="rect">
            <a:avLst/>
          </a:prstGeom>
          <a:solidFill>
            <a:srgbClr val="E05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E0586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98755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31F38"/>
                </a:solidFill>
                <a:latin typeface="Aptos"/>
              </a:defRPr>
            </a:pPr>
            <a:r>
              <a:t>03  ADVANTAGES &amp; DISADVANTAGES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5454"/>
            <a:ext cx="5166360" cy="4200640"/>
          </a:xfrm>
          <a:prstGeom prst="roundRect">
            <a:avLst/>
          </a:prstGeom>
          <a:solidFill>
            <a:srgbClr val="E6F7F6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64592" rtlCol="0" anchor="ctr"/>
          <a:lstStyle/>
          <a:p>
            <a:pPr algn="just">
              <a:spcAft>
                <a:spcPts val="1000"/>
              </a:spcAft>
              <a:defRPr sz="1600">
                <a:solidFill>
                  <a:srgbClr val="2D3644"/>
                </a:solidFill>
                <a:latin typeface="Aptos"/>
              </a:defRPr>
            </a:pPr>
            <a:r>
              <a:t>• Worst-case time O(n + m)</a:t>
            </a:r>
          </a:p>
          <a:p>
            <a:pPr algn="just">
              <a:spcAft>
                <a:spcPts val="1000"/>
              </a:spcAft>
              <a:defRPr sz="1600">
                <a:solidFill>
                  <a:srgbClr val="2D3644"/>
                </a:solidFill>
                <a:latin typeface="Aptos"/>
              </a:defRPr>
            </a:pPr>
            <a:r>
              <a:t>• No backward movement of text pointer</a:t>
            </a:r>
          </a:p>
          <a:p>
            <a:pPr algn="just">
              <a:spcAft>
                <a:spcPts val="1000"/>
              </a:spcAft>
              <a:defRPr sz="1600">
                <a:solidFill>
                  <a:srgbClr val="2D3644"/>
                </a:solidFill>
                <a:latin typeface="Aptos"/>
              </a:defRPr>
            </a:pPr>
            <a:r>
              <a:t>• Very effective for repetitive patterns</a:t>
            </a:r>
          </a:p>
          <a:p>
            <a:pPr algn="just">
              <a:spcAft>
                <a:spcPts val="1000"/>
              </a:spcAft>
              <a:defRPr sz="1600">
                <a:solidFill>
                  <a:srgbClr val="2D3644"/>
                </a:solidFill>
                <a:latin typeface="Aptos"/>
              </a:defRPr>
            </a:pPr>
            <a:r>
              <a:t>• Predictable / deterministic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1344168"/>
            <a:ext cx="25603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B915B"/>
                </a:solidFill>
              </a:defRPr>
            </a:pPr>
            <a:r>
              <a:rPr sz="1600"/>
              <a:t>ADVANTAGES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2693"/>
            <a:ext cx="5166360" cy="4343400"/>
          </a:xfrm>
          <a:prstGeom prst="roundRect">
            <a:avLst/>
          </a:prstGeom>
          <a:solidFill>
            <a:srgbClr val="FCEDF0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64592" rtlCol="0" anchor="ctr"/>
          <a:lstStyle/>
          <a:p>
            <a:pPr algn="just">
              <a:spcAft>
                <a:spcPts val="1000"/>
              </a:spcAft>
              <a:defRPr sz="1600">
                <a:solidFill>
                  <a:srgbClr val="2D3644"/>
                </a:solidFill>
                <a:latin typeface="Aptos"/>
              </a:defRPr>
            </a:pPr>
            <a:r>
              <a:t>• Requires LPS preprocessing</a:t>
            </a:r>
          </a:p>
          <a:p>
            <a:pPr algn="just">
              <a:spcAft>
                <a:spcPts val="1000"/>
              </a:spcAft>
              <a:defRPr sz="1600">
                <a:solidFill>
                  <a:srgbClr val="2D3644"/>
                </a:solidFill>
                <a:latin typeface="Aptos"/>
              </a:defRPr>
            </a:pPr>
            <a:r>
              <a:t>• More complex than naive matching</a:t>
            </a:r>
          </a:p>
          <a:p>
            <a:pPr algn="just">
              <a:spcAft>
                <a:spcPts val="1000"/>
              </a:spcAft>
              <a:defRPr sz="1600">
                <a:solidFill>
                  <a:srgbClr val="2D3644"/>
                </a:solidFill>
                <a:latin typeface="Aptos"/>
              </a:defRPr>
            </a:pPr>
            <a:r>
              <a:t>• Needs O(m) extra memory</a:t>
            </a:r>
          </a:p>
          <a:p>
            <a:pPr algn="just">
              <a:spcAft>
                <a:spcPts val="1000"/>
              </a:spcAft>
              <a:defRPr sz="1600">
                <a:solidFill>
                  <a:srgbClr val="2D3644"/>
                </a:solidFill>
                <a:latin typeface="Aptos"/>
              </a:defRPr>
            </a:pPr>
            <a:r>
              <a:t>• LPS construction requires practice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170432"/>
            <a:ext cx="25603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05867"/>
                </a:solidFill>
              </a:defRPr>
            </a:pPr>
            <a:r>
              <a:rPr sz="1600">
                <a:solidFill>
                  <a:schemeClr val="tx1"/>
                </a:solidFill>
              </a:rPr>
              <a:t>DISADVANTAGES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6455664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382"/>
                </a:solidFill>
                <a:latin typeface="Aptos"/>
              </a:defRPr>
            </a:pPr>
            <a:r>
              <a:t>DESIGN &amp; ANALYSIS OF ALGORITHMS  •  STRING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55664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7382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E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4864" cy="4754880"/>
          </a:xfrm>
          <a:prstGeom prst="rect">
            <a:avLst/>
          </a:prstGeom>
          <a:solidFill>
            <a:srgbClr val="EE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EEB13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98755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31F38"/>
                </a:solidFill>
                <a:latin typeface="Aptos"/>
              </a:defRPr>
            </a:pPr>
            <a:r>
              <a:t>04  LPS ARRAY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932688"/>
            <a:ext cx="10058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82"/>
                </a:solidFill>
                <a:latin typeface="Aptos"/>
              </a:defRPr>
            </a:pPr>
            <a:r>
              <a:t>The heart of KMP.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10652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03520" y="1691640"/>
            <a:ext cx="1554480" cy="347472"/>
          </a:xfrm>
          <a:prstGeom prst="roundRect">
            <a:avLst/>
          </a:prstGeom>
          <a:solidFill>
            <a:srgbClr val="FDF6E1"/>
          </a:solidFill>
          <a:ln>
            <a:solidFill>
              <a:srgbClr val="FDF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31F38"/>
                </a:solidFill>
              </a:defRPr>
            </a:pPr>
            <a:r>
              <a:t>LPS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31720"/>
            <a:ext cx="9692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A67B4"/>
                </a:solidFill>
                <a:latin typeface="Aptos"/>
              </a:defRPr>
            </a:pPr>
            <a:r>
              <a:t>Longest Proper Prefix which is also a Suffix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96926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2D3644"/>
                </a:solidFill>
                <a:latin typeface="Aptos"/>
              </a:defRPr>
            </a:pPr>
            <a:r>
              <a:t>For each position i, LPS[i] stores the length of the longest proper prefix</a:t>
            </a:r>
            <a:br/>
            <a:r>
              <a:t>of pattern[0…i] that is also a suffix of pattern[0…i].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343400"/>
            <a:ext cx="8503920" cy="777240"/>
          </a:xfrm>
          <a:prstGeom prst="roundRect">
            <a:avLst/>
          </a:prstGeom>
          <a:solidFill>
            <a:srgbClr val="E8F1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11680" y="4526280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PROPER PREFIX ≠ THE ENTIRE STRING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55664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382"/>
                </a:solidFill>
                <a:latin typeface="Aptos"/>
              </a:defRPr>
            </a:pPr>
            <a:r>
              <a:t>DESIGN &amp; ANALYSIS OF ALGORITHMS  •  STRING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55664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7382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F4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4864" cy="4754880"/>
          </a:xfrm>
          <a:prstGeom prst="rect">
            <a:avLst/>
          </a:prstGeom>
          <a:solidFill>
            <a:srgbClr val="6F4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6F4EB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98755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31F38"/>
                </a:solidFill>
                <a:latin typeface="Aptos"/>
              </a:defRPr>
            </a:pPr>
            <a:r>
              <a:t>05  LPS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932688"/>
            <a:ext cx="10058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82"/>
                </a:solidFill>
                <a:latin typeface="Aptos"/>
              </a:defRPr>
            </a:pPr>
            <a:r>
              <a:t>Pattern: ABABCABAB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06984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73736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697382"/>
                </a:solidFill>
                <a:latin typeface="Aptos"/>
              </a:defRPr>
            </a:pPr>
            <a:r>
              <a:t>PATTERN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103120"/>
            <a:ext cx="71323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103120"/>
            <a:ext cx="71323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2103120"/>
            <a:ext cx="71323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103120"/>
            <a:ext cx="71323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103120"/>
            <a:ext cx="71323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2103120"/>
            <a:ext cx="71323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2103120"/>
            <a:ext cx="71323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103120"/>
            <a:ext cx="71323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2103120"/>
            <a:ext cx="71323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88036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697382"/>
                </a:solidFill>
                <a:latin typeface="Aptos"/>
              </a:defRPr>
            </a:pPr>
            <a:r>
              <a:t>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218688"/>
            <a:ext cx="7132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69738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218688"/>
            <a:ext cx="7132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69738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39" y="3218688"/>
            <a:ext cx="7132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6973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3218688"/>
            <a:ext cx="7132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6973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3218688"/>
            <a:ext cx="7132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6973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218688"/>
            <a:ext cx="7132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69738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3218688"/>
            <a:ext cx="7132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69738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218688"/>
            <a:ext cx="7132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69738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79" y="3218688"/>
            <a:ext cx="7132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69738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822191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697382"/>
                </a:solidFill>
                <a:latin typeface="Aptos"/>
              </a:defRPr>
            </a:pPr>
            <a:r>
              <a:t>LPS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" y="4206240"/>
            <a:ext cx="713232" cy="530352"/>
          </a:xfrm>
          <a:prstGeom prst="roundRect">
            <a:avLst/>
          </a:prstGeom>
          <a:solidFill>
            <a:srgbClr val="E8F1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1F38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4206240"/>
            <a:ext cx="713232" cy="530352"/>
          </a:xfrm>
          <a:prstGeom prst="roundRect">
            <a:avLst/>
          </a:prstGeom>
          <a:solidFill>
            <a:srgbClr val="E8F1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1F38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06040" y="4206240"/>
            <a:ext cx="713232" cy="530352"/>
          </a:xfrm>
          <a:prstGeom prst="roundRect">
            <a:avLst/>
          </a:prstGeom>
          <a:solidFill>
            <a:srgbClr val="E6F7F6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1F3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206240"/>
            <a:ext cx="713232" cy="530352"/>
          </a:xfrm>
          <a:prstGeom prst="roundRect">
            <a:avLst/>
          </a:prstGeom>
          <a:solidFill>
            <a:srgbClr val="E6F7F6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1F3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60520" y="4206240"/>
            <a:ext cx="713232" cy="530352"/>
          </a:xfrm>
          <a:prstGeom prst="roundRect">
            <a:avLst/>
          </a:prstGeom>
          <a:solidFill>
            <a:srgbClr val="FDF6E1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1F38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37760" y="4206240"/>
            <a:ext cx="713232" cy="530352"/>
          </a:xfrm>
          <a:prstGeom prst="roundRect">
            <a:avLst/>
          </a:prstGeom>
          <a:solidFill>
            <a:srgbClr val="E6F7F6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1F3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4206240"/>
            <a:ext cx="713232" cy="530352"/>
          </a:xfrm>
          <a:prstGeom prst="roundRect">
            <a:avLst/>
          </a:prstGeom>
          <a:solidFill>
            <a:srgbClr val="E6F7F6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1F3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4206240"/>
            <a:ext cx="713232" cy="530352"/>
          </a:xfrm>
          <a:prstGeom prst="roundRect">
            <a:avLst/>
          </a:prstGeom>
          <a:solidFill>
            <a:srgbClr val="E6F7F6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1F3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69480" y="4206240"/>
            <a:ext cx="713232" cy="530352"/>
          </a:xfrm>
          <a:prstGeom prst="roundRect">
            <a:avLst/>
          </a:prstGeom>
          <a:solidFill>
            <a:srgbClr val="E6F7F6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1F3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5074920"/>
            <a:ext cx="5669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6F4EB1"/>
                </a:solidFill>
                <a:latin typeface="Aptos"/>
              </a:defRPr>
            </a:pPr>
            <a:r>
              <a:t>Final LPS = 0  0  1  2  0  1  2  3 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455664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382"/>
                </a:solidFill>
                <a:latin typeface="Aptos"/>
              </a:defRPr>
            </a:pPr>
            <a:r>
              <a:t>DESIGN &amp; ANALYSIS OF ALGORITHMS  •  STRING MATCHING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55664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7382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4864" cy="4754880"/>
          </a:xfrm>
          <a:prstGeom prst="rect">
            <a:avLst/>
          </a:prstGeom>
          <a:solidFill>
            <a:srgbClr val="2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20A7A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98755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31F38"/>
                </a:solidFill>
                <a:latin typeface="Aptos"/>
              </a:defRPr>
            </a:pPr>
            <a:r>
              <a:t>06  HOW TO FIND LPS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932688"/>
            <a:ext cx="10058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82"/>
                </a:solidFill>
                <a:latin typeface="Aptos"/>
              </a:defRPr>
            </a:pPr>
            <a:r>
              <a:t>Four simple decision steps.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914400" cy="777240"/>
          </a:xfrm>
          <a:prstGeom prst="roundRect">
            <a:avLst/>
          </a:prstGeom>
          <a:solidFill>
            <a:srgbClr val="E8F1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27048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A67B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1417320"/>
            <a:ext cx="9098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48840" y="1508760"/>
            <a:ext cx="1143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31F38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508760"/>
            <a:ext cx="7360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3644"/>
                </a:solidFill>
                <a:latin typeface="Aptos"/>
              </a:defRPr>
            </a:pPr>
            <a:r>
              <a:t>LPS[0] = 0, len = 0, i = 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496312"/>
            <a:ext cx="914400" cy="777240"/>
          </a:xfrm>
          <a:prstGeom prst="roundRect">
            <a:avLst/>
          </a:prstGeom>
          <a:solidFill>
            <a:srgbClr val="E8F1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60604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A67B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2496312"/>
            <a:ext cx="9098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48840" y="2587752"/>
            <a:ext cx="1143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31F38"/>
                </a:solidFill>
                <a:latin typeface="Aptos"/>
              </a:defRPr>
            </a:pPr>
            <a:r>
              <a:t>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587752"/>
            <a:ext cx="7360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3644"/>
                </a:solidFill>
                <a:latin typeface="Aptos"/>
              </a:defRPr>
            </a:pPr>
            <a:r>
              <a:t>If pattern[i] == pattern[len], increase len and store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575304"/>
            <a:ext cx="914400" cy="777240"/>
          </a:xfrm>
          <a:prstGeom prst="roundRect">
            <a:avLst/>
          </a:prstGeom>
          <a:solidFill>
            <a:srgbClr val="E8F1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685032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A67B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3575304"/>
            <a:ext cx="9098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48840" y="3666744"/>
            <a:ext cx="1143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31F38"/>
                </a:solidFill>
                <a:latin typeface="Aptos"/>
              </a:defRPr>
            </a:pPr>
            <a:r>
              <a:t>Fallback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3666744"/>
            <a:ext cx="7360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3644"/>
                </a:solidFill>
                <a:latin typeface="Aptos"/>
              </a:defRPr>
            </a:pPr>
            <a:r>
              <a:t>If mismatch and len &gt; 0, set len = LPS[len−1].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654296"/>
            <a:ext cx="914400" cy="777240"/>
          </a:xfrm>
          <a:prstGeom prst="roundRect">
            <a:avLst/>
          </a:prstGeom>
          <a:solidFill>
            <a:srgbClr val="E8F1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764024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A67B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20240" y="4654296"/>
            <a:ext cx="9098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48840" y="4745736"/>
            <a:ext cx="1143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31F38"/>
                </a:solidFill>
                <a:latin typeface="Aptos"/>
              </a:defRPr>
            </a:pPr>
            <a:r>
              <a:t>Zero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745736"/>
            <a:ext cx="7360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3644"/>
                </a:solidFill>
                <a:latin typeface="Aptos"/>
              </a:defRPr>
            </a:pPr>
            <a:r>
              <a:t>If mismatch and len = 0, store 0 and move i forward.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55664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382"/>
                </a:solidFill>
                <a:latin typeface="Aptos"/>
              </a:defRPr>
            </a:pPr>
            <a:r>
              <a:t>DESIGN &amp; ANALYSIS OF ALGORITHMS  •  STRING MATCHING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55664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7382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331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F4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4864" cy="4754880"/>
          </a:xfrm>
          <a:prstGeom prst="rect">
            <a:avLst/>
          </a:prstGeom>
          <a:solidFill>
            <a:srgbClr val="6F4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6F4EB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98755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31F38"/>
                </a:solidFill>
                <a:latin typeface="Aptos"/>
              </a:defRPr>
            </a:pPr>
            <a:r>
              <a:t>07  LPS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932688"/>
            <a:ext cx="10058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82"/>
                </a:solidFill>
                <a:latin typeface="Aptos"/>
              </a:defRPr>
            </a:pPr>
            <a:r>
              <a:t>Pattern: ABABAC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06984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97280" y="1828800"/>
            <a:ext cx="8229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29967" y="1828800"/>
            <a:ext cx="8229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2656" y="1828800"/>
            <a:ext cx="8229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95344" y="1828800"/>
            <a:ext cx="8229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8032" y="1828800"/>
            <a:ext cx="8229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828800"/>
            <a:ext cx="8229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0604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697382"/>
                </a:solidFill>
                <a:latin typeface="Aptos"/>
              </a:defRPr>
            </a:pPr>
            <a:r>
              <a:t>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26080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69738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9967" y="2926080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69738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2926080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6973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5344" y="2926080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6973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8032" y="2926080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6973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926080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69738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47472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697382"/>
                </a:solidFill>
                <a:latin typeface="Aptos"/>
              </a:defRPr>
            </a:pPr>
            <a:r>
              <a:t>LPS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794760"/>
            <a:ext cx="822960" cy="530352"/>
          </a:xfrm>
          <a:prstGeom prst="roundRect">
            <a:avLst/>
          </a:prstGeom>
          <a:solidFill>
            <a:srgbClr val="E8F1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1F38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29967" y="3794760"/>
            <a:ext cx="822960" cy="530352"/>
          </a:xfrm>
          <a:prstGeom prst="roundRect">
            <a:avLst/>
          </a:prstGeom>
          <a:solidFill>
            <a:srgbClr val="E8F1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1F38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62656" y="3794760"/>
            <a:ext cx="822960" cy="530352"/>
          </a:xfrm>
          <a:prstGeom prst="roundRect">
            <a:avLst/>
          </a:prstGeom>
          <a:solidFill>
            <a:srgbClr val="E6F7F6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1F3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95344" y="3794760"/>
            <a:ext cx="822960" cy="530352"/>
          </a:xfrm>
          <a:prstGeom prst="roundRect">
            <a:avLst/>
          </a:prstGeom>
          <a:solidFill>
            <a:srgbClr val="E6F7F6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1F3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28032" y="3794760"/>
            <a:ext cx="822960" cy="530352"/>
          </a:xfrm>
          <a:prstGeom prst="roundRect">
            <a:avLst/>
          </a:prstGeom>
          <a:solidFill>
            <a:srgbClr val="E6F7F6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1F3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3794760"/>
            <a:ext cx="822960" cy="530352"/>
          </a:xfrm>
          <a:prstGeom prst="roundRect">
            <a:avLst/>
          </a:prstGeom>
          <a:solidFill>
            <a:srgbClr val="FDF6E1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1F38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1901952"/>
            <a:ext cx="4160520" cy="2423160"/>
          </a:xfrm>
          <a:prstGeom prst="roundRect">
            <a:avLst/>
          </a:prstGeom>
          <a:solidFill>
            <a:srgbClr val="F0EB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040880" y="2103120"/>
            <a:ext cx="29718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F4EB1"/>
                </a:solidFill>
              </a:defRPr>
            </a:pPr>
            <a:r>
              <a:t>MISMATCH AT i =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2697480"/>
            <a:ext cx="35204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131F38"/>
                </a:solidFill>
                <a:latin typeface="Aptos"/>
              </a:defRPr>
            </a:pPr>
            <a:r>
              <a:t>C ≠ A → len = LPS[2] = 1</a:t>
            </a:r>
            <a:br/>
            <a:r>
              <a:t>C ≠ B → len = LPS[0] = 0</a:t>
            </a:r>
            <a:br/>
            <a:r>
              <a:t>C ≠ A → LPS[5] =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455664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382"/>
                </a:solidFill>
                <a:latin typeface="Aptos"/>
              </a:defRPr>
            </a:pPr>
            <a:r>
              <a:t>DESIGN &amp; ANALYSIS OF ALGORITHMS  •  STRING MATCHING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55664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7382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4864" cy="4754880"/>
          </a:xfrm>
          <a:prstGeom prst="rect">
            <a:avLst/>
          </a:prstGeom>
          <a:solidFill>
            <a:srgbClr val="2A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2A67B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98755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31F38"/>
                </a:solidFill>
                <a:latin typeface="Aptos"/>
              </a:defRPr>
            </a:pPr>
            <a:r>
              <a:t>08  KMP 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932688"/>
            <a:ext cx="10058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82"/>
                </a:solidFill>
                <a:latin typeface="Aptos"/>
              </a:defRPr>
            </a:pPr>
            <a:r>
              <a:t>What happens when the pattern mismatches?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06984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697382"/>
                </a:solidFill>
                <a:latin typeface="Aptos"/>
              </a:defRPr>
            </a:pPr>
            <a:r>
              <a:t>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103120"/>
            <a:ext cx="475488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1F38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2103120"/>
            <a:ext cx="475488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1F38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2103120"/>
            <a:ext cx="475488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1F38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2103120"/>
            <a:ext cx="475488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1F38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2103120"/>
            <a:ext cx="475488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1F38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2103120"/>
            <a:ext cx="475488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1F38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103120"/>
            <a:ext cx="475488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1F38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2103120"/>
            <a:ext cx="475488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1F38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103120"/>
            <a:ext cx="475488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1F38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32120" y="2103120"/>
            <a:ext cx="475488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1F38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2103120"/>
            <a:ext cx="475488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1F38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2103120"/>
            <a:ext cx="475488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1F38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103120"/>
            <a:ext cx="475488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1F38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2103120"/>
            <a:ext cx="475488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1F38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103120"/>
            <a:ext cx="475488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1F38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49640" y="2103120"/>
            <a:ext cx="475488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1F38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2103120"/>
            <a:ext cx="475488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1F38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55480" y="2103120"/>
            <a:ext cx="475488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1F38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2103120"/>
            <a:ext cx="475488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1F38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288036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697382"/>
                </a:solidFill>
                <a:latin typeface="Aptos"/>
              </a:defRPr>
            </a:pPr>
            <a:r>
              <a:t>PATTERN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3246120"/>
            <a:ext cx="71323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1F38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83080" y="3246120"/>
            <a:ext cx="71323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1F38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3246120"/>
            <a:ext cx="71323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1F38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3246120"/>
            <a:ext cx="71323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1F38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0" y="3246120"/>
            <a:ext cx="71323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1F38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92040" y="3246120"/>
            <a:ext cx="71323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1F38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0" y="3246120"/>
            <a:ext cx="71323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1F38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6520" y="3246120"/>
            <a:ext cx="71323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1F38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23760" y="3246120"/>
            <a:ext cx="71323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1F38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20" y="4251960"/>
            <a:ext cx="10012680" cy="960120"/>
          </a:xfrm>
          <a:prstGeom prst="roundRect">
            <a:avLst/>
          </a:prstGeom>
          <a:solidFill>
            <a:srgbClr val="E8F1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280160" y="4370832"/>
            <a:ext cx="9372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31F38"/>
                </a:solidFill>
                <a:latin typeface="Aptos"/>
              </a:defRPr>
            </a:pPr>
            <a:r>
              <a:t>Mismatch with j &gt; 0  →  j = LPS[j−1]</a:t>
            </a:r>
            <a:br/>
            <a:r>
              <a:t>Text index i stays at the same position.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455664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382"/>
                </a:solidFill>
                <a:latin typeface="Aptos"/>
              </a:defRPr>
            </a:pPr>
            <a:r>
              <a:t>DESIGN &amp; ANALYSIS OF ALGORITHMS  •  STRING MATCHING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55664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7382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4864" cy="4754880"/>
          </a:xfrm>
          <a:prstGeom prst="rect">
            <a:avLst/>
          </a:prstGeom>
          <a:solidFill>
            <a:srgbClr val="2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20A7A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98755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31F38"/>
                </a:solidFill>
                <a:latin typeface="Aptos"/>
              </a:defRPr>
            </a:pPr>
            <a:r>
              <a:t>09 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932688"/>
            <a:ext cx="10058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82"/>
                </a:solidFill>
                <a:latin typeface="Aptos"/>
              </a:defRPr>
            </a:pPr>
            <a:r>
              <a:t>The key DAA result.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2606040" cy="2423160"/>
          </a:xfrm>
          <a:prstGeom prst="roundRect">
            <a:avLst/>
          </a:prstGeom>
          <a:solidFill>
            <a:srgbClr val="F0EB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2331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31F38"/>
                </a:solidFill>
                <a:latin typeface="Aptos"/>
              </a:defRPr>
            </a:pPr>
            <a:r>
              <a:t>LPS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2331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6F4EB1"/>
                </a:solidFill>
                <a:latin typeface="Aptos"/>
              </a:defRPr>
            </a:pPr>
            <a:r>
              <a:t>O(m)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91640"/>
            <a:ext cx="2606040" cy="2423160"/>
          </a:xfrm>
          <a:prstGeom prst="roundRect">
            <a:avLst/>
          </a:prstGeom>
          <a:solidFill>
            <a:srgbClr val="E8F1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79" y="2011680"/>
            <a:ext cx="2331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31F38"/>
                </a:solidFill>
                <a:latin typeface="Aptos"/>
              </a:defRPr>
            </a:pPr>
            <a:r>
              <a:t>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2743200"/>
            <a:ext cx="2331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A67B4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91640"/>
            <a:ext cx="2606040" cy="2423160"/>
          </a:xfrm>
          <a:prstGeom prst="roundRect">
            <a:avLst/>
          </a:prstGeom>
          <a:solidFill>
            <a:srgbClr val="E6F7F6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2331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31F38"/>
                </a:solidFill>
                <a:latin typeface="Aptos"/>
              </a:defRPr>
            </a:pPr>
            <a:r>
              <a:t>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43200"/>
            <a:ext cx="2331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0A7A5"/>
                </a:solidFill>
                <a:latin typeface="Aptos"/>
              </a:defRPr>
            </a:pPr>
            <a:r>
              <a:t>O(n + 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691640"/>
            <a:ext cx="2606040" cy="2423160"/>
          </a:xfrm>
          <a:prstGeom prst="roundRect">
            <a:avLst/>
          </a:prstGeom>
          <a:solidFill>
            <a:srgbClr val="FDF6E1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600" y="2011680"/>
            <a:ext cx="2331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31F38"/>
                </a:solidFill>
                <a:latin typeface="Aptos"/>
              </a:defRPr>
            </a:pPr>
            <a:r>
              <a:t>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743200"/>
            <a:ext cx="2331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131F38"/>
                </a:solidFill>
                <a:latin typeface="Aptos"/>
              </a:defRPr>
            </a:pPr>
            <a:r>
              <a:t>O(m)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754880"/>
            <a:ext cx="8503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31F38"/>
                </a:solidFill>
                <a:latin typeface="Aptos"/>
              </a:defRPr>
            </a:pPr>
            <a:r>
              <a:t>Linear-time pattern matching after linear-time preprocessing.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55664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382"/>
                </a:solidFill>
                <a:latin typeface="Aptos"/>
              </a:defRPr>
            </a:pPr>
            <a:r>
              <a:t>DESIGN &amp; ANALYSIS OF ALGORITHMS  •  STRING MATCHING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55664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7382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E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4864" cy="4754880"/>
          </a:xfrm>
          <a:prstGeom prst="rect">
            <a:avLst/>
          </a:prstGeom>
          <a:solidFill>
            <a:srgbClr val="EE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EEB13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98755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31F38"/>
                </a:solidFill>
                <a:latin typeface="Aptos"/>
              </a:defRPr>
            </a:pPr>
            <a:r>
              <a:t>11  PRACTICE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932688"/>
            <a:ext cx="10058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82"/>
                </a:solidFill>
                <a:latin typeface="Aptos"/>
              </a:defRPr>
            </a:pPr>
            <a:r>
              <a:t>Find the complete LPS array.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106527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43000" y="1783080"/>
            <a:ext cx="1371600" cy="347472"/>
          </a:xfrm>
          <a:prstGeom prst="roundRect">
            <a:avLst/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A67B4"/>
                </a:solidFill>
              </a:defRPr>
            </a:pPr>
            <a:r>
              <a:t>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40280"/>
            <a:ext cx="9784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100" b="1">
                <a:solidFill>
                  <a:srgbClr val="131F38"/>
                </a:solidFill>
                <a:latin typeface="Aptos"/>
              </a:defRPr>
            </a:pPr>
            <a:r>
              <a:t>ABABCABAB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703320"/>
            <a:ext cx="9875520" cy="1143000"/>
          </a:xfrm>
          <a:prstGeom prst="roundRect">
            <a:avLst/>
          </a:prstGeom>
          <a:solidFill>
            <a:srgbClr val="E6F7F6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3886200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B915B"/>
                </a:solidFill>
                <a:latin typeface="Aptos"/>
              </a:defRPr>
            </a:pPr>
            <a:r>
              <a:t>✓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794760"/>
            <a:ext cx="7818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31F38"/>
                </a:solidFill>
                <a:latin typeface="Aptos"/>
              </a:defRPr>
            </a:pPr>
            <a:r>
              <a:t>0  0  1  2  0  1  2  3  4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55664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382"/>
                </a:solidFill>
                <a:latin typeface="Aptos"/>
              </a:defRPr>
            </a:pPr>
            <a:r>
              <a:t>DESIGN &amp; ANALYSIS OF ALGORITHMS  •  STRING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55664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7382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4864" cy="4754880"/>
          </a:xfrm>
          <a:prstGeom prst="rect">
            <a:avLst/>
          </a:prstGeom>
          <a:solidFill>
            <a:srgbClr val="2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20A7A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98755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31F38"/>
                </a:solidFill>
                <a:latin typeface="Aptos"/>
              </a:defRPr>
            </a:pPr>
            <a:r>
              <a:t>12  PRACTICE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932688"/>
            <a:ext cx="10058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82"/>
                </a:solidFill>
                <a:latin typeface="Aptos"/>
              </a:defRPr>
            </a:pPr>
            <a:r>
              <a:t>Find the complete LPS array.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106527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43000" y="1783080"/>
            <a:ext cx="1371600" cy="347472"/>
          </a:xfrm>
          <a:prstGeom prst="roundRect">
            <a:avLst/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A67B4"/>
                </a:solidFill>
              </a:defRPr>
            </a:pPr>
            <a:r>
              <a:t>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40280"/>
            <a:ext cx="9784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100" b="1">
                <a:solidFill>
                  <a:srgbClr val="131F38"/>
                </a:solidFill>
                <a:latin typeface="Aptos"/>
              </a:defRPr>
            </a:pPr>
            <a:r>
              <a:t>AABAACAABAA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703320"/>
            <a:ext cx="9875520" cy="1143000"/>
          </a:xfrm>
          <a:prstGeom prst="roundRect">
            <a:avLst/>
          </a:prstGeom>
          <a:solidFill>
            <a:srgbClr val="E6F7F6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3886200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B915B"/>
                </a:solidFill>
                <a:latin typeface="Aptos"/>
              </a:defRPr>
            </a:pPr>
            <a:r>
              <a:t>✓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794760"/>
            <a:ext cx="7818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31F38"/>
                </a:solidFill>
                <a:latin typeface="Aptos"/>
              </a:defRPr>
            </a:pPr>
            <a:r>
              <a:t>0  1  0  1  2  0  1  2  3  4  5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55664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382"/>
                </a:solidFill>
                <a:latin typeface="Aptos"/>
              </a:defRPr>
            </a:pPr>
            <a:r>
              <a:t>DESIGN &amp; ANALYSIS OF ALGORITHMS  •  STRING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55664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7382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F4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4864" cy="4754880"/>
          </a:xfrm>
          <a:prstGeom prst="rect">
            <a:avLst/>
          </a:prstGeom>
          <a:solidFill>
            <a:srgbClr val="6F4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6F4EB1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98755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31F38"/>
                </a:solidFill>
                <a:latin typeface="Aptos"/>
              </a:defRPr>
            </a:pPr>
            <a:r>
              <a:t>13  PRACTICE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932688"/>
            <a:ext cx="10058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82"/>
                </a:solidFill>
                <a:latin typeface="Aptos"/>
              </a:defRPr>
            </a:pPr>
            <a:r>
              <a:t>Find the complete LPS array.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106527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43000" y="1783080"/>
            <a:ext cx="1371600" cy="347472"/>
          </a:xfrm>
          <a:prstGeom prst="roundRect">
            <a:avLst/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A67B4"/>
                </a:solidFill>
              </a:defRPr>
            </a:pPr>
            <a:r>
              <a:t>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40280"/>
            <a:ext cx="9784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100" b="1">
                <a:solidFill>
                  <a:srgbClr val="131F38"/>
                </a:solidFill>
                <a:latin typeface="Aptos"/>
              </a:defRPr>
            </a:pPr>
            <a:r>
              <a:t>AAACAAAAAC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703320"/>
            <a:ext cx="9875520" cy="1143000"/>
          </a:xfrm>
          <a:prstGeom prst="roundRect">
            <a:avLst/>
          </a:prstGeom>
          <a:solidFill>
            <a:srgbClr val="E6F7F6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3886200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B915B"/>
                </a:solidFill>
                <a:latin typeface="Aptos"/>
              </a:defRPr>
            </a:pPr>
            <a:r>
              <a:t>✓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794760"/>
            <a:ext cx="7818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31F38"/>
                </a:solidFill>
                <a:latin typeface="Aptos"/>
              </a:defRPr>
            </a:pPr>
            <a:r>
              <a:t>0  1  2  0  1  2  3  3  4  0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55664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382"/>
                </a:solidFill>
                <a:latin typeface="Aptos"/>
              </a:defRPr>
            </a:pPr>
            <a:r>
              <a:t>DESIGN &amp; ANALYSIS OF ALGORITHMS  •  STRING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55664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7382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05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4864" cy="4754880"/>
          </a:xfrm>
          <a:prstGeom prst="rect">
            <a:avLst/>
          </a:prstGeom>
          <a:solidFill>
            <a:srgbClr val="E05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E0586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98755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31F38"/>
                </a:solidFill>
                <a:latin typeface="Aptos"/>
              </a:defRPr>
            </a:pPr>
            <a:r>
              <a:t>14  PRACTICE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932688"/>
            <a:ext cx="10058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82"/>
                </a:solidFill>
                <a:latin typeface="Aptos"/>
              </a:defRPr>
            </a:pPr>
            <a:r>
              <a:t>Find the complete LPS array.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106527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43000" y="1783080"/>
            <a:ext cx="1371600" cy="347472"/>
          </a:xfrm>
          <a:prstGeom prst="roundRect">
            <a:avLst/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A67B4"/>
                </a:solidFill>
              </a:defRPr>
            </a:pPr>
            <a:r>
              <a:t>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40280"/>
            <a:ext cx="9784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100" b="1">
                <a:solidFill>
                  <a:srgbClr val="131F38"/>
                </a:solidFill>
                <a:latin typeface="Aptos"/>
              </a:defRPr>
            </a:pPr>
            <a:r>
              <a:t>ABABABCA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703320"/>
            <a:ext cx="9875520" cy="1143000"/>
          </a:xfrm>
          <a:prstGeom prst="roundRect">
            <a:avLst/>
          </a:prstGeom>
          <a:solidFill>
            <a:srgbClr val="E6F7F6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3886200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B915B"/>
                </a:solidFill>
                <a:latin typeface="Aptos"/>
              </a:defRPr>
            </a:pPr>
            <a:r>
              <a:t>✓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794760"/>
            <a:ext cx="7818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31F38"/>
                </a:solidFill>
                <a:latin typeface="Aptos"/>
              </a:defRPr>
            </a:pPr>
            <a:r>
              <a:t>0  0  1  2  3  4  0  1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55664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382"/>
                </a:solidFill>
                <a:latin typeface="Aptos"/>
              </a:defRPr>
            </a:pPr>
            <a:r>
              <a:t>DESIGN &amp; ANALYSIS OF ALGORITHMS  •  STRING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55664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7382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4864" cy="4754880"/>
          </a:xfrm>
          <a:prstGeom prst="rect">
            <a:avLst/>
          </a:prstGeom>
          <a:solidFill>
            <a:srgbClr val="2A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2A67B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98755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31F38"/>
                </a:solidFill>
                <a:latin typeface="Aptos"/>
              </a:defRPr>
            </a:pPr>
            <a:r>
              <a:t>15  PRACTICE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932688"/>
            <a:ext cx="10058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82"/>
                </a:solidFill>
                <a:latin typeface="Aptos"/>
              </a:defRPr>
            </a:pPr>
            <a:r>
              <a:t>Find the complete LPS array.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106527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43000" y="1783080"/>
            <a:ext cx="1371600" cy="347472"/>
          </a:xfrm>
          <a:prstGeom prst="roundRect">
            <a:avLst/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A67B4"/>
                </a:solidFill>
              </a:defRPr>
            </a:pPr>
            <a:r>
              <a:t>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40280"/>
            <a:ext cx="9784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100" b="1">
                <a:solidFill>
                  <a:srgbClr val="131F38"/>
                </a:solidFill>
                <a:latin typeface="Aptos"/>
              </a:defRPr>
            </a:pPr>
            <a:r>
              <a:t>ABCABABCAB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703320"/>
            <a:ext cx="9875520" cy="1143000"/>
          </a:xfrm>
          <a:prstGeom prst="roundRect">
            <a:avLst/>
          </a:prstGeom>
          <a:solidFill>
            <a:srgbClr val="E6F7F6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3886200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B915B"/>
                </a:solidFill>
                <a:latin typeface="Aptos"/>
              </a:defRPr>
            </a:pPr>
            <a:r>
              <a:t>✓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794760"/>
            <a:ext cx="7818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31F38"/>
                </a:solidFill>
                <a:latin typeface="Aptos"/>
              </a:defRPr>
            </a:pPr>
            <a:r>
              <a:t>0  0  0  1  2  1  2  3  4  5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55664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382"/>
                </a:solidFill>
                <a:latin typeface="Aptos"/>
              </a:defRPr>
            </a:pPr>
            <a:r>
              <a:t>DESIGN &amp; ANALYSIS OF ALGORITHMS  •  STRING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55664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7382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4864" cy="4754880"/>
          </a:xfrm>
          <a:prstGeom prst="rect">
            <a:avLst/>
          </a:prstGeom>
          <a:solidFill>
            <a:srgbClr val="2D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2DB4BE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98755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31F38"/>
                </a:solidFill>
                <a:latin typeface="Aptos"/>
              </a:defRPr>
            </a:pPr>
            <a:r>
              <a:t>17  QUICK MCQs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932688"/>
            <a:ext cx="10058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82"/>
                </a:solidFill>
                <a:latin typeface="Aptos"/>
              </a:defRPr>
            </a:pPr>
            <a:r>
              <a:t>Answers included for quick classroom checking.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1F38"/>
                </a:solidFill>
                <a:latin typeface="Aptos"/>
              </a:defRPr>
            </a:pPr>
            <a:r>
              <a:t>Q1  LPS stands for?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84832"/>
            <a:ext cx="9144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B915B"/>
                </a:solidFill>
                <a:latin typeface="Aptos"/>
              </a:defRPr>
            </a:pPr>
            <a:r>
              <a:t>✓ A. Longest Proper Prefix which is also Suffix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70048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1F38"/>
                </a:solidFill>
                <a:latin typeface="Aptos"/>
              </a:defRPr>
            </a:pPr>
            <a:r>
              <a:t>Q2  KMP worst-case time?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08960"/>
            <a:ext cx="9144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B915B"/>
                </a:solidFill>
                <a:latin typeface="Aptos"/>
              </a:defRPr>
            </a:pPr>
            <a:r>
              <a:t>✓ B. O(n + 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94176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1F38"/>
                </a:solidFill>
                <a:latin typeface="Aptos"/>
              </a:defRPr>
            </a:pPr>
            <a:r>
              <a:t>Q3  What is LPS[0]?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33087"/>
            <a:ext cx="9144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B915B"/>
                </a:solidFill>
                <a:latin typeface="Aptos"/>
              </a:defRPr>
            </a:pPr>
            <a:r>
              <a:t>✓ C.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18304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1F38"/>
                </a:solidFill>
                <a:latin typeface="Aptos"/>
              </a:defRPr>
            </a:pPr>
            <a:r>
              <a:t>Q4  Mismatch when j &gt; 0?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157216"/>
            <a:ext cx="9144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B915B"/>
                </a:solidFill>
                <a:latin typeface="Aptos"/>
              </a:defRPr>
            </a:pPr>
            <a:r>
              <a:t>✓ D. j = LPS[j−1]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55664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382"/>
                </a:solidFill>
                <a:latin typeface="Aptos"/>
              </a:defRPr>
            </a:pPr>
            <a:r>
              <a:t>DESIGN &amp; ANALYSIS OF ALGORITHMS  •  STRING MATCHING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55664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7382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F4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4864" cy="4754880"/>
          </a:xfrm>
          <a:prstGeom prst="rect">
            <a:avLst/>
          </a:prstGeom>
          <a:solidFill>
            <a:srgbClr val="6F4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6F4EB1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98755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31F38"/>
                </a:solidFill>
                <a:latin typeface="Aptos"/>
              </a:defRPr>
            </a:pPr>
            <a:r>
              <a:t>18  KMP — ONE-SLIDE REVISION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932688"/>
            <a:ext cx="10058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82"/>
                </a:solidFill>
                <a:latin typeface="Aptos"/>
              </a:defRPr>
            </a:pPr>
            <a:r>
              <a:t>Remember the complete algorithm in four blocks.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2606040" cy="3154680"/>
          </a:xfrm>
          <a:prstGeom prst="roundRect">
            <a:avLst/>
          </a:prstGeom>
          <a:solidFill>
            <a:srgbClr val="E8F1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97280" y="1965960"/>
            <a:ext cx="16002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A67B4"/>
                </a:solidFill>
              </a:defRPr>
            </a:pPr>
            <a:r>
              <a:t>KMP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21488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Efficient pattern matching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00200"/>
            <a:ext cx="2606040" cy="3154680"/>
          </a:xfrm>
          <a:prstGeom prst="roundRect">
            <a:avLst/>
          </a:prstGeom>
          <a:solidFill>
            <a:srgbClr val="F0EB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977639" y="1965960"/>
            <a:ext cx="16002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F4EB1"/>
                </a:solidFill>
              </a:defRPr>
            </a:pPr>
            <a:r>
              <a:t>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788920"/>
            <a:ext cx="21488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Prefix = Suffix information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00200"/>
            <a:ext cx="2606040" cy="3154680"/>
          </a:xfrm>
          <a:prstGeom prst="roundRect">
            <a:avLst/>
          </a:prstGeom>
          <a:solidFill>
            <a:srgbClr val="FCEDF0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0" y="1965960"/>
            <a:ext cx="16002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05867"/>
                </a:solidFill>
              </a:defRPr>
            </a:pPr>
            <a:r>
              <a:t>MISMATCH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88920"/>
            <a:ext cx="21488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Use LPS, don't restart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600200"/>
            <a:ext cx="2606040" cy="3154680"/>
          </a:xfrm>
          <a:prstGeom prst="roundRect">
            <a:avLst/>
          </a:prstGeom>
          <a:solidFill>
            <a:srgbClr val="E6F7F6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738360" y="1965960"/>
            <a:ext cx="16002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0A7A5"/>
                </a:solidFill>
              </a:defRPr>
            </a:pPr>
            <a: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788920"/>
            <a:ext cx="21488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31F38"/>
                </a:solidFill>
                <a:latin typeface="Aptos"/>
              </a:defRPr>
            </a:pPr>
            <a:r>
              <a:t>O(n + m) time</a:t>
            </a:r>
            <a:br/>
            <a:r>
              <a:t>O(m) 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257800"/>
            <a:ext cx="9555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6F4EB1"/>
                </a:solidFill>
                <a:latin typeface="Aptos"/>
              </a:defRPr>
            </a:pPr>
            <a:r>
              <a:t>MEMORY:  MATCH → MISMATCH → LPS → CONTINUE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55664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382"/>
                </a:solidFill>
                <a:latin typeface="Aptos"/>
              </a:defRPr>
            </a:pPr>
            <a:r>
              <a:t>DESIGN &amp; ANALYSIS OF ALGORITHMS  •  STRING MATCHING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55664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7382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" y="792480"/>
            <a:ext cx="1171956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849</Words>
  <Application>Microsoft Macintosh PowerPoint</Application>
  <PresentationFormat>Custom</PresentationFormat>
  <Paragraphs>258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Tanuja sahu</dc:creator>
  <dc:description>generated using python-pptx</dc:description>
  <cp:lastModifiedBy>User</cp:lastModifiedBy>
  <cp:revision>4</cp:revision>
  <dcterms:created xsi:type="dcterms:W3CDTF">2013-01-27T09:14:16Z</dcterms:created>
  <dcterms:modified xsi:type="dcterms:W3CDTF">2026-09-06T12:50:19Z</dcterms:modified>
</cp:coreProperties>
</file>