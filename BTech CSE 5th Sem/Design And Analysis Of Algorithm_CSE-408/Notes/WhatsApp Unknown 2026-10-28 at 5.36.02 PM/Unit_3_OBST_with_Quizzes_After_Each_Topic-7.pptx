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82" r:id="rId3"/>
    <p:sldId id="278" r:id="rId4"/>
    <p:sldId id="283" r:id="rId5"/>
    <p:sldId id="279" r:id="rId6"/>
    <p:sldId id="284" r:id="rId7"/>
    <p:sldId id="280" r:id="rId8"/>
    <p:sldId id="256" r:id="rId9"/>
    <p:sldId id="257" r:id="rId10"/>
    <p:sldId id="258" r:id="rId11"/>
    <p:sldId id="259" r:id="rId12"/>
    <p:sldId id="285" r:id="rId13"/>
    <p:sldId id="260" r:id="rId14"/>
    <p:sldId id="286" r:id="rId15"/>
    <p:sldId id="261" r:id="rId16"/>
    <p:sldId id="287" r:id="rId17"/>
    <p:sldId id="262" r:id="rId18"/>
    <p:sldId id="288" r:id="rId19"/>
    <p:sldId id="263" r:id="rId20"/>
    <p:sldId id="264" r:id="rId21"/>
    <p:sldId id="289" r:id="rId22"/>
    <p:sldId id="265" r:id="rId23"/>
    <p:sldId id="290" r:id="rId24"/>
    <p:sldId id="268" r:id="rId25"/>
    <p:sldId id="291" r:id="rId26"/>
    <p:sldId id="269" r:id="rId27"/>
    <p:sldId id="292" r:id="rId28"/>
    <p:sldId id="270" r:id="rId29"/>
    <p:sldId id="271" r:id="rId30"/>
    <p:sldId id="293" r:id="rId31"/>
    <p:sldId id="272" r:id="rId32"/>
    <p:sldId id="294" r:id="rId33"/>
    <p:sldId id="273" r:id="rId34"/>
    <p:sldId id="274" r:id="rId35"/>
    <p:sldId id="275" r:id="rId36"/>
    <p:sldId id="27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-965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Binary Search Tree (BST) —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AFB9C8"/>
                </a:solidFill>
              </a:defRPr>
            </a:pPr>
            <a:r>
              <a:t>Before studying Optimal BST, understand the ordinary Binary Search Tree.</a:t>
            </a:r>
          </a:p>
        </p:txBody>
      </p:sp>
      <p:sp>
        <p:nvSpPr>
          <p:cNvPr id="4" name="Cube 3"/>
          <p:cNvSpPr/>
          <p:nvPr/>
        </p:nvSpPr>
        <p:spPr>
          <a:xfrm>
            <a:off x="10789920" y="274320"/>
            <a:ext cx="502920" cy="502920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94360"/>
            <a:ext cx="502920" cy="502920"/>
          </a:xfrm>
          <a:prstGeom prst="cube">
            <a:avLst/>
          </a:prstGeom>
          <a:solidFill>
            <a:srgbClr val="8255DC"/>
          </a:solidFill>
          <a:ln>
            <a:solidFill>
              <a:srgbClr val="82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1" y="1508760"/>
            <a:ext cx="5303520" cy="4480560"/>
          </a:xfrm>
          <a:prstGeom prst="roundRect">
            <a:avLst/>
          </a:prstGeom>
          <a:solidFill>
            <a:srgbClr val="050912"/>
          </a:solidFill>
          <a:ln>
            <a:solidFill>
              <a:srgbClr val="050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192237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DD2DC"/>
                </a:solidFill>
              </a:defRPr>
            </a:pPr>
            <a:r>
              <a:t>What is a BST?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463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A Binary Search Tree is a binary tree in which:</a:t>
            </a:r>
            <a:br/>
            <a:r>
              <a:t/>
            </a:r>
            <a:br/>
            <a:r>
              <a:t>• Left subtree keys &lt; root</a:t>
            </a:r>
            <a:br/>
            <a:r>
              <a:t>• Right subtree keys &gt; root</a:t>
            </a:r>
            <a:br/>
            <a:r>
              <a:t>• Both subtrees also follow the BST rule</a:t>
            </a:r>
            <a:br/>
            <a:r>
              <a:t/>
            </a:r>
            <a:br/>
            <a:r>
              <a:t>BST supports search, insertion and deletion.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508760"/>
            <a:ext cx="5303520" cy="4480560"/>
          </a:xfrm>
          <a:prstGeom prst="roundRect">
            <a:avLst/>
          </a:prstGeom>
          <a:solidFill>
            <a:srgbClr val="050912"/>
          </a:solidFill>
          <a:ln>
            <a:solidFill>
              <a:srgbClr val="050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192237"/>
          </a:solidFill>
          <a:ln>
            <a:solidFill>
              <a:srgbClr val="82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8255DC"/>
                </a:solidFill>
              </a:defRPr>
            </a:pPr>
            <a:r>
              <a:t>Basic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8463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        50</a:t>
            </a:r>
            <a:br/>
            <a:r>
              <a:t>       /  \</a:t>
            </a:r>
            <a:br/>
            <a:r>
              <a:t>     30    70</a:t>
            </a:r>
            <a:br/>
            <a:r>
              <a:t>    /  \   / \</a:t>
            </a:r>
            <a:br/>
            <a:r>
              <a:t>   20  40 60  80</a:t>
            </a:r>
            <a:br/>
            <a:r>
              <a:t/>
            </a:r>
            <a:br/>
            <a:r>
              <a:t>For root 50:</a:t>
            </a:r>
            <a:br/>
            <a:r>
              <a:t>20, 30, 40 &lt; 50</a:t>
            </a:r>
            <a:br/>
            <a:r>
              <a:t>60, 70, 80 &gt;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BST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In a BST, where are keys smaller than the root stored?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81543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Right </a:t>
            </a:r>
            <a:r>
              <a:rPr/>
              <a:t>subtree   </a:t>
            </a:r>
            <a:endParaRPr lang="en-US" dirty="0" smtClean="0"/>
          </a:p>
          <a:p>
            <a:pPr algn="l">
              <a:defRPr sz="1600" b="0">
                <a:solidFill>
                  <a:srgbClr val="F5F8FC"/>
                </a:solidFill>
              </a:defRPr>
            </a:pPr>
            <a:r>
              <a:rPr smtClean="0"/>
              <a:t>B</a:t>
            </a:r>
            <a:r>
              <a:t>. Left </a:t>
            </a:r>
            <a:r>
              <a:rPr/>
              <a:t>subtree </a:t>
            </a:r>
            <a:endParaRPr lang="en-US" dirty="0" smtClean="0"/>
          </a:p>
          <a:p>
            <a:pPr algn="l">
              <a:defRPr sz="1600" b="0">
                <a:solidFill>
                  <a:srgbClr val="F5F8FC"/>
                </a:solidFill>
              </a:defRPr>
            </a:pPr>
            <a:r>
              <a:rPr smtClean="0"/>
              <a:t>C</a:t>
            </a:r>
            <a:r>
              <a:t>. Same </a:t>
            </a:r>
            <a:r>
              <a:rPr/>
              <a:t>level  </a:t>
            </a:r>
            <a:endParaRPr lang="en-US" dirty="0" smtClean="0"/>
          </a:p>
          <a:p>
            <a:pPr algn="l">
              <a:defRPr sz="1600" b="0">
                <a:solidFill>
                  <a:srgbClr val="F5F8FC"/>
                </a:solidFill>
              </a:defRPr>
            </a:pPr>
            <a:r>
              <a:rPr smtClean="0"/>
              <a:t>D</a:t>
            </a:r>
            <a:r>
              <a:t>. Outside the tree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For root 50 with children 30 and 70, where is key 60 searched next after comparing with 50?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36768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</a:t>
            </a:r>
            <a:r>
              <a:rPr/>
              <a:t>Left  </a:t>
            </a:r>
            <a:endParaRPr lang="en-US" dirty="0" smtClean="0"/>
          </a:p>
          <a:p>
            <a:pPr algn="l">
              <a:defRPr sz="1600" b="0">
                <a:solidFill>
                  <a:srgbClr val="F5F8FC"/>
                </a:solidFill>
              </a:defRPr>
            </a:pPr>
            <a:r>
              <a:rPr smtClean="0"/>
              <a:t> </a:t>
            </a:r>
            <a:r>
              <a:t>B. </a:t>
            </a:r>
            <a:r>
              <a:rPr/>
              <a:t>Right   </a:t>
            </a:r>
            <a:endParaRPr lang="en-US" dirty="0" smtClean="0"/>
          </a:p>
          <a:p>
            <a:pPr algn="l">
              <a:defRPr sz="1600" b="0">
                <a:solidFill>
                  <a:srgbClr val="F5F8FC"/>
                </a:solidFill>
              </a:defRPr>
            </a:pPr>
            <a:r>
              <a:rPr smtClean="0"/>
              <a:t>C</a:t>
            </a:r>
            <a:r>
              <a:t>. Root </a:t>
            </a:r>
            <a:r>
              <a:rPr/>
              <a:t>again  </a:t>
            </a:r>
            <a:endParaRPr lang="en-US" dirty="0" smtClean="0"/>
          </a:p>
          <a:p>
            <a:pPr algn="l">
              <a:defRPr sz="1600" b="0">
                <a:solidFill>
                  <a:srgbClr val="F5F8FC"/>
                </a:solidFill>
              </a:defRPr>
            </a:pPr>
            <a:r>
              <a:rPr smtClean="0"/>
              <a:t> </a:t>
            </a:r>
            <a:r>
              <a:t>D. Stop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BST Construction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AFB9C8"/>
                </a:solidFill>
              </a:defRPr>
            </a:pPr>
            <a:r>
              <a:t>Insert the keys one by one while preserving BST ordering.</a:t>
            </a:r>
          </a:p>
        </p:txBody>
      </p:sp>
      <p:sp>
        <p:nvSpPr>
          <p:cNvPr id="4" name="Cube 3"/>
          <p:cNvSpPr/>
          <p:nvPr/>
        </p:nvSpPr>
        <p:spPr>
          <a:xfrm>
            <a:off x="10789920" y="274320"/>
            <a:ext cx="502920" cy="502920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94360"/>
            <a:ext cx="502920" cy="502920"/>
          </a:xfrm>
          <a:prstGeom prst="cube">
            <a:avLst/>
          </a:prstGeom>
          <a:solidFill>
            <a:srgbClr val="8255DC"/>
          </a:solidFill>
          <a:ln>
            <a:solidFill>
              <a:srgbClr val="82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1" y="1508760"/>
            <a:ext cx="5303520" cy="4480560"/>
          </a:xfrm>
          <a:prstGeom prst="roundRect">
            <a:avLst/>
          </a:prstGeom>
          <a:solidFill>
            <a:srgbClr val="050912"/>
          </a:solidFill>
          <a:ln>
            <a:solidFill>
              <a:srgbClr val="050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192237"/>
          </a:solidFill>
          <a:ln>
            <a:solidFill>
              <a:srgbClr val="41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4173DC"/>
                </a:solidFill>
              </a:defRPr>
            </a:pPr>
            <a:r>
              <a:t>Insertion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463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Insert: 50, 30, 70, 20, 40, 60, 80</a:t>
            </a:r>
            <a:br/>
            <a:r>
              <a:t/>
            </a:r>
            <a:br/>
            <a:r>
              <a:t>1. 50 becomes root.</a:t>
            </a:r>
            <a:br/>
            <a:r>
              <a:t>2. 30 &lt; 50 → left.</a:t>
            </a:r>
            <a:br/>
            <a:r>
              <a:t>3. 70 &gt; 50 → right.</a:t>
            </a:r>
            <a:br/>
            <a:r>
              <a:t>4. 20 → left of 30.</a:t>
            </a:r>
            <a:br/>
            <a:r>
              <a:t>5. 40 → right of 30.</a:t>
            </a:r>
            <a:br/>
            <a:r>
              <a:t>6. 60 → left of 70.</a:t>
            </a:r>
            <a:br/>
            <a:r>
              <a:t>7. 80 → right of 70.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508760"/>
            <a:ext cx="5303520" cy="4480560"/>
          </a:xfrm>
          <a:prstGeom prst="roundRect">
            <a:avLst/>
          </a:prstGeom>
          <a:solidFill>
            <a:srgbClr val="050912"/>
          </a:solidFill>
          <a:ln>
            <a:solidFill>
              <a:srgbClr val="050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192237"/>
          </a:solidFill>
          <a:ln>
            <a:solidFill>
              <a:srgbClr val="46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46BE7D"/>
                </a:solidFill>
              </a:defRPr>
            </a:pPr>
            <a:r>
              <a:t>Final BST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8463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             50</a:t>
            </a:r>
            <a:br/>
            <a:r>
              <a:t>           /    \</a:t>
            </a:r>
            <a:br/>
            <a:r>
              <a:t>         30      70</a:t>
            </a:r>
            <a:br/>
            <a:r>
              <a:t>        /  \    /  \</a:t>
            </a:r>
            <a:br/>
            <a:r>
              <a:t>      20   40  60   80</a:t>
            </a:r>
            <a:br/>
            <a:r>
              <a:t/>
            </a:r>
            <a:br/>
            <a:r>
              <a:t>In-order traversal:</a:t>
            </a:r>
            <a:br/>
            <a:r>
              <a:t>20 → 30 → 40 → 50 → 60 → 70 → 80</a:t>
            </a:r>
            <a:br/>
            <a:r>
              <a:t/>
            </a:r>
            <a:br/>
            <a:r>
              <a:t>In-order traversal gives sorted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BST Construction &amp; Search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Insert 50, 30, 70, 20. What is the parent of 20?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50   B. 30   C. 70   D.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Searching for 60 in 50 → 70 → 60 requires how many comparisons?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1   B. 2   C. 3   D.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BST Search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AFB9C8"/>
                </a:solidFill>
              </a:defRPr>
            </a:pPr>
            <a:r>
              <a:t>Search for a key by comparing it with the current node.</a:t>
            </a:r>
          </a:p>
        </p:txBody>
      </p:sp>
      <p:sp>
        <p:nvSpPr>
          <p:cNvPr id="4" name="Cube 3"/>
          <p:cNvSpPr/>
          <p:nvPr/>
        </p:nvSpPr>
        <p:spPr>
          <a:xfrm>
            <a:off x="10789920" y="274320"/>
            <a:ext cx="502920" cy="502920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94360"/>
            <a:ext cx="502920" cy="502920"/>
          </a:xfrm>
          <a:prstGeom prst="cube">
            <a:avLst/>
          </a:prstGeom>
          <a:solidFill>
            <a:srgbClr val="8255DC"/>
          </a:solidFill>
          <a:ln>
            <a:solidFill>
              <a:srgbClr val="82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1" y="1508760"/>
            <a:ext cx="5303520" cy="4480560"/>
          </a:xfrm>
          <a:prstGeom prst="roundRect">
            <a:avLst/>
          </a:prstGeom>
          <a:solidFill>
            <a:srgbClr val="050912"/>
          </a:solidFill>
          <a:ln>
            <a:solidFill>
              <a:srgbClr val="050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192237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DD2DC"/>
                </a:solidFill>
              </a:defRPr>
            </a:pPr>
            <a:r>
              <a:t>Search for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463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             50</a:t>
            </a:r>
            <a:br/>
            <a:r>
              <a:t>           /    \</a:t>
            </a:r>
            <a:br/>
            <a:r>
              <a:t>         30      70</a:t>
            </a:r>
            <a:br/>
            <a:r>
              <a:t>                /  \</a:t>
            </a:r>
            <a:br/>
            <a:r>
              <a:t>              60    80</a:t>
            </a:r>
            <a:br/>
            <a:r>
              <a:t/>
            </a:r>
            <a:br/>
            <a:r>
              <a:t>Step 1: 60 &gt; 50 → right</a:t>
            </a:r>
            <a:br/>
            <a:r>
              <a:t>Step 2: 60 &lt; 70 → left</a:t>
            </a:r>
            <a:br/>
            <a:r>
              <a:t>Step 3: 60 = 60 → FOUND</a:t>
            </a:r>
            <a:br/>
            <a:r>
              <a:t/>
            </a:r>
            <a:br/>
            <a:r>
              <a:t>Comparisons =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508760"/>
            <a:ext cx="5303520" cy="4480560"/>
          </a:xfrm>
          <a:prstGeom prst="roundRect">
            <a:avLst/>
          </a:prstGeom>
          <a:solidFill>
            <a:srgbClr val="050912"/>
          </a:solidFill>
          <a:ln>
            <a:solidFill>
              <a:srgbClr val="050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192237"/>
          </a:solidFill>
          <a:ln>
            <a:solidFill>
              <a:srgbClr val="82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8255DC"/>
                </a:solidFill>
              </a:defRPr>
            </a:pPr>
            <a:r>
              <a:t>Search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044890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Key &lt; node → LEFT</a:t>
            </a:r>
            <a:br/>
            <a:r>
              <a:t>Key &gt; node → RIGHT</a:t>
            </a:r>
            <a:br/>
            <a:r>
              <a:t>Key = node → FOUND</a:t>
            </a:r>
            <a:br/>
            <a:r>
              <a:t/>
            </a:r>
            <a:br/>
            <a:r>
              <a:t>If NULL is reached → NOT FOUND.</a:t>
            </a:r>
            <a:br/>
            <a:r>
              <a:t/>
            </a:r>
            <a:br/>
            <a:r>
              <a:t>A balanced BST can </a:t>
            </a:r>
            <a:r>
              <a:rPr/>
              <a:t>be </a:t>
            </a:r>
            <a:r>
              <a:rPr smtClean="0"/>
              <a:t>efficient</a:t>
            </a:r>
            <a:r>
              <a:rPr lang="en-US" dirty="0" smtClean="0"/>
              <a:t> </a:t>
            </a:r>
            <a:r>
              <a:rPr smtClean="0"/>
              <a:t>a </a:t>
            </a:r>
            <a:endParaRPr lang="en-US" dirty="0" smtClean="0"/>
          </a:p>
          <a:p>
            <a:pPr>
              <a:defRPr sz="1600" b="0">
                <a:solidFill>
                  <a:srgbClr val="F5F8FC"/>
                </a:solidFill>
              </a:defRPr>
            </a:pPr>
            <a:r>
              <a:rPr smtClean="0"/>
              <a:t>highly skewed </a:t>
            </a:r>
            <a:r>
              <a:t>BST can behave like a linked 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Why Optimal BST?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What does OBST centrally use that ordinary BST does not?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Key colors   B. Access frequencies   C. Addresses   D. Height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For frequency f and depth d (root depth 0), successful-search weighted cost 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f+d   B. f×d   C. f×(d+1)   D. d/f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43576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BST Search Cost </a:t>
            </a:r>
            <a:r>
              <a:rPr/>
              <a:t>— </a:t>
            </a:r>
            <a:r>
              <a:rPr smtClean="0"/>
              <a:t>  </a:t>
            </a:r>
            <a:r>
              <a:t>OBST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AFB9C8"/>
                </a:solidFill>
              </a:defRPr>
            </a:pPr>
            <a:r>
              <a:t>The position of a key affects how many comparisons are required.</a:t>
            </a:r>
          </a:p>
        </p:txBody>
      </p:sp>
      <p:sp>
        <p:nvSpPr>
          <p:cNvPr id="4" name="Cube 3"/>
          <p:cNvSpPr/>
          <p:nvPr/>
        </p:nvSpPr>
        <p:spPr>
          <a:xfrm>
            <a:off x="10789920" y="274320"/>
            <a:ext cx="502920" cy="502920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94360"/>
            <a:ext cx="502920" cy="502920"/>
          </a:xfrm>
          <a:prstGeom prst="cube">
            <a:avLst/>
          </a:prstGeom>
          <a:solidFill>
            <a:srgbClr val="8255DC"/>
          </a:solidFill>
          <a:ln>
            <a:solidFill>
              <a:srgbClr val="82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1" y="1508760"/>
            <a:ext cx="5303520" cy="4480560"/>
          </a:xfrm>
          <a:prstGeom prst="roundRect">
            <a:avLst/>
          </a:prstGeom>
          <a:solidFill>
            <a:srgbClr val="050912"/>
          </a:solidFill>
          <a:ln>
            <a:solidFill>
              <a:srgbClr val="050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192237"/>
          </a:solidFill>
          <a:ln>
            <a:solidFill>
              <a:srgbClr val="41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4173DC"/>
                </a:solidFill>
              </a:defRPr>
            </a:pPr>
            <a:r>
              <a:t>Simple Search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463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If root depth = 0:</a:t>
            </a:r>
            <a:br/>
            <a:r>
              <a:t/>
            </a:r>
            <a:br/>
            <a:r>
              <a:t>Depth 0 → 1 comparison</a:t>
            </a:r>
            <a:br/>
            <a:r>
              <a:t>Depth 1 → 2 comparisons</a:t>
            </a:r>
            <a:br/>
            <a:r>
              <a:t>Depth 2 → 3 comparisons</a:t>
            </a:r>
            <a:br/>
            <a:r>
              <a:t/>
            </a:r>
            <a:br/>
            <a:r>
              <a:t>General cost for a key:</a:t>
            </a:r>
            <a:br/>
            <a:r>
              <a:t>frequency × (depth + 1)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508760"/>
            <a:ext cx="5303520" cy="4480560"/>
          </a:xfrm>
          <a:prstGeom prst="roundRect">
            <a:avLst/>
          </a:prstGeom>
          <a:solidFill>
            <a:srgbClr val="050912"/>
          </a:solidFill>
          <a:ln>
            <a:solidFill>
              <a:srgbClr val="050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192237"/>
          </a:solidFill>
          <a:ln>
            <a:solidFill>
              <a:srgbClr val="46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46BE7D"/>
                </a:solidFill>
              </a:defRPr>
            </a:pPr>
            <a:r>
              <a:t>Why Optimal BST?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280292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Suppose:</a:t>
            </a:r>
            <a:br/>
            <a:r>
              <a:t>10 → frequency 50</a:t>
            </a:r>
            <a:br/>
            <a:r>
              <a:t>20 → frequency 5</a:t>
            </a:r>
            <a:br/>
            <a:r>
              <a:t>30 → frequency 2</a:t>
            </a:r>
            <a:br/>
            <a:r>
              <a:t/>
            </a:r>
            <a:br/>
            <a:r>
              <a:t>Frequently searched keys should ideally be closer to the root.</a:t>
            </a:r>
            <a:br/>
            <a:r>
              <a:t/>
            </a:r>
            <a:br/>
            <a:r>
              <a:t>OBST chooses the BST structure that </a:t>
            </a:r>
            <a:r>
              <a:rPr/>
              <a:t>minimizes </a:t>
            </a:r>
            <a:endParaRPr lang="en-IN" dirty="0" smtClean="0"/>
          </a:p>
          <a:p>
            <a:pPr>
              <a:defRPr sz="1600" b="0">
                <a:solidFill>
                  <a:srgbClr val="F5F8FC"/>
                </a:solidFill>
              </a:defRPr>
            </a:pPr>
            <a:r>
              <a:rPr smtClean="0"/>
              <a:t>the </a:t>
            </a:r>
            <a:r>
              <a:t>total weighted search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868680"/>
            <a:ext cx="10881360" cy="498348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749808"/>
            <a:ext cx="10881360" cy="498348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749808"/>
            <a:ext cx="10881360" cy="7315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325880"/>
            <a:ext cx="6400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F5F8FF"/>
                </a:solidFill>
                <a:latin typeface="Aptos"/>
              </a:rPr>
              <a:t>OPTIMAL BINARY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7132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DD2BE"/>
                </a:solidFill>
                <a:latin typeface="Aptos"/>
              </a:rPr>
              <a:t>SEARCH TREE (OBST)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633472"/>
            <a:ext cx="6217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B1C3DD"/>
                </a:solidFill>
                <a:latin typeface="Aptos"/>
              </a:rPr>
              <a:t>Dynamic Programming • B.Tech / CSE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154680"/>
            <a:ext cx="5943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Arrange sorted keys into a binary search tree so that the expected search cost is minimized.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05672" y="1490472"/>
            <a:ext cx="100584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32520" y="1417320"/>
            <a:ext cx="100584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490472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1231" y="2404872"/>
            <a:ext cx="82296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79" y="2331720"/>
            <a:ext cx="82296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2404872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40112" y="2404872"/>
            <a:ext cx="82296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966960" y="2331720"/>
            <a:ext cx="82296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2404872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2016" y="3246120"/>
            <a:ext cx="696063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5B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319272"/>
            <a:ext cx="731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300" b="1" dirty="0" smtClean="0">
                <a:solidFill>
                  <a:srgbClr val="F5F8FF"/>
                </a:solidFill>
                <a:latin typeface="Aptos"/>
              </a:rPr>
              <a:t>      </a:t>
            </a:r>
            <a:r>
              <a:rPr sz="1300" b="1" smtClean="0">
                <a:solidFill>
                  <a:srgbClr val="F5F8FF"/>
                </a:solidFill>
                <a:latin typeface="Aptos"/>
              </a:rPr>
              <a:t>K</a:t>
            </a:r>
            <a:endParaRPr sz="1300" b="1">
              <a:solidFill>
                <a:srgbClr val="F5F8FF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74152" y="3319272"/>
            <a:ext cx="73152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01000" y="3246120"/>
            <a:ext cx="73152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0" y="3319272"/>
            <a:ext cx="731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5752" y="3319272"/>
            <a:ext cx="73152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72600" y="3246120"/>
            <a:ext cx="73152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3319272"/>
            <a:ext cx="731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80192" y="3319272"/>
            <a:ext cx="73152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607040" y="3246120"/>
            <a:ext cx="73152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0" y="3319272"/>
            <a:ext cx="731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4297680"/>
            <a:ext cx="1097280" cy="347472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52360" y="4251960"/>
            <a:ext cx="1097280" cy="347472"/>
          </a:xfrm>
          <a:prstGeom prst="roundRect">
            <a:avLst/>
          </a:prstGeom>
          <a:solidFill>
            <a:srgbClr val="0C1C3A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52360" y="4261104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3FB4FF"/>
                </a:solidFill>
                <a:latin typeface="Aptos"/>
              </a:rPr>
              <a:t>DP COST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4297680"/>
            <a:ext cx="914400" cy="347472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732520" y="4251960"/>
            <a:ext cx="914400" cy="347472"/>
          </a:xfrm>
          <a:prstGeom prst="roundRect">
            <a:avLst/>
          </a:prstGeom>
          <a:solidFill>
            <a:srgbClr val="0C1C3A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4261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DD2BE"/>
                </a:solidFill>
                <a:latin typeface="Aptos"/>
              </a:rPr>
              <a:t>ROOT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4297680"/>
            <a:ext cx="914400" cy="347472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829800" y="4251960"/>
            <a:ext cx="914400" cy="347472"/>
          </a:xfrm>
          <a:prstGeom prst="roundRect">
            <a:avLst/>
          </a:prstGeom>
          <a:solidFill>
            <a:srgbClr val="0C1C3A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4261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C24D"/>
                </a:solidFill>
                <a:latin typeface="Aptos"/>
              </a:rPr>
              <a:t>C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074920" cy="1737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074920" cy="17373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07492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4745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Define OBST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DD2B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56232"/>
            <a:ext cx="3840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F5F8FF"/>
                </a:solidFill>
                <a:latin typeface="Aptos"/>
              </a:rPr>
              <a:t>Understand successful-search frequencies and expected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074920" cy="1737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5074920" cy="17373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507492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1527048"/>
            <a:ext cx="4745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Formulate 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92024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FB4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56232"/>
            <a:ext cx="3840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F5F8FF"/>
                </a:solidFill>
                <a:latin typeface="Aptos"/>
              </a:rPr>
              <a:t>Build the cost recurrence and interval weights.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074920" cy="1737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074920" cy="17373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5074920" cy="50292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675888"/>
            <a:ext cx="4745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D"/>
                </a:solidFill>
                <a:latin typeface="Aptos"/>
              </a:rPr>
              <a:t>Find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690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C24D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05072"/>
            <a:ext cx="3840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F5F8FF"/>
                </a:solidFill>
                <a:latin typeface="Aptos"/>
              </a:rPr>
              <a:t>Evaluate each possible root and choose minimum cost.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5074920" cy="1737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0" y="3566160"/>
            <a:ext cx="5074920" cy="17373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3566160"/>
            <a:ext cx="5074920" cy="50292"/>
          </a:xfrm>
          <a:prstGeom prst="rect">
            <a:avLst/>
          </a:prstGeom>
          <a:solidFill>
            <a:srgbClr val="5BDC96"/>
          </a:solidFill>
          <a:ln>
            <a:solidFill>
              <a:srgbClr val="5B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91072" y="3675888"/>
            <a:ext cx="4745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DC96"/>
                </a:solidFill>
                <a:latin typeface="Aptos"/>
              </a:rPr>
              <a:t>Construct the 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0690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BDC96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005072"/>
            <a:ext cx="3840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F5F8FF"/>
                </a:solidFill>
                <a:latin typeface="Aptos"/>
              </a:rPr>
              <a:t>Use root information to reconstruct an optimal BST.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1. What is an Optimal Binary Search Tree?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212080" cy="438912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21208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48828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4617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An Optimal Binary Search Tree is a BST arranged to minimize the expected search cost when keys have different access frequencies.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474720"/>
            <a:ext cx="1508760" cy="347472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0120" y="3429000"/>
            <a:ext cx="1508760" cy="347472"/>
          </a:xfrm>
          <a:prstGeom prst="roundRect">
            <a:avLst/>
          </a:prstGeom>
          <a:solidFill>
            <a:srgbClr val="0C1C3A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DD2BE"/>
                </a:solidFill>
                <a:latin typeface="Aptos"/>
              </a:rPr>
              <a:t>SORTED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474720"/>
            <a:ext cx="1691640" cy="347472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97480" y="3429000"/>
            <a:ext cx="1691640" cy="347472"/>
          </a:xfrm>
          <a:prstGeom prst="roundRect">
            <a:avLst/>
          </a:prstGeom>
          <a:solidFill>
            <a:srgbClr val="0C1C3A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3438144"/>
            <a:ext cx="1691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3FB4FF"/>
                </a:solidFill>
                <a:latin typeface="Aptos"/>
              </a:rPr>
              <a:t>FREQUENCIES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474720"/>
            <a:ext cx="960120" cy="347472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0" y="3429000"/>
            <a:ext cx="960120" cy="347472"/>
          </a:xfrm>
          <a:prstGeom prst="roundRect">
            <a:avLst/>
          </a:prstGeom>
          <a:solidFill>
            <a:srgbClr val="0C1C3A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438144"/>
            <a:ext cx="960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C24D"/>
                </a:solidFill>
                <a:latin typeface="Aptos"/>
              </a:rPr>
              <a:t>MINIMUM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4480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B1C3DD"/>
                </a:solidFill>
                <a:latin typeface="Aptos"/>
              </a:rPr>
              <a:t>Frequently searched keys should ideally appear closer to the root.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5394960" cy="43891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72200" y="1325880"/>
            <a:ext cx="5394960" cy="438912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1325880"/>
            <a:ext cx="539496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1435607"/>
            <a:ext cx="50657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BASIC IDEA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1938527"/>
            <a:ext cx="1005840" cy="4572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46720" y="1874519"/>
            <a:ext cx="1005840" cy="457200"/>
          </a:xfrm>
          <a:prstGeom prst="roundRect">
            <a:avLst/>
          </a:prstGeom>
          <a:solidFill>
            <a:srgbClr val="193760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0" y="1938527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76288" y="2807208"/>
            <a:ext cx="914400" cy="4572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12280" y="2743200"/>
            <a:ext cx="914400" cy="45720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28072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5168" y="2807208"/>
            <a:ext cx="914400" cy="4572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281160" y="2743200"/>
            <a:ext cx="914400" cy="457200"/>
          </a:xfrm>
          <a:prstGeom prst="roundRect">
            <a:avLst/>
          </a:prstGeom>
          <a:solidFill>
            <a:srgbClr val="193760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1160" y="28072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79008" y="3675888"/>
            <a:ext cx="822960" cy="4572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715000" y="3611880"/>
            <a:ext cx="822960" cy="457200"/>
          </a:xfrm>
          <a:prstGeom prst="roundRect">
            <a:avLst/>
          </a:prstGeom>
          <a:solidFill>
            <a:srgbClr val="193760"/>
          </a:solidFill>
          <a:ln>
            <a:solidFill>
              <a:srgbClr val="5B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367588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79208" y="3675888"/>
            <a:ext cx="822960" cy="4572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315200" y="3611880"/>
            <a:ext cx="822960" cy="457200"/>
          </a:xfrm>
          <a:prstGeom prst="roundRect">
            <a:avLst/>
          </a:prstGeom>
          <a:solidFill>
            <a:srgbClr val="193760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367588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87968" y="3675888"/>
            <a:ext cx="822960" cy="4572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823960" y="3611880"/>
            <a:ext cx="822960" cy="45720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23960" y="367588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22408" y="3675888"/>
            <a:ext cx="822960" cy="4572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058400" y="3611880"/>
            <a:ext cx="822960" cy="457200"/>
          </a:xfrm>
          <a:prstGeom prst="roundRect">
            <a:avLst/>
          </a:prstGeom>
          <a:solidFill>
            <a:srgbClr val="193760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0" y="367588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6634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B1C3DD"/>
                </a:solidFill>
                <a:latin typeface="Aptos"/>
              </a:rPr>
              <a:t>BST ordering is preserved: left &lt; root &lt; right.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2. Problem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6400800" cy="43891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400800" cy="438912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0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6071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1C3DD"/>
                </a:solidFill>
                <a:latin typeface="Aptos"/>
              </a:rPr>
              <a:t>Sorted keys: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FB4FF"/>
                </a:solidFill>
                <a:latin typeface="Aptos"/>
              </a:rPr>
              <a:t>K1 &lt; K2 &lt; K3 &lt; … &lt; Kn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1C3DD"/>
                </a:solidFill>
                <a:latin typeface="Aptos"/>
              </a:rPr>
              <a:t>Successful-search frequencies: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C24D"/>
                </a:solidFill>
                <a:latin typeface="Aptos"/>
              </a:rPr>
              <a:t>p1, p2, p3, …, 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5394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Goal: choose the BST structure with minimum weighted search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417320"/>
            <a:ext cx="4297680" cy="43891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69480" y="1325880"/>
            <a:ext cx="4297680" cy="438912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1325880"/>
            <a:ext cx="429768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34072" y="1435607"/>
            <a:ext cx="3968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SEARCH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874519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1C3DD"/>
                </a:solidFill>
                <a:latin typeface="Aptos"/>
              </a:rPr>
              <a:t>Cost of a key at depth 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46888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DD2BE"/>
                </a:solidFill>
                <a:latin typeface="Aptos"/>
              </a:rPr>
              <a:t>frequency × (d + 1)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337560"/>
            <a:ext cx="37490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5F8FF"/>
                </a:solidFill>
                <a:latin typeface="Aptos"/>
              </a:rPr>
              <a:t>Root has depth 0 → cost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114800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C24D"/>
                </a:solidFill>
                <a:latin typeface="Aptos"/>
              </a:rPr>
              <a:t>Minimize the total weighted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Problem Formulation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Why must OBST keys be sorted?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Preserve BST ordering   B. Equalize frequencies   C. Avoid DP   D. Remove roots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What is the goal of OBST?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Maximize height   B. Minimize weighted search cost   C. Maximize nodes   D. Minimize keys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3. Why Dynamic Programming?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657600" cy="43891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657600" cy="438912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3657600" cy="50292"/>
          </a:xfrm>
          <a:prstGeom prst="rect">
            <a:avLst/>
          </a:prstGeom>
          <a:solidFill>
            <a:srgbClr val="FF646E"/>
          </a:solidFill>
          <a:ln>
            <a:solidFill>
              <a:srgbClr val="FF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33284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646E"/>
                </a:solidFill>
                <a:latin typeface="Aptos"/>
              </a:rPr>
              <a:t>OVERLAPPING SUBPROBLEMS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An interval of keys can appear as a subtree in many candidate trees.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The same interval cost is reused when different roots are tested.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DP stores each interval result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417320"/>
            <a:ext cx="3246120" cy="43891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3246120" cy="438912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325880"/>
            <a:ext cx="3246120" cy="50292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29169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D"/>
                </a:solidFill>
                <a:latin typeface="Aptos"/>
              </a:rPr>
              <a:t>OPTIMAL SUBSTRUCTURE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74519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If Kr is the root of keys i…j, then: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880360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DD2BE"/>
                </a:solidFill>
                <a:latin typeface="Aptos"/>
              </a:rPr>
              <a:t>Left subtree = optimal
for i…r−1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886200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FB4FF"/>
                </a:solidFill>
                <a:latin typeface="Aptos"/>
              </a:rPr>
              <a:t>Right subtree = optimal
for r+1…j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566160" cy="43891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1000" y="1325880"/>
            <a:ext cx="3566160" cy="438912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01000" y="1325880"/>
            <a:ext cx="356616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5592" y="1435607"/>
            <a:ext cx="32369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DP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20240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Solve small intervals → larger intervals → full key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15468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C24D"/>
                </a:solidFill>
                <a:latin typeface="Aptos"/>
              </a:rPr>
              <a:t>Interval [i,j]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65760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1C3DD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06908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DD2BE"/>
                </a:solidFill>
                <a:latin typeface="Aptos"/>
              </a:rPr>
              <a:t>Choose every possible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Why Dynamic Programming?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If Kr is root for keys i…j, what is the left subtree interval?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r…j   B. i…r−1   C. All keys   D. Empty always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B. i…r−1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Which DP property explains reuse of interval results?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Randomness   B. Overlapping subproblems   C. Hashing   D. Sorting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B. Overlapping subproblems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4. DP State and Recurrence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972800" cy="192024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192024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097280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44168"/>
            <a:ext cx="10643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DP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FB4FF"/>
                </a:solidFill>
                <a:latin typeface="Aptos"/>
              </a:rPr>
              <a:t>cost[i][j] = minimum search cost for the sorted keys Ki … Kj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20440"/>
            <a:ext cx="10972800" cy="20574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3429000"/>
            <a:ext cx="10972800" cy="205740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3429000"/>
            <a:ext cx="1097280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538728"/>
            <a:ext cx="10643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RECURRENCE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10424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5F8FF"/>
                </a:solidFill>
                <a:latin typeface="Aptos"/>
              </a:rPr>
              <a:t>cost[i][j] = min over r∈[i,j] { cost[i][r−1] + cost[r+1][j] } + weight(i,j)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800600"/>
            <a:ext cx="7772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C24D"/>
                </a:solidFill>
                <a:latin typeface="Aptos"/>
              </a:rPr>
              <a:t>where weight(i,j) = pi + pi+1 + … + pj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DP State &amp; Recurrence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What does cost[i][j] represent?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One-key cost   B. Minimum cost for Ki…Kj   C. Frequency of Kj   D. Height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B. Minimum cost for Ki…Kj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What is weight(i,j)?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Product of frequencies   B. Sum of frequencies i through j   C. Maximum frequency   D. Number of roots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B. Sum of frequencies i through j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5. The Key Insight — Every Root is a Candidate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972800" cy="475488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10972800" cy="475488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10972800" cy="50292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89888"/>
            <a:ext cx="10643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D"/>
                </a:solidFill>
                <a:latin typeface="Aptos"/>
              </a:rPr>
              <a:t>TRY ALL POSSIBLE ROOTS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3312" y="1965960"/>
            <a:ext cx="868680" cy="594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80160" y="1901952"/>
            <a:ext cx="868680" cy="59436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993392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K1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0752" y="1965960"/>
            <a:ext cx="868680" cy="594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7600" y="1901952"/>
            <a:ext cx="868680" cy="594360"/>
          </a:xfrm>
          <a:prstGeom prst="roundRect">
            <a:avLst/>
          </a:prstGeom>
          <a:solidFill>
            <a:srgbClr val="193760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993392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K2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965960"/>
            <a:ext cx="868680" cy="594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35040" y="1901952"/>
            <a:ext cx="868680" cy="59436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1993392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K3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965960"/>
            <a:ext cx="868680" cy="594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901952"/>
            <a:ext cx="868680" cy="59436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993392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K4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718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1C3DD"/>
                </a:solidFill>
                <a:latin typeface="Aptos"/>
              </a:rPr>
              <a:t>For interval [1,4], test: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566160"/>
            <a:ext cx="1920240" cy="658368"/>
          </a:xfrm>
          <a:prstGeom prst="round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7033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r =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3566160"/>
            <a:ext cx="1920240" cy="658368"/>
          </a:xfrm>
          <a:prstGeom prst="round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37033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C24D"/>
                </a:solidFill>
                <a:latin typeface="Aptos"/>
              </a:rPr>
              <a:t>r =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566160"/>
            <a:ext cx="1920240" cy="658368"/>
          </a:xfrm>
          <a:prstGeom prst="round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37033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r =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3566160"/>
            <a:ext cx="1920240" cy="658368"/>
          </a:xfrm>
          <a:prstGeom prst="round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37033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r =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892040"/>
            <a:ext cx="7040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DD2BE"/>
                </a:solidFill>
                <a:latin typeface="Aptos"/>
              </a:rPr>
              <a:t>Choose the root with the smallest total cost.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Candidate Roots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For interval [i,j], which roots are tested?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i only   B. j only   C. Every r from i to j   D. Middle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C. Every r from i to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Which candidate is stored after testing all roots?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Largest cost   B. Smallest total cost   C. First root   D. Last root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B. Smallest total cost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6. Worked Example — Keys and Frequencies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1C3DD"/>
                </a:solidFill>
                <a:latin typeface="Aptos"/>
              </a:rPr>
              <a:t>Keys = 10, 20, 30, 40   |   Frequencies = 3, 3, 1,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937760" cy="44805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4937760" cy="44805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493776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4608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1C3DD"/>
                </a:solidFill>
                <a:latin typeface="Aptos"/>
              </a:rPr>
              <a:t>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FB4FF"/>
                </a:solidFill>
                <a:latin typeface="Aptos"/>
              </a:rPr>
              <a:t>10   20   30   40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1C3DD"/>
                </a:solidFill>
                <a:latin typeface="Aptos"/>
              </a:rPr>
              <a:t>Freq.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C24D"/>
                </a:solidFill>
                <a:latin typeface="Aptos"/>
              </a:rPr>
              <a:t>3     3     1     1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297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5F8FF"/>
                </a:solidFill>
                <a:latin typeface="Aptos"/>
              </a:rPr>
              <a:t>Higher frequency → greater impact on total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79" y="1417320"/>
            <a:ext cx="5760720" cy="44805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06440" y="1325880"/>
            <a:ext cx="5760720" cy="44805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1325880"/>
            <a:ext cx="576072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71031" y="1435607"/>
            <a:ext cx="54315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INTERVAL WEIGHTS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79"/>
            <a:ext cx="1417320" cy="6858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1965960"/>
            <a:ext cx="1417320" cy="685800"/>
          </a:xfrm>
          <a:prstGeom prst="round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2039112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1C3DD"/>
                </a:solidFill>
                <a:latin typeface="Aptos"/>
              </a:rPr>
              <a:t>[1,1]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95144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DD2BE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011679"/>
            <a:ext cx="1417320" cy="6858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63840" y="1965960"/>
            <a:ext cx="1417320" cy="685800"/>
          </a:xfrm>
          <a:prstGeom prst="round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2039112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1C3DD"/>
                </a:solidFill>
                <a:latin typeface="Aptos"/>
              </a:rPr>
              <a:t>[1,2]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295144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DD2BE"/>
                </a:solidFill>
                <a:latin typeface="Aptos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011679"/>
            <a:ext cx="1417320" cy="6858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55480" y="1965960"/>
            <a:ext cx="1417320" cy="685800"/>
          </a:xfrm>
          <a:prstGeom prst="round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2039112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1C3DD"/>
                </a:solidFill>
                <a:latin typeface="Aptos"/>
              </a:rPr>
              <a:t>[1,3]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295144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DD2BE"/>
                </a:solidFill>
                <a:latin typeface="Aptos"/>
              </a:rP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246120"/>
            <a:ext cx="1417320" cy="6858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72200" y="3200400"/>
            <a:ext cx="1417320" cy="685800"/>
          </a:xfrm>
          <a:prstGeom prst="round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273552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1C3DD"/>
                </a:solidFill>
                <a:latin typeface="Aptos"/>
              </a:rPr>
              <a:t>[1,4]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529584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DD2BE"/>
                </a:solidFill>
                <a:latin typeface="Aptos"/>
              </a:rPr>
              <a:t>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60" y="3246120"/>
            <a:ext cx="1417320" cy="6858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863840" y="3200400"/>
            <a:ext cx="1417320" cy="685800"/>
          </a:xfrm>
          <a:prstGeom prst="round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0" y="3273552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1C3DD"/>
                </a:solidFill>
                <a:latin typeface="Aptos"/>
              </a:rPr>
              <a:t>[2,4]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529584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DD2BE"/>
                </a:solidFill>
                <a:latin typeface="Aptos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3246120"/>
            <a:ext cx="1417320" cy="68580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555480" y="3200400"/>
            <a:ext cx="1417320" cy="685800"/>
          </a:xfrm>
          <a:prstGeom prst="round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55480" y="3273552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1C3DD"/>
                </a:solidFill>
                <a:latin typeface="Aptos"/>
              </a:rPr>
              <a:t>[3,4]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529584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DD2BE"/>
                </a:solidFill>
                <a:latin typeface="Apto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074920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1C3DD"/>
                </a:solidFill>
                <a:latin typeface="Aptos"/>
              </a:rPr>
              <a:t>weight(i,j) = sum of frequencies in that interval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7. DP Cost Table — Worked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124712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FB4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124712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FB4FF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24712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FB4FF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124712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FB4FF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365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FB4FF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554480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0" y="150876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161848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554480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161848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554480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0" y="150876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161848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554480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1508760"/>
            <a:ext cx="713232" cy="71323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161848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331720"/>
            <a:ext cx="365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FB4FF"/>
                </a:solidFill>
                <a:latin typeface="Apto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2377439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28800" y="233172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0" y="244144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79" y="2377439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51760" y="233172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51760" y="244144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39" y="2377439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0" y="233172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244144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377439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7680" y="233172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0" y="244144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154680"/>
            <a:ext cx="365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FB4FF"/>
                </a:solidFill>
                <a:latin typeface="Aptos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3200400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828800" y="315468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0" y="326440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79" y="3200400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315468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51760" y="326440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39" y="3200400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74720" y="315468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74720" y="326440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3200400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97680" y="3154680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0" y="326440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3977639"/>
            <a:ext cx="365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FB4FF"/>
                </a:solidFill>
                <a:latin typeface="Aptos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4023359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828800" y="3977639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0" y="408736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79" y="4023359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651760" y="3977639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51760" y="408736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20439" y="4023359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474720" y="3977639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74720" y="408736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4023359"/>
            <a:ext cx="713232" cy="71323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297680" y="3977639"/>
            <a:ext cx="713232" cy="713232"/>
          </a:xfrm>
          <a:prstGeom prst="rect">
            <a:avLst/>
          </a:prstGeom>
          <a:solidFill>
            <a:srgbClr val="193760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97680" y="408736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60720" y="1417320"/>
            <a:ext cx="5669280" cy="44805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669280" y="1325880"/>
            <a:ext cx="5669280" cy="44805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669280" y="1325880"/>
            <a:ext cx="566928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833872" y="1435607"/>
            <a:ext cx="53400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HOW cost[1][4] = 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1874519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Test root 10 → total cost 18.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Test root 20 → total cost 14.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Test root 30 → total cost 15.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Test root 40 → total cost 20.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Minimum = 14, so key 20 becomes the root.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89320" y="507492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C24D"/>
                </a:solidFill>
                <a:latin typeface="Aptos"/>
              </a:rPr>
              <a:t>Optimal root = 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Worked Example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For keys 10,20,30,40 with frequencies 3,3,1,1, what is total frequency?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6   B. 7   C. 8   D.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In the supplied 4-key worked example, which key is the optimal root?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10   B. 20   C. 30   D.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8. Constructing the Optimal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6400800" cy="466344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6400800" cy="466344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640080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89888"/>
            <a:ext cx="6071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OPTIMAL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4952" y="1901952"/>
            <a:ext cx="100584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100584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901952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4792" y="2862072"/>
            <a:ext cx="82296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91640" y="2788920"/>
            <a:ext cx="82296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91640" y="2862072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2862072"/>
            <a:ext cx="82296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43400" y="2788920"/>
            <a:ext cx="82296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2862072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822191"/>
            <a:ext cx="822960" cy="50292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40680" y="3749039"/>
            <a:ext cx="822960" cy="502920"/>
          </a:xfrm>
          <a:prstGeom prst="roundRect">
            <a:avLst/>
          </a:prstGeom>
          <a:solidFill>
            <a:srgbClr val="193760"/>
          </a:solidFill>
          <a:ln>
            <a:solidFill>
              <a:srgbClr val="5B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40680" y="3822191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C24D"/>
                </a:solidFill>
                <a:latin typeface="Aptos"/>
              </a:rPr>
              <a:t>Root = 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371600"/>
            <a:ext cx="4297680" cy="466344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69480" y="1280160"/>
            <a:ext cx="4297680" cy="466344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69480" y="1280160"/>
            <a:ext cx="429768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4072" y="1389888"/>
            <a:ext cx="3968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SEARCH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01168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Key 20 → depth 0 → cost 3×1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74320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Key 10 → depth 1 → cost 3×2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47472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Key 30 → depth 1 → cost 1×2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206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Key 40 → depth 2 → cost 1×3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0749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DD2BE"/>
                </a:solidFill>
                <a:latin typeface="Aptos"/>
              </a:rPr>
              <a:t>Total = 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Constructing the Optimal Tree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With frequency 1 and depth 2, what is a key's successful-search cost?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1   B. 2   C. 3   D.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C.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For root 20 with frequencies 3,3,1,1, what total cost is shown?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12   B. 14   C. 16   D.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B. 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11. Complexity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3429000" cy="35661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35661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42900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618488"/>
            <a:ext cx="30998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63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DD2BE"/>
                </a:solidFill>
                <a:latin typeface="Aptos"/>
              </a:rPr>
              <a:t>O(n³)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2880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F5F8FF"/>
                </a:solidFill>
                <a:latin typeface="Aptos"/>
              </a:rPr>
              <a:t>Three nested decisions: interval × start × root.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3429000" cy="35661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429000" cy="35661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508760"/>
            <a:ext cx="342900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618488"/>
            <a:ext cx="30998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3063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3FB4FF"/>
                </a:solidFill>
                <a:latin typeface="Aptos"/>
              </a:rPr>
              <a:t>O(n²)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54680"/>
            <a:ext cx="2880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F5F8FF"/>
                </a:solidFill>
                <a:latin typeface="Aptos"/>
              </a:rPr>
              <a:t>DP cost table stores every interval.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600200"/>
            <a:ext cx="3429000" cy="35661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75320" y="1508760"/>
            <a:ext cx="3429000" cy="35661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508760"/>
            <a:ext cx="3429000" cy="50292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618488"/>
            <a:ext cx="30998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D"/>
                </a:solidFill>
                <a:latin typeface="Aptos"/>
              </a:rPr>
              <a:t>With prefix sums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40280"/>
            <a:ext cx="3063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C24D"/>
                </a:solidFill>
                <a:latin typeface="Aptos"/>
              </a:rPr>
              <a:t>O(n³)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54680"/>
            <a:ext cx="2880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F5F8FF"/>
                </a:solidFill>
                <a:latin typeface="Aptos"/>
              </a:rPr>
              <a:t>Weights can be obtained in O(1), but root testing remains cubic.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62356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1C3DD"/>
                </a:solidFill>
                <a:latin typeface="Aptos"/>
              </a:rPr>
              <a:t>n = number of sorted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Complexity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Standard OBST DP time complexity?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O(n)   B. O(n log n)   C. O(n²)   D. O(n³)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D. O(n³)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Standard space complexity?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O(n)   B. O(n²)   C. O(n³)   D. O(2ⁿ)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B. O(n²)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12. Advantages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443484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443484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303520" cy="50292"/>
          </a:xfrm>
          <a:prstGeom prst="rect">
            <a:avLst/>
          </a:prstGeom>
          <a:solidFill>
            <a:srgbClr val="5BDC96"/>
          </a:solidFill>
          <a:ln>
            <a:solidFill>
              <a:srgbClr val="5B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49743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DC96"/>
                </a:solidFill>
                <a:latin typeface="Aptos"/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Produces the minimum weighted search cost.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Systematically evaluates every possible root.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Clear dynamic-programming structure.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Useful when access frequencies are known or estimated.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Can store root choices to reconstruct the tree.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17320"/>
            <a:ext cx="5303520" cy="443484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443484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303520" cy="50292"/>
          </a:xfrm>
          <a:prstGeom prst="rect">
            <a:avLst/>
          </a:prstGeom>
          <a:solidFill>
            <a:srgbClr val="FF646E"/>
          </a:solidFill>
          <a:ln>
            <a:solidFill>
              <a:srgbClr val="FF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435607"/>
            <a:ext cx="49743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646E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O(n³) time for the standard formulation.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O(n²) memory for the cost/root tables.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Requires sorted keys and meaningful frequencies.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A frequency change may require rebuilding the DP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Advantages &amp; Applications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OBST is especially useful when keys and access frequencies are: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Relatively stable   B. Random every second   C. Unavailable   D. Unsorted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A. Relatively stable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Which is listed as an OBST application?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Compiler design   B. CPU scheduling only   C. Image compression only   D. Network routing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A. Compiler design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13. Applications of OBST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19" y="1508760"/>
            <a:ext cx="5074920" cy="1737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074920" cy="17373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07492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4745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Dictionary / Symbol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26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Frequently accessed words or symbols can be placed near the root.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074920" cy="1737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074920" cy="17373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07492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27048"/>
            <a:ext cx="4745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Compiler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526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Useful for static lookup structures and identifier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" y="3657600"/>
            <a:ext cx="5074920" cy="1737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5074920" cy="17373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5074920" cy="50292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675888"/>
            <a:ext cx="4745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D"/>
                </a:solidFill>
                <a:latin typeface="Aptos"/>
              </a:rPr>
              <a:t>Database Indexing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526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Access frequencies can guide efficient static search structures.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57600"/>
            <a:ext cx="5074920" cy="17373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074920" cy="17373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566160"/>
            <a:ext cx="5074920" cy="50292"/>
          </a:xfrm>
          <a:prstGeom prst="rect">
            <a:avLst/>
          </a:prstGeom>
          <a:solidFill>
            <a:srgbClr val="5BDC96"/>
          </a:solidFill>
          <a:ln>
            <a:solidFill>
              <a:srgbClr val="5B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3675888"/>
            <a:ext cx="4745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DC96"/>
                </a:solidFill>
                <a:latin typeface="Aptos"/>
              </a:rPr>
              <a:t>Static Search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0520"/>
            <a:ext cx="4526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Useful when keys and access probabilities are relatively stable.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14. OBST vs Ordinary BST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972800" cy="44805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0972800" cy="44805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0972800" cy="50292"/>
          </a:xfrm>
          <a:prstGeom prst="rect">
            <a:avLst/>
          </a:prstGeom>
          <a:solidFill>
            <a:srgbClr val="3FB4FF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10643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FB4FF"/>
                </a:solidFill>
                <a:latin typeface="Aptos"/>
              </a:rPr>
              <a:t>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" y="1911095"/>
            <a:ext cx="2286000" cy="502920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874519"/>
            <a:ext cx="2286000" cy="502920"/>
          </a:xfrm>
          <a:prstGeom prst="rect">
            <a:avLst/>
          </a:prstGeom>
          <a:solidFill>
            <a:srgbClr val="193760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7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8FF"/>
                </a:solidFill>
                <a:latin typeface="Aptos"/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1911095"/>
            <a:ext cx="3749039" cy="502920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874519"/>
            <a:ext cx="3749039" cy="502920"/>
          </a:xfrm>
          <a:prstGeom prst="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938527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8FF"/>
                </a:solidFill>
                <a:latin typeface="Aptos"/>
              </a:rPr>
              <a:t>Ordinary BST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86016" y="1911095"/>
            <a:ext cx="3749039" cy="502920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874519"/>
            <a:ext cx="3749039" cy="502920"/>
          </a:xfrm>
          <a:prstGeom prst="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1938527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8FF"/>
                </a:solidFill>
                <a:latin typeface="Aptos"/>
              </a:rPr>
              <a:t>Optimal BST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" y="2569463"/>
            <a:ext cx="2286000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2532887"/>
            <a:ext cx="2286000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2578607"/>
            <a:ext cx="21762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5F8FF"/>
                </a:solidFill>
                <a:latin typeface="Aptos"/>
              </a:rPr>
              <a:t>Main 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6976" y="2569463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0" y="2532887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55264" y="2578607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Maintain BST ordering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86016" y="2569463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49440" y="2532887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04303" y="2578607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Minimize weighted search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" y="3227831"/>
            <a:ext cx="2286000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191255"/>
            <a:ext cx="2286000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" y="3236975"/>
            <a:ext cx="21762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5F8FF"/>
                </a:solidFill>
                <a:latin typeface="Aptos"/>
              </a:rPr>
              <a:t>Structure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36976" y="3227831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0" y="3191255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55264" y="3236975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Depends on insertion / construction method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86016" y="3227831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0" y="3191255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04303" y="3236975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Computed using frequencies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" y="3886199"/>
            <a:ext cx="2286000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" y="3849623"/>
            <a:ext cx="2286000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9264" y="3895343"/>
            <a:ext cx="21762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5F8FF"/>
                </a:solidFill>
                <a:latin typeface="Aptos"/>
              </a:rPr>
              <a:t>Frequency use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36976" y="3886199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0" y="3849623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55264" y="3895343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Usually not considered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86016" y="3886199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949440" y="3849623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04303" y="3895343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Central to the optimization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" y="4544568"/>
            <a:ext cx="2286000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4400" y="4507992"/>
            <a:ext cx="2286000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9264" y="4553712"/>
            <a:ext cx="21762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5F8FF"/>
                </a:solidFill>
                <a:latin typeface="Aptos"/>
              </a:rPr>
              <a:t>Method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36976" y="4544568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0" y="4507992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55264" y="4553712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Various BST construction methods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86016" y="4544568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949440" y="4507992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04303" y="4553712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Dynamic Programming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" y="5202936"/>
            <a:ext cx="2286000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14400" y="5166359"/>
            <a:ext cx="2286000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9264" y="5212079"/>
            <a:ext cx="21762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5F8FF"/>
                </a:solidFill>
                <a:latin typeface="Aptos"/>
              </a:rPr>
              <a:t>Typical objective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36976" y="5202936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200400" y="5166359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55264" y="5212079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Valid BST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86016" y="5202936"/>
            <a:ext cx="3749039" cy="530352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49440" y="5166359"/>
            <a:ext cx="3749039" cy="530352"/>
          </a:xfrm>
          <a:prstGeom prst="rect">
            <a:avLst/>
          </a:prstGeom>
          <a:solidFill>
            <a:srgbClr val="0C1C3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04303" y="5212079"/>
            <a:ext cx="36393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F5F8FF"/>
                </a:solidFill>
                <a:latin typeface="Aptos"/>
              </a:rPr>
              <a:t>Minimum expected successful-search cost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OBST vs Ordinary BST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Main objective of OBST?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Minimum weighted search cost   B. Maximum nodes   C. Maximum height   D. Minimum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Standard OBST solution uses: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Dynamic Programming   B. Random insertion   C. BFS only   D. Frequency sorting only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15. Important Exam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972800" cy="475488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10972800" cy="475488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10972800" cy="50292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89888"/>
            <a:ext cx="10643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D"/>
                </a:solidFill>
                <a:latin typeface="Aptos"/>
              </a:rPr>
              <a:t>REMEMBER THESE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Keys must be sorted: K1 &lt; K2 &lt; … &lt; Kn.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cost[i][j] represents the optimal cost for an interval of keys.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weight(i,j) is the sum of frequencies from i to j.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Try every key in the interval as the root.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Add the interval weight because every key in the subtree moves one level deeper.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The smallest candidate becomes cost[i][j].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Standard time complexity = O(n³); space complexity = O(n²).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Important Exam Points —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FB9C8"/>
                </a:solidFill>
              </a:defRPr>
            </a:pPr>
            <a:r>
              <a:t>Quick Quiz • Discuss first, then reveal the answers</a:t>
            </a:r>
          </a:p>
        </p:txBody>
      </p:sp>
      <p:sp>
        <p:nvSpPr>
          <p:cNvPr id="4" name="Cube 3"/>
          <p:cNvSpPr/>
          <p:nvPr/>
        </p:nvSpPr>
        <p:spPr>
          <a:xfrm>
            <a:off x="10744200" y="228600"/>
            <a:ext cx="438912" cy="438912"/>
          </a:xfrm>
          <a:prstGeom prst="cube">
            <a:avLst/>
          </a:prstGeom>
          <a:solidFill>
            <a:srgbClr val="2DD2DC"/>
          </a:solidFill>
          <a:ln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be 4"/>
          <p:cNvSpPr/>
          <p:nvPr/>
        </p:nvSpPr>
        <p:spPr>
          <a:xfrm>
            <a:off x="11201400" y="530352"/>
            <a:ext cx="438912" cy="438912"/>
          </a:xfrm>
          <a:prstGeom prst="cube">
            <a:avLst/>
          </a:prstGeom>
          <a:solidFill>
            <a:srgbClr val="875ADC"/>
          </a:solidFill>
          <a:ln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2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2DD2DC"/>
                </a:solidFill>
              </a:defRPr>
            </a:pPr>
            <a:r>
              <a:t>Q1. Why is interval weight added to each root candidate?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Every subtree key moves one level deeper   B. It removes root   C. It sorts keys   D. It reduces intervals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A. Every subtree key moves one level deeper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148840"/>
          </a:xfrm>
          <a:prstGeom prst="roundRect">
            <a:avLst/>
          </a:prstGeom>
          <a:solidFill>
            <a:srgbClr val="192338"/>
          </a:solidFill>
          <a:ln w="25400">
            <a:solidFill>
              <a:srgbClr val="87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875ADC"/>
                </a:solidFill>
              </a:defRPr>
            </a:pPr>
            <a:r>
              <a:t>Q2. A complete OBST numerical solution should show: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</a:defRPr>
            </a:pPr>
            <a:r>
              <a:t>A. Only root   B. Weights, candidate roots, minimum cost, tree   C. Only frequencies   D. Only drawing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4BBE7D"/>
                </a:solidFill>
              </a:defRPr>
            </a:pPr>
            <a:r>
              <a:t>Answer: B. Weights, candidate roots, minimum cost, tree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16. Practice Questions — No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1C3DD"/>
                </a:solidFill>
                <a:latin typeface="Aptos"/>
              </a:rPr>
              <a:t>Solve using the OBST DP cost table and identify the optimal root.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972800" cy="498348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0972800" cy="50292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10643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D"/>
                </a:solidFill>
                <a:latin typeface="Aptos"/>
              </a:rPr>
              <a:t>CLASSROOM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19072"/>
            <a:ext cx="10012680" cy="566928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536" y="1664208"/>
            <a:ext cx="10012680" cy="566928"/>
          </a:xfrm>
          <a:prstGeom prst="rect">
            <a:avLst/>
          </a:prstGeom>
          <a:solidFill>
            <a:srgbClr val="08122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64792"/>
            <a:ext cx="384048" cy="365760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22A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1719072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1. Keys = {10, 20, 30}, frequencies = {3, 2, 1}. Find the minimum cost and optimal root.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478024"/>
            <a:ext cx="10012680" cy="566928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9536" y="2423160"/>
            <a:ext cx="10012680" cy="566928"/>
          </a:xfrm>
          <a:prstGeom prst="rect">
            <a:avLst/>
          </a:prstGeom>
          <a:solidFill>
            <a:srgbClr val="08122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7552" y="2523744"/>
            <a:ext cx="384048" cy="365760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542032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22A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478024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2. Keys = {10, 20, 30, 40}, frequencies = {3, 3, 1, 1}. Construct the DP cost table and find the optimal root.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36976"/>
            <a:ext cx="10012680" cy="566928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9536" y="3182112"/>
            <a:ext cx="10012680" cy="566928"/>
          </a:xfrm>
          <a:prstGeom prst="rect">
            <a:avLst/>
          </a:prstGeom>
          <a:solidFill>
            <a:srgbClr val="08122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7552" y="3282696"/>
            <a:ext cx="384048" cy="365760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3300984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22A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3236976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3. Keys = {5, 15, 25, 35}, frequencies = {4, 2, 6, 3}. Find the optimal BST cost and root.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95927"/>
            <a:ext cx="10012680" cy="566928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9536" y="3941063"/>
            <a:ext cx="10012680" cy="566928"/>
          </a:xfrm>
          <a:prstGeom prst="rect">
            <a:avLst/>
          </a:prstGeom>
          <a:solidFill>
            <a:srgbClr val="08122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7552" y="4041648"/>
            <a:ext cx="384048" cy="365760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4059935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22A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995927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4. Keys = {10, 20, 30, 40, 50}, frequencies = {2, 5, 1, 4, 3}. Build the DP table and determine the optimal root.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54879"/>
            <a:ext cx="10012680" cy="566928"/>
          </a:xfrm>
          <a:prstGeom prst="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9536" y="4700016"/>
            <a:ext cx="10012680" cy="566928"/>
          </a:xfrm>
          <a:prstGeom prst="rect">
            <a:avLst/>
          </a:prstGeom>
          <a:solidFill>
            <a:srgbClr val="08122A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7552" y="4800600"/>
            <a:ext cx="384048" cy="365760"/>
          </a:xfrm>
          <a:prstGeom prst="rect">
            <a:avLst/>
          </a:prstGeom>
          <a:solidFill>
            <a:srgbClr val="FFC24D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4818888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22A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4754879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5. Keys = {10, 20, 30, 40, 50, 60}, frequencies = {3, 2, 4, 1, 5, 2}. Find the minimum weighted search cost and construct the optimal root structure.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10012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B1C3DD"/>
                </a:solidFill>
                <a:latin typeface="Aptos"/>
              </a:rPr>
              <a:t>Instruction: Show interval weights, all candidate roots, final minimum cost, and tree structure.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17. Quick Check — Concept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960120" cy="41148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972800" cy="489204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10972800" cy="489204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10972800" cy="5029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89888"/>
            <a:ext cx="106436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D2BE"/>
                </a:solidFill>
                <a:latin typeface="Aptos"/>
              </a:rPr>
              <a:t>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Q1. Why does a frequently searched key tend to be placed near the root?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Q2. What does cost[i][j] represent?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5526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Q3. Why is the interval weight added to every root candidate?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684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Q4. What is the standard time complexity of OBST using DP?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8172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Q5. Why must the keys be sorted?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868680"/>
            <a:ext cx="10881360" cy="493776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749808"/>
            <a:ext cx="10881360" cy="4937760"/>
          </a:xfrm>
          <a:prstGeom prst="roundRect">
            <a:avLst/>
          </a:prstGeom>
          <a:solidFill>
            <a:srgbClr val="132A4E"/>
          </a:solidFill>
          <a:ln>
            <a:solidFill>
              <a:srgbClr val="41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749808"/>
            <a:ext cx="10881360" cy="73152"/>
          </a:xfrm>
          <a:prstGeom prst="rect">
            <a:avLst/>
          </a:prstGeom>
          <a:solidFill>
            <a:srgbClr val="2DD2B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325880"/>
            <a:ext cx="5486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8778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>
                <a:solidFill>
                  <a:srgbClr val="2DD2BE"/>
                </a:solidFill>
                <a:latin typeface="Aptos"/>
              </a:rPr>
              <a:t>✓  OBST minimizes weighted successful-search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8778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2DD2BE"/>
                </a:solidFill>
                <a:latin typeface="Aptos"/>
              </a:rPr>
              <a:t>✓  DP works on intervals of sorted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08376"/>
            <a:ext cx="8778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2DD2BE"/>
                </a:solidFill>
                <a:latin typeface="Aptos"/>
              </a:rPr>
              <a:t>✓  Try every possible root for each interval.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83864"/>
            <a:ext cx="8778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>
                <a:solidFill>
                  <a:srgbClr val="2DD2BE"/>
                </a:solidFill>
                <a:latin typeface="Aptos"/>
              </a:rPr>
              <a:t>✓  Add interval frequency weight to each candidate.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59352"/>
            <a:ext cx="8778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>
                <a:solidFill>
                  <a:srgbClr val="F5F8FF"/>
                </a:solidFill>
                <a:latin typeface="Aptos"/>
              </a:rPr>
              <a:t>✓  Store minimum cost and root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8778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>
                <a:solidFill>
                  <a:srgbClr val="F5F8FF"/>
                </a:solidFill>
                <a:latin typeface="Aptos"/>
              </a:rPr>
              <a:t>✓  Standard complexity: O(n³) time and O(n²)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18904" y="2066544"/>
            <a:ext cx="777240" cy="41148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64040" y="2011680"/>
            <a:ext cx="777240" cy="411480"/>
          </a:xfrm>
          <a:prstGeom prst="roundRect">
            <a:avLst/>
          </a:prstGeom>
          <a:solidFill>
            <a:srgbClr val="193760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64040" y="2057400"/>
            <a:ext cx="777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2798064"/>
            <a:ext cx="685800" cy="41148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69680" y="2743200"/>
            <a:ext cx="685800" cy="411480"/>
          </a:xfrm>
          <a:prstGeom prst="roundRect">
            <a:avLst/>
          </a:prstGeom>
          <a:solidFill>
            <a:srgbClr val="193760"/>
          </a:solidFill>
          <a:ln>
            <a:solidFill>
              <a:srgbClr val="3F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278892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13264" y="2798064"/>
            <a:ext cx="685800" cy="41148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58400" y="2743200"/>
            <a:ext cx="685800" cy="411480"/>
          </a:xfrm>
          <a:prstGeom prst="roundRect">
            <a:avLst/>
          </a:prstGeom>
          <a:solidFill>
            <a:srgbClr val="193760"/>
          </a:solidFill>
          <a:ln>
            <a:solidFill>
              <a:srgbClr val="FFC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278892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21624" y="3529584"/>
            <a:ext cx="640080" cy="411480"/>
          </a:xfrm>
          <a:prstGeom prst="roundRect">
            <a:avLst/>
          </a:prstGeom>
          <a:solidFill>
            <a:srgbClr val="030917"/>
          </a:solidFill>
          <a:ln>
            <a:solidFill>
              <a:srgbClr val="030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66760" y="3474720"/>
            <a:ext cx="640080" cy="411480"/>
          </a:xfrm>
          <a:prstGeom prst="roundRect">
            <a:avLst/>
          </a:prstGeom>
          <a:solidFill>
            <a:srgbClr val="193760"/>
          </a:solidFill>
          <a:ln>
            <a:solidFill>
              <a:srgbClr val="5B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520439"/>
            <a:ext cx="640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1605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B1C3DD"/>
                </a:solidFill>
                <a:latin typeface="Aptos"/>
              </a:rPr>
              <a:t>Optimal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6692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C24D"/>
                </a:solidFill>
                <a:latin typeface="Aptos"/>
              </a:rPr>
              <a:t>End of Topic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1C3DD"/>
                </a:solidFill>
                <a:latin typeface="Aptos"/>
              </a:rPr>
              <a:t>OBST • Dynamic Programming   |  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Worked Numerical Example — 4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Keys: 10, 20, 30, 40   |   Frequencies: 4, 2, 6,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07592"/>
            <a:ext cx="3657600" cy="1965960"/>
          </a:xfrm>
          <a:prstGeom prst="round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57600" cy="1965960"/>
          </a:xfrm>
          <a:prstGeom prst="roundRect">
            <a:avLst/>
          </a:prstGeom>
          <a:solidFill>
            <a:srgbClr val="14273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2BE"/>
                </a:solidFill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4C3D2"/>
                </a:solidFill>
              </a:defRPr>
            </a:pPr>
            <a:r>
              <a:t>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19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BE46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74519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BE46"/>
                </a:solidFill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59" y="1874519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BE46"/>
                </a:solidFill>
              </a:defRPr>
            </a:pPr>
            <a: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1874519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BE46"/>
                </a:solidFill>
              </a:defRPr>
            </a:pPr>
            <a: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3317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59" y="23317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23317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307592"/>
            <a:ext cx="7223760" cy="1965960"/>
          </a:xfrm>
          <a:prstGeom prst="round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0" y="1234440"/>
            <a:ext cx="7223760" cy="1965960"/>
          </a:xfrm>
          <a:prstGeom prst="roundRect">
            <a:avLst/>
          </a:prstGeom>
          <a:solidFill>
            <a:srgbClr val="14273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141732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BEE6"/>
                </a:solidFill>
              </a:defRPr>
            </a:pPr>
            <a:r>
              <a:t>Optimal Cost Table C[i][j]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BE46"/>
                </a:solidFill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BE46"/>
                </a:solidFill>
              </a:defRPr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BE46"/>
                </a:solidFill>
              </a:defRPr>
            </a:pPr>
            <a: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BE46"/>
                </a:solidFill>
              </a:defRPr>
            </a:pPr>
            <a: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8288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1214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12140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12140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12140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4140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41401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41401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27066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270662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" y="3547872"/>
            <a:ext cx="5486400" cy="2468880"/>
          </a:xfrm>
          <a:prstGeom prst="round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3474720"/>
            <a:ext cx="5486400" cy="2468880"/>
          </a:xfrm>
          <a:prstGeom prst="roundRect">
            <a:avLst/>
          </a:prstGeom>
          <a:solidFill>
            <a:srgbClr val="14273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D2BE"/>
                </a:solidFill>
              </a:defRPr>
            </a:pPr>
            <a:r>
              <a:t>Full interval [1,4]: root comparison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09651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r = 10  →  0 + C[2,4] + 15 = 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48056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r = 20  →  C[1,1] + C[3,4] + 15 = 4 + 12 + 15 = 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86460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r = 30  →  C[1,2] + C[4,4] + 15 = 10 + 3 + 15 = 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24865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r = 40  →  C[1,3] + 0 + 15 = 14 + 15 = 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53212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BE46"/>
                </a:solidFill>
              </a:defRPr>
            </a:pPr>
            <a:r>
              <a:t>Optimal cost = 28  →  Optimal root = 30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91072" y="3547872"/>
            <a:ext cx="5394960" cy="2468880"/>
          </a:xfrm>
          <a:prstGeom prst="round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17920" y="3474720"/>
            <a:ext cx="5394960" cy="2468880"/>
          </a:xfrm>
          <a:prstGeom prst="roundRect">
            <a:avLst/>
          </a:prstGeom>
          <a:solidFill>
            <a:srgbClr val="14273E"/>
          </a:solidFill>
          <a:ln>
            <a:solidFill>
              <a:srgbClr val="2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20" y="3657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6BEE6"/>
                </a:solidFill>
              </a:defRPr>
            </a:pPr>
            <a:r>
              <a:t>Optimal BST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7635240" y="4315968"/>
            <a:ext cx="1280160" cy="758952"/>
          </a:xfrm>
          <a:prstGeom prst="line">
            <a:avLst/>
          </a:prstGeom>
          <a:ln w="2540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915400" y="4315968"/>
            <a:ext cx="1280160" cy="758952"/>
          </a:xfrm>
          <a:prstGeom prst="line">
            <a:avLst/>
          </a:prstGeom>
          <a:ln w="2540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35240" y="5074920"/>
            <a:ext cx="0" cy="640080"/>
          </a:xfrm>
          <a:prstGeom prst="line">
            <a:avLst/>
          </a:prstGeom>
          <a:ln w="2540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595360" y="4114800"/>
            <a:ext cx="640080" cy="402336"/>
          </a:xfrm>
          <a:prstGeom prst="ellipse">
            <a:avLst/>
          </a:prstGeom>
          <a:solidFill>
            <a:srgbClr val="2DD2BE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0D19"/>
                </a:solidFill>
              </a:defRPr>
            </a:pPr>
            <a:r>
              <a:t>30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0" y="4873752"/>
            <a:ext cx="640080" cy="402336"/>
          </a:xfrm>
          <a:prstGeom prst="ellipse">
            <a:avLst/>
          </a:prstGeom>
          <a:solidFill>
            <a:srgbClr val="46BEE6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0D19"/>
                </a:solidFill>
              </a:defRPr>
            </a:pPr>
            <a:r>
              <a:t>10</a:t>
            </a:r>
          </a:p>
        </p:txBody>
      </p:sp>
      <p:sp>
        <p:nvSpPr>
          <p:cNvPr id="54" name="Oval 53"/>
          <p:cNvSpPr/>
          <p:nvPr/>
        </p:nvSpPr>
        <p:spPr>
          <a:xfrm>
            <a:off x="9875520" y="4873752"/>
            <a:ext cx="640080" cy="402336"/>
          </a:xfrm>
          <a:prstGeom prst="ellipse">
            <a:avLst/>
          </a:prstGeom>
          <a:solidFill>
            <a:srgbClr val="46BEE6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0D19"/>
                </a:solidFill>
              </a:defRPr>
            </a:pPr>
            <a:r>
              <a:t>40</a:t>
            </a:r>
          </a:p>
        </p:txBody>
      </p:sp>
      <p:sp>
        <p:nvSpPr>
          <p:cNvPr id="55" name="Oval 54"/>
          <p:cNvSpPr/>
          <p:nvPr/>
        </p:nvSpPr>
        <p:spPr>
          <a:xfrm>
            <a:off x="7315200" y="5513832"/>
            <a:ext cx="640080" cy="402336"/>
          </a:xfrm>
          <a:prstGeom prst="ellipse">
            <a:avLst/>
          </a:prstGeom>
          <a:solidFill>
            <a:srgbClr val="46BEE6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0D19"/>
                </a:solidFill>
              </a:defRPr>
            </a:pPr>
            <a:r>
              <a:t>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61996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Search-cost check: 30×6 = 6, 10×2 = 8, 20×3 = 6, 40×2 = 6  →  total =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2828</Words>
  <Application>Microsoft Macintosh PowerPoint</Application>
  <PresentationFormat>Custom</PresentationFormat>
  <Paragraphs>435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Tanuja sahu</dc:creator>
  <dc:description>generated using python-pptx</dc:description>
  <cp:lastModifiedBy>User</cp:lastModifiedBy>
  <cp:revision>7</cp:revision>
  <dcterms:created xsi:type="dcterms:W3CDTF">2013-01-27T09:14:16Z</dcterms:created>
  <dcterms:modified xsi:type="dcterms:W3CDTF">2026-10-04T17:02:13Z</dcterms:modified>
</cp:coreProperties>
</file>