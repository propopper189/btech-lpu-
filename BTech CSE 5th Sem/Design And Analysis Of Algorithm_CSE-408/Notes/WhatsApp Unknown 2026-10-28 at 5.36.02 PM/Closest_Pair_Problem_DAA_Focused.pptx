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Closest-Pair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CDDCF0"/>
                </a:solidFill>
              </a:defRPr>
            </a:pPr>
            <a:r>
              <a:t>Computational Geometry • Divide and Conquer</a:t>
            </a:r>
          </a:p>
        </p:txBody>
      </p:sp>
      <p:sp>
        <p:nvSpPr>
          <p:cNvPr id="4" name="Oval 3"/>
          <p:cNvSpPr/>
          <p:nvPr/>
        </p:nvSpPr>
        <p:spPr>
          <a:xfrm>
            <a:off x="2660904" y="448970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89704" y="339242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01384" y="467258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21624" y="302666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18904" y="476402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2743200" y="3474720"/>
            <a:ext cx="1828800" cy="1097280"/>
          </a:xfrm>
          <a:prstGeom prst="line">
            <a:avLst/>
          </a:prstGeom>
          <a:ln w="38100">
            <a:solidFill>
              <a:srgbClr val="3CAAB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34640" y="56692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Find the two points with minimum Euclidean distance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1. What is the Closest-Pair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Given n points in a 2-D plane, find the pair of distinct points having the smallest distance.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Distance: d = √[(x₂−x₁)² + (y₂−y₁)²]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Output: the two closest points and their minimum distance.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Key idea: use Divide and Conquer to solve it efficiently.</a:t>
            </a:r>
          </a:p>
        </p:txBody>
      </p:sp>
      <p:sp>
        <p:nvSpPr>
          <p:cNvPr id="4" name="Oval 3"/>
          <p:cNvSpPr/>
          <p:nvPr/>
        </p:nvSpPr>
        <p:spPr>
          <a:xfrm>
            <a:off x="1746504" y="448970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38528" y="44074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666744" y="284378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8768" y="2761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5586984" y="45811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44988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7872983" y="247802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239572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427464" y="448970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19488" y="44074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2926080"/>
            <a:ext cx="1920239" cy="1645920"/>
          </a:xfrm>
          <a:prstGeom prst="line">
            <a:avLst/>
          </a:prstGeom>
          <a:ln w="38100">
            <a:solidFill>
              <a:srgbClr val="3CAAB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4892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CAABE"/>
                </a:solidFill>
              </a:defRPr>
            </a:pPr>
            <a:r>
              <a:t>Closest pair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2. Distance Calculation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d(P,Q) = √[(x₂−x₁)² + (y₂−y₁)²]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5212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844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2915F"/>
                </a:solidFill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59"/>
            <a:ext cx="4846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P(1,2), Q(4,6)</a:t>
            </a:r>
            <a:br/>
            <a:r>
              <a:t>Δx=3, Δy=4</a:t>
            </a:r>
            <a:br/>
            <a:r>
              <a:t>d=√(9+16)=√25=5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5303520"/>
            <a:ext cx="4023360" cy="0"/>
          </a:xfrm>
          <a:prstGeom prst="line">
            <a:avLst/>
          </a:prstGeom>
          <a:ln w="25400">
            <a:solidFill>
              <a:srgbClr val="282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766560" y="1828800"/>
            <a:ext cx="0" cy="3474720"/>
          </a:xfrm>
          <a:prstGeom prst="line">
            <a:avLst/>
          </a:prstGeom>
          <a:ln w="25400">
            <a:solidFill>
              <a:srgbClr val="282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598664" y="448970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44074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</a:t>
            </a:r>
          </a:p>
        </p:txBody>
      </p:sp>
      <p:sp>
        <p:nvSpPr>
          <p:cNvPr id="13" name="Oval 12"/>
          <p:cNvSpPr/>
          <p:nvPr/>
        </p:nvSpPr>
        <p:spPr>
          <a:xfrm>
            <a:off x="9976104" y="22951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22128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Q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680960" y="2377440"/>
            <a:ext cx="2377440" cy="2194560"/>
          </a:xfrm>
          <a:prstGeom prst="line">
            <a:avLst/>
          </a:prstGeom>
          <a:ln w="25400">
            <a:solidFill>
              <a:srgbClr val="3465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3291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65B4"/>
                </a:solidFill>
              </a:defRPr>
            </a:pPr>
            <a:r>
              <a:t>d =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3. Divide-and-Conquer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Sort points by x-coordinate.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Divide into left and right halves.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Find closest pair in the left half.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Find closest pair in the right half.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δ = min(δL, δR).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Check cross-half pairs only when they can be closer than δ.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0" y="1463040"/>
            <a:ext cx="0" cy="4572000"/>
          </a:xfrm>
          <a:prstGeom prst="line">
            <a:avLst/>
          </a:prstGeom>
          <a:ln w="25400">
            <a:solidFill>
              <a:srgbClr val="BE41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581144" y="192938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73168" y="18470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5221224" y="36667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13248" y="358444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4032504" y="494690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48646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7415783" y="220370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7" y="21214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8513064" y="41239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40416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E</a:t>
            </a:r>
          </a:p>
        </p:txBody>
      </p:sp>
      <p:sp>
        <p:nvSpPr>
          <p:cNvPr id="15" name="Oval 14"/>
          <p:cNvSpPr/>
          <p:nvPr/>
        </p:nvSpPr>
        <p:spPr>
          <a:xfrm>
            <a:off x="9244584" y="522122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7" y="513892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6080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465B4"/>
                </a:solidFill>
              </a:defRPr>
            </a:pPr>
            <a:r>
              <a:t>Left half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6080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465B4"/>
                </a:solidFill>
              </a:defRPr>
            </a:pPr>
            <a:r>
              <a:t>Right half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4. Step 1 — Sort by X-Coordinate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282D37"/>
                </a:solidFill>
              </a:defRPr>
            </a:pPr>
            <a:r>
              <a:t>Points: A(1,5), B(2,2), C(4,4), D(6,1), E(7,5), F(9,3)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3465B4"/>
                </a:solidFill>
              </a:defRPr>
            </a:pPr>
            <a:r>
              <a:t>Sorted by x → A, B, C, D, E, F</a:t>
            </a:r>
          </a:p>
        </p:txBody>
      </p:sp>
      <p:sp>
        <p:nvSpPr>
          <p:cNvPr id="5" name="Oval 4"/>
          <p:cNvSpPr/>
          <p:nvPr/>
        </p:nvSpPr>
        <p:spPr>
          <a:xfrm>
            <a:off x="2203704" y="25237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95728" y="244144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3118104" y="430682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422452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4946904" y="3118103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30358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775704" y="4901183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48188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7690104" y="25237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244144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E</a:t>
            </a:r>
          </a:p>
        </p:txBody>
      </p:sp>
      <p:sp>
        <p:nvSpPr>
          <p:cNvPr id="15" name="Oval 14"/>
          <p:cNvSpPr/>
          <p:nvPr/>
        </p:nvSpPr>
        <p:spPr>
          <a:xfrm>
            <a:off x="9518904" y="3712463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363016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5669280"/>
            <a:ext cx="8961120" cy="0"/>
          </a:xfrm>
          <a:prstGeom prst="line">
            <a:avLst/>
          </a:prstGeom>
          <a:ln w="19050">
            <a:solidFill>
              <a:srgbClr val="282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0" y="5806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737D8C"/>
                </a:solidFill>
              </a:defRPr>
            </a:pPr>
            <a:r>
              <a:t>Increasing x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5. Step 2 — Divide into Two Halves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Choose the middle x-coordinate as the dividing boundary.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Left half contains smaller x-values.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Right half contains larger x-values.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Recursively solve both halves.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1463040"/>
            <a:ext cx="0" cy="4389120"/>
          </a:xfrm>
          <a:prstGeom prst="line">
            <a:avLst/>
          </a:prstGeom>
          <a:ln w="25400">
            <a:solidFill>
              <a:srgbClr val="BE41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843784" y="448970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35808" y="44074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3758184" y="284378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50208" y="2761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4764024" y="394106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38587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7232904" y="238658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23042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8238744" y="458114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44988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E</a:t>
            </a:r>
          </a:p>
        </p:txBody>
      </p:sp>
      <p:sp>
        <p:nvSpPr>
          <p:cNvPr id="15" name="Oval 14"/>
          <p:cNvSpPr/>
          <p:nvPr/>
        </p:nvSpPr>
        <p:spPr>
          <a:xfrm>
            <a:off x="9153144" y="339242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7" y="331012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9436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465B4"/>
                </a:solidFill>
              </a:defRPr>
            </a:pPr>
            <a:r>
              <a:t>Left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9436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465B4"/>
                </a:solidFill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6. Step 3 — Find δ from Both Halves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Left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Closest distance = δL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5212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75887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2915F"/>
                </a:solidFill>
              </a:defRPr>
            </a:pPr>
            <a:r>
              <a:t>Right 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Closest distance = δR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4846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87168"/>
            <a:ext cx="4480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E4141"/>
                </a:solidFill>
              </a:defRPr>
            </a:pPr>
            <a:r>
              <a:t>Combine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480559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δ = min(δL, δR)</a:t>
            </a:r>
            <a:br/>
            <a:r>
              <a:t>Then inspect cross-half pairs near the dividing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7. Step 4 — Construct the Critical Strip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282D37"/>
                </a:solidFill>
              </a:defRPr>
            </a:pPr>
            <a:r>
              <a:t>Keep points satisfying |x − midX| &lt; δ.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1645920"/>
            <a:ext cx="0" cy="4297680"/>
          </a:xfrm>
          <a:prstGeom prst="line">
            <a:avLst/>
          </a:prstGeom>
          <a:ln w="25400">
            <a:solidFill>
              <a:srgbClr val="BE41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709160" y="1645920"/>
            <a:ext cx="0" cy="4297680"/>
          </a:xfrm>
          <a:prstGeom prst="line">
            <a:avLst/>
          </a:prstGeom>
          <a:ln w="25400">
            <a:solidFill>
              <a:srgbClr val="3CAA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52360" y="1645920"/>
            <a:ext cx="0" cy="4297680"/>
          </a:xfrm>
          <a:prstGeom prst="line">
            <a:avLst/>
          </a:prstGeom>
          <a:ln w="25400">
            <a:solidFill>
              <a:srgbClr val="3CAA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49624" y="485546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47731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5038344" y="266090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25786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5861304" y="476402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468172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592824" y="348386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4015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7232904" y="522122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513892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E</a:t>
            </a:r>
          </a:p>
        </p:txBody>
      </p:sp>
      <p:sp>
        <p:nvSpPr>
          <p:cNvPr id="17" name="Oval 16"/>
          <p:cNvSpPr/>
          <p:nvPr/>
        </p:nvSpPr>
        <p:spPr>
          <a:xfrm>
            <a:off x="8238744" y="2386584"/>
            <a:ext cx="164592" cy="164592"/>
          </a:xfrm>
          <a:prstGeom prst="ellipse">
            <a:avLst/>
          </a:prstGeom>
          <a:solidFill>
            <a:srgbClr val="3465B4"/>
          </a:solidFill>
          <a:ln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23042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080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CAABE"/>
                </a:solidFill>
              </a:defRPr>
            </a:pPr>
            <a:r>
              <a:t>Critical strip: |x−midX|&lt;δ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8. Step 5 — Process Strip by Y-Order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Sort the strip points by y-coordinate.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Compare each point only with the next few relevant points in y-order.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If a pair is closer than δ, update δ.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This avoids checking every cross-half pair.</a:t>
            </a:r>
          </a:p>
        </p:txBody>
      </p:sp>
      <p:sp>
        <p:nvSpPr>
          <p:cNvPr id="4" name="Oval 3"/>
          <p:cNvSpPr/>
          <p:nvPr/>
        </p:nvSpPr>
        <p:spPr>
          <a:xfrm>
            <a:off x="6318504" y="512978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10528" y="5047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P1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400800" y="4480560"/>
            <a:ext cx="0" cy="731520"/>
          </a:xfrm>
          <a:prstGeom prst="line">
            <a:avLst/>
          </a:prstGeom>
          <a:ln w="12700">
            <a:solidFill>
              <a:srgbClr val="73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318504" y="439826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43159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P2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400800" y="3749039"/>
            <a:ext cx="0" cy="731521"/>
          </a:xfrm>
          <a:prstGeom prst="line">
            <a:avLst/>
          </a:prstGeom>
          <a:ln w="12700">
            <a:solidFill>
              <a:srgbClr val="73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318504" y="366674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58444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P3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400800" y="2926080"/>
            <a:ext cx="0" cy="822959"/>
          </a:xfrm>
          <a:prstGeom prst="line">
            <a:avLst/>
          </a:prstGeom>
          <a:ln w="12700">
            <a:solidFill>
              <a:srgbClr val="73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18504" y="284378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761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P4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00800" y="2194560"/>
            <a:ext cx="0" cy="731520"/>
          </a:xfrm>
          <a:prstGeom prst="line">
            <a:avLst/>
          </a:prstGeom>
          <a:ln w="12700">
            <a:solidFill>
              <a:srgbClr val="73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18504" y="2112264"/>
            <a:ext cx="164592" cy="164592"/>
          </a:xfrm>
          <a:prstGeom prst="ellipse">
            <a:avLst/>
          </a:prstGeom>
          <a:solidFill>
            <a:srgbClr val="3CAABE"/>
          </a:solidFill>
          <a:ln>
            <a:solidFill>
              <a:srgbClr val="3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2996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65B4"/>
                </a:solidFill>
              </a:defRPr>
            </a:pPr>
            <a:r>
              <a:t>Check nearby y-values</a:t>
            </a:r>
            <a:br/>
            <a:r>
              <a:t>not all pairs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9. Solved Example — Complete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282D37"/>
                </a:solidFill>
              </a:defRPr>
            </a:pPr>
            <a:r>
              <a:t>A(1,1), B(2,5), C(4,2), D(7,3), E(8,8), F(10,4)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47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Left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A, B, C</a:t>
            </a:r>
            <a:br/>
            <a:r>
              <a:t>AC = √10 ≈ 3.16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47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2915F"/>
                </a:solidFill>
              </a:defRPr>
            </a:pPr>
            <a:r>
              <a:t>Right 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D, E, F</a:t>
            </a:r>
            <a:br/>
            <a:r>
              <a:t>DF = √10 ≈ 3.16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47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E4141"/>
                </a:solidFill>
              </a:defRPr>
            </a:pPr>
            <a:r>
              <a:t>Combine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δ = min(3.16,3.16)</a:t>
            </a:r>
            <a:br/>
            <a:r>
              <a:t>= 3.16</a:t>
            </a:r>
            <a:br/>
            <a:r>
              <a:t>Now inspect the strip.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5B4"/>
                </a:solidFill>
              </a:defRPr>
            </a:pPr>
            <a:r>
              <a:t>Final: AC and DF tie for the minimum distance = √10 ≈ 3.16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10. Numerical — Which Points Enter the Strip?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82D37"/>
                </a:solidFill>
              </a:defRPr>
            </a:pPr>
            <a:r>
              <a:t>Dividing line x=5, δ=3  →  |x−5|&lt;3  →  2&lt;x&lt;8</a:t>
            </a:r>
          </a:p>
        </p:txBody>
      </p:sp>
      <p:sp>
        <p:nvSpPr>
          <p:cNvPr id="4" name="Oval 3"/>
          <p:cNvSpPr/>
          <p:nvPr/>
        </p:nvSpPr>
        <p:spPr>
          <a:xfrm>
            <a:off x="2523744" y="3026664"/>
            <a:ext cx="164592" cy="164592"/>
          </a:xfrm>
          <a:prstGeom prst="ellipse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5768" y="2944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4078224" y="4215384"/>
            <a:ext cx="164592" cy="164592"/>
          </a:xfrm>
          <a:prstGeom prst="ellipse">
            <a:avLst/>
          </a:prstGeom>
          <a:solidFill>
            <a:srgbClr val="32915F"/>
          </a:solidFill>
          <a:ln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41330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Q</a:t>
            </a:r>
          </a:p>
        </p:txBody>
      </p:sp>
      <p:sp>
        <p:nvSpPr>
          <p:cNvPr id="8" name="Oval 7"/>
          <p:cNvSpPr/>
          <p:nvPr/>
        </p:nvSpPr>
        <p:spPr>
          <a:xfrm>
            <a:off x="7187184" y="2432304"/>
            <a:ext cx="164592" cy="164592"/>
          </a:xfrm>
          <a:prstGeom prst="ellipse">
            <a:avLst/>
          </a:prstGeom>
          <a:solidFill>
            <a:srgbClr val="32915F"/>
          </a:solidFill>
          <a:ln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9208" y="2350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R</a:t>
            </a:r>
          </a:p>
        </p:txBody>
      </p:sp>
      <p:sp>
        <p:nvSpPr>
          <p:cNvPr id="10" name="Oval 9"/>
          <p:cNvSpPr/>
          <p:nvPr/>
        </p:nvSpPr>
        <p:spPr>
          <a:xfrm>
            <a:off x="8741663" y="4809744"/>
            <a:ext cx="164592" cy="164592"/>
          </a:xfrm>
          <a:prstGeom prst="ellipse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7" y="47274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2D37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893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465B4"/>
                </a:solidFill>
              </a:defRPr>
            </a:pPr>
            <a:r>
              <a:t>Inside: Q(3,2), R(7,5)   |   Outside: P(1,4), S(9,1)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11. Numerical — Distance Inside the Strip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2D37"/>
                </a:solidFill>
              </a:defRPr>
            </a:pPr>
            <a:r>
              <a:t>Q(3,2) and R(7,5)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920240"/>
            <a:ext cx="3749039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29968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3383279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Δx=4, Δy=3</a:t>
            </a:r>
            <a:br/>
            <a:r>
              <a:t>d=√(4²+3²)</a:t>
            </a:r>
            <a:br/>
            <a:r>
              <a:t>=√25=5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29968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E4141"/>
                </a:solidFill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383279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If δ=3,</a:t>
            </a:r>
            <a:br/>
            <a:r>
              <a:t>5&gt;3</a:t>
            </a:r>
            <a:br/>
            <a:r>
              <a:t>So Q–R does not improve 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915F"/>
                </a:solidFill>
              </a:defRPr>
            </a:pPr>
            <a:r>
              <a:t>Update δ only when the new distance is smaller than δ.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12. Closest-Pair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1. Sort points by x-coordinate.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2. If n is small, compute directly.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3. Divide into left and right halves.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4. Recursively find δL and δR.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5. Set δ=min(δL,δR).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6. Form strip: |x−midX|&lt;δ.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7. Sort strip by y-coordinate.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8. Check nearby strip candidates and update δ.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9. Return the closest pair.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13. Time Complexity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663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81328"/>
            <a:ext cx="4297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Recurrence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29767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T(n)=2T(n/2)+O(n)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4663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67328"/>
            <a:ext cx="4297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2915F"/>
                </a:solidFill>
              </a:defRPr>
            </a:pPr>
            <a:r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2976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T(n)=O(n log 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5720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3852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E4141"/>
                </a:solidFill>
              </a:defRPr>
            </a:pPr>
            <a: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062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Two recursive halves + linear combine work.</a:t>
            </a:r>
            <a:br/>
            <a:r>
              <a:t>The initial sorting contributes O(n log 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14. Exam-Level Numerical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949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3441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5029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A(0,0), B(2,1), C(5,4), D(6,6).</a:t>
            </a:r>
            <a:br/>
            <a:r>
              <a:t>Find closest pair and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44168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2915F"/>
                </a:solidFill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93775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P(1,2), Q(4,6), R(2,3).</a:t>
            </a:r>
            <a:br/>
            <a:r>
              <a:t>Find minimum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53949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584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E4141"/>
                </a:solidFill>
              </a:defRPr>
            </a:pPr>
            <a: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23359"/>
            <a:ext cx="5029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δL=4 and δR=2.5.</a:t>
            </a:r>
            <a:br/>
            <a:r>
              <a:t>Find δ before strip checking.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584448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59"/>
            <a:ext cx="493775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x=10, δ=4.</a:t>
            </a:r>
            <a:br/>
            <a:r>
              <a:t>Which are in strip: (7,3),(9,2),(13,1),(15,5)?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15.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394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252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5029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AB=√5, CD=√5</a:t>
            </a:r>
            <a:br/>
            <a:r>
              <a:t>Answer: AB and CD tie.</a:t>
            </a:r>
            <a:br/>
            <a:r>
              <a:t>d=√5≈2.236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3035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52728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2915F"/>
                </a:solidFill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93775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PQ=5, PR=√2, QR=√10</a:t>
            </a:r>
            <a:br/>
            <a:r>
              <a:t>Answer: PR.</a:t>
            </a:r>
            <a:br/>
            <a:r>
              <a:t>d=√2≈1.414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53949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E4141"/>
                </a:solidFill>
              </a:defRPr>
            </a:pPr>
            <a: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77639"/>
            <a:ext cx="5029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δ=min(4,2.5)=2.5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29000"/>
            <a:ext cx="53035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65B4"/>
                </a:solidFill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39"/>
            <a:ext cx="493775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</a:defRPr>
            </a:pPr>
            <a:r>
              <a:t>Strip: 6&lt;x&lt;14</a:t>
            </a:r>
            <a:br/>
            <a:r>
              <a:t>Inside: (7,3),(9,2),(13,1)</a:t>
            </a:r>
            <a:br/>
            <a:r>
              <a:t>Outside: (15,5)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9233C"/>
                </a:solidFill>
              </a:defRPr>
            </a:pPr>
            <a:r>
              <a:t>16. 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Closest pair = two distinct points with minimum Euclidean distance.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Distance formula: d=√[(x₂−x₁)²+(y₂−y₁)²].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Sort → Divide → solve halves → δ.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Construct critical strip around dividing line.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Sort strip by y and check nearby candidates.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Time complexity: O(n log n).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Exam focus: correct strip construction and cross-half checking.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897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465B4"/>
                </a:solidFill>
              </a:defRPr>
            </a:pPr>
            <a:r>
              <a:t>SORT → DIVIDE → δ → STRIP → CHECK → ANSWER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Closest Pair = Divide, Narrow,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D2E1F5"/>
                </a:solidFill>
              </a:defRPr>
            </a:pPr>
            <a:r>
              <a:t>The critical strip is the key to finding a closer pair across the two halves.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CAABE"/>
                </a:solidFill>
              </a:defRPr>
            </a:pPr>
            <a:r>
              <a:t>DAA • Computational Geometry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