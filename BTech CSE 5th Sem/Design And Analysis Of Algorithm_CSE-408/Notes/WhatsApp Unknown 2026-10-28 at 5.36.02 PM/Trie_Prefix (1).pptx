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Understand what a Trie is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Understand why prefix searching needs a Trie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Learn Trie structure and terminology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Learn insertion, search, prefix search and deletion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Study examples, complexity, advantages, disadvantages and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What is a Trie?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A Trie is a tree-based data structure used to store strings.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Characters are stored along paths from the root.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Words having the same prefix share the same path.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It is also called a Prefix Tree.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 terminal/end marker identifies a complete word.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Why Do We Use a Trie?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Fast searching of strings based on their length.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Very efficient for prefix queries.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Natural solution for autocomplete and search suggestions.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Shared prefixes avoid storing the same path repeatedly.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Useful when many words need to be organized by prefixes.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Basic Trie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Root </a:t>
            </a:r>
            <a:r>
              <a:t>represents the empty string.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Each child represents the next character.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 path from root represents a sequence of characters.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END marker means a complete word finishes there.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Example words: CAT, CAR, CAN share C → 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Example 1: CAT, CAR,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Insert CAT: C → A → T → END.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Insert CAR: reuse C → A, then create R → END.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Insert CAN: reuse C → A, then create N → END.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The prefix CA is shared by all three words.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This is the main memory-sharing idea of a Trie.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Trie Diagram: CAT, CAR,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Root</a:t>
            </a:r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|</a:t>
            </a:r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C</a:t>
            </a:r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|</a:t>
            </a:r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A</a:t>
            </a:r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/|\\</a:t>
            </a:r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T R N</a:t>
            </a:r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| | |</a:t>
            </a:r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END END END</a:t>
            </a:r>
          </a:p>
          <a:p>
            <a:pPr algn="ctr">
              <a:spcAft>
                <a:spcPts val="10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endParaRPr/>
          </a:p>
          <a:p>
            <a:pPr algn="ctr">
              <a:spcAft>
                <a:spcPts val="900"/>
              </a:spcAft>
              <a:defRPr sz="1900">
                <a:solidFill>
                  <a:srgbClr val="232323"/>
                </a:solidFill>
                <a:latin typeface="Consolas"/>
              </a:defRPr>
            </a:pPr>
            <a:r>
              <a:t>• The same C → A path is shared.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How Insertion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Start at the root.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Read characters one by one.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If a child does not exist, create a new node.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If the child already exists, reuse it.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After the last character, mark the node as END-OF-WORD.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Insertion Example: APPLE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Start at root.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Create A.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Create P and reuse/create the next P.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Create L.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Create E.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Mark E as END.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If APP is also a word, mark the second P as END too.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How Search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Start from the root.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Follow one child for each character.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If a required child is missing → word does not exist.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After all characters are found, check the END marker.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Reaching a node alone does not always mean the complete word exists.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Search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2608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Stored words: CAT, CAR, CAN.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Search CAT → C → A → T → END → Found.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Search CAP → C → A exists, but P child is missing → Not Found.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Search CA → path exists, but CA is not a complete word unless END is marked there.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Prefix Search / StartsWith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Prefix search asks whether a prefix exists and can be used to find matching words.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Example: CA.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Follow C → A.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From this node, traverse descendants.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Possible words: CAT, CAR, CAN.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This operation is the reason Tries are powerful for autocomplete.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Example 2: DO, DOG, DOT, DOLL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DO is a complete word, so O has END.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DOG extends DO with G.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DOT extends DO with 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DOLL extends DO with L → L.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The prefix DO is shared.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 word can also be a prefix of other 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Example 3: APP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Words: APP, APPLE, APPLICATION, APPLY.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All share the prefix APP.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APP needs an END marker because it is a complete word.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Other words branch after APP.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Prefix APP can quickly locate the entire group.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Example 4: Autocomplete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Stored words: PRE, PREFIX, PREPARE, PRESENT, PREVENT.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User types PRE.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Trie follows P → R → 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Traverse descendants to collect suggestions.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Possible suggestions include PREFIX, PREPARE, PRESENT and PREVENT.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Main Trie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INSERT: add characters and mark the final node.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SEARCH: follow characters and check END marker.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STARTSWITH: follow only the prefix path.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TRAVERSE: collect words below a prefix node.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DELETE: remove unnecessary nodes while preserving shared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Deletion in Trie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Suppose CAT and CAR are stored.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Delete CAT: remove/unmark T if it is not needed elsewhere.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Keep C → A → R because CAR still needs it.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Never delete a shared node used by another word.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Deletion must preserve all remaining 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Space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Trie can use significant memory.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Each node may contain child pointers/references.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 fixed array for children can waste space for sparse nodes.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Maps/dictionaries can reduce unused references but add overhead.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Space depends on the number of Trie nodes and child references.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Fast insertion and exact search: O(L).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Excellent for prefix-based queries.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Ideal for autocomplete and search suggestions.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Shared prefixes can reduce repeated character storage.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Can support lexicographic traversal.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Performance depends mainly on key length.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Can require more memory than a hash table or compact tree.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Child pointers create overhead.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Implementation is more complex than a simple list.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Large alphabets increase memory requirements.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Deletion and END-marker handling need care.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Autocomplete and search suggestions.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Spell checking and dictionaries.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Word games and prefix-based searching.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Text processing and keyword organization.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IP routing using suitable Trie variants.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Finding all words beginning with a prefix.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Trie vs Hash Table vs BST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Trie: best when prefix searching is important.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Hash Table: excellent for exact lookup, but ordinary hashing does not naturally support prefix queries.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BST: maintains ordering and supports ordered traversal.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Choose Trie for autocomplete/prefix operations.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Choose Hash Table for simple exact-key lookup.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Important Concepts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Root </a:t>
            </a:r>
            <a:r>
              <a:t>normally represents the empty prefix.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Characters are stored along paths.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Shared prefixes share nodes.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END marker distinguishes a complete word from only a prefix.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A word can itself be a prefix of another word.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Do not delete nodes that are still needed by other 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Exam-Oriented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Insert CAT, CAR, CAN and draw the Trie.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How many new nodes are created for a word with a shared prefix?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Is CA a prefix? Is CA a complete word?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Find all words beginning with PRE.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State insertion and search complexity.</a:t>
            </a:r>
          </a:p>
          <a:p>
            <a:pPr>
              <a:spcAft>
                <a:spcPts val="900"/>
              </a:spcAft>
              <a:defRPr sz="2100">
                <a:solidFill>
                  <a:srgbClr val="232323"/>
                </a:solidFill>
              </a:defRPr>
            </a:pPr>
            <a:r>
              <a:t>• Explain why the END marker is necessary.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30352" y="1097280"/>
            <a:ext cx="11109960" cy="5230368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05840"/>
            <a:ext cx="11109960" cy="5230368"/>
          </a:xfrm>
          <a:prstGeom prst="roundRect">
            <a:avLst/>
          </a:prstGeom>
          <a:solidFill>
            <a:srgbClr val="F2F7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Quick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rPr smtClean="0"/>
              <a:t>• </a:t>
            </a:r>
            <a:r>
              <a:t>Trie = Prefix Tree for strings.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Main operations: Insert, Search, StartsWith, Delete.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Shared prefixes share paths.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Insert/Search are O(L).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Best use: autocomplete and prefix search.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• Main drawback: memory usage.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KEY IDEA: Follow characters from root and mark complete words with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  <a:defRPr sz="1000">
                <a:solidFill>
                  <a:srgbClr val="232323"/>
                </a:solidFill>
              </a:defRPr>
            </a:pPr>
            <a:r>
              <a:t>•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146304" cy="502920"/>
          </a:xfrm>
          <a:prstGeom prst="roundRect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152144"/>
            <a:ext cx="146304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t>DAA • TRIE / PREFIX DATA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B8"/>
                </a:solidFill>
              </a:defRPr>
            </a:pPr>
            <a:r>
              <a:t>Numerical 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74B"/>
                </a:solidFill>
              </a:defRPr>
            </a:pPr>
            <a:r>
              <a:t>Construct the Trie: CAT, CAR, 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74903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F8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435607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64792"/>
            <a:ext cx="341985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B37"/>
                </a:solidFill>
              </a:defRPr>
            </a:pPr>
            <a:r>
              <a:t>Insert CAT, CAR and CAN into an empty Trie. Draw the final Trie and mark all END nodes.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83280"/>
            <a:ext cx="3749039" cy="2240280"/>
          </a:xfrm>
          <a:prstGeom prst="roundRect">
            <a:avLst/>
          </a:prstGeom>
          <a:solidFill>
            <a:srgbClr val="E5EF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49300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822191"/>
            <a:ext cx="3419856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1. CAT: create C → A → T → END</a:t>
            </a:r>
            <a:br/>
            <a:r>
              <a:t>2. CAR: reuse C → A; add R → END</a:t>
            </a:r>
            <a:br/>
            <a:r>
              <a:t>3. CAN: reuse C → A; add N →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71780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6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435607"/>
            <a:ext cx="6848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SOLUTION — FINAL TRIE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764792"/>
            <a:ext cx="6848855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Shared prefix C → A is created only once.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214884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221284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ROOT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94436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28431" y="2569464"/>
            <a:ext cx="0" cy="31089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818120" y="36118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36758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28431" y="3300984"/>
            <a:ext cx="0" cy="31089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00800" y="438912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45312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83717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611112" y="4032504"/>
            <a:ext cx="1417319" cy="35661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818120" y="438912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18120" y="445312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8" y="483717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28431" y="4032504"/>
            <a:ext cx="1" cy="35661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235440" y="438912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35440" y="445312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483717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028431" y="4032504"/>
            <a:ext cx="1417321" cy="35661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892040" y="507492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Nodes: Root, C, A, T, R, N = 6 total</a:t>
            </a:r>
            <a:br/>
            <a:r>
              <a:t>END: T, R, 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B8"/>
                </a:solidFill>
              </a:defRPr>
            </a:pPr>
            <a:r>
              <a:t>Numerical 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74B"/>
                </a:solidFill>
              </a:defRPr>
            </a:pPr>
            <a:r>
              <a:t>Construct the Trie: APP, APPLE, APPLY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749039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F8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435607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64792"/>
            <a:ext cx="341985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B37"/>
                </a:solidFill>
              </a:defRPr>
            </a:pPr>
            <a:r>
              <a:t>Insert APP, APPLE and APPLY. Draw the final Trie. Which nodes are END?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54680"/>
            <a:ext cx="3749039" cy="2331720"/>
          </a:xfrm>
          <a:prstGeom prst="roundRect">
            <a:avLst/>
          </a:prstGeom>
          <a:solidFill>
            <a:srgbClr val="E5EF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26440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93592"/>
            <a:ext cx="3419856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APP → A → P → P → END</a:t>
            </a:r>
            <a:br/>
            <a:r>
              <a:t>APPLE → reuse APP; add L → E → END</a:t>
            </a:r>
            <a:br/>
            <a:r>
              <a:t>APPLY → reuse APP; add L → Y →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71780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6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435607"/>
            <a:ext cx="6848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SOLUTION — FINAL TRIE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764792"/>
            <a:ext cx="6848855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APP is itself a word, so the second P has END. APPLE and APPLY branch after L.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20116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20756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ROOT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6974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7614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28431" y="243230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818120" y="33832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34472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28431" y="311810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818120" y="406908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8120" y="41330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451713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28431" y="380390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818120" y="47548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18120" y="48188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28431" y="4535424"/>
            <a:ext cx="0" cy="21945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629400" y="475488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48188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520293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6839712" y="4965192"/>
            <a:ext cx="978408" cy="0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006840" y="475488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06840" y="48188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33688" y="520293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38744" y="4965192"/>
            <a:ext cx="978408" cy="0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846320" y="534924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274B"/>
                </a:solidFill>
              </a:defRPr>
            </a:pPr>
            <a:r>
              <a:t>END: APP (2nd P), APPLE (E), APPLY (Y)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B8"/>
                </a:solidFill>
              </a:defRPr>
            </a:pPr>
            <a:r>
              <a:t>Numerical 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74B"/>
                </a:solidFill>
              </a:defRPr>
            </a:pPr>
            <a:r>
              <a:t>Search in a Trie: DO, DOG, DOT, DOLL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74903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F8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435607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64792"/>
            <a:ext cx="3419856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For the Trie containing DO, DOG, DOT and DOLL, determine:</a:t>
            </a:r>
            <a:br/>
            <a:r>
              <a:t>DO, DOL, DOGS, DOLL — Found or Not Found?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20440"/>
            <a:ext cx="3749039" cy="2240280"/>
          </a:xfrm>
          <a:prstGeom prst="roundRect">
            <a:avLst/>
          </a:prstGeom>
          <a:solidFill>
            <a:srgbClr val="E5EF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63016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SEARCH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959352"/>
            <a:ext cx="3419856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DO: D→O→END ✓</a:t>
            </a:r>
            <a:br/>
            <a:r>
              <a:t>DOL: D→O→L, but no END ✗</a:t>
            </a:r>
            <a:br/>
            <a:r>
              <a:t>DOGS: D→O→G, but no S ✗</a:t>
            </a:r>
            <a:br/>
            <a:r>
              <a:t>DOLL: D→O→L→L→END 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71780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6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435607"/>
            <a:ext cx="6848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SOLUTION — TRIE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764792"/>
            <a:ext cx="6848855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Orange nodes show complete words (END). Blue nodes are only prefixes.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1874519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193852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ROOT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56032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62432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28431" y="229514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818120" y="324612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331012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369417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28431" y="298094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446520" y="3977639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404164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42569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6656832" y="3483864"/>
            <a:ext cx="1371599" cy="493775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818120" y="3977639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18120" y="404164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4968" y="442569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28431" y="3483864"/>
            <a:ext cx="1" cy="493775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189720" y="3977639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89720" y="404164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8" y="442569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28431" y="3483864"/>
            <a:ext cx="1371601" cy="493775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189720" y="466344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89720" y="472744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6568" y="511149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400032" y="439826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74920" y="53035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Results: DO ✓   DOL ✗   DOGS ✗   DOLL ✓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B8"/>
                </a:solidFill>
              </a:defRPr>
            </a:pPr>
            <a:r>
              <a:t>Numerical 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74B"/>
                </a:solidFill>
              </a:defRPr>
            </a:pPr>
            <a:r>
              <a:t>Deletion: CAT from CAT, CAR, 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749039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F8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435607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64792"/>
            <a:ext cx="3419856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B37"/>
                </a:solidFill>
              </a:defRPr>
            </a:pPr>
            <a:r>
              <a:t>A Trie stores CAT, CAR and CAN. Delete CAT. Show exactly what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63240"/>
            <a:ext cx="3749039" cy="2423160"/>
          </a:xfrm>
          <a:prstGeom prst="roundRect">
            <a:avLst/>
          </a:prstGeom>
          <a:solidFill>
            <a:srgbClr val="E5EF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17296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DELETION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02152"/>
            <a:ext cx="3419856" cy="1892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1. Follow C → A → T.</a:t>
            </a:r>
            <a:br/>
            <a:r>
              <a:t>2. Remove T because it is not shared.</a:t>
            </a:r>
            <a:br/>
            <a:r>
              <a:t>3. Keep C → A because CAR and CAN need it.</a:t>
            </a:r>
            <a:br/>
            <a:r>
              <a:t>4. Keep R and 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71780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6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435607"/>
            <a:ext cx="6848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BEFORE → 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764792"/>
            <a:ext cx="6848855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Before: C→A branches to T, R, N.</a:t>
            </a:r>
            <a:br/>
            <a:r>
              <a:t>After: T is removed; R and N remain.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A5CAA"/>
                </a:solidFill>
              </a:defRPr>
            </a:pPr>
            <a:r>
              <a:t>BEFORE</a:t>
            </a:r>
          </a:p>
        </p:txBody>
      </p:sp>
      <p:sp>
        <p:nvSpPr>
          <p:cNvPr id="15" name="Oval 14"/>
          <p:cNvSpPr/>
          <p:nvPr/>
        </p:nvSpPr>
        <p:spPr>
          <a:xfrm>
            <a:off x="5577840" y="24688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25328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5577840" y="320040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77840" y="326440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88152" y="2889504"/>
            <a:ext cx="0" cy="31089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892040" y="388620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395020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433425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102352" y="3621024"/>
            <a:ext cx="68580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577840" y="388620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77840" y="395020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4688" y="433425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88152" y="362102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263640" y="388620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395020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433425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88152" y="3621024"/>
            <a:ext cx="68580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2960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69163"/>
                </a:solidFill>
              </a:defRPr>
            </a:pPr>
            <a:r>
              <a:t>AFTER DELETE CAT</a:t>
            </a:r>
          </a:p>
        </p:txBody>
      </p:sp>
      <p:sp>
        <p:nvSpPr>
          <p:cNvPr id="33" name="Oval 32"/>
          <p:cNvSpPr/>
          <p:nvPr/>
        </p:nvSpPr>
        <p:spPr>
          <a:xfrm>
            <a:off x="9052560" y="24688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52560" y="25328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35" name="Oval 34"/>
          <p:cNvSpPr/>
          <p:nvPr/>
        </p:nvSpPr>
        <p:spPr>
          <a:xfrm>
            <a:off x="9052560" y="320040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52560" y="326440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62872" y="2889504"/>
            <a:ext cx="0" cy="31089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388620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0" y="395020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13648" y="433425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8897112" y="3621024"/>
            <a:ext cx="36576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738360" y="388620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38360" y="395020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65208" y="433425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262872" y="3621024"/>
            <a:ext cx="68580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955279" y="4754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274B"/>
                </a:solidFill>
              </a:defRPr>
            </a:pPr>
            <a:r>
              <a:t>Only T is removed.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B8"/>
                </a:solidFill>
              </a:defRPr>
            </a:pPr>
            <a:r>
              <a:t>Numerical Question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74B"/>
                </a:solidFill>
              </a:defRPr>
            </a:pPr>
            <a:r>
              <a:t>Deletion: APP from APP, APPLE, APPLY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749039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F8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435607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64792"/>
            <a:ext cx="341985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B37"/>
                </a:solidFill>
              </a:defRPr>
            </a:pPr>
            <a:r>
              <a:t>A Trie stores APP, APPLE and APPLY. Delete APP. Should the P nodes be deleted?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91840"/>
            <a:ext cx="3749039" cy="2240280"/>
          </a:xfrm>
          <a:prstGeom prst="roundRect">
            <a:avLst/>
          </a:prstGeom>
          <a:solidFill>
            <a:srgbClr val="E5EF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40156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KEY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730752"/>
            <a:ext cx="3419856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APP is a complete word, but it is also a prefix of APPLE and APPLY.</a:t>
            </a:r>
            <a:br/>
            <a:r>
              <a:t>Therefore, remove only the END marker at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71780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6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435607"/>
            <a:ext cx="6848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SOLUTION — AFTER DELETE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764792"/>
            <a:ext cx="6848855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The structure remains because APPLE and APPLY still use the APP path.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1874519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193852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ROOT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56032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62432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28431" y="229514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818120" y="324612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331012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28431" y="298094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818120" y="393192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8120" y="399592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28431" y="366674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818120" y="461772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18120" y="468172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28431" y="435254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629400" y="461772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468172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506577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6839712" y="4828032"/>
            <a:ext cx="978408" cy="0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006840" y="461772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06840" y="468172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33688" y="506577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38744" y="4828032"/>
            <a:ext cx="978408" cy="0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0" y="52120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274B"/>
                </a:solidFill>
              </a:defRPr>
            </a:pPr>
            <a:r>
              <a:t>APP END marker is removed. P nodes are NOT deleted.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B8"/>
                </a:solidFill>
              </a:defRPr>
            </a:pPr>
            <a:r>
              <a:t>Numerical Question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74B"/>
                </a:solidFill>
              </a:defRPr>
            </a:pPr>
            <a:r>
              <a:t>Combined Operation: CAR, CAT, CART, DOG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749039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F8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435607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64792"/>
            <a:ext cx="3419856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B37"/>
                </a:solidFill>
              </a:defRPr>
            </a:pPr>
            <a:r>
              <a:t>Insert CAR, CAT, CART and DOG. Then delete CAR.</a:t>
            </a:r>
            <a:br/>
            <a:r>
              <a:t>Is CAR found? Is CART found?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46120"/>
            <a:ext cx="3749039" cy="2331720"/>
          </a:xfrm>
          <a:prstGeom prst="roundRect">
            <a:avLst/>
          </a:prstGeom>
          <a:solidFill>
            <a:srgbClr val="E5EF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35584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CONSTRUCTION + DELETE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685031"/>
            <a:ext cx="3419856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B37"/>
                </a:solidFill>
              </a:defRPr>
            </a:pPr>
            <a:r>
              <a:t>CAR → C→A→R→END</a:t>
            </a:r>
            <a:br/>
            <a:r>
              <a:t>CAT → C→A→T→END</a:t>
            </a:r>
            <a:br/>
            <a:r>
              <a:t>CART → reuse C→A→R; add T→END</a:t>
            </a:r>
            <a:br/>
            <a:r>
              <a:t>DOG → D→O→G→END</a:t>
            </a:r>
            <a:br/>
            <a:r>
              <a:t>Delete CAR → remove only R's 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71780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369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435607"/>
            <a:ext cx="6848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274B"/>
                </a:solidFill>
              </a:defRPr>
            </a:pPr>
            <a:r>
              <a:t>SOLUTION — AFTER DELETE CAR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764792"/>
            <a:ext cx="6848855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B37"/>
                </a:solidFill>
              </a:defRPr>
            </a:pPr>
            <a:r>
              <a:t>CAR becomes only a prefix; CART remains a complete word.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182880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1892807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ROOT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4688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5328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28431" y="2249424"/>
            <a:ext cx="0" cy="21945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818120" y="310896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317296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28431" y="2889504"/>
            <a:ext cx="0" cy="21945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903720" y="379476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20" y="385876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114032" y="3319272"/>
            <a:ext cx="704088" cy="475488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903720" y="448056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03720" y="454456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492861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14032" y="421538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732520" y="379476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32520" y="385876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8" y="424281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028431" y="3319272"/>
            <a:ext cx="914401" cy="475488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555480" y="246888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55480" y="253288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028431" y="2249424"/>
            <a:ext cx="1737361" cy="21945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555480" y="3108960"/>
            <a:ext cx="420624" cy="420624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55480" y="317296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765792" y="2889504"/>
            <a:ext cx="0" cy="21945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9555480" y="3794760"/>
            <a:ext cx="420624" cy="420624"/>
          </a:xfrm>
          <a:prstGeom prst="ellipse">
            <a:avLst/>
          </a:prstGeom>
          <a:solidFill>
            <a:srgbClr val="EF8F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55480" y="3858768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82328" y="424281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69163"/>
                </a:solidFill>
              </a:defRPr>
            </a:pPr>
            <a:r>
              <a:t>END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765792" y="3529584"/>
            <a:ext cx="0" cy="265176"/>
          </a:xfrm>
          <a:prstGeom prst="line">
            <a:avLst/>
          </a:prstGeom>
          <a:ln w="254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0" y="525780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274B"/>
                </a:solidFill>
              </a:defRPr>
            </a:pPr>
            <a:r>
              <a:t>CAR → Not Found (no END)     CART → Found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TRIE NUMERICALS — HOW TO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●  INSERT: reuse an existing path; create nodes only when needed.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●  SEARCH: follow every character AND check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●  DELETE: remove only unnecessary nodes / END markers.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●  PREFIX: a path can exist even when the prefix is not a complete word.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●  Always draw the tree after each operation to verify the result.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2112</Words>
  <Application>Microsoft Macintosh PowerPoint</Application>
  <PresentationFormat>Custom</PresentationFormat>
  <Paragraphs>383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Tanuja sahu</dc:creator>
  <dc:description>generated using python-pptx</dc:description>
  <cp:lastModifiedBy>User</cp:lastModifiedBy>
  <cp:revision>5</cp:revision>
  <dcterms:created xsi:type="dcterms:W3CDTF">2013-01-27T09:14:16Z</dcterms:created>
  <dcterms:modified xsi:type="dcterms:W3CDTF">2026-09-06T14:53:00Z</dcterms:modified>
</cp:coreProperties>
</file>