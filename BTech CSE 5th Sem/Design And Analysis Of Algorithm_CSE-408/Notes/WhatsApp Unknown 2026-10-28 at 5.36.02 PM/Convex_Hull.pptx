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</a:defRPr>
            </a:pPr>
            <a:r>
              <a:t>CONVEX HULL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7451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CDDCF5"/>
                </a:solidFill>
              </a:defRPr>
            </a:pPr>
            <a:r>
              <a:t>DAA • Concepts, Graham Scan, Diagrams &amp; Numericals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060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Scattered points → smallest outer boundary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8229600" y="3566160"/>
            <a:ext cx="914400" cy="118872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0" y="3566160"/>
            <a:ext cx="1097280" cy="45720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241280" y="4023360"/>
            <a:ext cx="548640" cy="128016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875520" y="5303520"/>
            <a:ext cx="914400" cy="36576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8686800" y="5486400"/>
            <a:ext cx="1188720" cy="18288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8229600" y="4754880"/>
            <a:ext cx="457200" cy="73152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138160" y="466344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52560" y="347472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49840" y="393192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0" y="521208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0" y="557784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0" y="539496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1. What is a Convex Hull?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CORE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4572000" cy="3383280"/>
          </a:xfrm>
          <a:prstGeom prst="roundRect">
            <a:avLst/>
          </a:prstGeom>
          <a:solidFill>
            <a:srgbClr val="E7F0F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206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F3D"/>
                </a:solidFill>
              </a:defRPr>
            </a:pPr>
            <a:r>
              <a:t>The smallest convex polygon that contains all given points.</a:t>
            </a:r>
            <a:br/>
            <a:br/>
            <a:r>
              <a:t>Imagine stretching a rubber band around the points.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0" y="5120640"/>
            <a:ext cx="4632960" cy="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302240" y="2651759"/>
            <a:ext cx="579120" cy="2468881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144000" y="1463039"/>
            <a:ext cx="1737360" cy="118872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248400" y="1463039"/>
            <a:ext cx="2895600" cy="54864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669280" y="2011679"/>
            <a:ext cx="579120" cy="3108961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77840" y="502920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49926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7894320" y="4114800"/>
            <a:ext cx="182880" cy="182880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5488" y="40782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10210800" y="502920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11967" y="49926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10789920" y="2560319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91088" y="252374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D</a:t>
            </a:r>
          </a:p>
        </p:txBody>
      </p:sp>
      <p:sp>
        <p:nvSpPr>
          <p:cNvPr id="21" name="Oval 20"/>
          <p:cNvSpPr/>
          <p:nvPr/>
        </p:nvSpPr>
        <p:spPr>
          <a:xfrm>
            <a:off x="9052560" y="1371599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33502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E</a:t>
            </a:r>
          </a:p>
        </p:txBody>
      </p:sp>
      <p:sp>
        <p:nvSpPr>
          <p:cNvPr id="23" name="Oval 22"/>
          <p:cNvSpPr/>
          <p:nvPr/>
        </p:nvSpPr>
        <p:spPr>
          <a:xfrm>
            <a:off x="6156960" y="1920239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8128" y="188366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F</a:t>
            </a:r>
          </a:p>
        </p:txBody>
      </p:sp>
      <p:sp>
        <p:nvSpPr>
          <p:cNvPr id="25" name="Oval 24"/>
          <p:cNvSpPr/>
          <p:nvPr/>
        </p:nvSpPr>
        <p:spPr>
          <a:xfrm>
            <a:off x="8241792" y="3200399"/>
            <a:ext cx="182880" cy="182880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2960" y="316382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60AA"/>
                </a:solidFill>
              </a:defRPr>
            </a:pPr>
            <a:r>
              <a:t>Orange = hull points   Blue = interior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2. Orientation / Cross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KEY NUMERICAL FORMULA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1143000"/>
          </a:xfrm>
          <a:prstGeom prst="roundRect">
            <a:avLst/>
          </a:prstGeom>
          <a:solidFill>
            <a:srgbClr val="E7F0F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898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62F3D"/>
                </a:solidFill>
              </a:defRPr>
            </a:pPr>
            <a:r>
              <a:t>Cross = (Bx−Ax)(Cy−Ay) − (By−Ay)(Cx−Ax)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383280" cy="137160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Cross &gt;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62F3D"/>
                </a:solidFill>
              </a:defRPr>
            </a:pPr>
            <a:r>
              <a:t>Counter-clockwise (left turn)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383280" cy="1371600"/>
          </a:xfrm>
          <a:prstGeom prst="roundRect">
            <a:avLst/>
          </a:prstGeom>
          <a:solidFill>
            <a:srgbClr val="FDF1E1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529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Cross &lt;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62F3D"/>
                </a:solidFill>
              </a:defRPr>
            </a:pPr>
            <a:r>
              <a:t>Clockwise (right turn)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529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Cross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62F3D"/>
                </a:solidFill>
              </a:defRPr>
            </a:pPr>
            <a:r>
              <a:t>Collinear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284B"/>
                </a:solidFill>
              </a:defRPr>
            </a:pPr>
            <a:r>
              <a:t>This test decides whether Graham Scan keeps a point or POPs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3. Graham Scan —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ALGORITHM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438912" cy="438912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0759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16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Find the point with lowest y-coordinate.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984248"/>
            <a:ext cx="438912" cy="438912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Sort the remaining points by polar angle.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734056"/>
            <a:ext cx="438912" cy="438912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157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Push the first points onto a stack.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483864"/>
            <a:ext cx="438912" cy="438912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57016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65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For each new point, calculate orientation.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233672"/>
            <a:ext cx="438912" cy="438912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06824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153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Clockwise turn → POP the middle/top stack point.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983479"/>
            <a:ext cx="438912" cy="438912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56631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65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After processing all points, stack = convex hull.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4. Why Sorting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POLAR ANGLE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1508760"/>
          </a:xfrm>
          <a:prstGeom prst="roundRect">
            <a:avLst/>
          </a:prstGeom>
          <a:solidFill>
            <a:srgbClr val="E7F0F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3560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REFERENCE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4846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Choose the lowest point P₀. It is guaranteed to be on the hull.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2186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POLAR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661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Sort the other points around P₀ by increasing polar angle so the boundary can be scanned in order.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400800" y="4343400"/>
            <a:ext cx="3429000" cy="96012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829800" y="2903220"/>
            <a:ext cx="1143000" cy="144018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258300" y="1463040"/>
            <a:ext cx="1714500" cy="144018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972300" y="1463040"/>
            <a:ext cx="2286000" cy="96012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400800" y="2423160"/>
            <a:ext cx="571500" cy="288036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09360" y="521208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51755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P₀</a:t>
            </a:r>
          </a:p>
        </p:txBody>
      </p:sp>
      <p:sp>
        <p:nvSpPr>
          <p:cNvPr id="18" name="Oval 17"/>
          <p:cNvSpPr/>
          <p:nvPr/>
        </p:nvSpPr>
        <p:spPr>
          <a:xfrm>
            <a:off x="7452360" y="4251960"/>
            <a:ext cx="182880" cy="182880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7" y="42153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9738360" y="425196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42153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10881360" y="281178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82528" y="27752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9166860" y="137160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8028" y="13350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D</a:t>
            </a:r>
          </a:p>
        </p:txBody>
      </p:sp>
      <p:sp>
        <p:nvSpPr>
          <p:cNvPr id="26" name="Oval 25"/>
          <p:cNvSpPr/>
          <p:nvPr/>
        </p:nvSpPr>
        <p:spPr>
          <a:xfrm>
            <a:off x="6880860" y="233172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2028" y="22951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B8B2F"/>
                </a:solidFill>
              </a:defRPr>
            </a:pPr>
            <a:r>
              <a:t>P₀ is the lowest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5. Stack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KEEP vs POP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212080" cy="182880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COUNTER-CLOCKWISE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62F3D"/>
                </a:solidFill>
              </a:defRPr>
            </a:pPr>
            <a:r>
              <a:t>Cross &gt; 0</a:t>
            </a:r>
            <a:br/>
            <a:r>
              <a:t>→ Keep the middle point</a:t>
            </a:r>
            <a:br/>
            <a:r>
              <a:t>→ Push the new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212080" cy="1828800"/>
          </a:xfrm>
          <a:prstGeom prst="roundRect">
            <a:avLst/>
          </a:prstGeom>
          <a:solidFill>
            <a:srgbClr val="FDF1E1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813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CLOCKWISE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62F3D"/>
                </a:solidFill>
              </a:defRPr>
            </a:pPr>
            <a:r>
              <a:t>Cross &lt; 0</a:t>
            </a:r>
            <a:br/>
            <a:r>
              <a:t>→ POP the middle/top point</a:t>
            </a:r>
            <a:br/>
            <a:r>
              <a:t>→ Check the new last three points again</a:t>
            </a:r>
          </a:p>
        </p:txBody>
      </p:sp>
      <p:sp>
        <p:nvSpPr>
          <p:cNvPr id="11" name="Oval 10"/>
          <p:cNvSpPr/>
          <p:nvPr/>
        </p:nvSpPr>
        <p:spPr>
          <a:xfrm>
            <a:off x="1737360" y="4663440"/>
            <a:ext cx="182880" cy="182880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46268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3108960" y="2834640"/>
            <a:ext cx="182880" cy="182880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7980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B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4114800"/>
            <a:ext cx="182880" cy="182880"/>
          </a:xfrm>
          <a:prstGeom prst="ellipse">
            <a:avLst/>
          </a:prstGeom>
          <a:solidFill>
            <a:srgbClr val="37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40782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C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828800" y="2926080"/>
            <a:ext cx="1371600" cy="1828800"/>
          </a:xfrm>
          <a:prstGeom prst="line">
            <a:avLst/>
          </a:prstGeom>
          <a:ln w="38100">
            <a:solidFill>
              <a:srgbClr val="3791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0" y="2926080"/>
            <a:ext cx="1463040" cy="1280160"/>
          </a:xfrm>
          <a:prstGeom prst="line">
            <a:avLst/>
          </a:prstGeom>
          <a:ln w="38100">
            <a:solidFill>
              <a:srgbClr val="3791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1168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79164"/>
                </a:solidFill>
              </a:defRPr>
            </a:pPr>
            <a:r>
              <a:t>Left turn → keep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0" y="2834640"/>
            <a:ext cx="182880" cy="182880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27980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0" y="4663440"/>
            <a:ext cx="182880" cy="182880"/>
          </a:xfrm>
          <a:prstGeom prst="ellipse">
            <a:avLst/>
          </a:prstGeom>
          <a:solidFill>
            <a:srgbClr val="C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46268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10241280" y="356616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2448" y="35295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0" y="2926080"/>
            <a:ext cx="1371600" cy="1828800"/>
          </a:xfrm>
          <a:prstGeom prst="line">
            <a:avLst/>
          </a:prstGeom>
          <a:ln w="38100">
            <a:solidFill>
              <a:srgbClr val="C8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686800" y="3657600"/>
            <a:ext cx="1645920" cy="109728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58952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B8B2F"/>
                </a:solidFill>
              </a:defRPr>
            </a:pPr>
            <a:r>
              <a:t>Right turn → POP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6. Solved Numerical — 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QUESTION +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8404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F3D"/>
                </a:solidFill>
              </a:defRPr>
            </a:pPr>
            <a:r>
              <a:t>A(1,1), B(3,2), C(4,5)</a:t>
            </a:r>
            <a:br/>
            <a:r>
              <a:t>Find the orientation.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80160"/>
            <a:ext cx="6903720" cy="1645920"/>
          </a:xfrm>
          <a:prstGeom prst="roundRect">
            <a:avLst/>
          </a:prstGeom>
          <a:solidFill>
            <a:srgbClr val="E7F0F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389888"/>
            <a:ext cx="6537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737360"/>
            <a:ext cx="65379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62F3D"/>
                </a:solidFill>
              </a:defRPr>
            </a:pPr>
            <a:r>
              <a:t>Cross = (3−1)(5−1) − (2−1)(4−1)</a:t>
            </a:r>
            <a:br/>
            <a:r>
              <a:t>= 8 − 3 = +5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37560"/>
            <a:ext cx="5120640" cy="132588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47288"/>
            <a:ext cx="475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47548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F3D"/>
                </a:solidFill>
              </a:defRPr>
            </a:pPr>
            <a:r>
              <a:t>+5 &gt; 0 → Counter-clockwise.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337560"/>
            <a:ext cx="5532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4472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94760"/>
            <a:ext cx="5166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2F3D"/>
                </a:solidFill>
              </a:defRPr>
            </a:pPr>
            <a:r>
              <a:t>The three points make a left turn, so this orientation does not require a POP.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7. Solved Numerical — Interior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QUESTION +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4800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A(0,0), B(4,0), C(4,4), D(2,2), E(0,4)</a:t>
            </a:r>
            <a:br/>
            <a:r>
              <a:t>Which point lies inside the convex hull?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0" y="4892040"/>
            <a:ext cx="5120640" cy="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89920" y="1325879"/>
            <a:ext cx="0" cy="3566161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669280" y="1325879"/>
            <a:ext cx="5120640" cy="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69280" y="1325879"/>
            <a:ext cx="0" cy="3566161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577840" y="480060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9008" y="47640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10698480" y="480060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99648" y="47640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10698480" y="1234439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99648" y="119786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8138160" y="3017519"/>
            <a:ext cx="182880" cy="182880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98094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5577840" y="1234439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8" y="119786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383280"/>
            <a:ext cx="4800600" cy="182880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9300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4048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F3D"/>
                </a:solidFill>
              </a:defRPr>
            </a:pPr>
            <a:r>
              <a:t>D(2,2) is interior.</a:t>
            </a:r>
            <a:br/>
            <a:r>
              <a:t>A, B, C and E form the outer square. D is inside it and is excluded from the hull.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8. Solved Numerical — Identify Interior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QUESTION +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4800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2F3D"/>
                </a:solidFill>
              </a:defRPr>
            </a:pPr>
            <a:r>
              <a:t>A(0,0), B(6,0), C(7,4), D(5,7), E(0,6), F(3,3)</a:t>
            </a:r>
            <a:br/>
            <a:r>
              <a:t>Which point is interior?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0" y="4892040"/>
            <a:ext cx="4389120" cy="0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058400" y="2854234"/>
            <a:ext cx="731520" cy="2037806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326880" y="1325879"/>
            <a:ext cx="1463040" cy="1528355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669280" y="1325879"/>
            <a:ext cx="3657600" cy="509452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1835331"/>
            <a:ext cx="0" cy="3056709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77840" y="480060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47640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0" y="4800600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68128" y="47640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10698480" y="2762794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9648" y="272621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9235440" y="1234439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7" y="119786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D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1743891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8" y="1707315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E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0" y="3272245"/>
            <a:ext cx="182880" cy="182880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7" y="323566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383280"/>
            <a:ext cx="4800600" cy="155448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9300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840480"/>
            <a:ext cx="4434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F3D"/>
                </a:solidFill>
              </a:defRPr>
            </a:pPr>
            <a:r>
              <a:t>F(3,3) is interior.</a:t>
            </a:r>
            <a:br/>
            <a:r>
              <a:t>Hull = A → B → C → D → E → 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9. Solved Numerical — POP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QUESTION +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4800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44348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F3D"/>
                </a:solidFill>
              </a:defRPr>
            </a:pPr>
            <a:r>
              <a:t>Stack: A(0,0), B(2,3)</a:t>
            </a:r>
            <a:br/>
            <a:r>
              <a:t>New point: C(4,1)</a:t>
            </a:r>
            <a:br/>
            <a:r>
              <a:t>Should B be POPped?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4800600" cy="1508760"/>
          </a:xfrm>
          <a:prstGeom prst="roundRect">
            <a:avLst/>
          </a:prstGeom>
          <a:solidFill>
            <a:srgbClr val="E7F0F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44348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F3D"/>
                </a:solidFill>
              </a:defRPr>
            </a:pPr>
            <a:r>
              <a:t>Cross = (2−0)(1−0) − (3−0)(4−0)</a:t>
            </a:r>
            <a:br/>
            <a:r>
              <a:t>= 2 − 12 = −10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4800600" cy="914400"/>
          </a:xfrm>
          <a:prstGeom prst="roundRect">
            <a:avLst/>
          </a:prstGeom>
          <a:solidFill>
            <a:srgbClr val="FDF1E1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00176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4924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F3D"/>
                </a:solidFill>
              </a:defRPr>
            </a:pPr>
            <a:r>
              <a:t>−10 &lt; 0 → Clockwise.</a:t>
            </a:r>
            <a:br/>
            <a:r>
              <a:t>Therefore POP B.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4572000"/>
            <a:ext cx="182880" cy="182880"/>
          </a:xfrm>
          <a:prstGeom prst="ellipse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45354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2651760"/>
            <a:ext cx="182880" cy="182880"/>
          </a:xfrm>
          <a:prstGeom prst="ellipse">
            <a:avLst/>
          </a:prstGeom>
          <a:solidFill>
            <a:srgbClr val="C8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7" y="26151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0" y="3657599"/>
            <a:ext cx="182880" cy="182880"/>
          </a:xfrm>
          <a:prstGeom prst="ellipse">
            <a:avLst/>
          </a:prstGeom>
          <a:solidFill>
            <a:srgbClr val="EB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8128" y="362102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284B"/>
                </a:solidFill>
              </a:defRPr>
            </a:pPr>
            <a:r>
              <a:t>C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400800" y="2743200"/>
            <a:ext cx="1554479" cy="1920240"/>
          </a:xfrm>
          <a:prstGeom prst="line">
            <a:avLst/>
          </a:prstGeom>
          <a:ln w="38100">
            <a:solidFill>
              <a:srgbClr val="C8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55279" y="2743200"/>
            <a:ext cx="2103121" cy="1005839"/>
          </a:xfrm>
          <a:prstGeom prst="line">
            <a:avLst/>
          </a:prstGeom>
          <a:ln w="38100">
            <a:solidFill>
              <a:srgbClr val="EB8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0" y="5166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284B"/>
                </a:solidFill>
              </a:defRPr>
            </a:pPr>
            <a:r>
              <a:t>B is the middle point of the clockwise turn → POP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10. Solved Numerical — Hull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QUICK NUMERICAL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6400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8132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F3D"/>
                </a:solidFill>
              </a:defRPr>
            </a:pPr>
            <a:r>
              <a:t>There are 10 points. Graham Scan returns 6 hull points. How many points are interior?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71600"/>
            <a:ext cx="4206240" cy="164592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481328"/>
            <a:ext cx="3840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828800"/>
            <a:ext cx="38404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62F3D"/>
                </a:solidFill>
              </a:defRPr>
            </a:pPr>
            <a:r>
              <a:t>Interior = Total − Hull</a:t>
            </a:r>
            <a:br/>
            <a:r>
              <a:t>= 10 − 6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9284B"/>
                </a:solidFill>
              </a:defRPr>
            </a:pPr>
            <a:r>
              <a:t>6 boundary points + 4 interior points = 10 total 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11. Numerical — Collinear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QUESTION +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4114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F3D"/>
                </a:solidFill>
              </a:defRPr>
            </a:pPr>
            <a:r>
              <a:t>A(1,1), B(3,3), C(5,5)</a:t>
            </a:r>
            <a:br/>
            <a:r>
              <a:t>Find the orientation.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280160"/>
            <a:ext cx="6583680" cy="1554480"/>
          </a:xfrm>
          <a:prstGeom prst="roundRect">
            <a:avLst/>
          </a:prstGeom>
          <a:solidFill>
            <a:srgbClr val="E7F0F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3898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73736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F3D"/>
                </a:solidFill>
              </a:defRPr>
            </a:pPr>
            <a:r>
              <a:t>Cross = (3−1)(5−1) − (3−1)(5−1)</a:t>
            </a:r>
            <a:br/>
            <a:r>
              <a:t>= 8 − 8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46120"/>
            <a:ext cx="5212080" cy="128016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55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48463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F3D"/>
                </a:solidFill>
              </a:defRPr>
            </a:pPr>
            <a:r>
              <a:t>Cross = 0 → Collinear.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246120"/>
            <a:ext cx="5394960" cy="1280160"/>
          </a:xfrm>
          <a:prstGeom prst="roundRect">
            <a:avLst/>
          </a:prstGeom>
          <a:solidFill>
            <a:srgbClr val="FDF1E1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355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EXAM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703320"/>
            <a:ext cx="5029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Collinear-point handling depends on the implementation: some versions keep only the farthest boundary 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12. Exam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Q1. A(0,0), B(2,3), C(4,1): find orientation.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441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Q2. A(0,0), B(2,2), C(4,4): find orientation.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4320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Q3. A(0,0), B(4,0), C(4,4), D(2,2), E(0,4): identify interior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52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Q4. During Graham Scan Cross = −12. What action is required?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25196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616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Q5. 15 points are given and 9 lie on the hull. Find interior 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616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QUESTION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Q6. State Graham Scan complexity and its dominant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1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284B"/>
                </a:solidFill>
              </a:defRPr>
            </a:pPr>
            <a:r>
              <a:t>13. Practice —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160AA"/>
                </a:solidFill>
              </a:defRPr>
            </a:pPr>
            <a:r>
              <a:t>ANSWER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57800" cy="118872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Q1: Cross = −10 → Clockwise.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57800" cy="118872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441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Q2: Cross = 0 → Collinear.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43200"/>
            <a:ext cx="5257800" cy="118872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Q3: D(2,2) is interior.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5257800" cy="118872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52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Q4: Cross &lt; 0 → Clockwise → POP the middle/top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251960"/>
            <a:ext cx="5257800" cy="118872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616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Q5: 15 − 9 = 6 interior 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257800" cy="1188720"/>
          </a:xfrm>
          <a:prstGeom prst="roundRect">
            <a:avLst/>
          </a:prstGeom>
          <a:solidFill>
            <a:srgbClr val="E7F5ED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616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284B"/>
                </a:solidFill>
              </a:defRPr>
            </a:pPr>
            <a:r>
              <a:t>SOLUTION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F3D"/>
                </a:solidFill>
              </a:defRPr>
            </a:pPr>
            <a:r>
              <a:t>Q6: O(n log n); sorting by polar angle is dominant.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CONVEX HULL — 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●  Convex Hull = smallest convex polygon containing all 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848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●  Cross &gt; 0 → CCW | Cross &lt; 0 → CW | Cross = 0 → Collinear.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980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●  Graham Scan: lowest point → sort → stack → POP on clockwise 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1129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●  Interior points are excluded from the final hull.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●  Time complexity = O(n log 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●  Exam focus: orientation calculations, interior points, stack POP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