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234440"/>
            <a:ext cx="10332720" cy="4389120"/>
          </a:xfrm>
          <a:prstGeom prst="roundRect">
            <a:avLst/>
          </a:prstGeom>
          <a:solidFill>
            <a:srgbClr val="EBF4FC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828800"/>
            <a:ext cx="9784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42D4B"/>
                </a:solidFill>
              </a:defRPr>
            </a:pPr>
            <a:r>
              <a:t>CONVEX HULL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834640"/>
            <a:ext cx="8503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/>
            </a:pPr>
            <a:r>
              <a:t>PRACTICE QUESTIONS — SOLUTIONS</a:t>
            </a:r>
          </a:p>
          <a:p>
            <a:pPr algn="ctr">
              <a:defRPr sz="1800"/>
            </a:pPr>
            <a:r>
              <a:t>DAA • Unit II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B"/>
                </a:solidFill>
              </a:defRPr>
            </a:pPr>
            <a:r>
              <a:t>Q1.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3741"/>
                </a:solidFill>
              </a:defRPr>
            </a:pPr>
            <a:r>
              <a:t>Step-by-step solution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107899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102412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D4B"/>
                </a:solidFill>
              </a:defRPr>
            </a:pPr>
            <a:r>
              <a:t>For A(1,1), B(3,2), C(4,5), calculate orientation.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33172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3741"/>
                </a:solidFill>
              </a:defRPr>
            </a:pPr>
            <a:r>
              <a:t>(x₂−x₁)(y₃−y₁) − (y₂−y₁)(x₃−x₁)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8892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3741"/>
                </a:solidFill>
              </a:defRPr>
            </a:pPr>
            <a:r>
              <a:t>= (3−1)(5−1) − (2−1)(4−1)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4612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3741"/>
                </a:solidFill>
              </a:defRPr>
            </a:pPr>
            <a:r>
              <a:t>= 2×4 − 1×3 = 8−3 =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70332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3741"/>
                </a:solidFill>
              </a:defRPr>
            </a:pPr>
            <a:r>
              <a:t>Positive value means a left / counter-clockwise turn.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5074920"/>
            <a:ext cx="10241280" cy="594360"/>
          </a:xfrm>
          <a:prstGeom prst="roundRect">
            <a:avLst/>
          </a:prstGeom>
          <a:solidFill>
            <a:srgbClr val="EBF4FC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88255"/>
                </a:solidFill>
              </a:defRPr>
            </a:pPr>
            <a:r>
              <a:t>✓ FINAL ANSWER: 5 → Counter-clockwise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1908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</a:defRPr>
            </a:pPr>
            <a:r>
              <a:t>DAA • Convex Hull • Solutions   |  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B"/>
                </a:solidFill>
              </a:defRPr>
            </a:pPr>
            <a:r>
              <a:t>Q2. Collinear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3741"/>
                </a:solidFill>
              </a:defRPr>
            </a:pPr>
            <a:r>
              <a:t>Step-by-step solution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107899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102412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D4B"/>
                </a:solidFill>
              </a:defRPr>
            </a:pPr>
            <a:r>
              <a:t>For A(0,0), B(2,2), C(4,4), identify the orientation.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33172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3741"/>
                </a:solidFill>
              </a:defRPr>
            </a:pPr>
            <a:r>
              <a:t>Cross = (2−0)(4−0) − (2−0)(4−0)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8892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3741"/>
                </a:solidFill>
              </a:defRPr>
            </a:pPr>
            <a:r>
              <a:t>= 8−8 =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4612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3741"/>
                </a:solidFill>
              </a:defRPr>
            </a:pPr>
            <a:r>
              <a:t>Zero means all three points lie on the same straight line.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5074920"/>
            <a:ext cx="10241280" cy="594360"/>
          </a:xfrm>
          <a:prstGeom prst="roundRect">
            <a:avLst/>
          </a:prstGeom>
          <a:solidFill>
            <a:srgbClr val="EBF4FC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88255"/>
                </a:solidFill>
              </a:defRPr>
            </a:pPr>
            <a:r>
              <a:t>✓ FINAL ANSWER: 0 → Collinear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1908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</a:defRPr>
            </a:pPr>
            <a:r>
              <a:t>DAA • Convex Hull • Solutions   |  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B"/>
                </a:solidFill>
              </a:defRPr>
            </a:pPr>
            <a:r>
              <a:t>Q3. Clockwise 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3741"/>
                </a:solidFill>
              </a:defRPr>
            </a:pPr>
            <a:r>
              <a:t>Step-by-step solution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107899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102412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D4B"/>
                </a:solidFill>
              </a:defRPr>
            </a:pPr>
            <a:r>
              <a:t>For A(0,0), B(2,3), C(4,1), calculate orientation.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33172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3741"/>
                </a:solidFill>
              </a:defRPr>
            </a:pPr>
            <a:r>
              <a:t>Cross = (2−0)(1−0) − (3−0)(4−0)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8892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3741"/>
                </a:solidFill>
              </a:defRPr>
            </a:pPr>
            <a:r>
              <a:t>= 2−12 = −10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4612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3741"/>
                </a:solidFill>
              </a:defRPr>
            </a:pPr>
            <a:r>
              <a:t>Negative value means a right / clockwise turn.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5074920"/>
            <a:ext cx="10241280" cy="594360"/>
          </a:xfrm>
          <a:prstGeom prst="roundRect">
            <a:avLst/>
          </a:prstGeom>
          <a:solidFill>
            <a:srgbClr val="EBF4FC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88255"/>
                </a:solidFill>
              </a:defRPr>
            </a:pPr>
            <a:r>
              <a:t>✓ FINAL ANSWER: −10 → Clockwise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1908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</a:defRPr>
            </a:pPr>
            <a:r>
              <a:t>DAA • Convex Hull • Solutions   |  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B"/>
                </a:solidFill>
              </a:defRPr>
            </a:pPr>
            <a:r>
              <a:t>Q4. Interior 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3741"/>
                </a:solidFill>
              </a:defRPr>
            </a:pPr>
            <a:r>
              <a:t>Step-by-step solution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107899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102412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D4B"/>
                </a:solidFill>
              </a:defRPr>
            </a:pPr>
            <a:r>
              <a:t>A(1,1), B(2,5), C(5,4), D(6,1), E(3,2). Identify the interior point.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33172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3741"/>
                </a:solidFill>
              </a:defRPr>
            </a:pPr>
            <a:r>
              <a:t>Connect the outer boundary A → B → C → 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8892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3741"/>
                </a:solidFill>
              </a:defRPr>
            </a:pPr>
            <a:r>
              <a:t>Point E lies inside this boundary.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4612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3741"/>
                </a:solidFill>
              </a:defRPr>
            </a:pPr>
            <a:r>
              <a:t>Interior points are not hull vertices.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5074920"/>
            <a:ext cx="10241280" cy="594360"/>
          </a:xfrm>
          <a:prstGeom prst="roundRect">
            <a:avLst/>
          </a:prstGeom>
          <a:solidFill>
            <a:srgbClr val="EBF4FC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88255"/>
                </a:solidFill>
              </a:defRPr>
            </a:pPr>
            <a:r>
              <a:t>✓ FINAL ANSWER: E(3,2)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1908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</a:defRPr>
            </a:pPr>
            <a:r>
              <a:t>DAA • Convex Hull • Solutions   |  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B"/>
                </a:solidFill>
              </a:defRPr>
            </a:pPr>
            <a:r>
              <a:t>Q5. Lowest 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3741"/>
                </a:solidFill>
              </a:defRPr>
            </a:pPr>
            <a:r>
              <a:t>Step-by-step solution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107899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102412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D4B"/>
                </a:solidFill>
              </a:defRPr>
            </a:pPr>
            <a:r>
              <a:t>Why is the lowest-y point selected first in Graham Scan?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33172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3741"/>
                </a:solidFill>
              </a:defRPr>
            </a:pPr>
            <a:r>
              <a:t>Find the point with minimum y-coordinate.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8892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3741"/>
                </a:solidFill>
              </a:defRPr>
            </a:pPr>
            <a:r>
              <a:t>If there is a tie, choose minimum x-coordinate.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4612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3741"/>
                </a:solidFill>
              </a:defRPr>
            </a:pPr>
            <a:r>
              <a:t>This point is guaranteed to lie on the convex hull.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70332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3741"/>
                </a:solidFill>
              </a:defRPr>
            </a:pPr>
            <a:r>
              <a:t>It becomes the reference point for polar-angle sorting.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5074920"/>
            <a:ext cx="10241280" cy="594360"/>
          </a:xfrm>
          <a:prstGeom prst="roundRect">
            <a:avLst/>
          </a:prstGeom>
          <a:solidFill>
            <a:srgbClr val="EBF4FC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88255"/>
                </a:solidFill>
              </a:defRPr>
            </a:pPr>
            <a:r>
              <a:t>✓ FINAL ANSWER: P₀ is the lowest point and the reference for sorting.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1908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</a:defRPr>
            </a:pPr>
            <a:r>
              <a:t>DAA • Convex Hull • Solutions   |  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B"/>
                </a:solidFill>
              </a:defRPr>
            </a:pPr>
            <a:r>
              <a:t>Q6. POP Operation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3741"/>
                </a:solidFill>
              </a:defRPr>
            </a:pPr>
            <a:r>
              <a:t>Step-by-step solution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107899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102412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D4B"/>
                </a:solidFill>
              </a:defRPr>
            </a:pPr>
            <a:r>
              <a:t>During Graham Scan, the last two stack points and new point make a clockwise turn. What happens?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33172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3741"/>
                </a:solidFill>
              </a:defRPr>
            </a:pPr>
            <a:r>
              <a:t>Calculate orientation of the three points.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8892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3741"/>
                </a:solidFill>
              </a:defRPr>
            </a:pPr>
            <a:r>
              <a:t>Clockwise means the middle point bends inward.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4612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3741"/>
                </a:solidFill>
              </a:defRPr>
            </a:pPr>
            <a:r>
              <a:t>Remove / POP that middle point.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70332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3741"/>
                </a:solidFill>
              </a:defRPr>
            </a:pPr>
            <a:r>
              <a:t>Check the new top two points again before pushing the new point.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5074920"/>
            <a:ext cx="10241280" cy="594360"/>
          </a:xfrm>
          <a:prstGeom prst="roundRect">
            <a:avLst/>
          </a:prstGeom>
          <a:solidFill>
            <a:srgbClr val="EBF4FC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88255"/>
                </a:solidFill>
              </a:defRPr>
            </a:pPr>
            <a:r>
              <a:t>✓ FINAL ANSWER: POP the middle/top stack point, then check again.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1908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</a:defRPr>
            </a:pPr>
            <a:r>
              <a:t>DAA • Convex Hull • Solutions   |  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B"/>
                </a:solidFill>
              </a:defRPr>
            </a:pPr>
            <a:r>
              <a:t>Q7. Interior Count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3741"/>
                </a:solidFill>
              </a:defRPr>
            </a:pPr>
            <a:r>
              <a:t>Step-by-step solution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107899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102412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D4B"/>
                </a:solidFill>
              </a:defRPr>
            </a:pPr>
            <a:r>
              <a:t>A set contains 8 points. The final hull contains 5 points. How many points are interior?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33172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3741"/>
                </a:solidFill>
              </a:defRPr>
            </a:pPr>
            <a:r>
              <a:t>Total points = 8.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8892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3741"/>
                </a:solidFill>
              </a:defRPr>
            </a:pPr>
            <a:r>
              <a:t>Hull points = 5.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4612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3741"/>
                </a:solidFill>
              </a:defRPr>
            </a:pPr>
            <a:r>
              <a:t>Interior points = Total − Hull.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70332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3741"/>
                </a:solidFill>
              </a:defRPr>
            </a:pPr>
            <a:r>
              <a:t>= 8 − 5 = 3.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5074920"/>
            <a:ext cx="10241280" cy="594360"/>
          </a:xfrm>
          <a:prstGeom prst="roundRect">
            <a:avLst/>
          </a:prstGeom>
          <a:solidFill>
            <a:srgbClr val="EBF4FC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88255"/>
                </a:solidFill>
              </a:defRPr>
            </a:pPr>
            <a:r>
              <a:t>✓ FINAL ANSWER: 3 interior points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1908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</a:defRPr>
            </a:pPr>
            <a:r>
              <a:t>DAA • Convex Hull • Solutions   |  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B"/>
                </a:solidFill>
              </a:defRPr>
            </a:pPr>
            <a:r>
              <a:t>Q8. Complexity MCQ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3741"/>
                </a:solidFill>
              </a:defRPr>
            </a:pPr>
            <a:r>
              <a:t>Step-by-step solution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107899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102412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D4B"/>
                </a:solidFill>
              </a:defRPr>
            </a:pPr>
            <a:r>
              <a:t>What is the time complexity of Graham Scan?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33172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3741"/>
                </a:solidFill>
              </a:defRPr>
            </a:pPr>
            <a:r>
              <a:t>Finding P₀ takes O(n).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8892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3741"/>
                </a:solidFill>
              </a:defRPr>
            </a:pPr>
            <a:r>
              <a:t>Sorting by polar angle takes O(n log n).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4612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3741"/>
                </a:solidFill>
              </a:defRPr>
            </a:pPr>
            <a:r>
              <a:t>The final scan takes O(n).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70332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3741"/>
                </a:solidFill>
              </a:defRPr>
            </a:pPr>
            <a:r>
              <a:t>Sorting dominates the total complexity.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5074920"/>
            <a:ext cx="10241280" cy="594360"/>
          </a:xfrm>
          <a:prstGeom prst="roundRect">
            <a:avLst/>
          </a:prstGeom>
          <a:solidFill>
            <a:srgbClr val="EBF4FC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88255"/>
                </a:solidFill>
              </a:defRPr>
            </a:pPr>
            <a:r>
              <a:t>✓ FINAL ANSWER: O(n log n) — Option 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1908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</a:defRPr>
            </a:pPr>
            <a:r>
              <a:t>DAA • Convex Hull • Solutions   |  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B"/>
                </a:solidFill>
              </a:defRPr>
            </a:pPr>
            <a:r>
              <a:t>Q9. Sorting MCQ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3741"/>
                </a:solidFill>
              </a:defRPr>
            </a:pPr>
            <a:r>
              <a:t>Step-by-step solution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107899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102412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D4B"/>
                </a:solidFill>
              </a:defRPr>
            </a:pPr>
            <a:r>
              <a:t>Why does Graham Scan sort points by polar angle?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33172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3741"/>
                </a:solidFill>
              </a:defRPr>
            </a:pPr>
            <a:r>
              <a:t>P₀ is used as the reference point.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8892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3741"/>
                </a:solidFill>
              </a:defRPr>
            </a:pPr>
            <a:r>
              <a:t>The remaining points are arranged around P₀.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4612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3741"/>
                </a:solidFill>
              </a:defRPr>
            </a:pPr>
            <a:r>
              <a:t>This gives the order in which the boundary is scanned.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5074920"/>
            <a:ext cx="10241280" cy="594360"/>
          </a:xfrm>
          <a:prstGeom prst="roundRect">
            <a:avLst/>
          </a:prstGeom>
          <a:solidFill>
            <a:srgbClr val="EBF4FC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88255"/>
                </a:solidFill>
              </a:defRPr>
            </a:pPr>
            <a:r>
              <a:t>✓ FINAL ANSWER: To arrange points by polar angle — Option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1908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</a:defRPr>
            </a:pPr>
            <a:r>
              <a:t>DAA • Convex Hull • Solutions   |  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B"/>
                </a:solidFill>
              </a:defRPr>
            </a:pPr>
            <a:r>
              <a:t>Q10. Orientation MCQ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3741"/>
                </a:solidFill>
              </a:defRPr>
            </a:pPr>
            <a:r>
              <a:t>Step-by-step solution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107899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102412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D4B"/>
                </a:solidFill>
              </a:defRPr>
            </a:pPr>
            <a:r>
              <a:t>Which condition represents a counter-clockwise turn?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33172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3741"/>
                </a:solidFill>
              </a:defRPr>
            </a:pPr>
            <a:r>
              <a:t>Cross &gt; 0 → counter-clockwise.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8892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3741"/>
                </a:solidFill>
              </a:defRPr>
            </a:pPr>
            <a:r>
              <a:t>Cross &lt; 0 → clockwise.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4612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3741"/>
                </a:solidFill>
              </a:defRPr>
            </a:pPr>
            <a:r>
              <a:t>Cross = 0 → collinear.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5074920"/>
            <a:ext cx="10241280" cy="594360"/>
          </a:xfrm>
          <a:prstGeom prst="roundRect">
            <a:avLst/>
          </a:prstGeom>
          <a:solidFill>
            <a:srgbClr val="EBF4FC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88255"/>
                </a:solidFill>
              </a:defRPr>
            </a:pPr>
            <a:r>
              <a:t>✓ FINAL ANSWER: Cross &gt; 0 — Option 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1908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</a:defRPr>
            </a:pPr>
            <a:r>
              <a:t>DAA • Convex Hull • Solutions   |  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B"/>
                </a:solidFill>
              </a:defRPr>
            </a:pPr>
            <a:r>
              <a:t>Q11.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3741"/>
                </a:solidFill>
              </a:defRPr>
            </a:pPr>
            <a:r>
              <a:t>Step-by-step solution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107899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102412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D4B"/>
                </a:solidFill>
              </a:defRPr>
            </a:pPr>
            <a:r>
              <a:t>Compare Graham Scan and Jarvis March.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33172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3741"/>
                </a:solidFill>
              </a:defRPr>
            </a:pPr>
            <a:r>
              <a:t>Graham Scan sorts points and then scans them.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8892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3741"/>
                </a:solidFill>
              </a:defRPr>
            </a:pPr>
            <a:r>
              <a:t>Graham Scan complexity = O(n log n).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4612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3741"/>
                </a:solidFill>
              </a:defRPr>
            </a:pPr>
            <a:r>
              <a:t>Jarvis March complexity = O(nh), where h is the number of hull points.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70332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3741"/>
                </a:solidFill>
              </a:defRPr>
            </a:pPr>
            <a:r>
              <a:t>If h is small, Jarvis March can be useful.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5074920"/>
            <a:ext cx="10241280" cy="594360"/>
          </a:xfrm>
          <a:prstGeom prst="roundRect">
            <a:avLst/>
          </a:prstGeom>
          <a:solidFill>
            <a:srgbClr val="EBF4FC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88255"/>
                </a:solidFill>
              </a:defRPr>
            </a:pPr>
            <a:r>
              <a:t>✓ FINAL ANSWER: Graham Scan: O(n log n); Jarvis March: O(nh).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1908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</a:defRPr>
            </a:pPr>
            <a:r>
              <a:t>DAA • Convex Hull • Solutions   |  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B"/>
                </a:solidFill>
              </a:defRPr>
            </a:pPr>
            <a:r>
              <a:t>Q12. Hull Drawing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3741"/>
                </a:solidFill>
              </a:defRPr>
            </a:pPr>
            <a:r>
              <a:t>Step-by-step solution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107899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102412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D4B"/>
                </a:solidFill>
              </a:defRPr>
            </a:pPr>
            <a:r>
              <a:t>Find the Convex Hull for (0,0), (2,1), (4,0), (3,3), (1,2), (2,2).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33172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3741"/>
                </a:solidFill>
              </a:defRPr>
            </a:pPr>
            <a:r>
              <a:t>Label A=(0,0), B=(2,1), C=(4,0), D=(3,3), E=(1,2), F=(2,2).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8892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3741"/>
                </a:solidFill>
              </a:defRPr>
            </a:pPr>
            <a:r>
              <a:t>The outer boundary goes through A → C → D → 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4612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3741"/>
                </a:solidFill>
              </a:defRPr>
            </a:pPr>
            <a:r>
              <a:t>B and F lie inside this boundary.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70332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3741"/>
                </a:solidFill>
              </a:defRPr>
            </a:pPr>
            <a:r>
              <a:t>Close the polygon back to 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5074920"/>
            <a:ext cx="10241280" cy="594360"/>
          </a:xfrm>
          <a:prstGeom prst="roundRect">
            <a:avLst/>
          </a:prstGeom>
          <a:solidFill>
            <a:srgbClr val="EBF4FC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88255"/>
                </a:solidFill>
              </a:defRPr>
            </a:pPr>
            <a:r>
              <a:t>✓ FINAL ANSWER: A → C → D → E → A; B and F are interior.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1908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28C"/>
                </a:solidFill>
              </a:defRPr>
            </a:pPr>
            <a:r>
              <a:t>DAA • Convex Hull • Solutions   |  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B"/>
                </a:solidFill>
              </a:defRPr>
            </a:pPr>
            <a:r>
              <a:t>Q13.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3741"/>
                </a:solidFill>
              </a:defRPr>
            </a:pPr>
            <a:r>
              <a:t>Additional exam practice — solution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105156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74519"/>
            <a:ext cx="9875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2D4B"/>
                </a:solidFill>
              </a:defRPr>
            </a:pPr>
            <a:r>
              <a:t>A(2,1), B(5,4), C(7,2). Find orientation.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3246120"/>
            <a:ext cx="9875520" cy="1143000"/>
          </a:xfrm>
          <a:prstGeom prst="roundRect">
            <a:avLst/>
          </a:prstGeom>
          <a:solidFill>
            <a:srgbClr val="EBF4FC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88255"/>
                </a:solidFill>
              </a:defRPr>
            </a:pPr>
            <a:r>
              <a:t>✓ (5−2)(2−1) − (4−1)(7−2) = 3−15 = −12 → Clockwise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B"/>
                </a:solidFill>
              </a:defRPr>
            </a:pPr>
            <a:r>
              <a:t>Q14.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3741"/>
                </a:solidFill>
              </a:defRPr>
            </a:pPr>
            <a:r>
              <a:t>Additional exam practice — solution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105156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74519"/>
            <a:ext cx="9875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2D4B"/>
                </a:solidFill>
              </a:defRPr>
            </a:pPr>
            <a:r>
              <a:t>A(1,2), B(4,5), C(7,8). Find orientation.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3246120"/>
            <a:ext cx="9875520" cy="1143000"/>
          </a:xfrm>
          <a:prstGeom prst="roundRect">
            <a:avLst/>
          </a:prstGeom>
          <a:solidFill>
            <a:srgbClr val="EBF4FC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88255"/>
                </a:solidFill>
              </a:defRPr>
            </a:pPr>
            <a:r>
              <a:t>✓ (4−1)(8−2) − (5−2)(7−1) = 18−18 = 0 → Collinear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B"/>
                </a:solidFill>
              </a:defRPr>
            </a:pPr>
            <a:r>
              <a:t>Q15. Complexity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3741"/>
                </a:solidFill>
              </a:defRPr>
            </a:pPr>
            <a:r>
              <a:t>Additional exam practice — solution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105156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74519"/>
            <a:ext cx="9875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2D4B"/>
                </a:solidFill>
              </a:defRPr>
            </a:pPr>
            <a:r>
              <a:t>If n = 1000, which step dominates Graham Scan?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3246120"/>
            <a:ext cx="9875520" cy="1143000"/>
          </a:xfrm>
          <a:prstGeom prst="roundRect">
            <a:avLst/>
          </a:prstGeom>
          <a:solidFill>
            <a:srgbClr val="EBF4FC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88255"/>
                </a:solidFill>
              </a:defRPr>
            </a:pPr>
            <a:r>
              <a:t>✓ Polar-angle sorting: O(n log n).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B"/>
                </a:solidFill>
              </a:defRPr>
            </a:pPr>
            <a:r>
              <a:t>FINAL ANSWER KEY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3741"/>
                </a:solidFill>
              </a:defRPr>
            </a:pPr>
            <a:r>
              <a:t>Quick revision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78992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0020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D3741"/>
                </a:solidFill>
              </a:defRPr>
            </a:pPr>
            <a:r>
              <a:t>✓ Q1 → 5, Counter-clockwise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D3741"/>
                </a:solidFill>
              </a:defRPr>
            </a:pPr>
            <a:r>
              <a:t>✓ Q2 → 0, Collinear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7180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D3741"/>
                </a:solidFill>
              </a:defRPr>
            </a:pPr>
            <a:r>
              <a:t>✓ Q3 → −10, Clockwise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65760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D3741"/>
                </a:solidFill>
              </a:defRPr>
            </a:pPr>
            <a:r>
              <a:t>✓ Q4 → E(3,2) is interior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34340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D3741"/>
                </a:solidFill>
              </a:defRPr>
            </a:pPr>
            <a:r>
              <a:t>✓ Q5 → Lowest-y point P₀ is the reference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02920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D3741"/>
                </a:solidFill>
              </a:defRPr>
            </a:pPr>
            <a:r>
              <a:t>✓ Q6 → Clockwise turn → POP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4340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D3741"/>
                </a:solidFill>
              </a:defRPr>
            </a:pPr>
            <a:r>
              <a:t>✓ Q7 → 3 interior points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2920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D3741"/>
                </a:solidFill>
              </a:defRPr>
            </a:pPr>
            <a:r>
              <a:t>✓ Q8 → O(n log 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71500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D3741"/>
                </a:solidFill>
              </a:defRPr>
            </a:pPr>
            <a:r>
              <a:t>✓ Q9 → Sort by polar angle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640080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D3741"/>
                </a:solidFill>
              </a:defRPr>
            </a:pPr>
            <a:r>
              <a:t>✓ Q10 → Cross &gt;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708660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D3741"/>
                </a:solidFill>
              </a:defRPr>
            </a:pPr>
            <a:r>
              <a:t>✓ Q11 → Graham O(n log n), Jarvis O(nh)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777240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D3741"/>
                </a:solidFill>
              </a:defRPr>
            </a:pPr>
            <a:r>
              <a:t>✓ Q12 → Hull = A → C → D → E →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