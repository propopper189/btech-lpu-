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731520"/>
            <a:ext cx="2560320" cy="2560320"/>
          </a:xfrm>
          <a:prstGeom prst="ellipse">
            <a:avLst/>
          </a:prstGeom>
          <a:solidFill>
            <a:srgbClr val="23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1371600"/>
            <a:ext cx="1920240" cy="1920240"/>
          </a:xfrm>
          <a:prstGeom prst="ellipse">
            <a:avLst/>
          </a:prstGeom>
          <a:solidFill>
            <a:srgbClr val="14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1965960"/>
            <a:ext cx="1280160" cy="1280160"/>
          </a:xfrm>
          <a:prstGeom prst="ellipse">
            <a:avLst/>
          </a:prstGeom>
          <a:solidFill>
            <a:srgbClr val="694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BINOMIAL COEFFICIENT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286000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2E0F2"/>
                </a:solidFill>
              </a:defRPr>
            </a:pPr>
            <a:r>
              <a:t>Dynamic Programming • Recurrence • Pascal’s Triangle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3246120"/>
            <a:ext cx="5394960" cy="822960"/>
          </a:xfrm>
          <a:prstGeom prst="roundRect">
            <a:avLst/>
          </a:prstGeom>
          <a:solidFill>
            <a:srgbClr val="E7F0FC"/>
          </a:solidFill>
          <a:ln>
            <a:solidFill>
              <a:srgbClr val="2369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291839"/>
            <a:ext cx="5120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03A"/>
                </a:solidFill>
                <a:latin typeface="Cambria Math"/>
              </a:defRPr>
            </a:pPr>
            <a:r>
              <a:t>C(n,k) = n! / [k!(n−k)!]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B.Tech • Design &amp; Analysis of Algorithms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  <a:latin typeface="Aptos Display"/>
              </a:defRPr>
            </a:pPr>
            <a:r>
              <a:t>What is a Binomial Coefficient?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932688"/>
            <a:ext cx="960120" cy="64008"/>
          </a:xfrm>
          <a:prstGeom prst="roundRect">
            <a:avLst/>
          </a:prstGeom>
          <a:solidFill>
            <a:srgbClr val="23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A combinatorial quantity for counting selections.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6400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4864" cy="1828800"/>
          </a:xfrm>
          <a:prstGeom prst="rect">
            <a:avLst/>
          </a:prstGeom>
          <a:solidFill>
            <a:srgbClr val="23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527048"/>
            <a:ext cx="6126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984248"/>
            <a:ext cx="61264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C(n,k) is the number of ways to choose k objects from n distinct objects when order does not matter.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Also called “n choose k”.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554480"/>
            <a:ext cx="3931920" cy="1097280"/>
          </a:xfrm>
          <a:prstGeom prst="roundRect">
            <a:avLst/>
          </a:prstGeom>
          <a:solidFill>
            <a:srgbClr val="E7F0FC"/>
          </a:solidFill>
          <a:ln>
            <a:solidFill>
              <a:srgbClr val="2369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0" y="1600200"/>
            <a:ext cx="365760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03A"/>
                </a:solidFill>
                <a:latin typeface="Cambria Math"/>
              </a:defRPr>
            </a:pPr>
            <a:r>
              <a:t>C(n,k) = ( n choose k 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611880"/>
            <a:ext cx="5120640" cy="1600200"/>
          </a:xfrm>
          <a:prstGeom prst="roundRect">
            <a:avLst/>
          </a:prstGeom>
          <a:solidFill>
            <a:srgbClr val="E7F7ED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611880"/>
            <a:ext cx="54864" cy="1600200"/>
          </a:xfrm>
          <a:prstGeom prst="rect">
            <a:avLst/>
          </a:prstGeom>
          <a:solidFill>
            <a:srgbClr val="14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72160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178808"/>
            <a:ext cx="48463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C(5,2)=10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There are 10 distinct 2-element selections.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611880"/>
            <a:ext cx="5166360" cy="1600200"/>
          </a:xfrm>
          <a:prstGeom prst="roundRect">
            <a:avLst/>
          </a:prstGeom>
          <a:solidFill>
            <a:srgbClr val="F0EB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3611880"/>
            <a:ext cx="54864" cy="1600200"/>
          </a:xfrm>
          <a:prstGeom prst="rect">
            <a:avLst/>
          </a:prstGeom>
          <a:solidFill>
            <a:srgbClr val="694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3721608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Key Interpretation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4178808"/>
            <a:ext cx="489204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{A,B} and {B,A} are the same selection.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  <a:latin typeface="Aptos Display"/>
              </a:defRPr>
            </a:pPr>
            <a:r>
              <a:t>Formula and Properties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932688"/>
            <a:ext cx="960120" cy="64008"/>
          </a:xfrm>
          <a:prstGeom prst="roundRect">
            <a:avLst/>
          </a:prstGeom>
          <a:solidFill>
            <a:srgbClr val="23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Important identities used in derivation and DP.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6583680" cy="914400"/>
          </a:xfrm>
          <a:prstGeom prst="roundRect">
            <a:avLst/>
          </a:prstGeom>
          <a:solidFill>
            <a:srgbClr val="E7F0FC"/>
          </a:solidFill>
          <a:ln>
            <a:solidFill>
              <a:srgbClr val="2369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6309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03A"/>
                </a:solidFill>
                <a:latin typeface="Cambria Math"/>
              </a:defRPr>
            </a:pPr>
            <a:r>
              <a:t>C(n,k) = n! / [k!(n−k)!]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371600"/>
            <a:ext cx="3749039" cy="2011680"/>
          </a:xfrm>
          <a:prstGeom prst="roundRect">
            <a:avLst/>
          </a:prstGeom>
          <a:solidFill>
            <a:srgbClr val="E7F7ED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1371600"/>
            <a:ext cx="54864" cy="2011680"/>
          </a:xfrm>
          <a:prstGeom prst="rect">
            <a:avLst/>
          </a:prstGeom>
          <a:solidFill>
            <a:srgbClr val="2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54112" y="1481328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Boundary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4112" y="1938528"/>
            <a:ext cx="34747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C(n,0)=1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C(n,n)=1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0 ≤ k ≤ 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88920"/>
            <a:ext cx="5166360" cy="1920240"/>
          </a:xfrm>
          <a:prstGeom prst="roundRect">
            <a:avLst/>
          </a:prstGeom>
          <a:solidFill>
            <a:srgbClr val="F0EB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788920"/>
            <a:ext cx="54864" cy="1920240"/>
          </a:xfrm>
          <a:prstGeom prst="rect">
            <a:avLst/>
          </a:prstGeom>
          <a:solidFill>
            <a:srgbClr val="694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898648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Symmetry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355848"/>
            <a:ext cx="48920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C(n,k)=C(n,n−k)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Example: C(8,3)=C(8,5)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788920"/>
            <a:ext cx="5166360" cy="1920240"/>
          </a:xfrm>
          <a:prstGeom prst="roundRect">
            <a:avLst/>
          </a:prstGeom>
          <a:solidFill>
            <a:srgbClr val="FDF1DC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788920"/>
            <a:ext cx="54864" cy="1920240"/>
          </a:xfrm>
          <a:prstGeom prst="rect">
            <a:avLst/>
          </a:prstGeom>
          <a:solidFill>
            <a:srgbClr val="E18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2898648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Invalid Range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3355848"/>
            <a:ext cx="48920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C(n,k)=0 when k&lt;0 or k&gt;n.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  <a:latin typeface="Aptos Display"/>
              </a:defRPr>
            </a:pPr>
            <a:r>
              <a:t>Why Do We Use It?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932688"/>
            <a:ext cx="960120" cy="64008"/>
          </a:xfrm>
          <a:prstGeom prst="roundRect">
            <a:avLst/>
          </a:prstGeom>
          <a:solidFill>
            <a:srgbClr val="23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Applications begin with a simple counting question: how many possible choices?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54864" cy="1691640"/>
          </a:xfrm>
          <a:prstGeom prst="rect">
            <a:avLst/>
          </a:prstGeom>
          <a:solidFill>
            <a:srgbClr val="23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481328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Combinations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938528"/>
            <a:ext cx="315468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Count subsets when order is irrelevant.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7160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371600"/>
            <a:ext cx="54864" cy="1691640"/>
          </a:xfrm>
          <a:prstGeom prst="rect">
            <a:avLst/>
          </a:prstGeom>
          <a:solidFill>
            <a:srgbClr val="694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481328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1938528"/>
            <a:ext cx="315468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Count favorable combinations and sample spaces.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7160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54864" cy="1691640"/>
          </a:xfrm>
          <a:prstGeom prst="rect">
            <a:avLst/>
          </a:prstGeom>
          <a:solidFill>
            <a:srgbClr val="14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481328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Algorithm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1938528"/>
            <a:ext cx="315468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Count possible configurations and selections.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832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383280"/>
            <a:ext cx="54864" cy="1691640"/>
          </a:xfrm>
          <a:prstGeom prst="rect">
            <a:avLst/>
          </a:prstGeom>
          <a:solidFill>
            <a:srgbClr val="E18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3493008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Discrete Mathematics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3950208"/>
            <a:ext cx="315468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Core concept in combinatorics.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832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383280"/>
            <a:ext cx="54864" cy="1691640"/>
          </a:xfrm>
          <a:prstGeom prst="rect">
            <a:avLst/>
          </a:prstGeom>
          <a:solidFill>
            <a:srgbClr val="2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2" y="3493008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Statistics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3950208"/>
            <a:ext cx="315468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Appears in discrete probability models.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3832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383280"/>
            <a:ext cx="54864" cy="1691640"/>
          </a:xfrm>
          <a:prstGeom prst="rect">
            <a:avLst/>
          </a:prstGeom>
          <a:solidFill>
            <a:srgbClr val="23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3493008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Computer Science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50208"/>
            <a:ext cx="315468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Useful in randomized algorithms and data analysis.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  <a:latin typeface="Aptos Display"/>
              </a:defRPr>
            </a:pPr>
            <a:r>
              <a:t>Importance in Computer Science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932688"/>
            <a:ext cx="960120" cy="64008"/>
          </a:xfrm>
          <a:prstGeom prst="roundRect">
            <a:avLst/>
          </a:prstGeom>
          <a:solidFill>
            <a:srgbClr val="23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Why this topic appears in DAA and related subjects.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114800"/>
          </a:xfrm>
          <a:prstGeom prst="roundRect">
            <a:avLst/>
          </a:prstGeom>
          <a:solidFill>
            <a:srgbClr val="E7F0FC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4864" cy="4114800"/>
          </a:xfrm>
          <a:prstGeom prst="rect">
            <a:avLst/>
          </a:prstGeom>
          <a:solidFill>
            <a:srgbClr val="23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48132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Algorithmic Importance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938528"/>
            <a:ext cx="49377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• Classic dynamic-programming example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• Demonstrates recurrence → state → table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• Shows overlapping subproblems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• Builds foundation for combinatorial algorithms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• Useful for complexity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212080" cy="4114800"/>
          </a:xfrm>
          <a:prstGeom prst="roundRect">
            <a:avLst/>
          </a:prstGeom>
          <a:solidFill>
            <a:srgbClr val="E7F7ED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371600"/>
            <a:ext cx="54864" cy="4114800"/>
          </a:xfrm>
          <a:prstGeom prst="rect">
            <a:avLst/>
          </a:prstGeom>
          <a:solidFill>
            <a:srgbClr val="14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48132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Broader Importance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938528"/>
            <a:ext cx="49377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• Probability and randomized algorithms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• Pascal’s Triangle and polynomial expansion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• Counting subsets and configurations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• Statistics and discrete models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• Foundation for advanced combinatorics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  <a:latin typeface="Aptos Display"/>
              </a:defRPr>
            </a:pPr>
            <a:r>
              <a:t>Advantages and Disadvantages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932688"/>
            <a:ext cx="960120" cy="64008"/>
          </a:xfrm>
          <a:prstGeom prst="roundRect">
            <a:avLst/>
          </a:prstGeom>
          <a:solidFill>
            <a:srgbClr val="23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Compare direct formula, recursion and DP before choosing an approach.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5303520" cy="4297680"/>
          </a:xfrm>
          <a:prstGeom prst="roundRect">
            <a:avLst/>
          </a:prstGeom>
          <a:solidFill>
            <a:srgbClr val="E7F7ED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54864" cy="4297680"/>
          </a:xfrm>
          <a:prstGeom prst="rect">
            <a:avLst/>
          </a:prstGeom>
          <a:solidFill>
            <a:srgbClr val="2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938528"/>
            <a:ext cx="502920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• Clear mathematical definition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• DP avoids repeated computation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• O(nk) time for standard DP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• Easy to trace with a table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• 1D optimization reduces space to O(k)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303520" cy="4297680"/>
          </a:xfrm>
          <a:prstGeom prst="roundRect">
            <a:avLst/>
          </a:prstGeom>
          <a:solidFill>
            <a:srgbClr val="FDF1DC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371600"/>
            <a:ext cx="54864" cy="4297680"/>
          </a:xfrm>
          <a:prstGeom prst="rect">
            <a:avLst/>
          </a:prstGeom>
          <a:solidFill>
            <a:srgbClr val="E18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Disadvantages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938528"/>
            <a:ext cx="502920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• Factorials can overflow for large n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• O(nk) may be expensive for huge inputs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• 2D DP uses O(nk) memory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• Exact large values may need big integers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• Alternative methods may be better for very large 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  <a:latin typeface="Aptos Display"/>
              </a:defRPr>
            </a:pPr>
            <a:r>
              <a:t>Pascal’s Identity: DP Recurrence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932688"/>
            <a:ext cx="960120" cy="64008"/>
          </a:xfrm>
          <a:prstGeom prst="roundRect">
            <a:avLst/>
          </a:prstGeom>
          <a:solidFill>
            <a:srgbClr val="E18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The recurrence is the key to the dynamic-programming solution.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698480" cy="914400"/>
          </a:xfrm>
          <a:prstGeom prst="roundRect">
            <a:avLst/>
          </a:prstGeom>
          <a:solidFill>
            <a:srgbClr val="E7F0FC"/>
          </a:solidFill>
          <a:ln>
            <a:solidFill>
              <a:srgbClr val="2369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63040"/>
            <a:ext cx="104241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03A"/>
                </a:solidFill>
                <a:latin typeface="Cambria Math"/>
              </a:defRPr>
            </a:pPr>
            <a:r>
              <a:t>C(n,k) = C(n−1,k−1) + C(n−1,k)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5120640" cy="1920240"/>
          </a:xfrm>
          <a:prstGeom prst="roundRect">
            <a:avLst/>
          </a:prstGeom>
          <a:solidFill>
            <a:srgbClr val="E7F7ED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788920"/>
            <a:ext cx="54864" cy="1920240"/>
          </a:xfrm>
          <a:prstGeom prst="rect">
            <a:avLst/>
          </a:prstGeom>
          <a:solidFill>
            <a:srgbClr val="2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89864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Base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355848"/>
            <a:ext cx="48463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C(n,0)=1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C(n,n)=1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These terminate the recurrence.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788920"/>
            <a:ext cx="5212080" cy="1920240"/>
          </a:xfrm>
          <a:prstGeom prst="roundRect">
            <a:avLst/>
          </a:prstGeom>
          <a:solidFill>
            <a:srgbClr val="F0EB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788920"/>
            <a:ext cx="54864" cy="1920240"/>
          </a:xfrm>
          <a:prstGeom prst="rect">
            <a:avLst/>
          </a:prstGeom>
          <a:solidFill>
            <a:srgbClr val="694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289864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Meaning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3355848"/>
            <a:ext cx="49377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Either the kth object is included in the selection or it is not.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4983480"/>
            <a:ext cx="7589520" cy="685800"/>
          </a:xfrm>
          <a:prstGeom prst="roundRect">
            <a:avLst/>
          </a:prstGeom>
          <a:solidFill>
            <a:srgbClr val="E7F0FC"/>
          </a:solidFill>
          <a:ln>
            <a:solidFill>
              <a:srgbClr val="2369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23160" y="5029200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03A"/>
                </a:solidFill>
                <a:latin typeface="Cambria Math"/>
              </a:defRPr>
            </a:pPr>
            <a:r>
              <a:t>C(5,2)=C(4,1)+C(4,2)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  <a:latin typeface="Aptos Display"/>
              </a:defRPr>
            </a:pPr>
            <a:r>
              <a:t>Pascal’s Triangle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932688"/>
            <a:ext cx="960120" cy="64008"/>
          </a:xfrm>
          <a:prstGeom prst="roundRect">
            <a:avLst/>
          </a:prstGeom>
          <a:solidFill>
            <a:srgbClr val="694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Each interior value is the sum of the two values above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78424" y="1417320"/>
            <a:ext cx="621792" cy="384048"/>
          </a:xfrm>
          <a:prstGeom prst="roundRect">
            <a:avLst/>
          </a:prstGeom>
          <a:solidFill>
            <a:srgbClr val="23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21807" y="1892808"/>
            <a:ext cx="621792" cy="384048"/>
          </a:xfrm>
          <a:prstGeom prst="roundRect">
            <a:avLst/>
          </a:prstGeom>
          <a:solidFill>
            <a:srgbClr val="14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892808"/>
            <a:ext cx="621792" cy="384048"/>
          </a:xfrm>
          <a:prstGeom prst="roundRect">
            <a:avLst/>
          </a:prstGeom>
          <a:solidFill>
            <a:srgbClr val="14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65192" y="2368296"/>
            <a:ext cx="621792" cy="384048"/>
          </a:xfrm>
          <a:prstGeom prst="roundRect">
            <a:avLst/>
          </a:prstGeom>
          <a:solidFill>
            <a:srgbClr val="694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78424" y="2368296"/>
            <a:ext cx="621792" cy="384048"/>
          </a:xfrm>
          <a:prstGeom prst="roundRect">
            <a:avLst/>
          </a:prstGeom>
          <a:solidFill>
            <a:srgbClr val="694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91656" y="2368296"/>
            <a:ext cx="621792" cy="384048"/>
          </a:xfrm>
          <a:prstGeom prst="roundRect">
            <a:avLst/>
          </a:prstGeom>
          <a:solidFill>
            <a:srgbClr val="694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08575" y="2843784"/>
            <a:ext cx="621792" cy="384048"/>
          </a:xfrm>
          <a:prstGeom prst="roundRect">
            <a:avLst/>
          </a:prstGeom>
          <a:solidFill>
            <a:srgbClr val="E18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21807" y="2843784"/>
            <a:ext cx="621792" cy="384048"/>
          </a:xfrm>
          <a:prstGeom prst="roundRect">
            <a:avLst/>
          </a:prstGeom>
          <a:solidFill>
            <a:srgbClr val="E18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843784"/>
            <a:ext cx="621792" cy="384048"/>
          </a:xfrm>
          <a:prstGeom prst="roundRect">
            <a:avLst/>
          </a:prstGeom>
          <a:solidFill>
            <a:srgbClr val="E18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48271" y="2843784"/>
            <a:ext cx="621792" cy="384048"/>
          </a:xfrm>
          <a:prstGeom prst="roundRect">
            <a:avLst/>
          </a:prstGeom>
          <a:solidFill>
            <a:srgbClr val="E18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59" y="3319272"/>
            <a:ext cx="621792" cy="384048"/>
          </a:xfrm>
          <a:prstGeom prst="roundRect">
            <a:avLst/>
          </a:prstGeom>
          <a:solidFill>
            <a:srgbClr val="2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65192" y="3319272"/>
            <a:ext cx="621792" cy="384048"/>
          </a:xfrm>
          <a:prstGeom prst="roundRect">
            <a:avLst/>
          </a:prstGeom>
          <a:solidFill>
            <a:srgbClr val="2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78423" y="3319272"/>
            <a:ext cx="621792" cy="384048"/>
          </a:xfrm>
          <a:prstGeom prst="roundRect">
            <a:avLst/>
          </a:prstGeom>
          <a:solidFill>
            <a:srgbClr val="2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91655" y="3319272"/>
            <a:ext cx="621792" cy="384048"/>
          </a:xfrm>
          <a:prstGeom prst="roundRect">
            <a:avLst/>
          </a:prstGeom>
          <a:solidFill>
            <a:srgbClr val="2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04888" y="3319272"/>
            <a:ext cx="621792" cy="384048"/>
          </a:xfrm>
          <a:prstGeom prst="roundRect">
            <a:avLst/>
          </a:prstGeom>
          <a:solidFill>
            <a:srgbClr val="2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95344" y="3794760"/>
            <a:ext cx="621792" cy="384048"/>
          </a:xfrm>
          <a:prstGeom prst="roundRect">
            <a:avLst/>
          </a:prstGeom>
          <a:solidFill>
            <a:srgbClr val="14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08576" y="3794760"/>
            <a:ext cx="621792" cy="384048"/>
          </a:xfrm>
          <a:prstGeom prst="roundRect">
            <a:avLst/>
          </a:prstGeom>
          <a:solidFill>
            <a:srgbClr val="14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21808" y="3794760"/>
            <a:ext cx="621792" cy="384048"/>
          </a:xfrm>
          <a:prstGeom prst="roundRect">
            <a:avLst/>
          </a:prstGeom>
          <a:solidFill>
            <a:srgbClr val="14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3794760"/>
            <a:ext cx="621792" cy="384048"/>
          </a:xfrm>
          <a:prstGeom prst="roundRect">
            <a:avLst/>
          </a:prstGeom>
          <a:solidFill>
            <a:srgbClr val="14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48272" y="3794760"/>
            <a:ext cx="621792" cy="384048"/>
          </a:xfrm>
          <a:prstGeom prst="roundRect">
            <a:avLst/>
          </a:prstGeom>
          <a:solidFill>
            <a:srgbClr val="14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61504" y="3794760"/>
            <a:ext cx="621792" cy="384048"/>
          </a:xfrm>
          <a:prstGeom prst="roundRect">
            <a:avLst/>
          </a:prstGeom>
          <a:solidFill>
            <a:srgbClr val="14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617720"/>
            <a:ext cx="5029200" cy="1097280"/>
          </a:xfrm>
          <a:prstGeom prst="roundRect">
            <a:avLst/>
          </a:prstGeom>
          <a:solidFill>
            <a:srgbClr val="E7F0FC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617720"/>
            <a:ext cx="54864" cy="1097280"/>
          </a:xfrm>
          <a:prstGeom prst="rect">
            <a:avLst/>
          </a:prstGeom>
          <a:solidFill>
            <a:srgbClr val="23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4727448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Read a Row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5184648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Row 5 gives: 1 5 10 10 5 1 → C(5,2)=10.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4617720"/>
            <a:ext cx="5120640" cy="1097280"/>
          </a:xfrm>
          <a:prstGeom prst="roundRect">
            <a:avLst/>
          </a:prstGeom>
          <a:solidFill>
            <a:srgbClr val="FDF1DC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4617720"/>
            <a:ext cx="54864" cy="1097280"/>
          </a:xfrm>
          <a:prstGeom prst="rect">
            <a:avLst/>
          </a:prstGeom>
          <a:solidFill>
            <a:srgbClr val="E18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91072" y="472744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Core Rule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1072" y="5184648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Interior = upper-left + upper-right.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  <a:latin typeface="Aptos Display"/>
              </a:defRPr>
            </a:pPr>
            <a:r>
              <a:t>Dynamic Programming Formulation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932688"/>
            <a:ext cx="960120" cy="64008"/>
          </a:xfrm>
          <a:prstGeom prst="roundRect">
            <a:avLst/>
          </a:prstGeom>
          <a:solidFill>
            <a:srgbClr val="23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Store each C(i,j) state once and reuse it.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17320"/>
          <a:ext cx="70408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480"/>
                <a:gridCol w="1173480"/>
                <a:gridCol w="1173480"/>
                <a:gridCol w="1173480"/>
                <a:gridCol w="1173480"/>
                <a:gridCol w="1173480"/>
              </a:tblGrid>
              <a:tr h="6270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i\j</a:t>
                      </a:r>
                    </a:p>
                  </a:txBody>
                  <a:tcPr>
                    <a:solidFill>
                      <a:srgbClr val="236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6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6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36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36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369C3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092440" y="1417320"/>
            <a:ext cx="3200400" cy="1828800"/>
          </a:xfrm>
          <a:prstGeom prst="roundRect">
            <a:avLst/>
          </a:prstGeom>
          <a:solidFill>
            <a:srgbClr val="E7F0FC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92440" y="1417320"/>
            <a:ext cx="54864" cy="1828800"/>
          </a:xfrm>
          <a:prstGeom prst="rect">
            <a:avLst/>
          </a:prstGeom>
          <a:solidFill>
            <a:srgbClr val="23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1" y="1527048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7031" y="1984248"/>
            <a:ext cx="29260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dp[i][j] = C(i,j)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Ways to choose j items from i items.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3520440"/>
            <a:ext cx="3200400" cy="1828800"/>
          </a:xfrm>
          <a:prstGeom prst="roundRect">
            <a:avLst/>
          </a:prstGeom>
          <a:solidFill>
            <a:srgbClr val="F0EB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3520440"/>
            <a:ext cx="54864" cy="1828800"/>
          </a:xfrm>
          <a:prstGeom prst="rect">
            <a:avLst/>
          </a:prstGeom>
          <a:solidFill>
            <a:srgbClr val="694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3630168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Transition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4087368"/>
            <a:ext cx="29260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dp[i][j] = dp[i−1][j−1] + dp[i−1][j]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  <a:latin typeface="Aptos Display"/>
              </a:defRPr>
            </a:pPr>
            <a:r>
              <a:t>Pseudocode: DP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932688"/>
            <a:ext cx="960120" cy="64008"/>
          </a:xfrm>
          <a:prstGeom prst="roundRect">
            <a:avLst/>
          </a:prstGeom>
          <a:solidFill>
            <a:srgbClr val="23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Bottom-up construction of the binomial coefficient.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10972800" cy="5120640"/>
          </a:xfrm>
          <a:prstGeom prst="roundRect">
            <a:avLst/>
          </a:prstGeom>
          <a:solidFill>
            <a:srgbClr val="19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63039"/>
            <a:ext cx="106070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BF0F5"/>
                </a:solidFill>
                <a:latin typeface="Consolas"/>
              </a:defRPr>
            </a:pPr>
            <a:r>
              <a:t>BINOMIAL(n, k)</a:t>
            </a:r>
            <a:br/>
            <a:br/>
            <a:r>
              <a:t>create dp[n+1][k+1]</a:t>
            </a:r>
            <a:br/>
            <a:br/>
            <a:r>
              <a:t>for i = 0 to n</a:t>
            </a:r>
            <a:br/>
            <a:r>
              <a:t>    for j = 0 to min(i, k)</a:t>
            </a:r>
            <a:br/>
            <a:r>
              <a:t>        if j == 0 OR j == i</a:t>
            </a:r>
            <a:br/>
            <a:r>
              <a:t>            dp[i][j] = 1</a:t>
            </a:r>
            <a:br/>
            <a:r>
              <a:t>        else</a:t>
            </a:r>
            <a:br/>
            <a:r>
              <a:t>            dp[i][j] = dp[i-1][j-1]</a:t>
            </a:r>
            <a:br/>
            <a:r>
              <a:t>                       + dp[i-1][j]</a:t>
            </a:r>
            <a:br/>
            <a:br/>
            <a:r>
              <a:t>return dp[n][k]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417320"/>
            <a:ext cx="3108960" cy="1920240"/>
          </a:xfrm>
          <a:prstGeom prst="roundRect">
            <a:avLst/>
          </a:prstGeom>
          <a:solidFill>
            <a:srgbClr val="E7F7ED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0" y="1417320"/>
            <a:ext cx="54864" cy="1920240"/>
          </a:xfrm>
          <a:prstGeom prst="rect">
            <a:avLst/>
          </a:prstGeom>
          <a:solidFill>
            <a:srgbClr val="2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1527048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Complexity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1984248"/>
            <a:ext cx="28346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Time: O(nk)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Space: O(nk)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611880"/>
            <a:ext cx="3108960" cy="2103120"/>
          </a:xfrm>
          <a:prstGeom prst="roundRect">
            <a:avLst/>
          </a:prstGeom>
          <a:solidFill>
            <a:srgbClr val="E7F0FC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3611880"/>
            <a:ext cx="54864" cy="2103120"/>
          </a:xfrm>
          <a:prstGeom prst="rect">
            <a:avLst/>
          </a:prstGeom>
          <a:solidFill>
            <a:srgbClr val="23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3721608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Why DP?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4178808"/>
            <a:ext cx="2834640" cy="1444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A state such as C(4,2) may be needed multiple times. Store it once and reuse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  <a:latin typeface="Aptos Display"/>
              </a:defRPr>
            </a:pPr>
            <a:r>
              <a:t>Worked Example 1: C(5,2)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932688"/>
            <a:ext cx="960120" cy="64008"/>
          </a:xfrm>
          <a:prstGeom prst="roundRect">
            <a:avLst/>
          </a:prstGeom>
          <a:solidFill>
            <a:srgbClr val="23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Construct the required DP entries.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  <a:latin typeface="Aptos Display"/>
              </a:defRPr>
            </a:pPr>
            <a:r>
              <a:t>Worked Example 1: C(5,2)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932688"/>
            <a:ext cx="960120" cy="64008"/>
          </a:xfrm>
          <a:prstGeom prst="roundRect">
            <a:avLst/>
          </a:prstGeom>
          <a:solidFill>
            <a:srgbClr val="23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Construct the required DP entries.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371600"/>
          <a:ext cx="47548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i\j</a:t>
                      </a:r>
                    </a:p>
                  </a:txBody>
                  <a:tcPr>
                    <a:solidFill>
                      <a:srgbClr val="236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6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6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369C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B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B37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B37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B37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B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B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B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B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B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B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B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B37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B3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B3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B37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897880" y="1371600"/>
            <a:ext cx="5303520" cy="1645920"/>
          </a:xfrm>
          <a:prstGeom prst="roundRect">
            <a:avLst/>
          </a:prstGeom>
          <a:solidFill>
            <a:srgbClr val="E7F0FC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97880" y="1371600"/>
            <a:ext cx="54864" cy="1645920"/>
          </a:xfrm>
          <a:prstGeom prst="rect">
            <a:avLst/>
          </a:prstGeom>
          <a:solidFill>
            <a:srgbClr val="23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62472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2472" y="1938528"/>
            <a:ext cx="50292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C(5,2)=C(4,1)+C(4,2)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3337560"/>
            <a:ext cx="5303520" cy="1645920"/>
          </a:xfrm>
          <a:prstGeom prst="roundRect">
            <a:avLst/>
          </a:prstGeom>
          <a:solidFill>
            <a:srgbClr val="E7F7ED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97880" y="3337560"/>
            <a:ext cx="54864" cy="1645920"/>
          </a:xfrm>
          <a:prstGeom prst="rect">
            <a:avLst/>
          </a:prstGeom>
          <a:solidFill>
            <a:srgbClr val="2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62472" y="34472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2472" y="3904487"/>
            <a:ext cx="50292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=4+6=10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5303520"/>
            <a:ext cx="5303520" cy="640080"/>
          </a:xfrm>
          <a:prstGeom prst="roundRect">
            <a:avLst/>
          </a:prstGeom>
          <a:solidFill>
            <a:srgbClr val="E7F0FC"/>
          </a:solidFill>
          <a:ln>
            <a:solidFill>
              <a:srgbClr val="E1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53492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03A"/>
                </a:solidFill>
                <a:latin typeface="Cambria Math"/>
              </a:defRPr>
            </a:pPr>
            <a:r>
              <a:t>Answer: C(5,2) =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  <a:latin typeface="Aptos Display"/>
              </a:defRPr>
            </a:pPr>
            <a:r>
              <a:t>Worked Example 2: C(6,3)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932688"/>
            <a:ext cx="960120" cy="64008"/>
          </a:xfrm>
          <a:prstGeom prst="roundRect">
            <a:avLst/>
          </a:prstGeom>
          <a:solidFill>
            <a:srgbClr val="23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Use previously computed states.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71600"/>
            <a:ext cx="6583680" cy="822960"/>
          </a:xfrm>
          <a:prstGeom prst="roundRect">
            <a:avLst/>
          </a:prstGeom>
          <a:solidFill>
            <a:srgbClr val="E7F0FC"/>
          </a:solidFill>
          <a:ln>
            <a:solidFill>
              <a:srgbClr val="2369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6309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03A"/>
                </a:solidFill>
                <a:latin typeface="Cambria Math"/>
              </a:defRPr>
            </a:pPr>
            <a:r>
              <a:t>C(6,3)=C(5,2)+C(5,3)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06040"/>
            <a:ext cx="4983480" cy="1828800"/>
          </a:xfrm>
          <a:prstGeom prst="roundRect">
            <a:avLst/>
          </a:prstGeom>
          <a:solidFill>
            <a:srgbClr val="F0EB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606040"/>
            <a:ext cx="54864" cy="1828800"/>
          </a:xfrm>
          <a:prstGeom prst="rect">
            <a:avLst/>
          </a:prstGeom>
          <a:solidFill>
            <a:srgbClr val="694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715768"/>
            <a:ext cx="4709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Known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172968"/>
            <a:ext cx="47091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C(5,2)=10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C(5,3)=10 by symmetry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2606040"/>
            <a:ext cx="5120640" cy="1828800"/>
          </a:xfrm>
          <a:prstGeom prst="roundRect">
            <a:avLst/>
          </a:prstGeom>
          <a:solidFill>
            <a:srgbClr val="E7F7ED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2606040"/>
            <a:ext cx="54864" cy="1828800"/>
          </a:xfrm>
          <a:prstGeom prst="rect">
            <a:avLst/>
          </a:prstGeom>
          <a:solidFill>
            <a:srgbClr val="2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271576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Calculation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3172968"/>
            <a:ext cx="48463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C(6,3)=10+10=20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4983480"/>
            <a:ext cx="5303520" cy="685800"/>
          </a:xfrm>
          <a:prstGeom prst="roundRect">
            <a:avLst/>
          </a:prstGeom>
          <a:solidFill>
            <a:srgbClr val="E7F0FC"/>
          </a:solidFill>
          <a:ln>
            <a:solidFill>
              <a:srgbClr val="E1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5029200"/>
            <a:ext cx="5029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03A"/>
                </a:solidFill>
                <a:latin typeface="Cambria Math"/>
              </a:defRPr>
            </a:pPr>
            <a:r>
              <a:t>Answer: 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  <a:latin typeface="Aptos Display"/>
              </a:defRPr>
            </a:pPr>
            <a:r>
              <a:t>Worked Example 3: C(7,3)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932688"/>
            <a:ext cx="960120" cy="64008"/>
          </a:xfrm>
          <a:prstGeom prst="roundRect">
            <a:avLst/>
          </a:prstGeom>
          <a:solidFill>
            <a:srgbClr val="23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Trace the recurrence through stored values.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337560" cy="3566160"/>
          </a:xfrm>
          <a:prstGeom prst="roundRect">
            <a:avLst/>
          </a:prstGeom>
          <a:solidFill>
            <a:srgbClr val="E7F0FC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54864" cy="3566160"/>
          </a:xfrm>
          <a:prstGeom prst="rect">
            <a:avLst/>
          </a:prstGeom>
          <a:solidFill>
            <a:srgbClr val="23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435607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892807"/>
            <a:ext cx="3063240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C(7,3)=C(6,2)+C(6,3)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C(6,2)=15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C(6,3)=20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337560" cy="3566160"/>
          </a:xfrm>
          <a:prstGeom prst="roundRect">
            <a:avLst/>
          </a:prstGeom>
          <a:solidFill>
            <a:srgbClr val="F0EB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325880"/>
            <a:ext cx="54864" cy="3566160"/>
          </a:xfrm>
          <a:prstGeom prst="rect">
            <a:avLst/>
          </a:prstGeom>
          <a:solidFill>
            <a:srgbClr val="694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435607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1892807"/>
            <a:ext cx="3063240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C(7,3)=15+20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=35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25880"/>
            <a:ext cx="3246120" cy="3566160"/>
          </a:xfrm>
          <a:prstGeom prst="roundRect">
            <a:avLst/>
          </a:prstGeom>
          <a:solidFill>
            <a:srgbClr val="E7F7ED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325880"/>
            <a:ext cx="54864" cy="3566160"/>
          </a:xfrm>
          <a:prstGeom prst="rect">
            <a:avLst/>
          </a:prstGeom>
          <a:solidFill>
            <a:srgbClr val="2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435607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892807"/>
            <a:ext cx="2971800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7!/(3!4!)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=35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DP and formula agree.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  <a:latin typeface="Aptos Display"/>
              </a:defRPr>
            </a:pPr>
            <a:r>
              <a:t>Worked Example 4: Committee Selection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932688"/>
            <a:ext cx="960120" cy="64008"/>
          </a:xfrm>
          <a:prstGeom prst="roundRect">
            <a:avLst/>
          </a:prstGeom>
          <a:solidFill>
            <a:srgbClr val="23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A direct real-world interpretation.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3474720"/>
          </a:xfrm>
          <a:prstGeom prst="roundRect">
            <a:avLst/>
          </a:prstGeom>
          <a:solidFill>
            <a:srgbClr val="E7F0FC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4864" cy="3474720"/>
          </a:xfrm>
          <a:prstGeom prst="rect">
            <a:avLst/>
          </a:prstGeom>
          <a:solidFill>
            <a:srgbClr val="23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48132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938528"/>
            <a:ext cx="493776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8 students are available. How many different committees of 3 students can be formed?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Order does not matter.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4846320" cy="914400"/>
          </a:xfrm>
          <a:prstGeom prst="roundRect">
            <a:avLst/>
          </a:prstGeom>
          <a:solidFill>
            <a:srgbClr val="E7F0FC"/>
          </a:solidFill>
          <a:ln>
            <a:solidFill>
              <a:srgbClr val="2369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45920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03A"/>
                </a:solidFill>
                <a:latin typeface="Cambria Math"/>
              </a:defRPr>
            </a:pPr>
            <a:r>
              <a:t>C(8,3)=8!/(3!5!)=56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971800"/>
            <a:ext cx="4846320" cy="1828800"/>
          </a:xfrm>
          <a:prstGeom prst="roundRect">
            <a:avLst/>
          </a:prstGeom>
          <a:solidFill>
            <a:srgbClr val="FDF1DC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971800"/>
            <a:ext cx="54864" cy="1828800"/>
          </a:xfrm>
          <a:prstGeom prst="rect">
            <a:avLst/>
          </a:prstGeom>
          <a:solidFill>
            <a:srgbClr val="E18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308152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3538728"/>
            <a:ext cx="45720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There are 56 distinct committees.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ABC and BAC are the same committee.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  <a:latin typeface="Aptos Display"/>
              </a:defRPr>
            </a:pPr>
            <a:r>
              <a:t>Comparison of Computation Methods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932688"/>
            <a:ext cx="960120" cy="64008"/>
          </a:xfrm>
          <a:prstGeom prst="roundRect">
            <a:avLst/>
          </a:prstGeom>
          <a:solidFill>
            <a:srgbClr val="23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Useful for DAA analysis and exam questions.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17320"/>
          <a:ext cx="10881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768096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236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Idea</a:t>
                      </a:r>
                    </a:p>
                  </a:txBody>
                  <a:tcPr>
                    <a:solidFill>
                      <a:srgbClr val="236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236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Space</a:t>
                      </a:r>
                    </a:p>
                  </a:txBody>
                  <a:tcPr>
                    <a:solidFill>
                      <a:srgbClr val="2369C3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Factorial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Direct formula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O(n)*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Recursive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Pascal identity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Exponential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O(n) stack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2D 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Store all states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O(nk)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O(nk)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1D DP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Store one row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O(nk)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7"/>
                          </a:solidFill>
                        </a:defRPr>
                      </a:pPr>
                      <a:r>
                        <a:t>O(k)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5440680"/>
            <a:ext cx="10881360" cy="685800"/>
          </a:xfrm>
          <a:prstGeom prst="roundRect">
            <a:avLst/>
          </a:prstGeom>
          <a:solidFill>
            <a:srgbClr val="FDF1DC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5440680"/>
            <a:ext cx="54864" cy="685800"/>
          </a:xfrm>
          <a:prstGeom prst="rect">
            <a:avLst/>
          </a:prstGeom>
          <a:solidFill>
            <a:srgbClr val="E18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5550408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Exam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6007608"/>
            <a:ext cx="10607040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DP is valuable when repeated subproblems are central to the problem.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  <a:latin typeface="Aptos Display"/>
              </a:defRPr>
            </a:pPr>
            <a:r>
              <a:t>C Program: Binomial Coefficient using DP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932688"/>
            <a:ext cx="960120" cy="64008"/>
          </a:xfrm>
          <a:prstGeom prst="roundRect">
            <a:avLst/>
          </a:prstGeom>
          <a:solidFill>
            <a:srgbClr val="2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Direct implementation of the recurrence.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10972800" cy="5120640"/>
          </a:xfrm>
          <a:prstGeom prst="roundRect">
            <a:avLst/>
          </a:prstGeom>
          <a:solidFill>
            <a:srgbClr val="19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63039"/>
            <a:ext cx="106070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BF0F5"/>
                </a:solidFill>
                <a:latin typeface="Consolas"/>
              </a:defRPr>
            </a:pPr>
            <a:r>
              <a:t>#include &lt;stdio.h&gt;</a:t>
            </a:r>
            <a:br/>
            <a:br/>
            <a:r>
              <a:t>int binomial(int n, int k) {</a:t>
            </a:r>
            <a:br/>
            <a:r>
              <a:t>    int dp[n + 1][k + 1];</a:t>
            </a:r>
            <a:br/>
            <a:br/>
            <a:r>
              <a:t>    for (int i = 0; i &lt;= n; i++) {</a:t>
            </a:r>
            <a:br/>
            <a:r>
              <a:t>        for (int j = 0; j &lt;= k &amp;&amp; j &lt;= i; j++) {</a:t>
            </a:r>
            <a:br/>
            <a:r>
              <a:t>            if (j == 0 || j == i)</a:t>
            </a:r>
            <a:br/>
            <a:r>
              <a:t>                dp[i][j] = 1;</a:t>
            </a:r>
            <a:br/>
            <a:r>
              <a:t>            else</a:t>
            </a:r>
            <a:br/>
            <a:r>
              <a:t>                dp[i][j] =</a:t>
            </a:r>
            <a:br/>
            <a:r>
              <a:t>                    dp[i-1][j-1] + dp[i-1][j];</a:t>
            </a:r>
            <a:br/>
            <a:r>
              <a:t>        }</a:t>
            </a:r>
            <a:br/>
            <a:r>
              <a:t>    }</a:t>
            </a:r>
            <a:br/>
            <a:r>
              <a:t>    return dp[n][k];</a:t>
            </a:r>
            <a:br/>
            <a:r>
              <a:t>}</a:t>
            </a:r>
            <a:br/>
            <a:br/>
            <a:r>
              <a:t>int main() {</a:t>
            </a:r>
            <a:br/>
            <a:r>
              <a:t>    printf("%d", binomial(6, 3));</a:t>
            </a:r>
            <a:br/>
            <a:r>
              <a:t>    return 0;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  <a:latin typeface="Aptos Display"/>
              </a:defRPr>
            </a:pPr>
            <a:r>
              <a:t>Complexity and Space 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932688"/>
            <a:ext cx="960120" cy="64008"/>
          </a:xfrm>
          <a:prstGeom prst="roundRect">
            <a:avLst/>
          </a:prstGeom>
          <a:solidFill>
            <a:srgbClr val="23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Important analysis points for DAA.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337560" cy="1828800"/>
          </a:xfrm>
          <a:prstGeom prst="roundRect">
            <a:avLst/>
          </a:prstGeom>
          <a:solidFill>
            <a:srgbClr val="E7F0FC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54864" cy="1828800"/>
          </a:xfrm>
          <a:prstGeom prst="rect">
            <a:avLst/>
          </a:prstGeom>
          <a:solidFill>
            <a:srgbClr val="23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481328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2D DP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938528"/>
            <a:ext cx="306324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O(nk)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Each state is computed once.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71600"/>
            <a:ext cx="3337560" cy="1828800"/>
          </a:xfrm>
          <a:prstGeom prst="roundRect">
            <a:avLst/>
          </a:prstGeom>
          <a:solidFill>
            <a:srgbClr val="F0EB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371600"/>
            <a:ext cx="54864" cy="1828800"/>
          </a:xfrm>
          <a:prstGeom prst="rect">
            <a:avLst/>
          </a:prstGeom>
          <a:solidFill>
            <a:srgbClr val="694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481328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2D DP 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1938528"/>
            <a:ext cx="306324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O(nk)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Stores the complete 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371600"/>
            <a:ext cx="3337560" cy="1828800"/>
          </a:xfrm>
          <a:prstGeom prst="roundRect">
            <a:avLst/>
          </a:prstGeom>
          <a:solidFill>
            <a:srgbClr val="E7F7ED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371600"/>
            <a:ext cx="54864" cy="1828800"/>
          </a:xfrm>
          <a:prstGeom prst="rect">
            <a:avLst/>
          </a:prstGeom>
          <a:solidFill>
            <a:srgbClr val="2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481328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1D DP 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1938528"/>
            <a:ext cx="306324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O(k)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Only one row is retained.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794760"/>
            <a:ext cx="10332720" cy="822960"/>
          </a:xfrm>
          <a:prstGeom prst="roundRect">
            <a:avLst/>
          </a:prstGeom>
          <a:solidFill>
            <a:srgbClr val="E7F0FC"/>
          </a:solidFill>
          <a:ln>
            <a:solidFill>
              <a:srgbClr val="E1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03A"/>
                </a:solidFill>
                <a:latin typeface="Cambria Math"/>
              </a:defRPr>
            </a:pPr>
            <a:r>
              <a:t>dp[j] = dp[j] + dp[j−1]    (j from high → low)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892040"/>
            <a:ext cx="10332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4892040"/>
            <a:ext cx="54864" cy="822960"/>
          </a:xfrm>
          <a:prstGeom prst="rect">
            <a:avLst/>
          </a:prstGeom>
          <a:solidFill>
            <a:srgbClr val="23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500176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Why backward?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5458968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It prevents the current item/state from being reused within the same iteration.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  <a:latin typeface="Aptos Display"/>
              </a:defRPr>
            </a:pPr>
            <a:r>
              <a:t>Numerical Practice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932688"/>
            <a:ext cx="960120" cy="64008"/>
          </a:xfrm>
          <a:prstGeom prst="roundRect">
            <a:avLst/>
          </a:prstGeom>
          <a:solidFill>
            <a:srgbClr val="23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B.Tech / DAA exam-oriented.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51206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54864" cy="1691640"/>
          </a:xfrm>
          <a:prstGeom prst="rect">
            <a:avLst/>
          </a:prstGeom>
          <a:solidFill>
            <a:srgbClr val="23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48132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938528"/>
            <a:ext cx="484632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Compute C(8,2) using the recurrence.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Answer: 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1206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4864" cy="1691640"/>
          </a:xfrm>
          <a:prstGeom prst="rect">
            <a:avLst/>
          </a:prstGeom>
          <a:solidFill>
            <a:srgbClr val="694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48132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938528"/>
            <a:ext cx="484632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Compute C(9,3) using Pascal’s identity.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Answer: 84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29000"/>
            <a:ext cx="51206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429000"/>
            <a:ext cx="54864" cy="1691640"/>
          </a:xfrm>
          <a:prstGeom prst="rect">
            <a:avLst/>
          </a:prstGeom>
          <a:solidFill>
            <a:srgbClr val="2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53872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995928"/>
            <a:ext cx="484632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Construct DP entries to find C(7,4).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Answer: 35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29000"/>
            <a:ext cx="51206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429000"/>
            <a:ext cx="54864" cy="1691640"/>
          </a:xfrm>
          <a:prstGeom prst="rect">
            <a:avLst/>
          </a:prstGeom>
          <a:solidFill>
            <a:srgbClr val="E18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53872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995928"/>
            <a:ext cx="484632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Compute C(10,2) and compare factorial vs DP.</a:t>
            </a:r>
          </a:p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Answer: 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  <a:latin typeface="Aptos Display"/>
              </a:defRPr>
            </a:pPr>
            <a:r>
              <a:t>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932688"/>
            <a:ext cx="960120" cy="64008"/>
          </a:xfrm>
          <a:prstGeom prst="roundRect">
            <a:avLst/>
          </a:prstGeom>
          <a:solidFill>
            <a:srgbClr val="23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What students should remember.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54864" cy="621792"/>
          </a:xfrm>
          <a:prstGeom prst="rect">
            <a:avLst/>
          </a:prstGeom>
          <a:solidFill>
            <a:srgbClr val="23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344168"/>
            <a:ext cx="10424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801368"/>
            <a:ext cx="10424159" cy="-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C(n,k) counts k selections from n items.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11680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011680"/>
            <a:ext cx="54864" cy="621792"/>
          </a:xfrm>
          <a:prstGeom prst="rect">
            <a:avLst/>
          </a:prstGeom>
          <a:solidFill>
            <a:srgbClr val="694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121408"/>
            <a:ext cx="10424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578608"/>
            <a:ext cx="10424159" cy="-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C(n,k)=n!/[k!(n−k)!].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88920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788920"/>
            <a:ext cx="54864" cy="621792"/>
          </a:xfrm>
          <a:prstGeom prst="rect">
            <a:avLst/>
          </a:prstGeom>
          <a:solidFill>
            <a:srgbClr val="14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898648"/>
            <a:ext cx="10424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Recurrence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355848"/>
            <a:ext cx="10424159" cy="-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C(n,k)=C(n−1,k−1)+C(n−1,k).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566160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566160"/>
            <a:ext cx="54864" cy="621792"/>
          </a:xfrm>
          <a:prstGeom prst="rect">
            <a:avLst/>
          </a:prstGeom>
          <a:solidFill>
            <a:srgbClr val="2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675887"/>
            <a:ext cx="10424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DP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133087"/>
            <a:ext cx="10424159" cy="-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dp[i][j] stores C(i,j).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43400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343400"/>
            <a:ext cx="54864" cy="621792"/>
          </a:xfrm>
          <a:prstGeom prst="rect">
            <a:avLst/>
          </a:prstGeom>
          <a:solidFill>
            <a:srgbClr val="E18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453128"/>
            <a:ext cx="10424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Complexity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910328"/>
            <a:ext cx="10424159" cy="-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2D: O(nk) time/space; 1D space: O(k).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120640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120640"/>
            <a:ext cx="54864" cy="621792"/>
          </a:xfrm>
          <a:prstGeom prst="rect">
            <a:avLst/>
          </a:prstGeom>
          <a:solidFill>
            <a:srgbClr val="23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5230368"/>
            <a:ext cx="10424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A"/>
                </a:solidFill>
              </a:defRPr>
            </a:pPr>
            <a:r>
              <a:t>Exam Focus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5687568"/>
            <a:ext cx="10424159" cy="-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7"/>
                </a:solidFill>
              </a:defRPr>
            </a:pPr>
            <a:r>
              <a:t>Derive recurrence, fill table, write pseudocode and solve numericals.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