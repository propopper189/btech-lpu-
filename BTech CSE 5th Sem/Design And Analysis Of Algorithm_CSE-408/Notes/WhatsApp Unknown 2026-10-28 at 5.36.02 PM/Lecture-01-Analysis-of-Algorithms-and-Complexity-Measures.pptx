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2.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161C"/>
                </a:solidFill>
                <a:latin typeface="Calibri"/>
              </a:defRPr>
            </a:pPr>
            <a:r>
              <a:rPr sz="1400" b="0" i="0" u="none" strike="noStrike">
                <a:solidFill>
                  <a:srgbClr val="12161C"/>
                </a:solidFill>
                <a:latin typeface="Calibri"/>
              </a:rPr>
              <a:t>Growth of common functions</a:t>
            </a:r>
          </a:p>
        </c:rich>
      </c:tx>
      <c:layout/>
      <c:overlay val="0"/>
    </c:title>
    <c:autoTitleDeleted val="0"/>
    <c:plotArea>
      <c:layout/>
      <c:lineChart>
        <c:varyColors val="0"/>
        <c:ser>
          <c:idx val="0"/>
          <c:order val="0"/>
          <c:tx>
            <c:strRef>
              <c:f>Sheet1!$B$1</c:f>
              <c:strCache>
                <c:ptCount val="1"/>
                <c:pt idx="0">
                  <c:v>log n</c:v>
                </c:pt>
              </c:strCache>
            </c:strRef>
          </c:tx>
          <c:spPr>
            <a:solidFill>
              <a:srgbClr val="2E7D5B"/>
            </a:solidFill>
            <a:ln w="38100" cap="flat">
              <a:solidFill>
                <a:srgbClr val="2E7D5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D5B"/>
              </a:solidFill>
              <a:ln w="9525" cap="flat">
                <a:solidFill>
                  <a:srgbClr val="2E7D5B"/>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0</c:v>
                </c:pt>
                <c:pt idx="1">
                  <c:v>1</c:v>
                </c:pt>
                <c:pt idx="2">
                  <c:v>1.58</c:v>
                </c:pt>
                <c:pt idx="3">
                  <c:v>2</c:v>
                </c:pt>
                <c:pt idx="4">
                  <c:v>2.32</c:v>
                </c:pt>
                <c:pt idx="5">
                  <c:v>2.58</c:v>
                </c:pt>
                <c:pt idx="6">
                  <c:v>2.81</c:v>
                </c:pt>
                <c:pt idx="7">
                  <c:v>3</c:v>
                </c:pt>
                <c:pt idx="8">
                  <c:v>3.17</c:v>
                </c:pt>
                <c:pt idx="9">
                  <c:v>3.32</c:v>
                </c:pt>
              </c:numCache>
            </c:numRef>
          </c:val>
          <c:smooth val="1"/>
        </c:ser>
        <c:ser>
          <c:idx val="1"/>
          <c:order val="1"/>
          <c:tx>
            <c:strRef>
              <c:f>Sheet1!$C$1</c:f>
              <c:strCache>
                <c:ptCount val="1"/>
                <c:pt idx="0">
                  <c:v>n</c:v>
                </c:pt>
              </c:strCache>
            </c:strRef>
          </c:tx>
          <c:spPr>
            <a:solidFill>
              <a:srgbClr val="0E7C86"/>
            </a:solidFill>
            <a:ln w="38100" cap="flat">
              <a:solidFill>
                <a:srgbClr val="0E7C8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C86"/>
              </a:solidFill>
              <a:ln w="9525" cap="flat">
                <a:solidFill>
                  <a:srgbClr val="0E7C86"/>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1</c:v>
                </c:pt>
                <c:pt idx="1">
                  <c:v>2</c:v>
                </c:pt>
                <c:pt idx="2">
                  <c:v>3</c:v>
                </c:pt>
                <c:pt idx="3">
                  <c:v>4</c:v>
                </c:pt>
                <c:pt idx="4">
                  <c:v>5</c:v>
                </c:pt>
                <c:pt idx="5">
                  <c:v>6</c:v>
                </c:pt>
                <c:pt idx="6">
                  <c:v>7</c:v>
                </c:pt>
                <c:pt idx="7">
                  <c:v>8</c:v>
                </c:pt>
                <c:pt idx="8">
                  <c:v>9</c:v>
                </c:pt>
                <c:pt idx="9">
                  <c:v>10</c:v>
                </c:pt>
              </c:numCache>
            </c:numRef>
          </c:val>
          <c:smooth val="1"/>
        </c:ser>
        <c:ser>
          <c:idx val="2"/>
          <c:order val="2"/>
          <c:tx>
            <c:strRef>
              <c:f>Sheet1!$D$1</c:f>
              <c:strCache>
                <c:ptCount val="1"/>
                <c:pt idx="0">
                  <c:v>n log n</c:v>
                </c:pt>
              </c:strCache>
            </c:strRef>
          </c:tx>
          <c:spPr>
            <a:solidFill>
              <a:srgbClr val="E8871E"/>
            </a:solidFill>
            <a:ln w="38100" cap="flat">
              <a:solidFill>
                <a:srgbClr val="E887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8871E"/>
              </a:solidFill>
              <a:ln w="9525" cap="flat">
                <a:solidFill>
                  <a:srgbClr val="E8871E"/>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Sheet1!$D$2:$D$11</c:f>
              <c:numCache>
                <c:formatCode>General</c:formatCode>
                <c:ptCount val="10"/>
                <c:pt idx="0">
                  <c:v>0</c:v>
                </c:pt>
                <c:pt idx="1">
                  <c:v>2</c:v>
                </c:pt>
                <c:pt idx="2">
                  <c:v>4.75</c:v>
                </c:pt>
                <c:pt idx="3">
                  <c:v>8</c:v>
                </c:pt>
                <c:pt idx="4">
                  <c:v>11.61</c:v>
                </c:pt>
                <c:pt idx="5">
                  <c:v>15.51</c:v>
                </c:pt>
                <c:pt idx="6">
                  <c:v>19.65</c:v>
                </c:pt>
                <c:pt idx="7">
                  <c:v>24</c:v>
                </c:pt>
                <c:pt idx="8">
                  <c:v>28.53</c:v>
                </c:pt>
                <c:pt idx="9">
                  <c:v>33.22</c:v>
                </c:pt>
              </c:numCache>
            </c:numRef>
          </c:val>
          <c:smooth val="1"/>
        </c:ser>
        <c:ser>
          <c:idx val="3"/>
          <c:order val="3"/>
          <c:tx>
            <c:strRef>
              <c:f>Sheet1!$E$1</c:f>
              <c:strCache>
                <c:ptCount val="1"/>
                <c:pt idx="0">
                  <c:v>n²</c:v>
                </c:pt>
              </c:strCache>
            </c:strRef>
          </c:tx>
          <c:spPr>
            <a:solidFill>
              <a:srgbClr val="B3261E"/>
            </a:solidFill>
            <a:ln w="38100" cap="flat">
              <a:solidFill>
                <a:srgbClr val="B326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3261E"/>
              </a:solidFill>
              <a:ln w="9525" cap="flat">
                <a:solidFill>
                  <a:srgbClr val="B3261E"/>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Sheet1!$E$2:$E$11</c:f>
              <c:numCache>
                <c:formatCode>General</c:formatCode>
                <c:ptCount val="10"/>
                <c:pt idx="0">
                  <c:v>1</c:v>
                </c:pt>
                <c:pt idx="1">
                  <c:v>4</c:v>
                </c:pt>
                <c:pt idx="2">
                  <c:v>9</c:v>
                </c:pt>
                <c:pt idx="3">
                  <c:v>16</c:v>
                </c:pt>
                <c:pt idx="4">
                  <c:v>25</c:v>
                </c:pt>
                <c:pt idx="5">
                  <c:v>36</c:v>
                </c:pt>
                <c:pt idx="6">
                  <c:v>49</c:v>
                </c:pt>
                <c:pt idx="7">
                  <c:v>64</c:v>
                </c:pt>
                <c:pt idx="8">
                  <c:v>81</c:v>
                </c:pt>
                <c:pt idx="9">
                  <c:v>100</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6B7784"/>
                    </a:solidFill>
                    <a:latin typeface="Arial"/>
                  </a:defRPr>
                </a:pPr>
                <a:r>
                  <a:rPr sz="1100" b="0" i="0" u="none" strike="noStrike">
                    <a:solidFill>
                      <a:srgbClr val="6B7784"/>
                    </a:solidFill>
                    <a:latin typeface="Arial"/>
                  </a:rPr>
                  <a:t>input size 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784"/>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DCE2E8"/>
              </a:solidFill>
              <a:prstDash val="solid"/>
              <a:round/>
            </a:ln>
          </c:spPr>
        </c:majorGridlines>
        <c:title>
          <c:tx>
            <c:rich>
              <a:bodyPr/>
              <a:lstStyle/>
              <a:p>
                <a:pPr>
                  <a:defRPr sz="1100" b="0" i="0" u="none" strike="noStrike">
                    <a:solidFill>
                      <a:srgbClr val="6B7784"/>
                    </a:solidFill>
                    <a:latin typeface="Arial"/>
                  </a:defRPr>
                </a:pPr>
                <a:r>
                  <a:rPr sz="1100" b="0" i="0" u="none" strike="noStrike">
                    <a:solidFill>
                      <a:srgbClr val="6B7784"/>
                    </a:solidFill>
                    <a:latin typeface="Arial"/>
                  </a:rPr>
                  <a:t>steps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784"/>
                </a:solidFill>
                <a:latin typeface="Arial"/>
              </a:defRPr>
            </a:pPr>
            <a:endParaRPr lang="en-US"/>
          </a:p>
        </c:txPr>
        <c:crossAx val="2094734554"/>
        <c:crosses val="autoZero"/>
        <c:crossBetween val="between"/>
      </c:valAx>
      <c:spPr>
        <a:solidFill>
          <a:srgbClr val="FFFFFF"/>
        </a:solidFill>
        <a:ln w="12700" cap="flat">
          <a:solidFill>
            <a:srgbClr val="DCE2E8"/>
          </a:solidFill>
        </a:ln>
        <a:effectLst/>
      </c:spPr>
    </c:plotArea>
    <c:legend>
      <c:legendPos val="b"/>
      <c:overlay val="0"/>
      <c:txPr>
        <a:bodyPr/>
        <a:lstStyle/>
        <a:p>
          <a:pPr>
            <a:defRPr sz="1100">
              <a:solidFill>
                <a:srgbClr val="3A4551"/>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161C"/>
                </a:solidFill>
                <a:latin typeface="Calibri"/>
              </a:defRPr>
            </a:pPr>
            <a:r>
              <a:rPr sz="1300" b="0" i="0" u="none" strike="noStrike">
                <a:solidFill>
                  <a:srgbClr val="12161C"/>
                </a:solidFill>
                <a:latin typeface="Calibri"/>
              </a:rPr>
              <a:t>Worst-case comparisons</a:t>
            </a:r>
          </a:p>
        </c:rich>
      </c:tx>
      <c:layout/>
      <c:overlay val="0"/>
    </c:title>
    <c:autoTitleDeleted val="0"/>
    <c:plotArea>
      <c:layout/>
      <c:barChart>
        <c:barDir val="col"/>
        <c:grouping val="clustered"/>
        <c:varyColors val="0"/>
        <c:ser>
          <c:idx val="0"/>
          <c:order val="0"/>
          <c:tx>
            <c:strRef>
              <c:f>Sheet1!$B$1</c:f>
              <c:strCache>
                <c:ptCount val="1"/>
                <c:pt idx="0">
                  <c:v>Linear — n</c:v>
                </c:pt>
              </c:strCache>
            </c:strRef>
          </c:tx>
          <c:spPr>
            <a:solidFill>
              <a:srgbClr val="B3261E"/>
            </a:solidFill>
            <a:effectLst/>
          </c:spPr>
          <c:invertIfNegative val="0"/>
          <c:dLbls>
            <c:numFmt formatCode="#,##0" sourceLinked="0"/>
            <c:txPr>
              <a:bodyPr/>
              <a:lstStyle/>
              <a:p>
                <a:pPr>
                  <a:defRPr b="0" i="0" strike="noStrike" sz="900" u="none">
                    <a:solidFill>
                      <a:srgbClr val="3A4551"/>
                    </a:solidFill>
                    <a:latin typeface="Arial"/>
                  </a:defRPr>
                </a:pPr>
              </a:p>
            </c:txPr>
            <c:showLegendKey val="0"/>
            <c:showVal val="1"/>
            <c:showCatName val="0"/>
            <c:showSerName val="0"/>
            <c:showPercent val="0"/>
            <c:showBubbleSize val="0"/>
            <c:showLeaderLines val="0"/>
          </c:dLbls>
          <c:cat>
            <c:multiLvlStrRef>
              <c:f>Sheet1!$A$2:$A$5</c:f>
              <c:multiLvlStrCache>
                <c:ptCount val="4"/>
                <c:lvl>
                  <c:pt idx="0">
                    <c:v>n = 8</c:v>
                  </c:pt>
                  <c:pt idx="1">
                    <c:v>n = 16</c:v>
                  </c:pt>
                  <c:pt idx="2">
                    <c:v>n = 32</c:v>
                  </c:pt>
                  <c:pt idx="3">
                    <c:v>n = 64</c:v>
                  </c:pt>
                </c:lvl>
              </c:multiLvlStrCache>
            </c:multiLvlStrRef>
          </c:cat>
          <c:val>
            <c:numRef>
              <c:f>Sheet1!$B$2:$B$5</c:f>
              <c:numCache>
                <c:formatCode>General</c:formatCode>
                <c:ptCount val="4"/>
                <c:pt idx="0">
                  <c:v>8</c:v>
                </c:pt>
                <c:pt idx="1">
                  <c:v>16</c:v>
                </c:pt>
                <c:pt idx="2">
                  <c:v>32</c:v>
                </c:pt>
                <c:pt idx="3">
                  <c:v>64</c:v>
                </c:pt>
              </c:numCache>
            </c:numRef>
          </c:val>
        </c:ser>
        <c:ser>
          <c:idx val="1"/>
          <c:order val="1"/>
          <c:tx>
            <c:strRef>
              <c:f>Sheet1!$C$1</c:f>
              <c:strCache>
                <c:ptCount val="1"/>
                <c:pt idx="0">
                  <c:v>Binary — log₂ n</c:v>
                </c:pt>
              </c:strCache>
            </c:strRef>
          </c:tx>
          <c:spPr>
            <a:solidFill>
              <a:srgbClr val="2E7D5B"/>
            </a:solidFill>
            <a:effectLst/>
          </c:spPr>
          <c:invertIfNegative val="0"/>
          <c:dLbls>
            <c:numFmt formatCode="#,##0" sourceLinked="0"/>
            <c:txPr>
              <a:bodyPr/>
              <a:lstStyle/>
              <a:p>
                <a:pPr>
                  <a:defRPr b="0" i="0" strike="noStrike" sz="900" u="none">
                    <a:solidFill>
                      <a:srgbClr val="3A4551"/>
                    </a:solidFill>
                    <a:latin typeface="Arial"/>
                  </a:defRPr>
                </a:pPr>
              </a:p>
            </c:txPr>
            <c:showLegendKey val="0"/>
            <c:showVal val="1"/>
            <c:showCatName val="0"/>
            <c:showSerName val="0"/>
            <c:showPercent val="0"/>
            <c:showBubbleSize val="0"/>
            <c:showLeaderLines val="0"/>
          </c:dLbls>
          <c:cat>
            <c:multiLvlStrRef>
              <c:f>Sheet1!$A$2:$A$5</c:f>
              <c:multiLvlStrCache>
                <c:ptCount val="4"/>
                <c:lvl>
                  <c:pt idx="0">
                    <c:v>n = 8</c:v>
                  </c:pt>
                  <c:pt idx="1">
                    <c:v>n = 16</c:v>
                  </c:pt>
                  <c:pt idx="2">
                    <c:v>n = 32</c:v>
                  </c:pt>
                  <c:pt idx="3">
                    <c:v>n = 64</c:v>
                  </c:pt>
                </c:lvl>
              </c:multiLvlStrCache>
            </c:multiLvlStrRef>
          </c:cat>
          <c:val>
            <c:numRef>
              <c:f>Sheet1!$C$2:$C$5</c:f>
              <c:numCache>
                <c:formatCode>General</c:formatCode>
                <c:ptCount val="4"/>
                <c:pt idx="0">
                  <c:v>3</c:v>
                </c:pt>
                <c:pt idx="1">
                  <c:v>4</c:v>
                </c:pt>
                <c:pt idx="2">
                  <c:v>5</c:v>
                </c:pt>
                <c:pt idx="3">
                  <c:v>6</c:v>
                </c:pt>
              </c:numCache>
            </c:numRef>
          </c:val>
        </c:ser>
        <c:dLbls>
          <c:numFmt formatCode="#,##0" sourceLinked="0"/>
          <c:txPr>
            <a:bodyPr/>
            <a:lstStyle/>
            <a:p>
              <a:pPr>
                <a:defRPr b="0" i="0" strike="noStrike" sz="900" u="none">
                  <a:solidFill>
                    <a:srgbClr val="3A4551"/>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78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CE2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784"/>
                </a:solidFill>
                <a:latin typeface="Arial"/>
              </a:defRPr>
            </a:pPr>
            <a:endParaRPr lang="en-US"/>
          </a:p>
        </c:txPr>
        <c:crossAx val="2094734554"/>
        <c:crosses val="autoZero"/>
        <c:crossBetween val="between"/>
      </c:valAx>
      <c:spPr>
        <a:solidFill>
          <a:srgbClr val="FFFFFF"/>
        </a:solidFill>
        <a:ln w="12700" cap="flat">
          <a:solidFill>
            <a:srgbClr val="DCE2E8"/>
          </a:solidFill>
        </a:ln>
        <a:effectLst/>
      </c:spPr>
    </c:plotArea>
    <c:legend>
      <c:legendPos val="b"/>
      <c:overlay val="0"/>
      <c:txPr>
        <a:bodyPr/>
        <a:lstStyle/>
        <a:p>
          <a:pPr>
            <a:defRPr sz="1000">
              <a:solidFill>
                <a:srgbClr val="3A4551"/>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Lecture 1 of Design and Analysis of Algorithms. Today we lay the entire foundation of the course: what an algorithm is, why we must analyse it, how we measure time and space, how the same algorithm behaves differently on different inputs, and the mathematical language (asymptotic notation) we use to compare algorithms. We close with a full comparison of Linear Search and Binary Search. Readings: T-1, R-1, OR-2 and video lectures VL-1, VL-2.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the map before the journey. Emphasise that items 1-3 are definitional, items 4-6 are analytical, and the last item is where everything comes together. Tell them the last ten minutes are reserved for problems they solve on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aloud - students should be able to self-check against these at the end. LO4 is the one that carries into every later unit: divide and conquer, greedy, dynamic programming and graph algorithms are all compared using this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three words in the definition: finite, unambiguous, legitimate input. Ask the class: is 'stir until smooth' an algorithm step? No - it is ambiguous. Is a program that waits for user input forever an algorithm? No - it is not finite. The distinction between algorithm (method) and program (implementation)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criteria come from Knuth and appear in almost every university exam. The board activity: write two candidate procedures and let students name the violated criterion. 'while(true) x=x+1' violates finiteness; 'add a pinch of salt' violates definiteness and effectiveness.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 distinction. Also the motivation for the whole course: hardware improves by a constant factor, algorithm design improves the growth rate. A 100x faster computer running an O(n^2) algorithm is still beaten by an O(n log n) algorithm once n is large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pseudocode line by line on the board. Ask the class how many times the for-loop test executes - the answer n+1, not n, is the classic mistake. This example is reused two slides later for the formal frequency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Ask first: 'If two students submit two different programs for the same problem, how do you decide which is better?' Collect answers - they will say 'run both and time them'. That answer is the starting point of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11.5 day figure: 10^12 operations at 10^9 operations per second is 1000 seconds... no - 10^12/10^9 = 1000 s? Careful: assume 10^6 operations per second for the illustration, then 10^12 operations = 10^6 seconds = 11.6 days. State the assumption on the board so the arithmetic is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prompt: why can two students running the same program get different times? Different CPU, background processes, compiler optimisation flags, cache state. That variability is exactly why we need a machine-independent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row is the one to labour over: a for-loop from 1 to n performs n+1 comparisons because the final comparison is the one that fails. Students who forget this get 2n+2 instead of 2n+3 in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this table live on the board rather than showing it complete. Then repeat the exercise for a nested loop so students see n^2 emerge from the same procedure. Emphasise: change the cost model slightly and 2n+3 becomes 3n+4, but linear stays linear.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two complexity measures. Ask students which resource they think matters more today, and why the answer has changed over the decades - memory used to be the binding constraint, now time usually is, but on embedded and mobile devices space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snippet and count aloud. For the quadratic case draw the n-by-n grid on the board: every cell is one execution of the inner statement, so the count is n squared. Point out that the loop bounds, not the number of statements, decide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auxiliary-space distinction explicit, because students often answer O(n) for linear search space. The input array is given; we charge only what the algorithm allocates on top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time from space in students' minds. Both versions are O(n) in time; only the recursive one is O(n) in space. Draw the stack growing and then unwinding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discussion point. Ask for examples from their own experience: image compression, game level loading, caching in browsers. End by fixing the course convention: time first, space reported alongside.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with a question: 'Linear search on 1000 elements - how many comparisons?' The class will hesitate. The right answer is 'it depends on where the key is', and that is precisely the point of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cases are properties of the input, not of the machine. Warn against a common confusion: best case is not the same as the lower bound notation Omega - one is about inputs, the other about functions. Any case can be described with any of O, Omega or Theta.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summation on the board. Then ask: what if the key may also be absent? Add that case with probability p and show the average becomes p(n+1)/2 + (1-p)n. Either way it stays linear - a good moment to preview asymptotic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Quicksort is the example worth naming here even though it comes much later in the syllabus - it is the standard case where the average is what makes the algorithm popular despite an alarming worst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lecture. Frame it: we now have step counts like 2n+3 and 3n^2+7n+9. We need a way to say '3n^2+7n+9 is essentially n^2' precisely enough to prove it. That is what asymptotic notation gives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chart: at n=2 or 3 the four curves are almost indistinguishable, which is why small tests mislead. By n=10 the n-squared curve has left the frame. The crossover behaviour is the entire argument for asymptotic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graph on the board as you speak. The two constants c and n0 are what students must supply in an exam proof - a Big-O claim without exhibiting c and n0 is not a proof. Note that the definition only constrains behaviour beyond n0; anything may happen before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Omega is about functions, not about the best case - a very common exam confusion. You can say 'the worst case of insertion sort is Omega(n^2)'. Theta is what we should aim to state whenever we can prove both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only need O, Omega and Theta for exams, but knowing little-o exists prevents the mistake of thinking O means 'exactly'. The equals-sign warning is worth ten seconds - it removes a lot of later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class two minutes on the right-hand box, then take answers. Expected: c=9, n0=1 for the first. Second: yes to O(n^2), no to Theta(n^2) because the lower bound fails. Third needs a ratio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 n doubles' column is the most useful one for intuition and is worth reading across aloud. Ask students to predict the entry for O(n^3) before revealing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numbers do the arguing. A useful aside: at one billion operations per second, 10^12 operations is about 17 minutes; at one million per second it is over eleven days. Either way the O(log n) column finishes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6 is the one to demonstrate on the board: write i=1; while(i&lt;n) i=i*2; and tabulate i as 1,2,4,8,... 2^k &gt;= n gives k = log2 n. This is exactly the binary search argument, which arrives three slides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these in the classroom rather than reading them. For the second, tabulate i on the board. For the fourth, ask whether changing the inner loop to j := i to n changes the class - it does not, n(n+1)/2 is still Theta(n^2). That is a favourite exam 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algorithm on the board with the five-element array, counting comparisons aloud. Then ask for the number of comparisons if the key is absent - n, plus the loop exit test. Note the algorithm requires nothing of the data, which is its real advantage.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a search for 15 in {4,7,9,12,15}: mid=9, go right; mid=15, found - two comparisons against five for linear search. Then derive the recurrence and unroll it on the board. Mention the classic overflow bug: (low+high)/2 should be low + (high-low)/2 in real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syllabus requirement directly. Do not let students conclude binary search is always better - the sorting prerequisite is the catch, and the break-even box is the honest answer. Take a show of hands on the break-even question before revealing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n(n+1)/2 = O(n^2). Q2 c=12, n0=1 (or c=6, n0=2). Q3 binary 11 comparisons, linear 1024. Q4 time O(n), auxiliary space O(n) for the stack. Q5 false - only for sufficiently large n, and constants matter below the crossover. Q6 1 &lt; log n &lt; n &lt; n log n &lt; n^2 &lt; 2^n &lt;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misconception as a claim and ask the class to vote true or false before revealing the correction. The first and the fourth generate the most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with the learning outcomes from slide 3 - read each and ask for a thumbs up or down. Anything with hesitation should be revisited at the start of the next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at T-1 Chapter 1 as the primary reading and CLRS Chapter 3 for the formal treatment of growth of functions. Remind them the problem set is the entry ticket for the next session on recurrences.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1C"/>
        </a:solidFill>
      </p:bgPr>
    </p:bg>
    <p:spTree>
      <p:nvGrpSpPr>
        <p:cNvPr id="1" name=""/>
        <p:cNvGrpSpPr/>
        <p:nvPr/>
      </p:nvGrpSpPr>
      <p:grpSpPr>
        <a:xfrm>
          <a:off x="0" y="0"/>
          <a:ext cx="0" cy="0"/>
          <a:chOff x="0" y="0"/>
          <a:chExt cx="0" cy="0"/>
        </a:xfrm>
      </p:grpSpPr>
      <p:sp>
        <p:nvSpPr>
          <p:cNvPr id="2" name="Shape 0"/>
          <p:cNvSpPr/>
          <p:nvPr/>
        </p:nvSpPr>
        <p:spPr>
          <a:xfrm>
            <a:off x="10424160" y="1005840"/>
            <a:ext cx="146304" cy="146304"/>
          </a:xfrm>
          <a:prstGeom prst="ellipse">
            <a:avLst/>
          </a:prstGeom>
          <a:solidFill>
            <a:srgbClr val="E8871E"/>
          </a:solidFill>
          <a:ln/>
        </p:spPr>
      </p:sp>
      <p:sp>
        <p:nvSpPr>
          <p:cNvPr id="3" name="Shape 1"/>
          <p:cNvSpPr/>
          <p:nvPr/>
        </p:nvSpPr>
        <p:spPr>
          <a:xfrm>
            <a:off x="11064240" y="1005840"/>
            <a:ext cx="146304" cy="146304"/>
          </a:xfrm>
          <a:prstGeom prst="ellipse">
            <a:avLst/>
          </a:prstGeom>
          <a:solidFill>
            <a:srgbClr val="2C3742"/>
          </a:solidFill>
          <a:ln/>
        </p:spPr>
      </p:sp>
      <p:sp>
        <p:nvSpPr>
          <p:cNvPr id="4" name="Shape 2"/>
          <p:cNvSpPr/>
          <p:nvPr/>
        </p:nvSpPr>
        <p:spPr>
          <a:xfrm>
            <a:off x="11704320" y="1005840"/>
            <a:ext cx="146304" cy="146304"/>
          </a:xfrm>
          <a:prstGeom prst="ellipse">
            <a:avLst/>
          </a:prstGeom>
          <a:solidFill>
            <a:srgbClr val="2C3742"/>
          </a:solidFill>
          <a:ln/>
        </p:spPr>
      </p:sp>
      <p:sp>
        <p:nvSpPr>
          <p:cNvPr id="5" name="Shape 3"/>
          <p:cNvSpPr/>
          <p:nvPr/>
        </p:nvSpPr>
        <p:spPr>
          <a:xfrm>
            <a:off x="10424160" y="1645920"/>
            <a:ext cx="146304" cy="146304"/>
          </a:xfrm>
          <a:prstGeom prst="ellipse">
            <a:avLst/>
          </a:prstGeom>
          <a:solidFill>
            <a:srgbClr val="2C3742"/>
          </a:solidFill>
          <a:ln/>
        </p:spPr>
      </p:sp>
      <p:sp>
        <p:nvSpPr>
          <p:cNvPr id="6" name="Shape 4"/>
          <p:cNvSpPr/>
          <p:nvPr/>
        </p:nvSpPr>
        <p:spPr>
          <a:xfrm>
            <a:off x="11064240" y="1645920"/>
            <a:ext cx="146304" cy="146304"/>
          </a:xfrm>
          <a:prstGeom prst="ellipse">
            <a:avLst/>
          </a:prstGeom>
          <a:solidFill>
            <a:srgbClr val="E8871E"/>
          </a:solidFill>
          <a:ln/>
        </p:spPr>
      </p:sp>
      <p:sp>
        <p:nvSpPr>
          <p:cNvPr id="7" name="Shape 5"/>
          <p:cNvSpPr/>
          <p:nvPr/>
        </p:nvSpPr>
        <p:spPr>
          <a:xfrm>
            <a:off x="11704320" y="1645920"/>
            <a:ext cx="146304" cy="146304"/>
          </a:xfrm>
          <a:prstGeom prst="ellipse">
            <a:avLst/>
          </a:prstGeom>
          <a:solidFill>
            <a:srgbClr val="2C3742"/>
          </a:solidFill>
          <a:ln/>
        </p:spPr>
      </p:sp>
      <p:sp>
        <p:nvSpPr>
          <p:cNvPr id="8" name="Shape 6"/>
          <p:cNvSpPr/>
          <p:nvPr/>
        </p:nvSpPr>
        <p:spPr>
          <a:xfrm>
            <a:off x="10424160" y="2286000"/>
            <a:ext cx="146304" cy="146304"/>
          </a:xfrm>
          <a:prstGeom prst="ellipse">
            <a:avLst/>
          </a:prstGeom>
          <a:solidFill>
            <a:srgbClr val="2C3742"/>
          </a:solidFill>
          <a:ln/>
        </p:spPr>
      </p:sp>
      <p:sp>
        <p:nvSpPr>
          <p:cNvPr id="9" name="Shape 7"/>
          <p:cNvSpPr/>
          <p:nvPr/>
        </p:nvSpPr>
        <p:spPr>
          <a:xfrm>
            <a:off x="11064240" y="2286000"/>
            <a:ext cx="146304" cy="146304"/>
          </a:xfrm>
          <a:prstGeom prst="ellipse">
            <a:avLst/>
          </a:prstGeom>
          <a:solidFill>
            <a:srgbClr val="2C3742"/>
          </a:solidFill>
          <a:ln/>
        </p:spPr>
      </p:sp>
      <p:sp>
        <p:nvSpPr>
          <p:cNvPr id="10" name="Shape 8"/>
          <p:cNvSpPr/>
          <p:nvPr/>
        </p:nvSpPr>
        <p:spPr>
          <a:xfrm>
            <a:off x="11704320" y="2286000"/>
            <a:ext cx="146304" cy="146304"/>
          </a:xfrm>
          <a:prstGeom prst="ellipse">
            <a:avLst/>
          </a:prstGeom>
          <a:solidFill>
            <a:srgbClr val="E8871E"/>
          </a:solidFill>
          <a:ln/>
        </p:spPr>
      </p:sp>
      <p:sp>
        <p:nvSpPr>
          <p:cNvPr id="11" name="Text 9"/>
          <p:cNvSpPr/>
          <p:nvPr/>
        </p:nvSpPr>
        <p:spPr>
          <a:xfrm>
            <a:off x="640080" y="1325880"/>
            <a:ext cx="9144000" cy="274320"/>
          </a:xfrm>
          <a:prstGeom prst="rect">
            <a:avLst/>
          </a:prstGeom>
          <a:noFill/>
          <a:ln/>
        </p:spPr>
        <p:txBody>
          <a:bodyPr wrap="square" lIns="0" tIns="0" rIns="0" bIns="0" rtlCol="0" anchor="t"/>
          <a:lstStyle/>
          <a:p>
            <a:pPr indent="0" marL="0">
              <a:buNone/>
            </a:pPr>
            <a:r>
              <a:rPr lang="en-US" sz="1200" b="1" spc="160" kern="0" dirty="0">
                <a:solidFill>
                  <a:srgbClr val="E8871E"/>
                </a:solidFill>
                <a:latin typeface="Calibri" pitchFamily="34" charset="0"/>
                <a:ea typeface="Calibri" pitchFamily="34" charset="-122"/>
                <a:cs typeface="Calibri" pitchFamily="34" charset="-120"/>
              </a:rPr>
              <a:t>DESIGN &amp; ANALYSIS OF ALGORITHMS  ·  UNIT I  ·  LECTURE 01</a:t>
            </a:r>
            <a:endParaRPr lang="en-US" sz="1200" dirty="0"/>
          </a:p>
        </p:txBody>
      </p:sp>
      <p:sp>
        <p:nvSpPr>
          <p:cNvPr id="12" name="Text 10"/>
          <p:cNvSpPr/>
          <p:nvPr/>
        </p:nvSpPr>
        <p:spPr>
          <a:xfrm>
            <a:off x="640080" y="1783080"/>
            <a:ext cx="9326880" cy="1554480"/>
          </a:xfrm>
          <a:prstGeom prst="rect">
            <a:avLst/>
          </a:prstGeom>
          <a:noFill/>
          <a:ln/>
        </p:spPr>
        <p:txBody>
          <a:bodyPr wrap="square" lIns="0" tIns="0" rIns="0" bIns="0" rtlCol="0" anchor="t"/>
          <a:lstStyle/>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Analysis of Algorithms</a:t>
            </a:r>
            <a:endParaRPr lang="en-US" sz="4200" dirty="0"/>
          </a:p>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and Complexity Measures</a:t>
            </a:r>
            <a:endParaRPr lang="en-US" sz="4200" dirty="0"/>
          </a:p>
        </p:txBody>
      </p:sp>
      <p:sp>
        <p:nvSpPr>
          <p:cNvPr id="13" name="Text 11"/>
          <p:cNvSpPr/>
          <p:nvPr/>
        </p:nvSpPr>
        <p:spPr>
          <a:xfrm>
            <a:off x="640080" y="3429000"/>
            <a:ext cx="9692640" cy="365760"/>
          </a:xfrm>
          <a:prstGeom prst="rect">
            <a:avLst/>
          </a:prstGeom>
          <a:noFill/>
          <a:ln/>
        </p:spPr>
        <p:txBody>
          <a:bodyPr wrap="square" lIns="0" tIns="0" rIns="0" bIns="0" rtlCol="0" anchor="t"/>
          <a:lstStyle/>
          <a:p>
            <a:pPr indent="0" marL="0">
              <a:buNone/>
            </a:pPr>
            <a:r>
              <a:rPr lang="en-US" sz="1600" dirty="0">
                <a:solidFill>
                  <a:srgbClr val="AEB9C6"/>
                </a:solidFill>
                <a:latin typeface="Calibri" pitchFamily="34" charset="0"/>
                <a:ea typeface="Calibri" pitchFamily="34" charset="-122"/>
                <a:cs typeface="Calibri" pitchFamily="34" charset="-120"/>
              </a:rPr>
              <a:t>Time &amp; Space Complexity  ·  Best, Average and Worst Case  ·  Asymptotic Notation</a:t>
            </a:r>
            <a:endParaRPr lang="en-US" sz="1600" dirty="0"/>
          </a:p>
        </p:txBody>
      </p:sp>
      <p:sp>
        <p:nvSpPr>
          <p:cNvPr id="14" name="Shape 12"/>
          <p:cNvSpPr/>
          <p:nvPr/>
        </p:nvSpPr>
        <p:spPr>
          <a:xfrm>
            <a:off x="640080" y="4023360"/>
            <a:ext cx="3977640" cy="566928"/>
          </a:xfrm>
          <a:prstGeom prst="roundRect">
            <a:avLst>
              <a:gd name="adj" fmla="val 8065"/>
            </a:avLst>
          </a:prstGeom>
          <a:solidFill>
            <a:srgbClr val="1B2129"/>
          </a:solidFill>
          <a:ln w="12700">
            <a:solidFill>
              <a:srgbClr val="2C3742"/>
            </a:solidFill>
            <a:prstDash val="solid"/>
          </a:ln>
        </p:spPr>
      </p:sp>
      <p:sp>
        <p:nvSpPr>
          <p:cNvPr id="15" name="Text 13"/>
          <p:cNvSpPr/>
          <p:nvPr/>
        </p:nvSpPr>
        <p:spPr>
          <a:xfrm>
            <a:off x="822960" y="4023360"/>
            <a:ext cx="3657600" cy="566928"/>
          </a:xfrm>
          <a:prstGeom prst="rect">
            <a:avLst/>
          </a:prstGeom>
          <a:noFill/>
          <a:ln/>
        </p:spPr>
        <p:txBody>
          <a:bodyPr wrap="square" lIns="0" tIns="0" rIns="0" bIns="0" rtlCol="0" anchor="ctr"/>
          <a:lstStyle/>
          <a:p>
            <a:pPr indent="0" marL="0">
              <a:buNone/>
            </a:pPr>
            <a:r>
              <a:rPr lang="en-US" sz="1300" dirty="0">
                <a:solidFill>
                  <a:srgbClr val="E6EAF0"/>
                </a:solidFill>
                <a:latin typeface="Courier New" pitchFamily="34" charset="0"/>
                <a:ea typeface="Courier New" pitchFamily="34" charset="-122"/>
                <a:cs typeface="Courier New" pitchFamily="34" charset="-120"/>
              </a:rPr>
              <a:t>T(n) = </a:t>
            </a:r>
            <a:pPr indent="0" marL="0">
              <a:buNone/>
            </a:pPr>
            <a:r>
              <a:rPr lang="en-US" sz="1300" b="1" dirty="0">
                <a:solidFill>
                  <a:srgbClr val="E8871E"/>
                </a:solidFill>
                <a:latin typeface="Courier New" pitchFamily="34" charset="0"/>
                <a:ea typeface="Courier New" pitchFamily="34" charset="-122"/>
                <a:cs typeface="Courier New" pitchFamily="34" charset="-120"/>
              </a:rPr>
              <a:t>O(1) · O(log n) · O(n) · O(n²)</a:t>
            </a:r>
            <a:endParaRPr lang="en-US" sz="1300" dirty="0"/>
          </a:p>
        </p:txBody>
      </p:sp>
      <p:sp>
        <p:nvSpPr>
          <p:cNvPr id="16" name="Shape 14"/>
          <p:cNvSpPr/>
          <p:nvPr/>
        </p:nvSpPr>
        <p:spPr>
          <a:xfrm>
            <a:off x="640080" y="5715000"/>
            <a:ext cx="822960" cy="347472"/>
          </a:xfrm>
          <a:prstGeom prst="roundRect">
            <a:avLst>
              <a:gd name="adj" fmla="val 21053"/>
            </a:avLst>
          </a:prstGeom>
          <a:solidFill>
            <a:srgbClr val="1E2630"/>
          </a:solidFill>
          <a:ln w="12700">
            <a:solidFill>
              <a:srgbClr val="36414D"/>
            </a:solidFill>
            <a:prstDash val="solid"/>
          </a:ln>
        </p:spPr>
      </p:sp>
      <p:sp>
        <p:nvSpPr>
          <p:cNvPr id="17" name="Text 15"/>
          <p:cNvSpPr/>
          <p:nvPr/>
        </p:nvSpPr>
        <p:spPr>
          <a:xfrm>
            <a:off x="640080" y="5715000"/>
            <a:ext cx="822960" cy="347472"/>
          </a:xfrm>
          <a:prstGeom prst="rect">
            <a:avLst/>
          </a:prstGeom>
          <a:noFill/>
          <a:ln/>
        </p:spPr>
        <p:txBody>
          <a:bodyPr wrap="square" lIns="0" tIns="0" rIns="0" bIns="0" rtlCol="0" anchor="ctr"/>
          <a:lstStyle/>
          <a:p>
            <a:pPr algn="ctr" indent="0" marL="0">
              <a:buNone/>
            </a:pPr>
            <a:r>
              <a:rPr lang="en-US" sz="1100" b="1" dirty="0">
                <a:solidFill>
                  <a:srgbClr val="AEB9C6"/>
                </a:solidFill>
                <a:latin typeface="Calibri" pitchFamily="34" charset="0"/>
                <a:ea typeface="Calibri" pitchFamily="34" charset="-122"/>
                <a:cs typeface="Calibri" pitchFamily="34" charset="-120"/>
              </a:rPr>
              <a:t>T-1</a:t>
            </a:r>
            <a:endParaRPr lang="en-US" sz="1100" dirty="0"/>
          </a:p>
        </p:txBody>
      </p:sp>
      <p:sp>
        <p:nvSpPr>
          <p:cNvPr id="18" name="Shape 16"/>
          <p:cNvSpPr/>
          <p:nvPr/>
        </p:nvSpPr>
        <p:spPr>
          <a:xfrm>
            <a:off x="1572768" y="5715000"/>
            <a:ext cx="822960" cy="347472"/>
          </a:xfrm>
          <a:prstGeom prst="roundRect">
            <a:avLst>
              <a:gd name="adj" fmla="val 21053"/>
            </a:avLst>
          </a:prstGeom>
          <a:solidFill>
            <a:srgbClr val="1E2630"/>
          </a:solidFill>
          <a:ln w="12700">
            <a:solidFill>
              <a:srgbClr val="36414D"/>
            </a:solidFill>
            <a:prstDash val="solid"/>
          </a:ln>
        </p:spPr>
      </p:sp>
      <p:sp>
        <p:nvSpPr>
          <p:cNvPr id="19" name="Text 17"/>
          <p:cNvSpPr/>
          <p:nvPr/>
        </p:nvSpPr>
        <p:spPr>
          <a:xfrm>
            <a:off x="1572768" y="5715000"/>
            <a:ext cx="822960" cy="347472"/>
          </a:xfrm>
          <a:prstGeom prst="rect">
            <a:avLst/>
          </a:prstGeom>
          <a:noFill/>
          <a:ln/>
        </p:spPr>
        <p:txBody>
          <a:bodyPr wrap="square" lIns="0" tIns="0" rIns="0" bIns="0" rtlCol="0" anchor="ctr"/>
          <a:lstStyle/>
          <a:p>
            <a:pPr algn="ctr" indent="0" marL="0">
              <a:buNone/>
            </a:pPr>
            <a:r>
              <a:rPr lang="en-US" sz="1100" b="1" dirty="0">
                <a:solidFill>
                  <a:srgbClr val="AEB9C6"/>
                </a:solidFill>
                <a:latin typeface="Calibri" pitchFamily="34" charset="0"/>
                <a:ea typeface="Calibri" pitchFamily="34" charset="-122"/>
                <a:cs typeface="Calibri" pitchFamily="34" charset="-120"/>
              </a:rPr>
              <a:t>R-1</a:t>
            </a:r>
            <a:endParaRPr lang="en-US" sz="1100" dirty="0"/>
          </a:p>
        </p:txBody>
      </p:sp>
      <p:sp>
        <p:nvSpPr>
          <p:cNvPr id="20" name="Shape 18"/>
          <p:cNvSpPr/>
          <p:nvPr/>
        </p:nvSpPr>
        <p:spPr>
          <a:xfrm>
            <a:off x="2505456" y="5715000"/>
            <a:ext cx="822960" cy="347472"/>
          </a:xfrm>
          <a:prstGeom prst="roundRect">
            <a:avLst>
              <a:gd name="adj" fmla="val 21053"/>
            </a:avLst>
          </a:prstGeom>
          <a:solidFill>
            <a:srgbClr val="1E2630"/>
          </a:solidFill>
          <a:ln w="12700">
            <a:solidFill>
              <a:srgbClr val="36414D"/>
            </a:solidFill>
            <a:prstDash val="solid"/>
          </a:ln>
        </p:spPr>
      </p:sp>
      <p:sp>
        <p:nvSpPr>
          <p:cNvPr id="21" name="Text 19"/>
          <p:cNvSpPr/>
          <p:nvPr/>
        </p:nvSpPr>
        <p:spPr>
          <a:xfrm>
            <a:off x="2505456" y="5715000"/>
            <a:ext cx="822960" cy="347472"/>
          </a:xfrm>
          <a:prstGeom prst="rect">
            <a:avLst/>
          </a:prstGeom>
          <a:noFill/>
          <a:ln/>
        </p:spPr>
        <p:txBody>
          <a:bodyPr wrap="square" lIns="0" tIns="0" rIns="0" bIns="0" rtlCol="0" anchor="ctr"/>
          <a:lstStyle/>
          <a:p>
            <a:pPr algn="ctr" indent="0" marL="0">
              <a:buNone/>
            </a:pPr>
            <a:r>
              <a:rPr lang="en-US" sz="1100" b="1" dirty="0">
                <a:solidFill>
                  <a:srgbClr val="AEB9C6"/>
                </a:solidFill>
                <a:latin typeface="Calibri" pitchFamily="34" charset="0"/>
                <a:ea typeface="Calibri" pitchFamily="34" charset="-122"/>
                <a:cs typeface="Calibri" pitchFamily="34" charset="-120"/>
              </a:rPr>
              <a:t>OR-2</a:t>
            </a:r>
            <a:endParaRPr lang="en-US" sz="1100" dirty="0"/>
          </a:p>
        </p:txBody>
      </p:sp>
      <p:sp>
        <p:nvSpPr>
          <p:cNvPr id="22" name="Shape 20"/>
          <p:cNvSpPr/>
          <p:nvPr/>
        </p:nvSpPr>
        <p:spPr>
          <a:xfrm>
            <a:off x="3438144" y="5715000"/>
            <a:ext cx="822960" cy="347472"/>
          </a:xfrm>
          <a:prstGeom prst="roundRect">
            <a:avLst>
              <a:gd name="adj" fmla="val 21053"/>
            </a:avLst>
          </a:prstGeom>
          <a:solidFill>
            <a:srgbClr val="1E2630"/>
          </a:solidFill>
          <a:ln w="12700">
            <a:solidFill>
              <a:srgbClr val="36414D"/>
            </a:solidFill>
            <a:prstDash val="solid"/>
          </a:ln>
        </p:spPr>
      </p:sp>
      <p:sp>
        <p:nvSpPr>
          <p:cNvPr id="23" name="Text 21"/>
          <p:cNvSpPr/>
          <p:nvPr/>
        </p:nvSpPr>
        <p:spPr>
          <a:xfrm>
            <a:off x="3438144" y="5715000"/>
            <a:ext cx="822960" cy="347472"/>
          </a:xfrm>
          <a:prstGeom prst="rect">
            <a:avLst/>
          </a:prstGeom>
          <a:noFill/>
          <a:ln/>
        </p:spPr>
        <p:txBody>
          <a:bodyPr wrap="square" lIns="0" tIns="0" rIns="0" bIns="0" rtlCol="0" anchor="ctr"/>
          <a:lstStyle/>
          <a:p>
            <a:pPr algn="ctr" indent="0" marL="0">
              <a:buNone/>
            </a:pPr>
            <a:r>
              <a:rPr lang="en-US" sz="1100" b="1" dirty="0">
                <a:solidFill>
                  <a:srgbClr val="AEB9C6"/>
                </a:solidFill>
                <a:latin typeface="Calibri" pitchFamily="34" charset="0"/>
                <a:ea typeface="Calibri" pitchFamily="34" charset="-122"/>
                <a:cs typeface="Calibri" pitchFamily="34" charset="-120"/>
              </a:rPr>
              <a:t>VL-1</a:t>
            </a:r>
            <a:endParaRPr lang="en-US" sz="1100" dirty="0"/>
          </a:p>
        </p:txBody>
      </p:sp>
      <p:sp>
        <p:nvSpPr>
          <p:cNvPr id="24" name="Shape 22"/>
          <p:cNvSpPr/>
          <p:nvPr/>
        </p:nvSpPr>
        <p:spPr>
          <a:xfrm>
            <a:off x="4370832" y="5715000"/>
            <a:ext cx="822960" cy="347472"/>
          </a:xfrm>
          <a:prstGeom prst="roundRect">
            <a:avLst>
              <a:gd name="adj" fmla="val 21053"/>
            </a:avLst>
          </a:prstGeom>
          <a:solidFill>
            <a:srgbClr val="1E2630"/>
          </a:solidFill>
          <a:ln w="12700">
            <a:solidFill>
              <a:srgbClr val="36414D"/>
            </a:solidFill>
            <a:prstDash val="solid"/>
          </a:ln>
        </p:spPr>
      </p:sp>
      <p:sp>
        <p:nvSpPr>
          <p:cNvPr id="25" name="Text 23"/>
          <p:cNvSpPr/>
          <p:nvPr/>
        </p:nvSpPr>
        <p:spPr>
          <a:xfrm>
            <a:off x="4370832" y="5715000"/>
            <a:ext cx="822960" cy="347472"/>
          </a:xfrm>
          <a:prstGeom prst="rect">
            <a:avLst/>
          </a:prstGeom>
          <a:noFill/>
          <a:ln/>
        </p:spPr>
        <p:txBody>
          <a:bodyPr wrap="square" lIns="0" tIns="0" rIns="0" bIns="0" rtlCol="0" anchor="ctr"/>
          <a:lstStyle/>
          <a:p>
            <a:pPr algn="ctr" indent="0" marL="0">
              <a:buNone/>
            </a:pPr>
            <a:r>
              <a:rPr lang="en-US" sz="1100" b="1" dirty="0">
                <a:solidFill>
                  <a:srgbClr val="AEB9C6"/>
                </a:solidFill>
                <a:latin typeface="Calibri" pitchFamily="34" charset="0"/>
                <a:ea typeface="Calibri" pitchFamily="34" charset="-122"/>
                <a:cs typeface="Calibri" pitchFamily="34" charset="-120"/>
              </a:rPr>
              <a:t>VL-2</a:t>
            </a:r>
            <a:endParaRPr lang="en-US" sz="1100" dirty="0"/>
          </a:p>
        </p:txBody>
      </p:sp>
      <p:sp>
        <p:nvSpPr>
          <p:cNvPr id="26" name="Text 24"/>
          <p:cNvSpPr/>
          <p:nvPr/>
        </p:nvSpPr>
        <p:spPr>
          <a:xfrm>
            <a:off x="640080" y="6217920"/>
            <a:ext cx="7315200" cy="274320"/>
          </a:xfrm>
          <a:prstGeom prst="rect">
            <a:avLst/>
          </a:prstGeom>
          <a:noFill/>
          <a:ln/>
        </p:spPr>
        <p:txBody>
          <a:bodyPr wrap="square" lIns="0" tIns="0" rIns="0" bIns="0" rtlCol="0" anchor="t"/>
          <a:lstStyle/>
          <a:p>
            <a:pPr indent="0" marL="0">
              <a:buNone/>
            </a:pPr>
            <a:r>
              <a:rPr lang="en-US" sz="1000" i="1" dirty="0">
                <a:solidFill>
                  <a:srgbClr val="6B7784"/>
                </a:solidFill>
                <a:latin typeface="Calibri" pitchFamily="34" charset="0"/>
                <a:ea typeface="Calibri" pitchFamily="34" charset="-122"/>
                <a:cs typeface="Calibri" pitchFamily="34" charset="-120"/>
              </a:rPr>
              <a:t>Prescribed readings &amp; video lectures for this session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SESSION FLOW</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What we will cover today</a:t>
            </a:r>
            <a:endParaRPr lang="en-US" sz="3000" dirty="0"/>
          </a:p>
        </p:txBody>
      </p:sp>
      <p:sp>
        <p:nvSpPr>
          <p:cNvPr id="4" name="Shape 2"/>
          <p:cNvSpPr/>
          <p:nvPr/>
        </p:nvSpPr>
        <p:spPr>
          <a:xfrm>
            <a:off x="640080" y="1325880"/>
            <a:ext cx="5303520" cy="1024128"/>
          </a:xfrm>
          <a:prstGeom prst="roundRect">
            <a:avLst>
              <a:gd name="adj" fmla="val 5357"/>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5" name="Shape 3"/>
          <p:cNvSpPr/>
          <p:nvPr/>
        </p:nvSpPr>
        <p:spPr>
          <a:xfrm>
            <a:off x="914400" y="1609344"/>
            <a:ext cx="457200" cy="457200"/>
          </a:xfrm>
          <a:prstGeom prst="ellipse">
            <a:avLst/>
          </a:prstGeom>
          <a:solidFill>
            <a:srgbClr val="1B2129"/>
          </a:solidFill>
          <a:ln/>
        </p:spPr>
      </p:sp>
      <p:sp>
        <p:nvSpPr>
          <p:cNvPr id="6" name="Text 4"/>
          <p:cNvSpPr/>
          <p:nvPr/>
        </p:nvSpPr>
        <p:spPr>
          <a:xfrm>
            <a:off x="914400" y="1609344"/>
            <a:ext cx="457200" cy="457200"/>
          </a:xfrm>
          <a:prstGeom prst="rect">
            <a:avLst/>
          </a:prstGeom>
          <a:noFill/>
          <a:ln/>
        </p:spPr>
        <p:txBody>
          <a:bodyPr wrap="square" lIns="0" tIns="0" rIns="0" bIns="0" rtlCol="0" anchor="ctr"/>
          <a:lstStyle/>
          <a:p>
            <a:pPr algn="ctr" indent="0" marL="0">
              <a:buNone/>
            </a:pPr>
            <a:r>
              <a:rPr lang="en-US" sz="1500" b="1" dirty="0">
                <a:solidFill>
                  <a:srgbClr val="E8871E"/>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536192" y="1527048"/>
            <a:ext cx="4206240" cy="292608"/>
          </a:xfrm>
          <a:prstGeom prst="rect">
            <a:avLst/>
          </a:prstGeom>
          <a:noFill/>
          <a:ln/>
        </p:spPr>
        <p:txBody>
          <a:bodyPr wrap="square" lIns="0" tIns="0" rIns="0" bIns="0" rtlCol="0" anchor="t"/>
          <a:lstStyle/>
          <a:p>
            <a:pPr indent="0" marL="0">
              <a:buNone/>
            </a:pPr>
            <a:r>
              <a:rPr lang="en-US" sz="1500" b="1" dirty="0">
                <a:solidFill>
                  <a:srgbClr val="12161C"/>
                </a:solidFill>
                <a:latin typeface="Calibri" pitchFamily="34" charset="0"/>
                <a:ea typeface="Calibri" pitchFamily="34" charset="-122"/>
                <a:cs typeface="Calibri" pitchFamily="34" charset="-120"/>
              </a:rPr>
              <a:t>Algorithms &amp; their characteristics</a:t>
            </a:r>
            <a:endParaRPr lang="en-US" sz="1500" dirty="0"/>
          </a:p>
        </p:txBody>
      </p:sp>
      <p:sp>
        <p:nvSpPr>
          <p:cNvPr id="8" name="Text 6"/>
          <p:cNvSpPr/>
          <p:nvPr/>
        </p:nvSpPr>
        <p:spPr>
          <a:xfrm>
            <a:off x="1536192" y="1856232"/>
            <a:ext cx="4206240" cy="310896"/>
          </a:xfrm>
          <a:prstGeom prst="rect">
            <a:avLst/>
          </a:prstGeom>
          <a:noFill/>
          <a:ln/>
        </p:spPr>
        <p:txBody>
          <a:bodyPr wrap="square" lIns="0" tIns="0" rIns="0" bIns="0" rtlCol="0" anchor="t"/>
          <a:lstStyle/>
          <a:p>
            <a:pPr indent="0" marL="0">
              <a:buNone/>
            </a:pPr>
            <a:r>
              <a:rPr lang="en-US" sz="1200" dirty="0">
                <a:solidFill>
                  <a:srgbClr val="6B7784"/>
                </a:solidFill>
                <a:latin typeface="Calibri" pitchFamily="34" charset="0"/>
                <a:ea typeface="Calibri" pitchFamily="34" charset="-122"/>
                <a:cs typeface="Calibri" pitchFamily="34" charset="-120"/>
              </a:rPr>
              <a:t>Definition, properties, algorithm vs program</a:t>
            </a:r>
            <a:endParaRPr lang="en-US" sz="1200" dirty="0"/>
          </a:p>
        </p:txBody>
      </p:sp>
      <p:sp>
        <p:nvSpPr>
          <p:cNvPr id="9" name="Shape 7"/>
          <p:cNvSpPr/>
          <p:nvPr/>
        </p:nvSpPr>
        <p:spPr>
          <a:xfrm>
            <a:off x="6245352" y="1325880"/>
            <a:ext cx="5303520" cy="1024128"/>
          </a:xfrm>
          <a:prstGeom prst="roundRect">
            <a:avLst>
              <a:gd name="adj" fmla="val 5357"/>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10" name="Shape 8"/>
          <p:cNvSpPr/>
          <p:nvPr/>
        </p:nvSpPr>
        <p:spPr>
          <a:xfrm>
            <a:off x="6519672" y="1609344"/>
            <a:ext cx="457200" cy="457200"/>
          </a:xfrm>
          <a:prstGeom prst="ellipse">
            <a:avLst/>
          </a:prstGeom>
          <a:solidFill>
            <a:srgbClr val="1B2129"/>
          </a:solidFill>
          <a:ln/>
        </p:spPr>
      </p:sp>
      <p:sp>
        <p:nvSpPr>
          <p:cNvPr id="11" name="Text 9"/>
          <p:cNvSpPr/>
          <p:nvPr/>
        </p:nvSpPr>
        <p:spPr>
          <a:xfrm>
            <a:off x="6519672" y="1609344"/>
            <a:ext cx="457200" cy="457200"/>
          </a:xfrm>
          <a:prstGeom prst="rect">
            <a:avLst/>
          </a:prstGeom>
          <a:noFill/>
          <a:ln/>
        </p:spPr>
        <p:txBody>
          <a:bodyPr wrap="square" lIns="0" tIns="0" rIns="0" bIns="0" rtlCol="0" anchor="ctr"/>
          <a:lstStyle/>
          <a:p>
            <a:pPr algn="ctr" indent="0" marL="0">
              <a:buNone/>
            </a:pPr>
            <a:r>
              <a:rPr lang="en-US" sz="1500" b="1" dirty="0">
                <a:solidFill>
                  <a:srgbClr val="E8871E"/>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7141464" y="1527048"/>
            <a:ext cx="4206240" cy="292608"/>
          </a:xfrm>
          <a:prstGeom prst="rect">
            <a:avLst/>
          </a:prstGeom>
          <a:noFill/>
          <a:ln/>
        </p:spPr>
        <p:txBody>
          <a:bodyPr wrap="square" lIns="0" tIns="0" rIns="0" bIns="0" rtlCol="0" anchor="t"/>
          <a:lstStyle/>
          <a:p>
            <a:pPr indent="0" marL="0">
              <a:buNone/>
            </a:pPr>
            <a:r>
              <a:rPr lang="en-US" sz="1500" b="1" dirty="0">
                <a:solidFill>
                  <a:srgbClr val="12161C"/>
                </a:solidFill>
                <a:latin typeface="Calibri" pitchFamily="34" charset="0"/>
                <a:ea typeface="Calibri" pitchFamily="34" charset="-122"/>
                <a:cs typeface="Calibri" pitchFamily="34" charset="-120"/>
              </a:rPr>
              <a:t>The need for algorithm analysis</a:t>
            </a:r>
            <a:endParaRPr lang="en-US" sz="1500" dirty="0"/>
          </a:p>
        </p:txBody>
      </p:sp>
      <p:sp>
        <p:nvSpPr>
          <p:cNvPr id="13" name="Text 11"/>
          <p:cNvSpPr/>
          <p:nvPr/>
        </p:nvSpPr>
        <p:spPr>
          <a:xfrm>
            <a:off x="7141464" y="1856232"/>
            <a:ext cx="4206240" cy="310896"/>
          </a:xfrm>
          <a:prstGeom prst="rect">
            <a:avLst/>
          </a:prstGeom>
          <a:noFill/>
          <a:ln/>
        </p:spPr>
        <p:txBody>
          <a:bodyPr wrap="square" lIns="0" tIns="0" rIns="0" bIns="0" rtlCol="0" anchor="t"/>
          <a:lstStyle/>
          <a:p>
            <a:pPr indent="0" marL="0">
              <a:buNone/>
            </a:pPr>
            <a:r>
              <a:rPr lang="en-US" sz="1200" dirty="0">
                <a:solidFill>
                  <a:srgbClr val="6B7784"/>
                </a:solidFill>
                <a:latin typeface="Calibri" pitchFamily="34" charset="0"/>
                <a:ea typeface="Calibri" pitchFamily="34" charset="-122"/>
                <a:cs typeface="Calibri" pitchFamily="34" charset="-120"/>
              </a:rPr>
              <a:t>A priori vs a posteriori, the RAM cost model</a:t>
            </a:r>
            <a:endParaRPr lang="en-US" sz="1200" dirty="0"/>
          </a:p>
        </p:txBody>
      </p:sp>
      <p:sp>
        <p:nvSpPr>
          <p:cNvPr id="14" name="Shape 12"/>
          <p:cNvSpPr/>
          <p:nvPr/>
        </p:nvSpPr>
        <p:spPr>
          <a:xfrm>
            <a:off x="640080" y="2532888"/>
            <a:ext cx="5303520" cy="1024128"/>
          </a:xfrm>
          <a:prstGeom prst="roundRect">
            <a:avLst>
              <a:gd name="adj" fmla="val 5357"/>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15" name="Shape 13"/>
          <p:cNvSpPr/>
          <p:nvPr/>
        </p:nvSpPr>
        <p:spPr>
          <a:xfrm>
            <a:off x="914400" y="2816352"/>
            <a:ext cx="457200" cy="457200"/>
          </a:xfrm>
          <a:prstGeom prst="ellipse">
            <a:avLst/>
          </a:prstGeom>
          <a:solidFill>
            <a:srgbClr val="1B2129"/>
          </a:solidFill>
          <a:ln/>
        </p:spPr>
      </p:sp>
      <p:sp>
        <p:nvSpPr>
          <p:cNvPr id="16" name="Text 14"/>
          <p:cNvSpPr/>
          <p:nvPr/>
        </p:nvSpPr>
        <p:spPr>
          <a:xfrm>
            <a:off x="914400" y="2816352"/>
            <a:ext cx="457200" cy="457200"/>
          </a:xfrm>
          <a:prstGeom prst="rect">
            <a:avLst/>
          </a:prstGeom>
          <a:noFill/>
          <a:ln/>
        </p:spPr>
        <p:txBody>
          <a:bodyPr wrap="square" lIns="0" tIns="0" rIns="0" bIns="0" rtlCol="0" anchor="ctr"/>
          <a:lstStyle/>
          <a:p>
            <a:pPr algn="ctr" indent="0" marL="0">
              <a:buNone/>
            </a:pPr>
            <a:r>
              <a:rPr lang="en-US" sz="1500" b="1" dirty="0">
                <a:solidFill>
                  <a:srgbClr val="E8871E"/>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536192" y="2734056"/>
            <a:ext cx="4206240" cy="292608"/>
          </a:xfrm>
          <a:prstGeom prst="rect">
            <a:avLst/>
          </a:prstGeom>
          <a:noFill/>
          <a:ln/>
        </p:spPr>
        <p:txBody>
          <a:bodyPr wrap="square" lIns="0" tIns="0" rIns="0" bIns="0" rtlCol="0" anchor="t"/>
          <a:lstStyle/>
          <a:p>
            <a:pPr indent="0" marL="0">
              <a:buNone/>
            </a:pPr>
            <a:r>
              <a:rPr lang="en-US" sz="1500" b="1" dirty="0">
                <a:solidFill>
                  <a:srgbClr val="12161C"/>
                </a:solidFill>
                <a:latin typeface="Calibri" pitchFamily="34" charset="0"/>
                <a:ea typeface="Calibri" pitchFamily="34" charset="-122"/>
                <a:cs typeface="Calibri" pitchFamily="34" charset="-120"/>
              </a:rPr>
              <a:t>Time and space complexity</a:t>
            </a:r>
            <a:endParaRPr lang="en-US" sz="1500" dirty="0"/>
          </a:p>
        </p:txBody>
      </p:sp>
      <p:sp>
        <p:nvSpPr>
          <p:cNvPr id="18" name="Text 16"/>
          <p:cNvSpPr/>
          <p:nvPr/>
        </p:nvSpPr>
        <p:spPr>
          <a:xfrm>
            <a:off x="1536192" y="3063240"/>
            <a:ext cx="4206240" cy="310896"/>
          </a:xfrm>
          <a:prstGeom prst="rect">
            <a:avLst/>
          </a:prstGeom>
          <a:noFill/>
          <a:ln/>
        </p:spPr>
        <p:txBody>
          <a:bodyPr wrap="square" lIns="0" tIns="0" rIns="0" bIns="0" rtlCol="0" anchor="t"/>
          <a:lstStyle/>
          <a:p>
            <a:pPr indent="0" marL="0">
              <a:buNone/>
            </a:pPr>
            <a:r>
              <a:rPr lang="en-US" sz="1200" dirty="0">
                <a:solidFill>
                  <a:srgbClr val="6B7784"/>
                </a:solidFill>
                <a:latin typeface="Calibri" pitchFamily="34" charset="0"/>
                <a:ea typeface="Calibri" pitchFamily="34" charset="-122"/>
                <a:cs typeface="Calibri" pitchFamily="34" charset="-120"/>
              </a:rPr>
              <a:t>Frequency count, S(P) = C + Sₚ, trade-offs</a:t>
            </a:r>
            <a:endParaRPr lang="en-US" sz="1200" dirty="0"/>
          </a:p>
        </p:txBody>
      </p:sp>
      <p:sp>
        <p:nvSpPr>
          <p:cNvPr id="19" name="Shape 17"/>
          <p:cNvSpPr/>
          <p:nvPr/>
        </p:nvSpPr>
        <p:spPr>
          <a:xfrm>
            <a:off x="6245352" y="2532888"/>
            <a:ext cx="5303520" cy="1024128"/>
          </a:xfrm>
          <a:prstGeom prst="roundRect">
            <a:avLst>
              <a:gd name="adj" fmla="val 5357"/>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20" name="Shape 18"/>
          <p:cNvSpPr/>
          <p:nvPr/>
        </p:nvSpPr>
        <p:spPr>
          <a:xfrm>
            <a:off x="6519672" y="2816352"/>
            <a:ext cx="457200" cy="457200"/>
          </a:xfrm>
          <a:prstGeom prst="ellipse">
            <a:avLst/>
          </a:prstGeom>
          <a:solidFill>
            <a:srgbClr val="1B2129"/>
          </a:solidFill>
          <a:ln/>
        </p:spPr>
      </p:sp>
      <p:sp>
        <p:nvSpPr>
          <p:cNvPr id="21" name="Text 19"/>
          <p:cNvSpPr/>
          <p:nvPr/>
        </p:nvSpPr>
        <p:spPr>
          <a:xfrm>
            <a:off x="6519672" y="2816352"/>
            <a:ext cx="457200" cy="457200"/>
          </a:xfrm>
          <a:prstGeom prst="rect">
            <a:avLst/>
          </a:prstGeom>
          <a:noFill/>
          <a:ln/>
        </p:spPr>
        <p:txBody>
          <a:bodyPr wrap="square" lIns="0" tIns="0" rIns="0" bIns="0" rtlCol="0" anchor="ctr"/>
          <a:lstStyle/>
          <a:p>
            <a:pPr algn="ctr" indent="0" marL="0">
              <a:buNone/>
            </a:pPr>
            <a:r>
              <a:rPr lang="en-US" sz="1500" b="1" dirty="0">
                <a:solidFill>
                  <a:srgbClr val="E8871E"/>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7141464" y="2734056"/>
            <a:ext cx="4206240" cy="292608"/>
          </a:xfrm>
          <a:prstGeom prst="rect">
            <a:avLst/>
          </a:prstGeom>
          <a:noFill/>
          <a:ln/>
        </p:spPr>
        <p:txBody>
          <a:bodyPr wrap="square" lIns="0" tIns="0" rIns="0" bIns="0" rtlCol="0" anchor="t"/>
          <a:lstStyle/>
          <a:p>
            <a:pPr indent="0" marL="0">
              <a:buNone/>
            </a:pPr>
            <a:r>
              <a:rPr lang="en-US" sz="1500" b="1" dirty="0">
                <a:solidFill>
                  <a:srgbClr val="12161C"/>
                </a:solidFill>
                <a:latin typeface="Calibri" pitchFamily="34" charset="0"/>
                <a:ea typeface="Calibri" pitchFamily="34" charset="-122"/>
                <a:cs typeface="Calibri" pitchFamily="34" charset="-120"/>
              </a:rPr>
              <a:t>Best, average and worst case</a:t>
            </a:r>
            <a:endParaRPr lang="en-US" sz="1500" dirty="0"/>
          </a:p>
        </p:txBody>
      </p:sp>
      <p:sp>
        <p:nvSpPr>
          <p:cNvPr id="23" name="Text 21"/>
          <p:cNvSpPr/>
          <p:nvPr/>
        </p:nvSpPr>
        <p:spPr>
          <a:xfrm>
            <a:off x="7141464" y="3063240"/>
            <a:ext cx="4206240" cy="310896"/>
          </a:xfrm>
          <a:prstGeom prst="rect">
            <a:avLst/>
          </a:prstGeom>
          <a:noFill/>
          <a:ln/>
        </p:spPr>
        <p:txBody>
          <a:bodyPr wrap="square" lIns="0" tIns="0" rIns="0" bIns="0" rtlCol="0" anchor="t"/>
          <a:lstStyle/>
          <a:p>
            <a:pPr indent="0" marL="0">
              <a:buNone/>
            </a:pPr>
            <a:r>
              <a:rPr lang="en-US" sz="1200" dirty="0">
                <a:solidFill>
                  <a:srgbClr val="6B7784"/>
                </a:solidFill>
                <a:latin typeface="Calibri" pitchFamily="34" charset="0"/>
                <a:ea typeface="Calibri" pitchFamily="34" charset="-122"/>
                <a:cs typeface="Calibri" pitchFamily="34" charset="-120"/>
              </a:rPr>
              <a:t>Three faces of the same algorithm</a:t>
            </a:r>
            <a:endParaRPr lang="en-US" sz="1200" dirty="0"/>
          </a:p>
        </p:txBody>
      </p:sp>
      <p:sp>
        <p:nvSpPr>
          <p:cNvPr id="24" name="Shape 22"/>
          <p:cNvSpPr/>
          <p:nvPr/>
        </p:nvSpPr>
        <p:spPr>
          <a:xfrm>
            <a:off x="640080" y="3739896"/>
            <a:ext cx="5303520" cy="1024128"/>
          </a:xfrm>
          <a:prstGeom prst="roundRect">
            <a:avLst>
              <a:gd name="adj" fmla="val 5357"/>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25" name="Shape 23"/>
          <p:cNvSpPr/>
          <p:nvPr/>
        </p:nvSpPr>
        <p:spPr>
          <a:xfrm>
            <a:off x="914400" y="4023360"/>
            <a:ext cx="457200" cy="457200"/>
          </a:xfrm>
          <a:prstGeom prst="ellipse">
            <a:avLst/>
          </a:prstGeom>
          <a:solidFill>
            <a:srgbClr val="1B2129"/>
          </a:solidFill>
          <a:ln/>
        </p:spPr>
      </p:sp>
      <p:sp>
        <p:nvSpPr>
          <p:cNvPr id="26" name="Text 24"/>
          <p:cNvSpPr/>
          <p:nvPr/>
        </p:nvSpPr>
        <p:spPr>
          <a:xfrm>
            <a:off x="914400" y="4023360"/>
            <a:ext cx="457200" cy="457200"/>
          </a:xfrm>
          <a:prstGeom prst="rect">
            <a:avLst/>
          </a:prstGeom>
          <a:noFill/>
          <a:ln/>
        </p:spPr>
        <p:txBody>
          <a:bodyPr wrap="square" lIns="0" tIns="0" rIns="0" bIns="0" rtlCol="0" anchor="ctr"/>
          <a:lstStyle/>
          <a:p>
            <a:pPr algn="ctr" indent="0" marL="0">
              <a:buNone/>
            </a:pPr>
            <a:r>
              <a:rPr lang="en-US" sz="1500" b="1" dirty="0">
                <a:solidFill>
                  <a:srgbClr val="E8871E"/>
                </a:solidFill>
                <a:latin typeface="Calibri" pitchFamily="34" charset="0"/>
                <a:ea typeface="Calibri" pitchFamily="34" charset="-122"/>
                <a:cs typeface="Calibri" pitchFamily="34" charset="-120"/>
              </a:rPr>
              <a:t>5</a:t>
            </a:r>
            <a:endParaRPr lang="en-US" sz="1500" dirty="0"/>
          </a:p>
        </p:txBody>
      </p:sp>
      <p:sp>
        <p:nvSpPr>
          <p:cNvPr id="27" name="Text 25"/>
          <p:cNvSpPr/>
          <p:nvPr/>
        </p:nvSpPr>
        <p:spPr>
          <a:xfrm>
            <a:off x="1536192" y="3941064"/>
            <a:ext cx="4206240" cy="292608"/>
          </a:xfrm>
          <a:prstGeom prst="rect">
            <a:avLst/>
          </a:prstGeom>
          <a:noFill/>
          <a:ln/>
        </p:spPr>
        <p:txBody>
          <a:bodyPr wrap="square" lIns="0" tIns="0" rIns="0" bIns="0" rtlCol="0" anchor="t"/>
          <a:lstStyle/>
          <a:p>
            <a:pPr indent="0" marL="0">
              <a:buNone/>
            </a:pPr>
            <a:r>
              <a:rPr lang="en-US" sz="1500" b="1" dirty="0">
                <a:solidFill>
                  <a:srgbClr val="12161C"/>
                </a:solidFill>
                <a:latin typeface="Calibri" pitchFamily="34" charset="0"/>
                <a:ea typeface="Calibri" pitchFamily="34" charset="-122"/>
                <a:cs typeface="Calibri" pitchFamily="34" charset="-120"/>
              </a:rPr>
              <a:t>Asymptotic notation: O, Ω, Θ</a:t>
            </a:r>
            <a:endParaRPr lang="en-US" sz="1500" dirty="0"/>
          </a:p>
        </p:txBody>
      </p:sp>
      <p:sp>
        <p:nvSpPr>
          <p:cNvPr id="28" name="Text 26"/>
          <p:cNvSpPr/>
          <p:nvPr/>
        </p:nvSpPr>
        <p:spPr>
          <a:xfrm>
            <a:off x="1536192" y="4270248"/>
            <a:ext cx="4206240" cy="310896"/>
          </a:xfrm>
          <a:prstGeom prst="rect">
            <a:avLst/>
          </a:prstGeom>
          <a:noFill/>
          <a:ln/>
        </p:spPr>
        <p:txBody>
          <a:bodyPr wrap="square" lIns="0" tIns="0" rIns="0" bIns="0" rtlCol="0" anchor="t"/>
          <a:lstStyle/>
          <a:p>
            <a:pPr indent="0" marL="0">
              <a:buNone/>
            </a:pPr>
            <a:r>
              <a:rPr lang="en-US" sz="1200" dirty="0">
                <a:solidFill>
                  <a:srgbClr val="6B7784"/>
                </a:solidFill>
                <a:latin typeface="Calibri" pitchFamily="34" charset="0"/>
                <a:ea typeface="Calibri" pitchFamily="34" charset="-122"/>
                <a:cs typeface="Calibri" pitchFamily="34" charset="-120"/>
              </a:rPr>
              <a:t>Formal definitions and worked proofs</a:t>
            </a:r>
            <a:endParaRPr lang="en-US" sz="1200" dirty="0"/>
          </a:p>
        </p:txBody>
      </p:sp>
      <p:sp>
        <p:nvSpPr>
          <p:cNvPr id="29" name="Shape 27"/>
          <p:cNvSpPr/>
          <p:nvPr/>
        </p:nvSpPr>
        <p:spPr>
          <a:xfrm>
            <a:off x="6245352" y="3739896"/>
            <a:ext cx="5303520" cy="1024128"/>
          </a:xfrm>
          <a:prstGeom prst="roundRect">
            <a:avLst>
              <a:gd name="adj" fmla="val 5357"/>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30" name="Shape 28"/>
          <p:cNvSpPr/>
          <p:nvPr/>
        </p:nvSpPr>
        <p:spPr>
          <a:xfrm>
            <a:off x="6519672" y="4023360"/>
            <a:ext cx="457200" cy="457200"/>
          </a:xfrm>
          <a:prstGeom prst="ellipse">
            <a:avLst/>
          </a:prstGeom>
          <a:solidFill>
            <a:srgbClr val="1B2129"/>
          </a:solidFill>
          <a:ln/>
        </p:spPr>
      </p:sp>
      <p:sp>
        <p:nvSpPr>
          <p:cNvPr id="31" name="Text 29"/>
          <p:cNvSpPr/>
          <p:nvPr/>
        </p:nvSpPr>
        <p:spPr>
          <a:xfrm>
            <a:off x="6519672" y="4023360"/>
            <a:ext cx="457200" cy="457200"/>
          </a:xfrm>
          <a:prstGeom prst="rect">
            <a:avLst/>
          </a:prstGeom>
          <a:noFill/>
          <a:ln/>
        </p:spPr>
        <p:txBody>
          <a:bodyPr wrap="square" lIns="0" tIns="0" rIns="0" bIns="0" rtlCol="0" anchor="ctr"/>
          <a:lstStyle/>
          <a:p>
            <a:pPr algn="ctr" indent="0" marL="0">
              <a:buNone/>
            </a:pPr>
            <a:r>
              <a:rPr lang="en-US" sz="1500" b="1" dirty="0">
                <a:solidFill>
                  <a:srgbClr val="E8871E"/>
                </a:solidFill>
                <a:latin typeface="Calibri" pitchFamily="34" charset="0"/>
                <a:ea typeface="Calibri" pitchFamily="34" charset="-122"/>
                <a:cs typeface="Calibri" pitchFamily="34" charset="-120"/>
              </a:rPr>
              <a:t>6</a:t>
            </a:r>
            <a:endParaRPr lang="en-US" sz="1500" dirty="0"/>
          </a:p>
        </p:txBody>
      </p:sp>
      <p:sp>
        <p:nvSpPr>
          <p:cNvPr id="32" name="Text 30"/>
          <p:cNvSpPr/>
          <p:nvPr/>
        </p:nvSpPr>
        <p:spPr>
          <a:xfrm>
            <a:off x="7141464" y="3941064"/>
            <a:ext cx="4206240" cy="292608"/>
          </a:xfrm>
          <a:prstGeom prst="rect">
            <a:avLst/>
          </a:prstGeom>
          <a:noFill/>
          <a:ln/>
        </p:spPr>
        <p:txBody>
          <a:bodyPr wrap="square" lIns="0" tIns="0" rIns="0" bIns="0" rtlCol="0" anchor="t"/>
          <a:lstStyle/>
          <a:p>
            <a:pPr indent="0" marL="0">
              <a:buNone/>
            </a:pPr>
            <a:r>
              <a:rPr lang="en-US" sz="1500" b="1" dirty="0">
                <a:solidFill>
                  <a:srgbClr val="12161C"/>
                </a:solidFill>
                <a:latin typeface="Calibri" pitchFamily="34" charset="0"/>
                <a:ea typeface="Calibri" pitchFamily="34" charset="-122"/>
                <a:cs typeface="Calibri" pitchFamily="34" charset="-120"/>
              </a:rPr>
              <a:t>Case study: Linear vs Binary Search</a:t>
            </a:r>
            <a:endParaRPr lang="en-US" sz="1500" dirty="0"/>
          </a:p>
        </p:txBody>
      </p:sp>
      <p:sp>
        <p:nvSpPr>
          <p:cNvPr id="33" name="Text 31"/>
          <p:cNvSpPr/>
          <p:nvPr/>
        </p:nvSpPr>
        <p:spPr>
          <a:xfrm>
            <a:off x="7141464" y="4270248"/>
            <a:ext cx="4206240" cy="310896"/>
          </a:xfrm>
          <a:prstGeom prst="rect">
            <a:avLst/>
          </a:prstGeom>
          <a:noFill/>
          <a:ln/>
        </p:spPr>
        <p:txBody>
          <a:bodyPr wrap="square" lIns="0" tIns="0" rIns="0" bIns="0" rtlCol="0" anchor="t"/>
          <a:lstStyle/>
          <a:p>
            <a:pPr indent="0" marL="0">
              <a:buNone/>
            </a:pPr>
            <a:r>
              <a:rPr lang="en-US" sz="1200" dirty="0">
                <a:solidFill>
                  <a:srgbClr val="6B7784"/>
                </a:solidFill>
                <a:latin typeface="Calibri" pitchFamily="34" charset="0"/>
                <a:ea typeface="Calibri" pitchFamily="34" charset="-122"/>
                <a:cs typeface="Calibri" pitchFamily="34" charset="-120"/>
              </a:rPr>
              <a:t>O(n) against O(log n) on real numbers</a:t>
            </a:r>
            <a:endParaRPr lang="en-US" sz="1200" dirty="0"/>
          </a:p>
        </p:txBody>
      </p:sp>
      <p:sp>
        <p:nvSpPr>
          <p:cNvPr id="34" name="Shape 32"/>
          <p:cNvSpPr/>
          <p:nvPr/>
        </p:nvSpPr>
        <p:spPr>
          <a:xfrm>
            <a:off x="640080" y="5029200"/>
            <a:ext cx="10908792" cy="777240"/>
          </a:xfrm>
          <a:prstGeom prst="roundRect">
            <a:avLst>
              <a:gd name="adj" fmla="val 7059"/>
            </a:avLst>
          </a:prstGeom>
          <a:solidFill>
            <a:srgbClr val="DFEEF0"/>
          </a:solidFill>
          <a:ln w="12700">
            <a:solidFill>
              <a:srgbClr val="DFEEF0"/>
            </a:solidFill>
            <a:prstDash val="solid"/>
          </a:ln>
          <a:effectLst>
            <a:outerShdw sx="100000" sy="100000" kx="0" ky="0" algn="bl" rotWithShape="0" blurRad="127000" dist="25400" dir="5400000">
              <a:srgbClr val="9AA6B2">
                <a:alpha val="22000"/>
              </a:srgbClr>
            </a:outerShdw>
          </a:effectLst>
        </p:spPr>
      </p:sp>
      <p:sp>
        <p:nvSpPr>
          <p:cNvPr id="35" name="Text 33"/>
          <p:cNvSpPr/>
          <p:nvPr/>
        </p:nvSpPr>
        <p:spPr>
          <a:xfrm>
            <a:off x="914400" y="5029200"/>
            <a:ext cx="10332720" cy="777240"/>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Method:  </a:t>
            </a:r>
            <a:pPr indent="0" marL="0">
              <a:buNone/>
            </a:pPr>
            <a:r>
              <a:rPr lang="en-US" sz="1300" dirty="0">
                <a:solidFill>
                  <a:srgbClr val="3A4551"/>
                </a:solidFill>
                <a:latin typeface="Calibri" pitchFamily="34" charset="0"/>
                <a:ea typeface="Calibri" pitchFamily="34" charset="-122"/>
                <a:cs typeface="Calibri" pitchFamily="34" charset="-120"/>
              </a:rPr>
              <a:t>interactive lecture  ·  board illustrations of loops and recursion trees  ·  numerical examples  ·  classroom discussion  ·  problem-solving session in the last 10 minutes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LEARNING OUTCOMES</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By the end of this session, you will be able to</a:t>
            </a:r>
            <a:endParaRPr lang="en-US" sz="3000" dirty="0"/>
          </a:p>
        </p:txBody>
      </p:sp>
      <p:sp>
        <p:nvSpPr>
          <p:cNvPr id="4" name="Shape 2"/>
          <p:cNvSpPr/>
          <p:nvPr/>
        </p:nvSpPr>
        <p:spPr>
          <a:xfrm>
            <a:off x="640080" y="1371600"/>
            <a:ext cx="5303520" cy="1664208"/>
          </a:xfrm>
          <a:prstGeom prst="roundRect">
            <a:avLst>
              <a:gd name="adj" fmla="val 3297"/>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5" name="Shape 3"/>
          <p:cNvSpPr/>
          <p:nvPr/>
        </p:nvSpPr>
        <p:spPr>
          <a:xfrm>
            <a:off x="914400" y="1627632"/>
            <a:ext cx="658368" cy="310896"/>
          </a:xfrm>
          <a:prstGeom prst="roundRect">
            <a:avLst>
              <a:gd name="adj" fmla="val 23529"/>
            </a:avLst>
          </a:prstGeom>
          <a:solidFill>
            <a:srgbClr val="DFEEF0"/>
          </a:solidFill>
          <a:ln/>
        </p:spPr>
      </p:sp>
      <p:sp>
        <p:nvSpPr>
          <p:cNvPr id="6" name="Text 4"/>
          <p:cNvSpPr/>
          <p:nvPr/>
        </p:nvSpPr>
        <p:spPr>
          <a:xfrm>
            <a:off x="914400" y="1627632"/>
            <a:ext cx="658368" cy="310896"/>
          </a:xfrm>
          <a:prstGeom prst="rect">
            <a:avLst/>
          </a:prstGeom>
          <a:noFill/>
          <a:ln/>
        </p:spPr>
        <p:txBody>
          <a:bodyPr wrap="square" lIns="0" tIns="0" rIns="0" bIns="0" rtlCol="0" anchor="ctr"/>
          <a:lstStyle/>
          <a:p>
            <a:pPr algn="ctr" indent="0" marL="0">
              <a:buNone/>
            </a:pPr>
            <a:r>
              <a:rPr lang="en-US" sz="1100" b="1" dirty="0">
                <a:solidFill>
                  <a:srgbClr val="0E7C86"/>
                </a:solidFill>
                <a:latin typeface="Calibri" pitchFamily="34" charset="0"/>
                <a:ea typeface="Calibri" pitchFamily="34" charset="-122"/>
                <a:cs typeface="Calibri" pitchFamily="34" charset="-120"/>
              </a:rPr>
              <a:t>LO1</a:t>
            </a:r>
            <a:endParaRPr lang="en-US" sz="1100" dirty="0"/>
          </a:p>
        </p:txBody>
      </p:sp>
      <p:sp>
        <p:nvSpPr>
          <p:cNvPr id="7" name="Text 5"/>
          <p:cNvSpPr/>
          <p:nvPr/>
        </p:nvSpPr>
        <p:spPr>
          <a:xfrm>
            <a:off x="914400" y="2084832"/>
            <a:ext cx="4754880" cy="310896"/>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Explain why algorithm analysis matters</a:t>
            </a:r>
            <a:endParaRPr lang="en-US" sz="1600" dirty="0"/>
          </a:p>
        </p:txBody>
      </p:sp>
      <p:sp>
        <p:nvSpPr>
          <p:cNvPr id="8" name="Text 6"/>
          <p:cNvSpPr/>
          <p:nvPr/>
        </p:nvSpPr>
        <p:spPr>
          <a:xfrm>
            <a:off x="914400" y="2432304"/>
            <a:ext cx="4754880" cy="502920"/>
          </a:xfrm>
          <a:prstGeom prst="rect">
            <a:avLst/>
          </a:prstGeom>
          <a:noFill/>
          <a:ln/>
        </p:spPr>
        <p:txBody>
          <a:bodyPr wrap="square" lIns="0" tIns="0" rIns="0" bIns="0" rtlCol="0" anchor="t"/>
          <a:lstStyle/>
          <a:p>
            <a:pPr indent="0" marL="0">
              <a:lnSpc>
                <a:spcPts val="1500"/>
              </a:lnSpc>
              <a:buNone/>
            </a:pPr>
            <a:r>
              <a:rPr lang="en-US" sz="1200" dirty="0">
                <a:solidFill>
                  <a:srgbClr val="6B7784"/>
                </a:solidFill>
                <a:latin typeface="Calibri" pitchFamily="34" charset="0"/>
                <a:ea typeface="Calibri" pitchFamily="34" charset="-122"/>
                <a:cs typeface="Calibri" pitchFamily="34" charset="-120"/>
              </a:rPr>
              <a:t>Justify analysis as a machine-independent way of predicting performance before implementation.</a:t>
            </a:r>
            <a:endParaRPr lang="en-US" sz="1200" dirty="0"/>
          </a:p>
        </p:txBody>
      </p:sp>
      <p:sp>
        <p:nvSpPr>
          <p:cNvPr id="9" name="Shape 7"/>
          <p:cNvSpPr/>
          <p:nvPr/>
        </p:nvSpPr>
        <p:spPr>
          <a:xfrm>
            <a:off x="6245352" y="1371600"/>
            <a:ext cx="5303520" cy="1664208"/>
          </a:xfrm>
          <a:prstGeom prst="roundRect">
            <a:avLst>
              <a:gd name="adj" fmla="val 3297"/>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10" name="Shape 8"/>
          <p:cNvSpPr/>
          <p:nvPr/>
        </p:nvSpPr>
        <p:spPr>
          <a:xfrm>
            <a:off x="6519672" y="1627632"/>
            <a:ext cx="658368" cy="310896"/>
          </a:xfrm>
          <a:prstGeom prst="roundRect">
            <a:avLst>
              <a:gd name="adj" fmla="val 23529"/>
            </a:avLst>
          </a:prstGeom>
          <a:solidFill>
            <a:srgbClr val="FDF0E0"/>
          </a:solidFill>
          <a:ln/>
        </p:spPr>
      </p:sp>
      <p:sp>
        <p:nvSpPr>
          <p:cNvPr id="11" name="Text 9"/>
          <p:cNvSpPr/>
          <p:nvPr/>
        </p:nvSpPr>
        <p:spPr>
          <a:xfrm>
            <a:off x="6519672" y="1627632"/>
            <a:ext cx="658368" cy="310896"/>
          </a:xfrm>
          <a:prstGeom prst="rect">
            <a:avLst/>
          </a:prstGeom>
          <a:noFill/>
          <a:ln/>
        </p:spPr>
        <p:txBody>
          <a:bodyPr wrap="square" lIns="0" tIns="0" rIns="0" bIns="0" rtlCol="0" anchor="ctr"/>
          <a:lstStyle/>
          <a:p>
            <a:pPr algn="ctr" indent="0" marL="0">
              <a:buNone/>
            </a:pPr>
            <a:r>
              <a:rPr lang="en-US" sz="1100" b="1" dirty="0">
                <a:solidFill>
                  <a:srgbClr val="A85F0C"/>
                </a:solidFill>
                <a:latin typeface="Calibri" pitchFamily="34" charset="0"/>
                <a:ea typeface="Calibri" pitchFamily="34" charset="-122"/>
                <a:cs typeface="Calibri" pitchFamily="34" charset="-120"/>
              </a:rPr>
              <a:t>LO2</a:t>
            </a:r>
            <a:endParaRPr lang="en-US" sz="1100" dirty="0"/>
          </a:p>
        </p:txBody>
      </p:sp>
      <p:sp>
        <p:nvSpPr>
          <p:cNvPr id="12" name="Text 10"/>
          <p:cNvSpPr/>
          <p:nvPr/>
        </p:nvSpPr>
        <p:spPr>
          <a:xfrm>
            <a:off x="6519672" y="2084832"/>
            <a:ext cx="4754880" cy="310896"/>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Distinguish time from space complexity</a:t>
            </a:r>
            <a:endParaRPr lang="en-US" sz="1600" dirty="0"/>
          </a:p>
        </p:txBody>
      </p:sp>
      <p:sp>
        <p:nvSpPr>
          <p:cNvPr id="13" name="Text 11"/>
          <p:cNvSpPr/>
          <p:nvPr/>
        </p:nvSpPr>
        <p:spPr>
          <a:xfrm>
            <a:off x="6519672" y="2432304"/>
            <a:ext cx="4754880" cy="502920"/>
          </a:xfrm>
          <a:prstGeom prst="rect">
            <a:avLst/>
          </a:prstGeom>
          <a:noFill/>
          <a:ln/>
        </p:spPr>
        <p:txBody>
          <a:bodyPr wrap="square" lIns="0" tIns="0" rIns="0" bIns="0" rtlCol="0" anchor="t"/>
          <a:lstStyle/>
          <a:p>
            <a:pPr indent="0" marL="0">
              <a:lnSpc>
                <a:spcPts val="1500"/>
              </a:lnSpc>
              <a:buNone/>
            </a:pPr>
            <a:r>
              <a:rPr lang="en-US" sz="1200" dirty="0">
                <a:solidFill>
                  <a:srgbClr val="6B7784"/>
                </a:solidFill>
                <a:latin typeface="Calibri" pitchFamily="34" charset="0"/>
                <a:ea typeface="Calibri" pitchFamily="34" charset="-122"/>
                <a:cs typeface="Calibri" pitchFamily="34" charset="-120"/>
              </a:rPr>
              <a:t>Compute the frequency count of a program and identify its fixed and variable memory requirements.</a:t>
            </a:r>
            <a:endParaRPr lang="en-US" sz="1200" dirty="0"/>
          </a:p>
        </p:txBody>
      </p:sp>
      <p:sp>
        <p:nvSpPr>
          <p:cNvPr id="14" name="Shape 12"/>
          <p:cNvSpPr/>
          <p:nvPr/>
        </p:nvSpPr>
        <p:spPr>
          <a:xfrm>
            <a:off x="640080" y="3246120"/>
            <a:ext cx="5303520" cy="1664208"/>
          </a:xfrm>
          <a:prstGeom prst="roundRect">
            <a:avLst>
              <a:gd name="adj" fmla="val 3297"/>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15" name="Shape 13"/>
          <p:cNvSpPr/>
          <p:nvPr/>
        </p:nvSpPr>
        <p:spPr>
          <a:xfrm>
            <a:off x="914400" y="3502152"/>
            <a:ext cx="658368" cy="310896"/>
          </a:xfrm>
          <a:prstGeom prst="roundRect">
            <a:avLst>
              <a:gd name="adj" fmla="val 23529"/>
            </a:avLst>
          </a:prstGeom>
          <a:solidFill>
            <a:srgbClr val="E2F0EA"/>
          </a:solidFill>
          <a:ln/>
        </p:spPr>
      </p:sp>
      <p:sp>
        <p:nvSpPr>
          <p:cNvPr id="16" name="Text 14"/>
          <p:cNvSpPr/>
          <p:nvPr/>
        </p:nvSpPr>
        <p:spPr>
          <a:xfrm>
            <a:off x="914400" y="3502152"/>
            <a:ext cx="658368" cy="310896"/>
          </a:xfrm>
          <a:prstGeom prst="rect">
            <a:avLst/>
          </a:prstGeom>
          <a:noFill/>
          <a:ln/>
        </p:spPr>
        <p:txBody>
          <a:bodyPr wrap="square" lIns="0" tIns="0" rIns="0" bIns="0" rtlCol="0" anchor="ctr"/>
          <a:lstStyle/>
          <a:p>
            <a:pPr algn="ctr" indent="0" marL="0">
              <a:buNone/>
            </a:pPr>
            <a:r>
              <a:rPr lang="en-US" sz="1100" b="1" dirty="0">
                <a:solidFill>
                  <a:srgbClr val="2E7D5B"/>
                </a:solidFill>
                <a:latin typeface="Calibri" pitchFamily="34" charset="0"/>
                <a:ea typeface="Calibri" pitchFamily="34" charset="-122"/>
                <a:cs typeface="Calibri" pitchFamily="34" charset="-120"/>
              </a:rPr>
              <a:t>LO3</a:t>
            </a:r>
            <a:endParaRPr lang="en-US" sz="1100" dirty="0"/>
          </a:p>
        </p:txBody>
      </p:sp>
      <p:sp>
        <p:nvSpPr>
          <p:cNvPr id="17" name="Text 15"/>
          <p:cNvSpPr/>
          <p:nvPr/>
        </p:nvSpPr>
        <p:spPr>
          <a:xfrm>
            <a:off x="914400" y="3959352"/>
            <a:ext cx="4754880" cy="310896"/>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Evaluate best, average and worst cases</a:t>
            </a:r>
            <a:endParaRPr lang="en-US" sz="1600" dirty="0"/>
          </a:p>
        </p:txBody>
      </p:sp>
      <p:sp>
        <p:nvSpPr>
          <p:cNvPr id="18" name="Text 16"/>
          <p:cNvSpPr/>
          <p:nvPr/>
        </p:nvSpPr>
        <p:spPr>
          <a:xfrm>
            <a:off x="914400" y="4306824"/>
            <a:ext cx="4754880" cy="502920"/>
          </a:xfrm>
          <a:prstGeom prst="rect">
            <a:avLst/>
          </a:prstGeom>
          <a:noFill/>
          <a:ln/>
        </p:spPr>
        <p:txBody>
          <a:bodyPr wrap="square" lIns="0" tIns="0" rIns="0" bIns="0" rtlCol="0" anchor="t"/>
          <a:lstStyle/>
          <a:p>
            <a:pPr indent="0" marL="0">
              <a:lnSpc>
                <a:spcPts val="1500"/>
              </a:lnSpc>
              <a:buNone/>
            </a:pPr>
            <a:r>
              <a:rPr lang="en-US" sz="1200" dirty="0">
                <a:solidFill>
                  <a:srgbClr val="6B7784"/>
                </a:solidFill>
                <a:latin typeface="Calibri" pitchFamily="34" charset="0"/>
                <a:ea typeface="Calibri" pitchFamily="34" charset="-122"/>
                <a:cs typeface="Calibri" pitchFamily="34" charset="-120"/>
              </a:rPr>
              <a:t>Derive all three cases for search algorithms and argue which one should guide design decisions.</a:t>
            </a:r>
            <a:endParaRPr lang="en-US" sz="1200" dirty="0"/>
          </a:p>
        </p:txBody>
      </p:sp>
      <p:sp>
        <p:nvSpPr>
          <p:cNvPr id="19" name="Shape 17"/>
          <p:cNvSpPr/>
          <p:nvPr/>
        </p:nvSpPr>
        <p:spPr>
          <a:xfrm>
            <a:off x="6245352" y="3246120"/>
            <a:ext cx="5303520" cy="1664208"/>
          </a:xfrm>
          <a:prstGeom prst="roundRect">
            <a:avLst>
              <a:gd name="adj" fmla="val 3297"/>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20" name="Shape 18"/>
          <p:cNvSpPr/>
          <p:nvPr/>
        </p:nvSpPr>
        <p:spPr>
          <a:xfrm>
            <a:off x="6519672" y="3502152"/>
            <a:ext cx="658368" cy="310896"/>
          </a:xfrm>
          <a:prstGeom prst="roundRect">
            <a:avLst>
              <a:gd name="adj" fmla="val 23529"/>
            </a:avLst>
          </a:prstGeom>
          <a:solidFill>
            <a:srgbClr val="FAE6E4"/>
          </a:solidFill>
          <a:ln/>
        </p:spPr>
      </p:sp>
      <p:sp>
        <p:nvSpPr>
          <p:cNvPr id="21" name="Text 19"/>
          <p:cNvSpPr/>
          <p:nvPr/>
        </p:nvSpPr>
        <p:spPr>
          <a:xfrm>
            <a:off x="6519672" y="3502152"/>
            <a:ext cx="658368" cy="310896"/>
          </a:xfrm>
          <a:prstGeom prst="rect">
            <a:avLst/>
          </a:prstGeom>
          <a:noFill/>
          <a:ln/>
        </p:spPr>
        <p:txBody>
          <a:bodyPr wrap="square" lIns="0" tIns="0" rIns="0" bIns="0" rtlCol="0" anchor="ctr"/>
          <a:lstStyle/>
          <a:p>
            <a:pPr algn="ctr" indent="0" marL="0">
              <a:buNone/>
            </a:pPr>
            <a:r>
              <a:rPr lang="en-US" sz="1100" b="1" dirty="0">
                <a:solidFill>
                  <a:srgbClr val="B3261E"/>
                </a:solidFill>
                <a:latin typeface="Calibri" pitchFamily="34" charset="0"/>
                <a:ea typeface="Calibri" pitchFamily="34" charset="-122"/>
                <a:cs typeface="Calibri" pitchFamily="34" charset="-120"/>
              </a:rPr>
              <a:t>LO4</a:t>
            </a:r>
            <a:endParaRPr lang="en-US" sz="1100" dirty="0"/>
          </a:p>
        </p:txBody>
      </p:sp>
      <p:sp>
        <p:nvSpPr>
          <p:cNvPr id="22" name="Text 20"/>
          <p:cNvSpPr/>
          <p:nvPr/>
        </p:nvSpPr>
        <p:spPr>
          <a:xfrm>
            <a:off x="6519672" y="3959352"/>
            <a:ext cx="4754880" cy="310896"/>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Apply asymptotic notation to compare</a:t>
            </a:r>
            <a:endParaRPr lang="en-US" sz="1600" dirty="0"/>
          </a:p>
        </p:txBody>
      </p:sp>
      <p:sp>
        <p:nvSpPr>
          <p:cNvPr id="23" name="Text 21"/>
          <p:cNvSpPr/>
          <p:nvPr/>
        </p:nvSpPr>
        <p:spPr>
          <a:xfrm>
            <a:off x="6519672" y="4306824"/>
            <a:ext cx="4754880" cy="502920"/>
          </a:xfrm>
          <a:prstGeom prst="rect">
            <a:avLst/>
          </a:prstGeom>
          <a:noFill/>
          <a:ln/>
        </p:spPr>
        <p:txBody>
          <a:bodyPr wrap="square" lIns="0" tIns="0" rIns="0" bIns="0" rtlCol="0" anchor="t"/>
          <a:lstStyle/>
          <a:p>
            <a:pPr indent="0" marL="0">
              <a:lnSpc>
                <a:spcPts val="1500"/>
              </a:lnSpc>
              <a:buNone/>
            </a:pPr>
            <a:r>
              <a:rPr lang="en-US" sz="1200" dirty="0">
                <a:solidFill>
                  <a:srgbClr val="6B7784"/>
                </a:solidFill>
                <a:latin typeface="Calibri" pitchFamily="34" charset="0"/>
                <a:ea typeface="Calibri" pitchFamily="34" charset="-122"/>
                <a:cs typeface="Calibri" pitchFamily="34" charset="-120"/>
              </a:rPr>
              <a:t>Use O, Ω and Θ with formal (c, n₀) arguments to rank algorithms by efficiency.</a:t>
            </a:r>
            <a:endParaRPr lang="en-US" sz="1200" dirty="0"/>
          </a:p>
        </p:txBody>
      </p:sp>
      <p:sp>
        <p:nvSpPr>
          <p:cNvPr id="24" name="Text 22"/>
          <p:cNvSpPr/>
          <p:nvPr/>
        </p:nvSpPr>
        <p:spPr>
          <a:xfrm>
            <a:off x="640080" y="5349240"/>
            <a:ext cx="8229600" cy="274320"/>
          </a:xfrm>
          <a:prstGeom prst="rect">
            <a:avLst/>
          </a:prstGeom>
          <a:noFill/>
          <a:ln/>
        </p:spPr>
        <p:txBody>
          <a:bodyPr wrap="square" lIns="0" tIns="0" rIns="0" bIns="0" rtlCol="0" anchor="t"/>
          <a:lstStyle/>
          <a:p>
            <a:pPr indent="0" marL="0">
              <a:buNone/>
            </a:pPr>
            <a:r>
              <a:rPr lang="en-US" sz="1100" i="1" dirty="0">
                <a:solidFill>
                  <a:srgbClr val="6B7784"/>
                </a:solidFill>
                <a:latin typeface="Calibri" pitchFamily="34" charset="0"/>
                <a:ea typeface="Calibri" pitchFamily="34" charset="-122"/>
                <a:cs typeface="Calibri" pitchFamily="34" charset="-120"/>
              </a:rPr>
              <a:t>Mapped to course outcomes on algorithm analysis and efficiency comparison.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FOUNDATIONS</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What exactly is an algorithm?</a:t>
            </a:r>
            <a:endParaRPr lang="en-US" sz="3000" dirty="0"/>
          </a:p>
        </p:txBody>
      </p:sp>
      <p:sp>
        <p:nvSpPr>
          <p:cNvPr id="4" name="Shape 2"/>
          <p:cNvSpPr/>
          <p:nvPr/>
        </p:nvSpPr>
        <p:spPr>
          <a:xfrm>
            <a:off x="640080" y="1371600"/>
            <a:ext cx="6492240" cy="1783080"/>
          </a:xfrm>
          <a:prstGeom prst="roundRect">
            <a:avLst>
              <a:gd name="adj" fmla="val 3077"/>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5" name="Text 3"/>
          <p:cNvSpPr/>
          <p:nvPr/>
        </p:nvSpPr>
        <p:spPr>
          <a:xfrm>
            <a:off x="914400" y="1600200"/>
            <a:ext cx="5943600" cy="1051560"/>
          </a:xfrm>
          <a:prstGeom prst="rect">
            <a:avLst/>
          </a:prstGeom>
          <a:noFill/>
          <a:ln/>
        </p:spPr>
        <p:txBody>
          <a:bodyPr wrap="square" lIns="0" tIns="0" rIns="0" bIns="0" rtlCol="0" anchor="t"/>
          <a:lstStyle/>
          <a:p>
            <a:pPr indent="0" marL="0">
              <a:lnSpc>
                <a:spcPts val="2400"/>
              </a:lnSpc>
              <a:buNone/>
            </a:pPr>
            <a:r>
              <a:rPr lang="en-US" sz="1700" i="1" dirty="0">
                <a:solidFill>
                  <a:srgbClr val="12161C"/>
                </a:solidFill>
                <a:latin typeface="Cambria" pitchFamily="34" charset="0"/>
                <a:ea typeface="Cambria" pitchFamily="34" charset="-122"/>
                <a:cs typeface="Cambria" pitchFamily="34" charset="-120"/>
              </a:rPr>
              <a:t>“A finite set of unambiguous instructions that, when carried out for any legitimate input, terminates after a finite amount of time and produces the required output.”</a:t>
            </a:r>
            <a:endParaRPr lang="en-US" sz="1700" dirty="0"/>
          </a:p>
        </p:txBody>
      </p:sp>
      <p:sp>
        <p:nvSpPr>
          <p:cNvPr id="6" name="Text 4"/>
          <p:cNvSpPr/>
          <p:nvPr/>
        </p:nvSpPr>
        <p:spPr>
          <a:xfrm>
            <a:off x="914400" y="2697480"/>
            <a:ext cx="5943600" cy="274320"/>
          </a:xfrm>
          <a:prstGeom prst="rect">
            <a:avLst/>
          </a:prstGeom>
          <a:noFill/>
          <a:ln/>
        </p:spPr>
        <p:txBody>
          <a:bodyPr wrap="square" lIns="0" tIns="0" rIns="0" bIns="0" rtlCol="0" anchor="t"/>
          <a:lstStyle/>
          <a:p>
            <a:pPr indent="0" marL="0">
              <a:buNone/>
            </a:pPr>
            <a:r>
              <a:rPr lang="en-US" sz="1100" dirty="0">
                <a:solidFill>
                  <a:srgbClr val="6B7784"/>
                </a:solidFill>
                <a:latin typeface="Calibri" pitchFamily="34" charset="0"/>
                <a:ea typeface="Calibri" pitchFamily="34" charset="-122"/>
                <a:cs typeface="Calibri" pitchFamily="34" charset="-120"/>
              </a:rPr>
              <a:t>The word comes from al-Khwarizmi, a 9th-century Persian mathematician.</a:t>
            </a:r>
            <a:endParaRPr lang="en-US" sz="1100" dirty="0"/>
          </a:p>
        </p:txBody>
      </p:sp>
      <p:sp>
        <p:nvSpPr>
          <p:cNvPr id="7" name="Shape 5"/>
          <p:cNvSpPr/>
          <p:nvPr/>
        </p:nvSpPr>
        <p:spPr>
          <a:xfrm>
            <a:off x="7406640" y="1371600"/>
            <a:ext cx="4142232" cy="3977640"/>
          </a:xfrm>
          <a:prstGeom prst="roundRect">
            <a:avLst>
              <a:gd name="adj" fmla="val 1379"/>
            </a:avLst>
          </a:prstGeom>
          <a:solidFill>
            <a:srgbClr val="1B2129"/>
          </a:solidFill>
          <a:ln/>
          <a:effectLst>
            <a:outerShdw sx="100000" sy="100000" kx="0" ky="0" algn="bl" rotWithShape="0" blurRad="127000" dist="25400" dir="5400000">
              <a:srgbClr val="9AA6B2">
                <a:alpha val="22000"/>
              </a:srgbClr>
            </a:outerShdw>
          </a:effectLst>
        </p:spPr>
      </p:sp>
      <p:sp>
        <p:nvSpPr>
          <p:cNvPr id="8" name="Text 6"/>
          <p:cNvSpPr/>
          <p:nvPr/>
        </p:nvSpPr>
        <p:spPr>
          <a:xfrm>
            <a:off x="7680960" y="1572768"/>
            <a:ext cx="3657600" cy="292608"/>
          </a:xfrm>
          <a:prstGeom prst="rect">
            <a:avLst/>
          </a:prstGeom>
          <a:noFill/>
          <a:ln/>
        </p:spPr>
        <p:txBody>
          <a:bodyPr wrap="square" lIns="0" tIns="0" rIns="0" bIns="0" rtlCol="0" anchor="t"/>
          <a:lstStyle/>
          <a:p>
            <a:pPr indent="0" marL="0">
              <a:buNone/>
            </a:pPr>
            <a:r>
              <a:rPr lang="en-US" sz="1300" b="1" dirty="0">
                <a:solidFill>
                  <a:srgbClr val="E8871E"/>
                </a:solidFill>
                <a:latin typeface="Calibri" pitchFamily="34" charset="0"/>
                <a:ea typeface="Calibri" pitchFamily="34" charset="-122"/>
                <a:cs typeface="Calibri" pitchFamily="34" charset="-120"/>
              </a:rPr>
              <a:t>The black-box view</a:t>
            </a:r>
            <a:endParaRPr lang="en-US" sz="1300" dirty="0"/>
          </a:p>
        </p:txBody>
      </p:sp>
      <p:sp>
        <p:nvSpPr>
          <p:cNvPr id="9" name="Shape 7"/>
          <p:cNvSpPr/>
          <p:nvPr/>
        </p:nvSpPr>
        <p:spPr>
          <a:xfrm>
            <a:off x="7680960" y="2011680"/>
            <a:ext cx="3593592" cy="749808"/>
          </a:xfrm>
          <a:prstGeom prst="roundRect">
            <a:avLst>
              <a:gd name="adj" fmla="val 7317"/>
            </a:avLst>
          </a:prstGeom>
          <a:solidFill>
            <a:srgbClr val="2C3742"/>
          </a:solidFill>
          <a:ln/>
        </p:spPr>
      </p:sp>
      <p:sp>
        <p:nvSpPr>
          <p:cNvPr id="10" name="Text 8"/>
          <p:cNvSpPr/>
          <p:nvPr/>
        </p:nvSpPr>
        <p:spPr>
          <a:xfrm>
            <a:off x="7863840" y="2103120"/>
            <a:ext cx="3291840" cy="237744"/>
          </a:xfrm>
          <a:prstGeom prst="rect">
            <a:avLst/>
          </a:prstGeom>
          <a:noFill/>
          <a:ln/>
        </p:spPr>
        <p:txBody>
          <a:bodyPr wrap="square" lIns="0" tIns="0" rIns="0" bIns="0" rtlCol="0" anchor="t"/>
          <a:lstStyle/>
          <a:p>
            <a:pPr indent="0" marL="0">
              <a:buNone/>
            </a:pPr>
            <a:r>
              <a:rPr lang="en-US" sz="1000" b="1" spc="120" kern="0" dirty="0">
                <a:solidFill>
                  <a:srgbClr val="9AA6B4"/>
                </a:solidFill>
                <a:latin typeface="Calibri" pitchFamily="34" charset="0"/>
                <a:ea typeface="Calibri" pitchFamily="34" charset="-122"/>
                <a:cs typeface="Calibri" pitchFamily="34" charset="-120"/>
              </a:rPr>
              <a:t>INPUT</a:t>
            </a:r>
            <a:endParaRPr lang="en-US" sz="1000" dirty="0"/>
          </a:p>
        </p:txBody>
      </p:sp>
      <p:sp>
        <p:nvSpPr>
          <p:cNvPr id="11" name="Text 9"/>
          <p:cNvSpPr/>
          <p:nvPr/>
        </p:nvSpPr>
        <p:spPr>
          <a:xfrm>
            <a:off x="7863840" y="2359152"/>
            <a:ext cx="3291840" cy="274320"/>
          </a:xfrm>
          <a:prstGeom prst="rect">
            <a:avLst/>
          </a:prstGeom>
          <a:noFill/>
          <a:ln/>
        </p:spPr>
        <p:txBody>
          <a:bodyPr wrap="square" lIns="0" tIns="0" rIns="0" bIns="0" rtlCol="0" anchor="t"/>
          <a:lstStyle/>
          <a:p>
            <a:pPr indent="0" marL="0">
              <a:buNone/>
            </a:pPr>
            <a:r>
              <a:rPr lang="en-US" sz="1200" dirty="0">
                <a:solidFill>
                  <a:srgbClr val="FFFFFF"/>
                </a:solidFill>
                <a:latin typeface="Courier New" pitchFamily="34" charset="0"/>
                <a:ea typeface="Courier New" pitchFamily="34" charset="-122"/>
                <a:cs typeface="Courier New" pitchFamily="34" charset="-120"/>
              </a:rPr>
              <a:t>a[ ] = {12, 4, 9, 7}</a:t>
            </a:r>
            <a:endParaRPr lang="en-US" sz="1200" dirty="0"/>
          </a:p>
        </p:txBody>
      </p:sp>
      <p:sp>
        <p:nvSpPr>
          <p:cNvPr id="12" name="Shape 10"/>
          <p:cNvSpPr/>
          <p:nvPr/>
        </p:nvSpPr>
        <p:spPr>
          <a:xfrm>
            <a:off x="9281160" y="2798064"/>
            <a:ext cx="384048" cy="256032"/>
          </a:xfrm>
          <a:prstGeom prst="downArrow">
            <a:avLst/>
          </a:prstGeom>
          <a:solidFill>
            <a:srgbClr val="E8871E"/>
          </a:solidFill>
          <a:ln/>
        </p:spPr>
      </p:sp>
      <p:sp>
        <p:nvSpPr>
          <p:cNvPr id="13" name="Shape 11"/>
          <p:cNvSpPr/>
          <p:nvPr/>
        </p:nvSpPr>
        <p:spPr>
          <a:xfrm>
            <a:off x="7680960" y="3090672"/>
            <a:ext cx="3593592" cy="749808"/>
          </a:xfrm>
          <a:prstGeom prst="roundRect">
            <a:avLst>
              <a:gd name="adj" fmla="val 7317"/>
            </a:avLst>
          </a:prstGeom>
          <a:solidFill>
            <a:srgbClr val="A85F0C"/>
          </a:solidFill>
          <a:ln/>
        </p:spPr>
      </p:sp>
      <p:sp>
        <p:nvSpPr>
          <p:cNvPr id="14" name="Text 12"/>
          <p:cNvSpPr/>
          <p:nvPr/>
        </p:nvSpPr>
        <p:spPr>
          <a:xfrm>
            <a:off x="7863840" y="3182112"/>
            <a:ext cx="3291840" cy="237744"/>
          </a:xfrm>
          <a:prstGeom prst="rect">
            <a:avLst/>
          </a:prstGeom>
          <a:noFill/>
          <a:ln/>
        </p:spPr>
        <p:txBody>
          <a:bodyPr wrap="square" lIns="0" tIns="0" rIns="0" bIns="0" rtlCol="0" anchor="t"/>
          <a:lstStyle/>
          <a:p>
            <a:pPr indent="0" marL="0">
              <a:buNone/>
            </a:pPr>
            <a:r>
              <a:rPr lang="en-US" sz="1000" b="1" spc="120" kern="0" dirty="0">
                <a:solidFill>
                  <a:srgbClr val="FFE6C6"/>
                </a:solidFill>
                <a:latin typeface="Calibri" pitchFamily="34" charset="0"/>
                <a:ea typeface="Calibri" pitchFamily="34" charset="-122"/>
                <a:cs typeface="Calibri" pitchFamily="34" charset="-120"/>
              </a:rPr>
              <a:t>ALGORITHM</a:t>
            </a:r>
            <a:endParaRPr lang="en-US" sz="1000" dirty="0"/>
          </a:p>
        </p:txBody>
      </p:sp>
      <p:sp>
        <p:nvSpPr>
          <p:cNvPr id="15" name="Text 13"/>
          <p:cNvSpPr/>
          <p:nvPr/>
        </p:nvSpPr>
        <p:spPr>
          <a:xfrm>
            <a:off x="7863840" y="3438144"/>
            <a:ext cx="3291840" cy="274320"/>
          </a:xfrm>
          <a:prstGeom prst="rect">
            <a:avLst/>
          </a:prstGeom>
          <a:noFill/>
          <a:ln/>
        </p:spPr>
        <p:txBody>
          <a:bodyPr wrap="square" lIns="0" tIns="0" rIns="0" bIns="0" rtlCol="0" anchor="t"/>
          <a:lstStyle/>
          <a:p>
            <a:pPr indent="0" marL="0">
              <a:buNone/>
            </a:pPr>
            <a:r>
              <a:rPr lang="en-US" sz="1200" dirty="0">
                <a:solidFill>
                  <a:srgbClr val="FFFFFF"/>
                </a:solidFill>
                <a:latin typeface="Courier New" pitchFamily="34" charset="0"/>
                <a:ea typeface="Courier New" pitchFamily="34" charset="-122"/>
                <a:cs typeface="Courier New" pitchFamily="34" charset="-120"/>
              </a:rPr>
              <a:t>Sort the array</a:t>
            </a:r>
            <a:endParaRPr lang="en-US" sz="1200" dirty="0"/>
          </a:p>
        </p:txBody>
      </p:sp>
      <p:sp>
        <p:nvSpPr>
          <p:cNvPr id="16" name="Shape 14"/>
          <p:cNvSpPr/>
          <p:nvPr/>
        </p:nvSpPr>
        <p:spPr>
          <a:xfrm>
            <a:off x="9281160" y="3877056"/>
            <a:ext cx="384048" cy="256032"/>
          </a:xfrm>
          <a:prstGeom prst="downArrow">
            <a:avLst/>
          </a:prstGeom>
          <a:solidFill>
            <a:srgbClr val="E8871E"/>
          </a:solidFill>
          <a:ln/>
        </p:spPr>
      </p:sp>
      <p:sp>
        <p:nvSpPr>
          <p:cNvPr id="17" name="Shape 15"/>
          <p:cNvSpPr/>
          <p:nvPr/>
        </p:nvSpPr>
        <p:spPr>
          <a:xfrm>
            <a:off x="7680960" y="4169664"/>
            <a:ext cx="3593592" cy="749808"/>
          </a:xfrm>
          <a:prstGeom prst="roundRect">
            <a:avLst>
              <a:gd name="adj" fmla="val 7317"/>
            </a:avLst>
          </a:prstGeom>
          <a:solidFill>
            <a:srgbClr val="2C3742"/>
          </a:solidFill>
          <a:ln/>
        </p:spPr>
      </p:sp>
      <p:sp>
        <p:nvSpPr>
          <p:cNvPr id="18" name="Text 16"/>
          <p:cNvSpPr/>
          <p:nvPr/>
        </p:nvSpPr>
        <p:spPr>
          <a:xfrm>
            <a:off x="7863840" y="4261104"/>
            <a:ext cx="3291840" cy="237744"/>
          </a:xfrm>
          <a:prstGeom prst="rect">
            <a:avLst/>
          </a:prstGeom>
          <a:noFill/>
          <a:ln/>
        </p:spPr>
        <p:txBody>
          <a:bodyPr wrap="square" lIns="0" tIns="0" rIns="0" bIns="0" rtlCol="0" anchor="t"/>
          <a:lstStyle/>
          <a:p>
            <a:pPr indent="0" marL="0">
              <a:buNone/>
            </a:pPr>
            <a:r>
              <a:rPr lang="en-US" sz="1000" b="1" spc="120" kern="0" dirty="0">
                <a:solidFill>
                  <a:srgbClr val="9AA6B4"/>
                </a:solidFill>
                <a:latin typeface="Calibri" pitchFamily="34" charset="0"/>
                <a:ea typeface="Calibri" pitchFamily="34" charset="-122"/>
                <a:cs typeface="Calibri" pitchFamily="34" charset="-120"/>
              </a:rPr>
              <a:t>OUTPUT</a:t>
            </a:r>
            <a:endParaRPr lang="en-US" sz="1000" dirty="0"/>
          </a:p>
        </p:txBody>
      </p:sp>
      <p:sp>
        <p:nvSpPr>
          <p:cNvPr id="19" name="Text 17"/>
          <p:cNvSpPr/>
          <p:nvPr/>
        </p:nvSpPr>
        <p:spPr>
          <a:xfrm>
            <a:off x="7863840" y="4517136"/>
            <a:ext cx="3291840" cy="274320"/>
          </a:xfrm>
          <a:prstGeom prst="rect">
            <a:avLst/>
          </a:prstGeom>
          <a:noFill/>
          <a:ln/>
        </p:spPr>
        <p:txBody>
          <a:bodyPr wrap="square" lIns="0" tIns="0" rIns="0" bIns="0" rtlCol="0" anchor="t"/>
          <a:lstStyle/>
          <a:p>
            <a:pPr indent="0" marL="0">
              <a:buNone/>
            </a:pPr>
            <a:r>
              <a:rPr lang="en-US" sz="1200" dirty="0">
                <a:solidFill>
                  <a:srgbClr val="FFFFFF"/>
                </a:solidFill>
                <a:latin typeface="Courier New" pitchFamily="34" charset="0"/>
                <a:ea typeface="Courier New" pitchFamily="34" charset="-122"/>
                <a:cs typeface="Courier New" pitchFamily="34" charset="-120"/>
              </a:rPr>
              <a:t>a[ ] = {4, 7, 9, 12}</a:t>
            </a:r>
            <a:endParaRPr lang="en-US" sz="1200" dirty="0"/>
          </a:p>
        </p:txBody>
      </p:sp>
      <p:sp>
        <p:nvSpPr>
          <p:cNvPr id="20" name="Shape 18"/>
          <p:cNvSpPr/>
          <p:nvPr/>
        </p:nvSpPr>
        <p:spPr>
          <a:xfrm>
            <a:off x="640080" y="3355848"/>
            <a:ext cx="292608" cy="292608"/>
          </a:xfrm>
          <a:prstGeom prst="ellipse">
            <a:avLst/>
          </a:prstGeom>
          <a:solidFill>
            <a:srgbClr val="DFEEF0"/>
          </a:solidFill>
          <a:ln/>
        </p:spPr>
      </p:sp>
      <p:sp>
        <p:nvSpPr>
          <p:cNvPr id="21" name="Text 19"/>
          <p:cNvSpPr/>
          <p:nvPr/>
        </p:nvSpPr>
        <p:spPr>
          <a:xfrm>
            <a:off x="640080" y="3355848"/>
            <a:ext cx="292608" cy="292608"/>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1</a:t>
            </a:r>
            <a:endParaRPr lang="en-US" sz="1200" dirty="0"/>
          </a:p>
        </p:txBody>
      </p:sp>
      <p:sp>
        <p:nvSpPr>
          <p:cNvPr id="22" name="Text 20"/>
          <p:cNvSpPr/>
          <p:nvPr/>
        </p:nvSpPr>
        <p:spPr>
          <a:xfrm>
            <a:off x="1051560" y="3383280"/>
            <a:ext cx="6035040" cy="548640"/>
          </a:xfrm>
          <a:prstGeom prst="rect">
            <a:avLst/>
          </a:prstGeom>
          <a:noFill/>
          <a:ln/>
        </p:spPr>
        <p:txBody>
          <a:bodyPr wrap="square" lIns="0" tIns="0" rIns="0" bIns="0" rtlCol="0" anchor="t"/>
          <a:lstStyle/>
          <a:p>
            <a:pPr indent="0" marL="0">
              <a:lnSpc>
                <a:spcPts val="1700"/>
              </a:lnSpc>
              <a:buNone/>
            </a:pPr>
            <a:r>
              <a:rPr lang="en-US" sz="1300" b="1" dirty="0">
                <a:solidFill>
                  <a:srgbClr val="12161C"/>
                </a:solidFill>
                <a:latin typeface="Calibri" pitchFamily="34" charset="0"/>
                <a:ea typeface="Calibri" pitchFamily="34" charset="-122"/>
                <a:cs typeface="Calibri" pitchFamily="34" charset="-120"/>
              </a:rPr>
              <a:t>Finite — </a:t>
            </a:r>
            <a:pPr indent="0" marL="0">
              <a:lnSpc>
                <a:spcPts val="1700"/>
              </a:lnSpc>
              <a:buNone/>
            </a:pPr>
            <a:r>
              <a:rPr lang="en-US" sz="1300" dirty="0">
                <a:solidFill>
                  <a:srgbClr val="3A4551"/>
                </a:solidFill>
                <a:latin typeface="Calibri" pitchFamily="34" charset="0"/>
                <a:ea typeface="Calibri" pitchFamily="34" charset="-122"/>
                <a:cs typeface="Calibri" pitchFamily="34" charset="-120"/>
              </a:rPr>
              <a:t>It must stop — an infinite loop is not an algorithm.</a:t>
            </a:r>
            <a:endParaRPr lang="en-US" sz="1300" dirty="0"/>
          </a:p>
        </p:txBody>
      </p:sp>
      <p:sp>
        <p:nvSpPr>
          <p:cNvPr id="23" name="Shape 21"/>
          <p:cNvSpPr/>
          <p:nvPr/>
        </p:nvSpPr>
        <p:spPr>
          <a:xfrm>
            <a:off x="640080" y="4069080"/>
            <a:ext cx="292608" cy="292608"/>
          </a:xfrm>
          <a:prstGeom prst="ellipse">
            <a:avLst/>
          </a:prstGeom>
          <a:solidFill>
            <a:srgbClr val="DFEEF0"/>
          </a:solidFill>
          <a:ln/>
        </p:spPr>
      </p:sp>
      <p:sp>
        <p:nvSpPr>
          <p:cNvPr id="24" name="Text 22"/>
          <p:cNvSpPr/>
          <p:nvPr/>
        </p:nvSpPr>
        <p:spPr>
          <a:xfrm>
            <a:off x="640080" y="4069080"/>
            <a:ext cx="292608" cy="292608"/>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2</a:t>
            </a:r>
            <a:endParaRPr lang="en-US" sz="1200" dirty="0"/>
          </a:p>
        </p:txBody>
      </p:sp>
      <p:sp>
        <p:nvSpPr>
          <p:cNvPr id="25" name="Text 23"/>
          <p:cNvSpPr/>
          <p:nvPr/>
        </p:nvSpPr>
        <p:spPr>
          <a:xfrm>
            <a:off x="1051560" y="4096512"/>
            <a:ext cx="6035040" cy="548640"/>
          </a:xfrm>
          <a:prstGeom prst="rect">
            <a:avLst/>
          </a:prstGeom>
          <a:noFill/>
          <a:ln/>
        </p:spPr>
        <p:txBody>
          <a:bodyPr wrap="square" lIns="0" tIns="0" rIns="0" bIns="0" rtlCol="0" anchor="t"/>
          <a:lstStyle/>
          <a:p>
            <a:pPr indent="0" marL="0">
              <a:lnSpc>
                <a:spcPts val="1700"/>
              </a:lnSpc>
              <a:buNone/>
            </a:pPr>
            <a:r>
              <a:rPr lang="en-US" sz="1300" b="1" dirty="0">
                <a:solidFill>
                  <a:srgbClr val="12161C"/>
                </a:solidFill>
                <a:latin typeface="Calibri" pitchFamily="34" charset="0"/>
                <a:ea typeface="Calibri" pitchFamily="34" charset="-122"/>
                <a:cs typeface="Calibri" pitchFamily="34" charset="-120"/>
              </a:rPr>
              <a:t>Correct — </a:t>
            </a:r>
            <a:pPr indent="0" marL="0">
              <a:lnSpc>
                <a:spcPts val="1700"/>
              </a:lnSpc>
              <a:buNone/>
            </a:pPr>
            <a:r>
              <a:rPr lang="en-US" sz="1300" dirty="0">
                <a:solidFill>
                  <a:srgbClr val="3A4551"/>
                </a:solidFill>
                <a:latin typeface="Calibri" pitchFamily="34" charset="0"/>
                <a:ea typeface="Calibri" pitchFamily="34" charset="-122"/>
                <a:cs typeface="Calibri" pitchFamily="34" charset="-120"/>
              </a:rPr>
              <a:t>It must produce the right output for every valid input, not just for the test case.</a:t>
            </a:r>
            <a:endParaRPr lang="en-US" sz="1300" dirty="0"/>
          </a:p>
        </p:txBody>
      </p:sp>
      <p:sp>
        <p:nvSpPr>
          <p:cNvPr id="26" name="Shape 24"/>
          <p:cNvSpPr/>
          <p:nvPr/>
        </p:nvSpPr>
        <p:spPr>
          <a:xfrm>
            <a:off x="640080" y="4782312"/>
            <a:ext cx="292608" cy="292608"/>
          </a:xfrm>
          <a:prstGeom prst="ellipse">
            <a:avLst/>
          </a:prstGeom>
          <a:solidFill>
            <a:srgbClr val="DFEEF0"/>
          </a:solidFill>
          <a:ln/>
        </p:spPr>
      </p:sp>
      <p:sp>
        <p:nvSpPr>
          <p:cNvPr id="27" name="Text 25"/>
          <p:cNvSpPr/>
          <p:nvPr/>
        </p:nvSpPr>
        <p:spPr>
          <a:xfrm>
            <a:off x="640080" y="4782312"/>
            <a:ext cx="292608" cy="292608"/>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3</a:t>
            </a:r>
            <a:endParaRPr lang="en-US" sz="1200" dirty="0"/>
          </a:p>
        </p:txBody>
      </p:sp>
      <p:sp>
        <p:nvSpPr>
          <p:cNvPr id="28" name="Text 26"/>
          <p:cNvSpPr/>
          <p:nvPr/>
        </p:nvSpPr>
        <p:spPr>
          <a:xfrm>
            <a:off x="1051560" y="4809744"/>
            <a:ext cx="6035040" cy="548640"/>
          </a:xfrm>
          <a:prstGeom prst="rect">
            <a:avLst/>
          </a:prstGeom>
          <a:noFill/>
          <a:ln/>
        </p:spPr>
        <p:txBody>
          <a:bodyPr wrap="square" lIns="0" tIns="0" rIns="0" bIns="0" rtlCol="0" anchor="t"/>
          <a:lstStyle/>
          <a:p>
            <a:pPr indent="0" marL="0">
              <a:lnSpc>
                <a:spcPts val="1700"/>
              </a:lnSpc>
              <a:buNone/>
            </a:pPr>
            <a:r>
              <a:rPr lang="en-US" sz="1300" b="1" dirty="0">
                <a:solidFill>
                  <a:srgbClr val="12161C"/>
                </a:solidFill>
                <a:latin typeface="Calibri" pitchFamily="34" charset="0"/>
                <a:ea typeface="Calibri" pitchFamily="34" charset="-122"/>
                <a:cs typeface="Calibri" pitchFamily="34" charset="-120"/>
              </a:rPr>
              <a:t>Independent — </a:t>
            </a:r>
            <a:pPr indent="0" marL="0">
              <a:lnSpc>
                <a:spcPts val="1700"/>
              </a:lnSpc>
              <a:buNone/>
            </a:pPr>
            <a:r>
              <a:rPr lang="en-US" sz="1300" dirty="0">
                <a:solidFill>
                  <a:srgbClr val="3A4551"/>
                </a:solidFill>
                <a:latin typeface="Calibri" pitchFamily="34" charset="0"/>
                <a:ea typeface="Calibri" pitchFamily="34" charset="-122"/>
                <a:cs typeface="Calibri" pitchFamily="34" charset="-120"/>
              </a:rPr>
              <a:t>It is a method, not code — the same algorithm can be written in C, Java or Python.</a:t>
            </a:r>
            <a:endParaRPr lang="en-US" sz="1300" dirty="0"/>
          </a:p>
        </p:txBody>
      </p:sp>
      <p:sp>
        <p:nvSpPr>
          <p:cNvPr id="29" name="Shape 27"/>
          <p:cNvSpPr/>
          <p:nvPr/>
        </p:nvSpPr>
        <p:spPr>
          <a:xfrm>
            <a:off x="640080" y="5623560"/>
            <a:ext cx="10908792" cy="713232"/>
          </a:xfrm>
          <a:prstGeom prst="roundRect">
            <a:avLst>
              <a:gd name="adj" fmla="val 7692"/>
            </a:avLst>
          </a:prstGeom>
          <a:solidFill>
            <a:srgbClr val="DFEEF0"/>
          </a:solidFill>
          <a:ln w="12700">
            <a:solidFill>
              <a:srgbClr val="DFEEF0"/>
            </a:solidFill>
            <a:prstDash val="solid"/>
          </a:ln>
          <a:effectLst>
            <a:outerShdw sx="100000" sy="100000" kx="0" ky="0" algn="bl" rotWithShape="0" blurRad="127000" dist="25400" dir="5400000">
              <a:srgbClr val="9AA6B2">
                <a:alpha val="22000"/>
              </a:srgbClr>
            </a:outerShdw>
          </a:effectLst>
        </p:spPr>
      </p:sp>
      <p:sp>
        <p:nvSpPr>
          <p:cNvPr id="30" name="Text 28"/>
          <p:cNvSpPr/>
          <p:nvPr/>
        </p:nvSpPr>
        <p:spPr>
          <a:xfrm>
            <a:off x="914400" y="5623560"/>
            <a:ext cx="10332720" cy="713232"/>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Test it yourself:  </a:t>
            </a:r>
            <a:pPr indent="0" marL="0">
              <a:buNone/>
            </a:pPr>
            <a:r>
              <a:rPr lang="en-US" sz="1300" dirty="0">
                <a:solidFill>
                  <a:srgbClr val="3A4551"/>
                </a:solidFill>
                <a:latin typeface="Calibri" pitchFamily="34" charset="0"/>
                <a:ea typeface="Calibri" pitchFamily="34" charset="-122"/>
                <a:cs typeface="Calibri" pitchFamily="34" charset="-120"/>
              </a:rPr>
              <a:t>“stir the mixture until it looks right” is a step, but not an algorithmic one — it is neither unambiguous nor guaranteed to finish.</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FOUNDATIONS</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Five characteristics every algorithm must satisfy</a:t>
            </a:r>
            <a:endParaRPr lang="en-US" sz="3000" dirty="0"/>
          </a:p>
        </p:txBody>
      </p:sp>
      <p:sp>
        <p:nvSpPr>
          <p:cNvPr id="4" name="Shape 2"/>
          <p:cNvSpPr/>
          <p:nvPr/>
        </p:nvSpPr>
        <p:spPr>
          <a:xfrm>
            <a:off x="640080" y="1325880"/>
            <a:ext cx="5303520" cy="1051560"/>
          </a:xfrm>
          <a:prstGeom prst="roundRect">
            <a:avLst>
              <a:gd name="adj" fmla="val 5217"/>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5" name="Shape 3"/>
          <p:cNvSpPr/>
          <p:nvPr/>
        </p:nvSpPr>
        <p:spPr>
          <a:xfrm>
            <a:off x="896112" y="1600200"/>
            <a:ext cx="502920" cy="502920"/>
          </a:xfrm>
          <a:prstGeom prst="ellipse">
            <a:avLst/>
          </a:prstGeom>
          <a:solidFill>
            <a:srgbClr val="0E7C86"/>
          </a:solidFill>
          <a:ln/>
        </p:spPr>
      </p:sp>
      <p:sp>
        <p:nvSpPr>
          <p:cNvPr id="6" name="Text 4"/>
          <p:cNvSpPr/>
          <p:nvPr/>
        </p:nvSpPr>
        <p:spPr>
          <a:xfrm>
            <a:off x="896112" y="16002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554480" y="1508760"/>
            <a:ext cx="4114800" cy="274320"/>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Input</a:t>
            </a:r>
            <a:endParaRPr lang="en-US" sz="1600" dirty="0"/>
          </a:p>
        </p:txBody>
      </p:sp>
      <p:sp>
        <p:nvSpPr>
          <p:cNvPr id="8" name="Text 6"/>
          <p:cNvSpPr/>
          <p:nvPr/>
        </p:nvSpPr>
        <p:spPr>
          <a:xfrm>
            <a:off x="1554480" y="1810512"/>
            <a:ext cx="4206240" cy="502920"/>
          </a:xfrm>
          <a:prstGeom prst="rect">
            <a:avLst/>
          </a:prstGeom>
          <a:noFill/>
          <a:ln/>
        </p:spPr>
        <p:txBody>
          <a:bodyPr wrap="square" lIns="0" tIns="0" rIns="0" bIns="0" rtlCol="0" anchor="t"/>
          <a:lstStyle/>
          <a:p>
            <a:pPr indent="0" marL="0">
              <a:lnSpc>
                <a:spcPts val="1500"/>
              </a:lnSpc>
              <a:buNone/>
            </a:pPr>
            <a:r>
              <a:rPr lang="en-US" sz="1200" dirty="0">
                <a:solidFill>
                  <a:srgbClr val="6B7784"/>
                </a:solidFill>
                <a:latin typeface="Calibri" pitchFamily="34" charset="0"/>
                <a:ea typeface="Calibri" pitchFamily="34" charset="-122"/>
                <a:cs typeface="Calibri" pitchFamily="34" charset="-120"/>
              </a:rPr>
              <a:t>Zero or more quantities are supplied externally.</a:t>
            </a:r>
            <a:endParaRPr lang="en-US" sz="1200" dirty="0"/>
          </a:p>
        </p:txBody>
      </p:sp>
      <p:sp>
        <p:nvSpPr>
          <p:cNvPr id="9" name="Shape 7"/>
          <p:cNvSpPr/>
          <p:nvPr/>
        </p:nvSpPr>
        <p:spPr>
          <a:xfrm>
            <a:off x="6245352" y="1325880"/>
            <a:ext cx="5303520" cy="1051560"/>
          </a:xfrm>
          <a:prstGeom prst="roundRect">
            <a:avLst>
              <a:gd name="adj" fmla="val 5217"/>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10" name="Shape 8"/>
          <p:cNvSpPr/>
          <p:nvPr/>
        </p:nvSpPr>
        <p:spPr>
          <a:xfrm>
            <a:off x="6501384" y="1600200"/>
            <a:ext cx="502920" cy="502920"/>
          </a:xfrm>
          <a:prstGeom prst="ellipse">
            <a:avLst/>
          </a:prstGeom>
          <a:solidFill>
            <a:srgbClr val="0E7C86"/>
          </a:solidFill>
          <a:ln/>
        </p:spPr>
      </p:sp>
      <p:sp>
        <p:nvSpPr>
          <p:cNvPr id="11" name="Text 9"/>
          <p:cNvSpPr/>
          <p:nvPr/>
        </p:nvSpPr>
        <p:spPr>
          <a:xfrm>
            <a:off x="6501384" y="16002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7159752" y="1508760"/>
            <a:ext cx="4114800" cy="274320"/>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Output</a:t>
            </a:r>
            <a:endParaRPr lang="en-US" sz="1600" dirty="0"/>
          </a:p>
        </p:txBody>
      </p:sp>
      <p:sp>
        <p:nvSpPr>
          <p:cNvPr id="13" name="Text 11"/>
          <p:cNvSpPr/>
          <p:nvPr/>
        </p:nvSpPr>
        <p:spPr>
          <a:xfrm>
            <a:off x="7159752" y="1810512"/>
            <a:ext cx="4206240" cy="502920"/>
          </a:xfrm>
          <a:prstGeom prst="rect">
            <a:avLst/>
          </a:prstGeom>
          <a:noFill/>
          <a:ln/>
        </p:spPr>
        <p:txBody>
          <a:bodyPr wrap="square" lIns="0" tIns="0" rIns="0" bIns="0" rtlCol="0" anchor="t"/>
          <a:lstStyle/>
          <a:p>
            <a:pPr indent="0" marL="0">
              <a:lnSpc>
                <a:spcPts val="1500"/>
              </a:lnSpc>
              <a:buNone/>
            </a:pPr>
            <a:r>
              <a:rPr lang="en-US" sz="1200" dirty="0">
                <a:solidFill>
                  <a:srgbClr val="6B7784"/>
                </a:solidFill>
                <a:latin typeface="Calibri" pitchFamily="34" charset="0"/>
                <a:ea typeface="Calibri" pitchFamily="34" charset="-122"/>
                <a:cs typeface="Calibri" pitchFamily="34" charset="-120"/>
              </a:rPr>
              <a:t>At least one quantity is produced — an algorithm that outputs nothing is useless.</a:t>
            </a:r>
            <a:endParaRPr lang="en-US" sz="1200" dirty="0"/>
          </a:p>
        </p:txBody>
      </p:sp>
      <p:sp>
        <p:nvSpPr>
          <p:cNvPr id="14" name="Shape 12"/>
          <p:cNvSpPr/>
          <p:nvPr/>
        </p:nvSpPr>
        <p:spPr>
          <a:xfrm>
            <a:off x="640080" y="2532888"/>
            <a:ext cx="5303520" cy="1051560"/>
          </a:xfrm>
          <a:prstGeom prst="roundRect">
            <a:avLst>
              <a:gd name="adj" fmla="val 5217"/>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15" name="Shape 13"/>
          <p:cNvSpPr/>
          <p:nvPr/>
        </p:nvSpPr>
        <p:spPr>
          <a:xfrm>
            <a:off x="896112" y="2807208"/>
            <a:ext cx="502920" cy="502920"/>
          </a:xfrm>
          <a:prstGeom prst="ellipse">
            <a:avLst/>
          </a:prstGeom>
          <a:solidFill>
            <a:srgbClr val="A85F0C"/>
          </a:solidFill>
          <a:ln/>
        </p:spPr>
      </p:sp>
      <p:sp>
        <p:nvSpPr>
          <p:cNvPr id="16" name="Text 14"/>
          <p:cNvSpPr/>
          <p:nvPr/>
        </p:nvSpPr>
        <p:spPr>
          <a:xfrm>
            <a:off x="896112" y="280720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554480" y="2715768"/>
            <a:ext cx="4114800" cy="274320"/>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Definiteness</a:t>
            </a:r>
            <a:endParaRPr lang="en-US" sz="1600" dirty="0"/>
          </a:p>
        </p:txBody>
      </p:sp>
      <p:sp>
        <p:nvSpPr>
          <p:cNvPr id="18" name="Text 16"/>
          <p:cNvSpPr/>
          <p:nvPr/>
        </p:nvSpPr>
        <p:spPr>
          <a:xfrm>
            <a:off x="1554480" y="3017520"/>
            <a:ext cx="4206240" cy="502920"/>
          </a:xfrm>
          <a:prstGeom prst="rect">
            <a:avLst/>
          </a:prstGeom>
          <a:noFill/>
          <a:ln/>
        </p:spPr>
        <p:txBody>
          <a:bodyPr wrap="square" lIns="0" tIns="0" rIns="0" bIns="0" rtlCol="0" anchor="t"/>
          <a:lstStyle/>
          <a:p>
            <a:pPr indent="0" marL="0">
              <a:lnSpc>
                <a:spcPts val="1500"/>
              </a:lnSpc>
              <a:buNone/>
            </a:pPr>
            <a:r>
              <a:rPr lang="en-US" sz="1200" dirty="0">
                <a:solidFill>
                  <a:srgbClr val="6B7784"/>
                </a:solidFill>
                <a:latin typeface="Calibri" pitchFamily="34" charset="0"/>
                <a:ea typeface="Calibri" pitchFamily="34" charset="-122"/>
                <a:cs typeface="Calibri" pitchFamily="34" charset="-120"/>
              </a:rPr>
              <a:t>Each instruction is clear and unambiguous; no step may be open to interpretation.</a:t>
            </a:r>
            <a:endParaRPr lang="en-US" sz="1200" dirty="0"/>
          </a:p>
        </p:txBody>
      </p:sp>
      <p:sp>
        <p:nvSpPr>
          <p:cNvPr id="19" name="Shape 17"/>
          <p:cNvSpPr/>
          <p:nvPr/>
        </p:nvSpPr>
        <p:spPr>
          <a:xfrm>
            <a:off x="6245352" y="2532888"/>
            <a:ext cx="5303520" cy="1051560"/>
          </a:xfrm>
          <a:prstGeom prst="roundRect">
            <a:avLst>
              <a:gd name="adj" fmla="val 5217"/>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20" name="Shape 18"/>
          <p:cNvSpPr/>
          <p:nvPr/>
        </p:nvSpPr>
        <p:spPr>
          <a:xfrm>
            <a:off x="6501384" y="2807208"/>
            <a:ext cx="502920" cy="502920"/>
          </a:xfrm>
          <a:prstGeom prst="ellipse">
            <a:avLst/>
          </a:prstGeom>
          <a:solidFill>
            <a:srgbClr val="A85F0C"/>
          </a:solidFill>
          <a:ln/>
        </p:spPr>
      </p:sp>
      <p:sp>
        <p:nvSpPr>
          <p:cNvPr id="21" name="Text 19"/>
          <p:cNvSpPr/>
          <p:nvPr/>
        </p:nvSpPr>
        <p:spPr>
          <a:xfrm>
            <a:off x="6501384" y="280720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7159752" y="2715768"/>
            <a:ext cx="4114800" cy="274320"/>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Finiteness</a:t>
            </a:r>
            <a:endParaRPr lang="en-US" sz="1600" dirty="0"/>
          </a:p>
        </p:txBody>
      </p:sp>
      <p:sp>
        <p:nvSpPr>
          <p:cNvPr id="23" name="Text 21"/>
          <p:cNvSpPr/>
          <p:nvPr/>
        </p:nvSpPr>
        <p:spPr>
          <a:xfrm>
            <a:off x="7159752" y="3017520"/>
            <a:ext cx="4206240" cy="502920"/>
          </a:xfrm>
          <a:prstGeom prst="rect">
            <a:avLst/>
          </a:prstGeom>
          <a:noFill/>
          <a:ln/>
        </p:spPr>
        <p:txBody>
          <a:bodyPr wrap="square" lIns="0" tIns="0" rIns="0" bIns="0" rtlCol="0" anchor="t"/>
          <a:lstStyle/>
          <a:p>
            <a:pPr indent="0" marL="0">
              <a:lnSpc>
                <a:spcPts val="1500"/>
              </a:lnSpc>
              <a:buNone/>
            </a:pPr>
            <a:r>
              <a:rPr lang="en-US" sz="1200" dirty="0">
                <a:solidFill>
                  <a:srgbClr val="6B7784"/>
                </a:solidFill>
                <a:latin typeface="Calibri" pitchFamily="34" charset="0"/>
                <a:ea typeface="Calibri" pitchFamily="34" charset="-122"/>
                <a:cs typeface="Calibri" pitchFamily="34" charset="-120"/>
              </a:rPr>
              <a:t>It terminates after a finite number of steps for every input.</a:t>
            </a:r>
            <a:endParaRPr lang="en-US" sz="1200" dirty="0"/>
          </a:p>
        </p:txBody>
      </p:sp>
      <p:sp>
        <p:nvSpPr>
          <p:cNvPr id="24" name="Shape 22"/>
          <p:cNvSpPr/>
          <p:nvPr/>
        </p:nvSpPr>
        <p:spPr>
          <a:xfrm>
            <a:off x="640080" y="3739896"/>
            <a:ext cx="5303520" cy="1051560"/>
          </a:xfrm>
          <a:prstGeom prst="roundRect">
            <a:avLst>
              <a:gd name="adj" fmla="val 5217"/>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25" name="Shape 23"/>
          <p:cNvSpPr/>
          <p:nvPr/>
        </p:nvSpPr>
        <p:spPr>
          <a:xfrm>
            <a:off x="896112" y="4014216"/>
            <a:ext cx="502920" cy="502920"/>
          </a:xfrm>
          <a:prstGeom prst="ellipse">
            <a:avLst/>
          </a:prstGeom>
          <a:solidFill>
            <a:srgbClr val="B3261E"/>
          </a:solidFill>
          <a:ln/>
        </p:spPr>
      </p:sp>
      <p:sp>
        <p:nvSpPr>
          <p:cNvPr id="26" name="Text 24"/>
          <p:cNvSpPr/>
          <p:nvPr/>
        </p:nvSpPr>
        <p:spPr>
          <a:xfrm>
            <a:off x="896112" y="401421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5"/>
          <p:cNvSpPr/>
          <p:nvPr/>
        </p:nvSpPr>
        <p:spPr>
          <a:xfrm>
            <a:off x="1554480" y="3922776"/>
            <a:ext cx="4114800" cy="274320"/>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Effectiveness</a:t>
            </a:r>
            <a:endParaRPr lang="en-US" sz="1600" dirty="0"/>
          </a:p>
        </p:txBody>
      </p:sp>
      <p:sp>
        <p:nvSpPr>
          <p:cNvPr id="28" name="Text 26"/>
          <p:cNvSpPr/>
          <p:nvPr/>
        </p:nvSpPr>
        <p:spPr>
          <a:xfrm>
            <a:off x="1554480" y="4224528"/>
            <a:ext cx="4206240" cy="502920"/>
          </a:xfrm>
          <a:prstGeom prst="rect">
            <a:avLst/>
          </a:prstGeom>
          <a:noFill/>
          <a:ln/>
        </p:spPr>
        <p:txBody>
          <a:bodyPr wrap="square" lIns="0" tIns="0" rIns="0" bIns="0" rtlCol="0" anchor="t"/>
          <a:lstStyle/>
          <a:p>
            <a:pPr indent="0" marL="0">
              <a:lnSpc>
                <a:spcPts val="1500"/>
              </a:lnSpc>
              <a:buNone/>
            </a:pPr>
            <a:r>
              <a:rPr lang="en-US" sz="1200" dirty="0">
                <a:solidFill>
                  <a:srgbClr val="6B7784"/>
                </a:solidFill>
                <a:latin typeface="Calibri" pitchFamily="34" charset="0"/>
                <a:ea typeface="Calibri" pitchFamily="34" charset="-122"/>
                <a:cs typeface="Calibri" pitchFamily="34" charset="-120"/>
              </a:rPr>
              <a:t>Every step is basic enough to be carried out, in principle, with pencil and paper.</a:t>
            </a:r>
            <a:endParaRPr lang="en-US" sz="1200" dirty="0"/>
          </a:p>
        </p:txBody>
      </p:sp>
      <p:sp>
        <p:nvSpPr>
          <p:cNvPr id="29" name="Shape 27"/>
          <p:cNvSpPr/>
          <p:nvPr/>
        </p:nvSpPr>
        <p:spPr>
          <a:xfrm>
            <a:off x="6245352" y="3739896"/>
            <a:ext cx="5303520" cy="1051560"/>
          </a:xfrm>
          <a:prstGeom prst="roundRect">
            <a:avLst>
              <a:gd name="adj" fmla="val 5217"/>
            </a:avLst>
          </a:prstGeom>
          <a:solidFill>
            <a:srgbClr val="1B2129"/>
          </a:solidFill>
          <a:ln/>
          <a:effectLst>
            <a:outerShdw sx="100000" sy="100000" kx="0" ky="0" algn="bl" rotWithShape="0" blurRad="127000" dist="25400" dir="5400000">
              <a:srgbClr val="9AA6B2">
                <a:alpha val="22000"/>
              </a:srgbClr>
            </a:outerShdw>
          </a:effectLst>
        </p:spPr>
      </p:sp>
      <p:sp>
        <p:nvSpPr>
          <p:cNvPr id="30" name="Text 28"/>
          <p:cNvSpPr/>
          <p:nvPr/>
        </p:nvSpPr>
        <p:spPr>
          <a:xfrm>
            <a:off x="6501384" y="3895344"/>
            <a:ext cx="4754880" cy="274320"/>
          </a:xfrm>
          <a:prstGeom prst="rect">
            <a:avLst/>
          </a:prstGeom>
          <a:noFill/>
          <a:ln/>
        </p:spPr>
        <p:txBody>
          <a:bodyPr wrap="square" lIns="0" tIns="0" rIns="0" bIns="0" rtlCol="0" anchor="t"/>
          <a:lstStyle/>
          <a:p>
            <a:pPr indent="0" marL="0">
              <a:buNone/>
            </a:pPr>
            <a:r>
              <a:rPr lang="en-US" sz="1200" b="1" dirty="0">
                <a:solidFill>
                  <a:srgbClr val="E8871E"/>
                </a:solidFill>
                <a:latin typeface="Calibri" pitchFamily="34" charset="0"/>
                <a:ea typeface="Calibri" pitchFamily="34" charset="-122"/>
                <a:cs typeface="Calibri" pitchFamily="34" charset="-120"/>
              </a:rPr>
              <a:t>Quick check for the class</a:t>
            </a:r>
            <a:endParaRPr lang="en-US" sz="1200" dirty="0"/>
          </a:p>
        </p:txBody>
      </p:sp>
      <p:sp>
        <p:nvSpPr>
          <p:cNvPr id="31" name="Text 29"/>
          <p:cNvSpPr/>
          <p:nvPr/>
        </p:nvSpPr>
        <p:spPr>
          <a:xfrm>
            <a:off x="6501384" y="4187952"/>
            <a:ext cx="4791456" cy="502920"/>
          </a:xfrm>
          <a:prstGeom prst="rect">
            <a:avLst/>
          </a:prstGeom>
          <a:noFill/>
          <a:ln/>
        </p:spPr>
        <p:txBody>
          <a:bodyPr wrap="square" lIns="0" tIns="0" rIns="0" bIns="0" rtlCol="0" anchor="t"/>
          <a:lstStyle/>
          <a:p>
            <a:pPr indent="0" marL="0">
              <a:lnSpc>
                <a:spcPts val="1500"/>
              </a:lnSpc>
              <a:buNone/>
            </a:pPr>
            <a:r>
              <a:rPr lang="en-US" sz="1200" dirty="0">
                <a:solidFill>
                  <a:srgbClr val="C9D2DC"/>
                </a:solidFill>
                <a:latin typeface="Calibri" pitchFamily="34" charset="0"/>
                <a:ea typeface="Calibri" pitchFamily="34" charset="-122"/>
                <a:cs typeface="Calibri" pitchFamily="34" charset="-120"/>
              </a:rPr>
              <a:t>Which criterion does “while (true) x = x + 1” violate?  And “add a pinch of salt”?</a:t>
            </a:r>
            <a:endParaRPr lang="en-US" sz="1200" dirty="0"/>
          </a:p>
        </p:txBody>
      </p:sp>
      <p:sp>
        <p:nvSpPr>
          <p:cNvPr id="32" name="Text 30"/>
          <p:cNvSpPr/>
          <p:nvPr/>
        </p:nvSpPr>
        <p:spPr>
          <a:xfrm>
            <a:off x="640080" y="6382512"/>
            <a:ext cx="7315200" cy="256032"/>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Knuth’s criteria — see T-1, Chapter 1</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FOUNDATIONS</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Algorithm, pseudocode and program — not the same thing</a:t>
            </a:r>
            <a:endParaRPr lang="en-US" sz="3000" dirty="0"/>
          </a:p>
        </p:txBody>
      </p:sp>
      <p:sp>
        <p:nvSpPr>
          <p:cNvPr id="4" name="Shape 2"/>
          <p:cNvSpPr/>
          <p:nvPr/>
        </p:nvSpPr>
        <p:spPr>
          <a:xfrm>
            <a:off x="640080" y="1325880"/>
            <a:ext cx="3456432" cy="3337560"/>
          </a:xfrm>
          <a:prstGeom prst="roundRect">
            <a:avLst>
              <a:gd name="adj" fmla="val 1644"/>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5" name="Shape 3"/>
          <p:cNvSpPr/>
          <p:nvPr/>
        </p:nvSpPr>
        <p:spPr>
          <a:xfrm>
            <a:off x="896112" y="1572768"/>
            <a:ext cx="457200" cy="457200"/>
          </a:xfrm>
          <a:prstGeom prst="ellipse">
            <a:avLst/>
          </a:prstGeom>
          <a:solidFill>
            <a:srgbClr val="0E7C86"/>
          </a:solidFill>
          <a:ln/>
        </p:spPr>
      </p:sp>
      <p:sp>
        <p:nvSpPr>
          <p:cNvPr id="6" name="Text 4"/>
          <p:cNvSpPr/>
          <p:nvPr/>
        </p:nvSpPr>
        <p:spPr>
          <a:xfrm>
            <a:off x="896112" y="15727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7" name="Text 5"/>
          <p:cNvSpPr/>
          <p:nvPr/>
        </p:nvSpPr>
        <p:spPr>
          <a:xfrm>
            <a:off x="1481328" y="1645920"/>
            <a:ext cx="2468880" cy="320040"/>
          </a:xfrm>
          <a:prstGeom prst="rect">
            <a:avLst/>
          </a:prstGeom>
          <a:noFill/>
          <a:ln/>
        </p:spPr>
        <p:txBody>
          <a:bodyPr wrap="square" lIns="0" tIns="0" rIns="0" bIns="0" rtlCol="0" anchor="t"/>
          <a:lstStyle/>
          <a:p>
            <a:pPr indent="0" marL="0">
              <a:buNone/>
            </a:pPr>
            <a:r>
              <a:rPr lang="en-US" sz="1800" b="1" dirty="0">
                <a:solidFill>
                  <a:srgbClr val="12161C"/>
                </a:solidFill>
                <a:latin typeface="Cambria" pitchFamily="34" charset="0"/>
                <a:ea typeface="Cambria" pitchFamily="34" charset="-122"/>
                <a:cs typeface="Cambria" pitchFamily="34" charset="-120"/>
              </a:rPr>
              <a:t>Algorithm</a:t>
            </a:r>
            <a:endParaRPr lang="en-US" sz="1800" dirty="0"/>
          </a:p>
        </p:txBody>
      </p:sp>
      <p:sp>
        <p:nvSpPr>
          <p:cNvPr id="8" name="Text 6"/>
          <p:cNvSpPr/>
          <p:nvPr/>
        </p:nvSpPr>
        <p:spPr>
          <a:xfrm>
            <a:off x="950976" y="2212848"/>
            <a:ext cx="2880360" cy="228600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3A4551"/>
                </a:solidFill>
                <a:latin typeface="Calibri" pitchFamily="34" charset="0"/>
                <a:ea typeface="Calibri" pitchFamily="34" charset="-122"/>
                <a:cs typeface="Calibri" pitchFamily="34" charset="-120"/>
              </a:rPr>
              <a:t>A step-by-step method</a:t>
            </a:r>
            <a:endParaRPr lang="en-US" sz="1250" dirty="0"/>
          </a:p>
          <a:p>
            <a:pPr marL="342900" indent="-342900">
              <a:spcAft>
                <a:spcPts val="700"/>
              </a:spcAft>
              <a:buSzPct val="100000"/>
              <a:buChar char="•"/>
            </a:pPr>
            <a:r>
              <a:rPr lang="en-US" sz="1250" dirty="0">
                <a:solidFill>
                  <a:srgbClr val="3A4551"/>
                </a:solidFill>
                <a:latin typeface="Calibri" pitchFamily="34" charset="0"/>
                <a:ea typeface="Calibri" pitchFamily="34" charset="-122"/>
                <a:cs typeface="Calibri" pitchFamily="34" charset="-120"/>
              </a:rPr>
              <a:t>Language independent</a:t>
            </a:r>
            <a:endParaRPr lang="en-US" sz="1250" dirty="0"/>
          </a:p>
          <a:p>
            <a:pPr marL="342900" indent="-342900">
              <a:spcAft>
                <a:spcPts val="700"/>
              </a:spcAft>
              <a:buSzPct val="100000"/>
              <a:buChar char="•"/>
            </a:pPr>
            <a:r>
              <a:rPr lang="en-US" sz="1250" dirty="0">
                <a:solidFill>
                  <a:srgbClr val="3A4551"/>
                </a:solidFill>
                <a:latin typeface="Calibri" pitchFamily="34" charset="0"/>
                <a:ea typeface="Calibri" pitchFamily="34" charset="-122"/>
                <a:cs typeface="Calibri" pitchFamily="34" charset="-120"/>
              </a:rPr>
              <a:t>May be described in English</a:t>
            </a:r>
            <a:endParaRPr lang="en-US" sz="1250" dirty="0"/>
          </a:p>
          <a:p>
            <a:pPr marL="342900" indent="-342900">
              <a:spcAft>
                <a:spcPts val="700"/>
              </a:spcAft>
              <a:buSzPct val="100000"/>
              <a:buChar char="•"/>
            </a:pPr>
            <a:r>
              <a:rPr lang="en-US" sz="1250" dirty="0">
                <a:solidFill>
                  <a:srgbClr val="3A4551"/>
                </a:solidFill>
                <a:latin typeface="Calibri" pitchFamily="34" charset="0"/>
                <a:ea typeface="Calibri" pitchFamily="34" charset="-122"/>
                <a:cs typeface="Calibri" pitchFamily="34" charset="-120"/>
              </a:rPr>
              <a:t>Must terminate</a:t>
            </a:r>
            <a:endParaRPr lang="en-US" sz="1250" dirty="0"/>
          </a:p>
          <a:p>
            <a:pPr marL="342900" indent="-342900">
              <a:spcAft>
                <a:spcPts val="700"/>
              </a:spcAft>
              <a:buSzPct val="100000"/>
              <a:buChar char="•"/>
            </a:pPr>
            <a:r>
              <a:rPr lang="en-US" sz="1250" dirty="0">
                <a:solidFill>
                  <a:srgbClr val="3A4551"/>
                </a:solidFill>
                <a:latin typeface="Calibri" pitchFamily="34" charset="0"/>
                <a:ea typeface="Calibri" pitchFamily="34" charset="-122"/>
                <a:cs typeface="Calibri" pitchFamily="34" charset="-120"/>
              </a:rPr>
              <a:t>Analysed mathematically</a:t>
            </a:r>
            <a:endParaRPr lang="en-US" sz="1250" dirty="0"/>
          </a:p>
        </p:txBody>
      </p:sp>
      <p:sp>
        <p:nvSpPr>
          <p:cNvPr id="9" name="Shape 7"/>
          <p:cNvSpPr/>
          <p:nvPr/>
        </p:nvSpPr>
        <p:spPr>
          <a:xfrm>
            <a:off x="4370832" y="1325880"/>
            <a:ext cx="3456432" cy="3337560"/>
          </a:xfrm>
          <a:prstGeom prst="roundRect">
            <a:avLst>
              <a:gd name="adj" fmla="val 1644"/>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10" name="Shape 8"/>
          <p:cNvSpPr/>
          <p:nvPr/>
        </p:nvSpPr>
        <p:spPr>
          <a:xfrm>
            <a:off x="4626864" y="1572768"/>
            <a:ext cx="457200" cy="457200"/>
          </a:xfrm>
          <a:prstGeom prst="ellipse">
            <a:avLst/>
          </a:prstGeom>
          <a:solidFill>
            <a:srgbClr val="A85F0C"/>
          </a:solidFill>
          <a:ln/>
        </p:spPr>
      </p:sp>
      <p:sp>
        <p:nvSpPr>
          <p:cNvPr id="11" name="Text 9"/>
          <p:cNvSpPr/>
          <p:nvPr/>
        </p:nvSpPr>
        <p:spPr>
          <a:xfrm>
            <a:off x="4626864" y="15727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a:t>
            </a:r>
            <a:endParaRPr lang="en-US" sz="1500" dirty="0"/>
          </a:p>
        </p:txBody>
      </p:sp>
      <p:sp>
        <p:nvSpPr>
          <p:cNvPr id="12" name="Text 10"/>
          <p:cNvSpPr/>
          <p:nvPr/>
        </p:nvSpPr>
        <p:spPr>
          <a:xfrm>
            <a:off x="5212080" y="1645920"/>
            <a:ext cx="2468880" cy="320040"/>
          </a:xfrm>
          <a:prstGeom prst="rect">
            <a:avLst/>
          </a:prstGeom>
          <a:noFill/>
          <a:ln/>
        </p:spPr>
        <p:txBody>
          <a:bodyPr wrap="square" lIns="0" tIns="0" rIns="0" bIns="0" rtlCol="0" anchor="t"/>
          <a:lstStyle/>
          <a:p>
            <a:pPr indent="0" marL="0">
              <a:buNone/>
            </a:pPr>
            <a:r>
              <a:rPr lang="en-US" sz="1800" b="1" dirty="0">
                <a:solidFill>
                  <a:srgbClr val="12161C"/>
                </a:solidFill>
                <a:latin typeface="Cambria" pitchFamily="34" charset="0"/>
                <a:ea typeface="Cambria" pitchFamily="34" charset="-122"/>
                <a:cs typeface="Cambria" pitchFamily="34" charset="-120"/>
              </a:rPr>
              <a:t>Pseudocode</a:t>
            </a:r>
            <a:endParaRPr lang="en-US" sz="1800" dirty="0"/>
          </a:p>
        </p:txBody>
      </p:sp>
      <p:sp>
        <p:nvSpPr>
          <p:cNvPr id="13" name="Text 11"/>
          <p:cNvSpPr/>
          <p:nvPr/>
        </p:nvSpPr>
        <p:spPr>
          <a:xfrm>
            <a:off x="4681728" y="2212848"/>
            <a:ext cx="2880360" cy="228600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3A4551"/>
                </a:solidFill>
                <a:latin typeface="Calibri" pitchFamily="34" charset="0"/>
                <a:ea typeface="Calibri" pitchFamily="34" charset="-122"/>
                <a:cs typeface="Calibri" pitchFamily="34" charset="-120"/>
              </a:rPr>
              <a:t>A structured way to write it</a:t>
            </a:r>
            <a:endParaRPr lang="en-US" sz="1250" dirty="0"/>
          </a:p>
          <a:p>
            <a:pPr marL="342900" indent="-342900">
              <a:spcAft>
                <a:spcPts val="700"/>
              </a:spcAft>
              <a:buSzPct val="100000"/>
              <a:buChar char="•"/>
            </a:pPr>
            <a:r>
              <a:rPr lang="en-US" sz="1250" dirty="0">
                <a:solidFill>
                  <a:srgbClr val="3A4551"/>
                </a:solidFill>
                <a:latin typeface="Calibri" pitchFamily="34" charset="0"/>
                <a:ea typeface="Calibri" pitchFamily="34" charset="-122"/>
                <a:cs typeface="Calibri" pitchFamily="34" charset="-120"/>
              </a:rPr>
              <a:t>Loops and conditions, no syntax rules</a:t>
            </a:r>
            <a:endParaRPr lang="en-US" sz="1250" dirty="0"/>
          </a:p>
          <a:p>
            <a:pPr marL="342900" indent="-342900">
              <a:spcAft>
                <a:spcPts val="700"/>
              </a:spcAft>
              <a:buSzPct val="100000"/>
              <a:buChar char="•"/>
            </a:pPr>
            <a:r>
              <a:rPr lang="en-US" sz="1250" dirty="0">
                <a:solidFill>
                  <a:srgbClr val="3A4551"/>
                </a:solidFill>
                <a:latin typeface="Calibri" pitchFamily="34" charset="0"/>
                <a:ea typeface="Calibri" pitchFamily="34" charset="-122"/>
                <a:cs typeface="Calibri" pitchFamily="34" charset="-120"/>
              </a:rPr>
              <a:t>Bridges idea and code</a:t>
            </a:r>
            <a:endParaRPr lang="en-US" sz="1250" dirty="0"/>
          </a:p>
          <a:p>
            <a:pPr marL="342900" indent="-342900">
              <a:spcAft>
                <a:spcPts val="700"/>
              </a:spcAft>
              <a:buSzPct val="100000"/>
              <a:buChar char="•"/>
            </a:pPr>
            <a:r>
              <a:rPr lang="en-US" sz="1250" dirty="0">
                <a:solidFill>
                  <a:srgbClr val="3A4551"/>
                </a:solidFill>
                <a:latin typeface="Calibri" pitchFamily="34" charset="0"/>
                <a:ea typeface="Calibri" pitchFamily="34" charset="-122"/>
                <a:cs typeface="Calibri" pitchFamily="34" charset="-120"/>
              </a:rPr>
              <a:t>What we use in this course</a:t>
            </a:r>
            <a:endParaRPr lang="en-US" sz="1250" dirty="0"/>
          </a:p>
          <a:p>
            <a:pPr marL="342900" indent="-342900">
              <a:spcAft>
                <a:spcPts val="700"/>
              </a:spcAft>
              <a:buSzPct val="100000"/>
              <a:buChar char="•"/>
            </a:pPr>
            <a:r>
              <a:rPr lang="en-US" sz="1250" dirty="0">
                <a:solidFill>
                  <a:srgbClr val="3A4551"/>
                </a:solidFill>
                <a:latin typeface="Calibri" pitchFamily="34" charset="0"/>
                <a:ea typeface="Calibri" pitchFamily="34" charset="-122"/>
                <a:cs typeface="Calibri" pitchFamily="34" charset="-120"/>
              </a:rPr>
              <a:t>What exams expect</a:t>
            </a:r>
            <a:endParaRPr lang="en-US" sz="1250" dirty="0"/>
          </a:p>
        </p:txBody>
      </p:sp>
      <p:sp>
        <p:nvSpPr>
          <p:cNvPr id="14" name="Shape 12"/>
          <p:cNvSpPr/>
          <p:nvPr/>
        </p:nvSpPr>
        <p:spPr>
          <a:xfrm>
            <a:off x="8101584" y="1325880"/>
            <a:ext cx="3456432" cy="3337560"/>
          </a:xfrm>
          <a:prstGeom prst="roundRect">
            <a:avLst>
              <a:gd name="adj" fmla="val 1644"/>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15" name="Shape 13"/>
          <p:cNvSpPr/>
          <p:nvPr/>
        </p:nvSpPr>
        <p:spPr>
          <a:xfrm>
            <a:off x="8357616" y="1572768"/>
            <a:ext cx="457200" cy="457200"/>
          </a:xfrm>
          <a:prstGeom prst="ellipse">
            <a:avLst/>
          </a:prstGeom>
          <a:solidFill>
            <a:srgbClr val="B3261E"/>
          </a:solidFill>
          <a:ln/>
        </p:spPr>
      </p:sp>
      <p:sp>
        <p:nvSpPr>
          <p:cNvPr id="16" name="Text 14"/>
          <p:cNvSpPr/>
          <p:nvPr/>
        </p:nvSpPr>
        <p:spPr>
          <a:xfrm>
            <a:off x="8357616" y="15727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5"/>
          <p:cNvSpPr/>
          <p:nvPr/>
        </p:nvSpPr>
        <p:spPr>
          <a:xfrm>
            <a:off x="8942832" y="1645920"/>
            <a:ext cx="2468880" cy="320040"/>
          </a:xfrm>
          <a:prstGeom prst="rect">
            <a:avLst/>
          </a:prstGeom>
          <a:noFill/>
          <a:ln/>
        </p:spPr>
        <p:txBody>
          <a:bodyPr wrap="square" lIns="0" tIns="0" rIns="0" bIns="0" rtlCol="0" anchor="t"/>
          <a:lstStyle/>
          <a:p>
            <a:pPr indent="0" marL="0">
              <a:buNone/>
            </a:pPr>
            <a:r>
              <a:rPr lang="en-US" sz="1800" b="1" dirty="0">
                <a:solidFill>
                  <a:srgbClr val="12161C"/>
                </a:solidFill>
                <a:latin typeface="Cambria" pitchFamily="34" charset="0"/>
                <a:ea typeface="Cambria" pitchFamily="34" charset="-122"/>
                <a:cs typeface="Cambria" pitchFamily="34" charset="-120"/>
              </a:rPr>
              <a:t>Program</a:t>
            </a:r>
            <a:endParaRPr lang="en-US" sz="1800" dirty="0"/>
          </a:p>
        </p:txBody>
      </p:sp>
      <p:sp>
        <p:nvSpPr>
          <p:cNvPr id="18" name="Text 16"/>
          <p:cNvSpPr/>
          <p:nvPr/>
        </p:nvSpPr>
        <p:spPr>
          <a:xfrm>
            <a:off x="8412480" y="2212848"/>
            <a:ext cx="2880360" cy="228600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3A4551"/>
                </a:solidFill>
                <a:latin typeface="Calibri" pitchFamily="34" charset="0"/>
                <a:ea typeface="Calibri" pitchFamily="34" charset="-122"/>
                <a:cs typeface="Calibri" pitchFamily="34" charset="-120"/>
              </a:rPr>
              <a:t>An implementation</a:t>
            </a:r>
            <a:endParaRPr lang="en-US" sz="1250" dirty="0"/>
          </a:p>
          <a:p>
            <a:pPr marL="342900" indent="-342900">
              <a:spcAft>
                <a:spcPts val="700"/>
              </a:spcAft>
              <a:buSzPct val="100000"/>
              <a:buChar char="•"/>
            </a:pPr>
            <a:r>
              <a:rPr lang="en-US" sz="1250" dirty="0">
                <a:solidFill>
                  <a:srgbClr val="3A4551"/>
                </a:solidFill>
                <a:latin typeface="Calibri" pitchFamily="34" charset="0"/>
                <a:ea typeface="Calibri" pitchFamily="34" charset="-122"/>
                <a:cs typeface="Calibri" pitchFamily="34" charset="-120"/>
              </a:rPr>
              <a:t>Bound to a language</a:t>
            </a:r>
            <a:endParaRPr lang="en-US" sz="1250" dirty="0"/>
          </a:p>
          <a:p>
            <a:pPr marL="342900" indent="-342900">
              <a:spcAft>
                <a:spcPts val="700"/>
              </a:spcAft>
              <a:buSzPct val="100000"/>
              <a:buChar char="•"/>
            </a:pPr>
            <a:r>
              <a:rPr lang="en-US" sz="1250" dirty="0">
                <a:solidFill>
                  <a:srgbClr val="3A4551"/>
                </a:solidFill>
                <a:latin typeface="Calibri" pitchFamily="34" charset="0"/>
                <a:ea typeface="Calibri" pitchFamily="34" charset="-122"/>
                <a:cs typeface="Calibri" pitchFamily="34" charset="-120"/>
              </a:rPr>
              <a:t>Compiler and hardware dependent</a:t>
            </a:r>
            <a:endParaRPr lang="en-US" sz="1250" dirty="0"/>
          </a:p>
          <a:p>
            <a:pPr marL="342900" indent="-342900">
              <a:spcAft>
                <a:spcPts val="700"/>
              </a:spcAft>
              <a:buSzPct val="100000"/>
              <a:buChar char="•"/>
            </a:pPr>
            <a:r>
              <a:rPr lang="en-US" sz="1250" dirty="0">
                <a:solidFill>
                  <a:srgbClr val="3A4551"/>
                </a:solidFill>
                <a:latin typeface="Calibri" pitchFamily="34" charset="0"/>
                <a:ea typeface="Calibri" pitchFamily="34" charset="-122"/>
                <a:cs typeface="Calibri" pitchFamily="34" charset="-120"/>
              </a:rPr>
              <a:t>May run forever (an OS does)</a:t>
            </a:r>
            <a:endParaRPr lang="en-US" sz="1250" dirty="0"/>
          </a:p>
          <a:p>
            <a:pPr marL="342900" indent="-342900">
              <a:spcAft>
                <a:spcPts val="700"/>
              </a:spcAft>
              <a:buSzPct val="100000"/>
              <a:buChar char="•"/>
            </a:pPr>
            <a:r>
              <a:rPr lang="en-US" sz="1250" dirty="0">
                <a:solidFill>
                  <a:srgbClr val="3A4551"/>
                </a:solidFill>
                <a:latin typeface="Calibri" pitchFamily="34" charset="0"/>
                <a:ea typeface="Calibri" pitchFamily="34" charset="-122"/>
                <a:cs typeface="Calibri" pitchFamily="34" charset="-120"/>
              </a:rPr>
              <a:t>Measured by a stopwatch</a:t>
            </a:r>
            <a:endParaRPr lang="en-US" sz="1250" dirty="0"/>
          </a:p>
        </p:txBody>
      </p:sp>
      <p:sp>
        <p:nvSpPr>
          <p:cNvPr id="19" name="Shape 17"/>
          <p:cNvSpPr/>
          <p:nvPr/>
        </p:nvSpPr>
        <p:spPr>
          <a:xfrm>
            <a:off x="640080" y="4892040"/>
            <a:ext cx="10908792" cy="822960"/>
          </a:xfrm>
          <a:prstGeom prst="roundRect">
            <a:avLst>
              <a:gd name="adj" fmla="val 6667"/>
            </a:avLst>
          </a:prstGeom>
          <a:solidFill>
            <a:srgbClr val="FDF0E0"/>
          </a:solidFill>
          <a:ln w="12700">
            <a:solidFill>
              <a:srgbClr val="FDF0E0"/>
            </a:solidFill>
            <a:prstDash val="solid"/>
          </a:ln>
          <a:effectLst>
            <a:outerShdw sx="100000" sy="100000" kx="0" ky="0" algn="bl" rotWithShape="0" blurRad="127000" dist="25400" dir="5400000">
              <a:srgbClr val="9AA6B2">
                <a:alpha val="22000"/>
              </a:srgbClr>
            </a:outerShdw>
          </a:effectLst>
        </p:spPr>
      </p:sp>
      <p:sp>
        <p:nvSpPr>
          <p:cNvPr id="20" name="Text 18"/>
          <p:cNvSpPr/>
          <p:nvPr/>
        </p:nvSpPr>
        <p:spPr>
          <a:xfrm>
            <a:off x="914400" y="4892040"/>
            <a:ext cx="10332720" cy="822960"/>
          </a:xfrm>
          <a:prstGeom prst="rect">
            <a:avLst/>
          </a:prstGeom>
          <a:noFill/>
          <a:ln/>
        </p:spPr>
        <p:txBody>
          <a:bodyPr wrap="square" lIns="0" tIns="0" rIns="0" bIns="0" rtlCol="0" anchor="ctr"/>
          <a:lstStyle/>
          <a:p>
            <a:pPr indent="0" marL="0">
              <a:lnSpc>
                <a:spcPts val="1800"/>
              </a:lnSpc>
              <a:buNone/>
            </a:pPr>
            <a:r>
              <a:rPr lang="en-US" sz="1350" b="1" dirty="0">
                <a:solidFill>
                  <a:srgbClr val="A85F0C"/>
                </a:solidFill>
                <a:latin typeface="Calibri" pitchFamily="34" charset="0"/>
                <a:ea typeface="Calibri" pitchFamily="34" charset="-122"/>
                <a:cs typeface="Calibri" pitchFamily="34" charset="-120"/>
              </a:rPr>
              <a:t>Key idea:  </a:t>
            </a:r>
            <a:pPr indent="0" marL="0">
              <a:lnSpc>
                <a:spcPts val="1800"/>
              </a:lnSpc>
              <a:buNone/>
            </a:pPr>
            <a:r>
              <a:rPr lang="en-US" sz="1350" dirty="0">
                <a:solidFill>
                  <a:srgbClr val="3A4551"/>
                </a:solidFill>
                <a:latin typeface="Calibri" pitchFamily="34" charset="0"/>
                <a:ea typeface="Calibri" pitchFamily="34" charset="-122"/>
                <a:cs typeface="Calibri" pitchFamily="34" charset="-120"/>
              </a:rPr>
              <a:t>we analyse the </a:t>
            </a:r>
            <a:pPr indent="0" marL="0">
              <a:lnSpc>
                <a:spcPts val="1800"/>
              </a:lnSpc>
              <a:buNone/>
            </a:pPr>
            <a:r>
              <a:rPr lang="en-US" sz="1350" b="1" dirty="0">
                <a:solidFill>
                  <a:srgbClr val="12161C"/>
                </a:solidFill>
                <a:latin typeface="Calibri" pitchFamily="34" charset="0"/>
                <a:ea typeface="Calibri" pitchFamily="34" charset="-122"/>
                <a:cs typeface="Calibri" pitchFamily="34" charset="-120"/>
              </a:rPr>
              <a:t>algorithm</a:t>
            </a:r>
            <a:pPr indent="0" marL="0">
              <a:lnSpc>
                <a:spcPts val="1800"/>
              </a:lnSpc>
              <a:buNone/>
            </a:pPr>
            <a:r>
              <a:rPr lang="en-US" sz="1350" dirty="0">
                <a:solidFill>
                  <a:srgbClr val="3A4551"/>
                </a:solidFill>
                <a:latin typeface="Calibri" pitchFamily="34" charset="0"/>
                <a:ea typeface="Calibri" pitchFamily="34" charset="-122"/>
                <a:cs typeface="Calibri" pitchFamily="34" charset="-120"/>
              </a:rPr>
              <a:t>, not the program. That is why a fast machine cannot rescue a bad algorithm — it only shifts the constant, never the growth rate.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FOUNDATIONS</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How we will write algorithms in this course</a:t>
            </a:r>
            <a:endParaRPr lang="en-US" sz="3000" dirty="0"/>
          </a:p>
        </p:txBody>
      </p:sp>
      <p:sp>
        <p:nvSpPr>
          <p:cNvPr id="4" name="Shape 2"/>
          <p:cNvSpPr/>
          <p:nvPr/>
        </p:nvSpPr>
        <p:spPr>
          <a:xfrm>
            <a:off x="640080" y="1325880"/>
            <a:ext cx="6400800" cy="2378583"/>
          </a:xfrm>
          <a:prstGeom prst="roundRect">
            <a:avLst>
              <a:gd name="adj" fmla="val 1922"/>
            </a:avLst>
          </a:prstGeom>
          <a:solidFill>
            <a:srgbClr val="171C24"/>
          </a:solidFill>
          <a:ln/>
          <a:effectLst>
            <a:outerShdw sx="100000" sy="100000" kx="0" ky="0" algn="bl" rotWithShape="0" blurRad="101600" dist="25400" dir="5400000">
              <a:srgbClr val="9AA6B2">
                <a:alpha val="30000"/>
              </a:srgbClr>
            </a:outerShdw>
          </a:effectLst>
        </p:spPr>
      </p:sp>
      <p:sp>
        <p:nvSpPr>
          <p:cNvPr id="5" name="Text 3"/>
          <p:cNvSpPr/>
          <p:nvPr/>
        </p:nvSpPr>
        <p:spPr>
          <a:xfrm>
            <a:off x="804672" y="1453896"/>
            <a:ext cx="6071616" cy="2122551"/>
          </a:xfrm>
          <a:prstGeom prst="rect">
            <a:avLst/>
          </a:prstGeom>
          <a:noFill/>
          <a:ln/>
        </p:spPr>
        <p:txBody>
          <a:bodyPr wrap="square" lIns="0" tIns="0" rIns="0" bIns="0" rtlCol="0" anchor="t"/>
          <a:lstStyle/>
          <a:p>
            <a:pPr indent="0" marL="0">
              <a:lnSpc>
                <a:spcPts val="1809"/>
              </a:lnSpc>
              <a:buNone/>
            </a:pPr>
            <a:r>
              <a:rPr lang="en-US" sz="1350" b="1" dirty="0">
                <a:solidFill>
                  <a:srgbClr val="E8871E"/>
                </a:solidFill>
                <a:latin typeface="Courier New" pitchFamily="34" charset="0"/>
                <a:ea typeface="Courier New" pitchFamily="34" charset="-122"/>
                <a:cs typeface="Courier New" pitchFamily="34" charset="-120"/>
              </a:rPr>
              <a:t>Algorithm</a:t>
            </a:r>
            <a:pPr indent="0" marL="0">
              <a:lnSpc>
                <a:spcPts val="1809"/>
              </a:lnSpc>
              <a:buNone/>
            </a:pPr>
            <a:r>
              <a:rPr lang="en-US" sz="1350" dirty="0">
                <a:solidFill>
                  <a:srgbClr val="E6EAF0"/>
                </a:solidFill>
                <a:latin typeface="Courier New" pitchFamily="34" charset="0"/>
                <a:ea typeface="Courier New" pitchFamily="34" charset="-122"/>
                <a:cs typeface="Courier New" pitchFamily="34" charset="-120"/>
              </a:rPr>
              <a:t> SumOfArray(a, n)</a:t>
            </a:r>
            <a:endParaRPr lang="en-US" sz="1350" dirty="0"/>
          </a:p>
          <a:p>
            <a:pPr indent="0" marL="0">
              <a:lnSpc>
                <a:spcPts val="1809"/>
              </a:lnSpc>
              <a:buNone/>
            </a:pPr>
            <a:r>
              <a:rPr lang="en-US" sz="1350" i="1" dirty="0">
                <a:solidFill>
                  <a:srgbClr val="7C8798"/>
                </a:solidFill>
                <a:latin typeface="Courier New" pitchFamily="34" charset="0"/>
                <a:ea typeface="Courier New" pitchFamily="34" charset="-122"/>
                <a:cs typeface="Courier New" pitchFamily="34" charset="-120"/>
              </a:rPr>
              <a:t>// Input : array a[1..n] of n numbers</a:t>
            </a:r>
            <a:endParaRPr lang="en-US" sz="1350" dirty="0"/>
          </a:p>
          <a:p>
            <a:pPr indent="0" marL="0">
              <a:lnSpc>
                <a:spcPts val="1809"/>
              </a:lnSpc>
              <a:buNone/>
            </a:pPr>
            <a:r>
              <a:rPr lang="en-US" sz="1350" i="1" dirty="0">
                <a:solidFill>
                  <a:srgbClr val="7C8798"/>
                </a:solidFill>
                <a:latin typeface="Courier New" pitchFamily="34" charset="0"/>
                <a:ea typeface="Courier New" pitchFamily="34" charset="-122"/>
                <a:cs typeface="Courier New" pitchFamily="34" charset="-120"/>
              </a:rPr>
              <a:t>// Output: the sum of all elements</a:t>
            </a:r>
            <a:endParaRPr lang="en-US" sz="1350" dirty="0"/>
          </a:p>
          <a:p>
            <a:pPr indent="0" marL="0">
              <a:lnSpc>
                <a:spcPts val="1809"/>
              </a:lnSpc>
              <a:buNone/>
            </a:pPr>
            <a:r>
              <a:rPr lang="en-US" sz="1350" dirty="0">
                <a:solidFill>
                  <a:srgbClr val="E6EAF0"/>
                </a:solidFill>
                <a:latin typeface="Courier New" pitchFamily="34" charset="0"/>
                <a:ea typeface="Courier New" pitchFamily="34" charset="-122"/>
                <a:cs typeface="Courier New" pitchFamily="34" charset="-120"/>
              </a:rPr>
              <a:t>{</a:t>
            </a:r>
            <a:endParaRPr lang="en-US" sz="1350" dirty="0"/>
          </a:p>
          <a:p>
            <a:pPr indent="0" marL="0">
              <a:lnSpc>
                <a:spcPts val="1809"/>
              </a:lnSpc>
              <a:buNone/>
            </a:pPr>
            <a:r>
              <a:rPr lang="en-US" sz="1350" dirty="0">
                <a:solidFill>
                  <a:srgbClr val="E6EAF0"/>
                </a:solidFill>
                <a:latin typeface="Courier New" pitchFamily="34" charset="0"/>
                <a:ea typeface="Courier New" pitchFamily="34" charset="-122"/>
                <a:cs typeface="Courier New" pitchFamily="34" charset="-120"/>
              </a:rPr>
              <a:t>   s := 0.0;                 </a:t>
            </a:r>
            <a:pPr indent="0" marL="0">
              <a:lnSpc>
                <a:spcPts val="1809"/>
              </a:lnSpc>
              <a:buNone/>
            </a:pPr>
            <a:r>
              <a:rPr lang="en-US" sz="1350" i="1" dirty="0">
                <a:solidFill>
                  <a:srgbClr val="7C8798"/>
                </a:solidFill>
                <a:latin typeface="Courier New" pitchFamily="34" charset="0"/>
                <a:ea typeface="Courier New" pitchFamily="34" charset="-122"/>
                <a:cs typeface="Courier New" pitchFamily="34" charset="-120"/>
              </a:rPr>
              <a:t>// 1 unit</a:t>
            </a:r>
            <a:endParaRPr lang="en-US" sz="1350" dirty="0"/>
          </a:p>
          <a:p>
            <a:pPr indent="0" marL="0">
              <a:lnSpc>
                <a:spcPts val="1809"/>
              </a:lnSpc>
              <a:buNone/>
            </a:pPr>
            <a:r>
              <a:rPr lang="en-US" sz="1350" dirty="0">
                <a:solidFill>
                  <a:srgbClr val="E6EAF0"/>
                </a:solidFill>
                <a:latin typeface="Courier New" pitchFamily="34" charset="0"/>
                <a:ea typeface="Courier New" pitchFamily="34" charset="-122"/>
                <a:cs typeface="Courier New" pitchFamily="34" charset="-120"/>
              </a:rPr>
              <a:t>   </a:t>
            </a:r>
            <a:pPr indent="0" marL="0">
              <a:lnSpc>
                <a:spcPts val="1809"/>
              </a:lnSpc>
              <a:buNone/>
            </a:pPr>
            <a:r>
              <a:rPr lang="en-US" sz="1350" b="1" dirty="0">
                <a:solidFill>
                  <a:srgbClr val="E8871E"/>
                </a:solidFill>
                <a:latin typeface="Courier New" pitchFamily="34" charset="0"/>
                <a:ea typeface="Courier New" pitchFamily="34" charset="-122"/>
                <a:cs typeface="Courier New" pitchFamily="34" charset="-120"/>
              </a:rPr>
              <a:t>for</a:t>
            </a:r>
            <a:pPr indent="0" marL="0">
              <a:lnSpc>
                <a:spcPts val="1809"/>
              </a:lnSpc>
              <a:buNone/>
            </a:pPr>
            <a:r>
              <a:rPr lang="en-US" sz="1350" dirty="0">
                <a:solidFill>
                  <a:srgbClr val="E6EAF0"/>
                </a:solidFill>
                <a:latin typeface="Courier New" pitchFamily="34" charset="0"/>
                <a:ea typeface="Courier New" pitchFamily="34" charset="-122"/>
                <a:cs typeface="Courier New" pitchFamily="34" charset="-120"/>
              </a:rPr>
              <a:t> i := 1 to n </a:t>
            </a:r>
            <a:pPr indent="0" marL="0">
              <a:lnSpc>
                <a:spcPts val="1809"/>
              </a:lnSpc>
              <a:buNone/>
            </a:pPr>
            <a:r>
              <a:rPr lang="en-US" sz="1350" b="1" dirty="0">
                <a:solidFill>
                  <a:srgbClr val="E8871E"/>
                </a:solidFill>
                <a:latin typeface="Courier New" pitchFamily="34" charset="0"/>
                <a:ea typeface="Courier New" pitchFamily="34" charset="-122"/>
                <a:cs typeface="Courier New" pitchFamily="34" charset="-120"/>
              </a:rPr>
              <a:t>do</a:t>
            </a:r>
            <a:pPr indent="0" marL="0">
              <a:lnSpc>
                <a:spcPts val="1809"/>
              </a:lnSpc>
              <a:buNone/>
            </a:pPr>
            <a:r>
              <a:rPr lang="en-US" sz="1350" dirty="0">
                <a:solidFill>
                  <a:srgbClr val="E6EAF0"/>
                </a:solidFill>
                <a:latin typeface="Courier New" pitchFamily="34" charset="0"/>
                <a:ea typeface="Courier New" pitchFamily="34" charset="-122"/>
                <a:cs typeface="Courier New" pitchFamily="34" charset="-120"/>
              </a:rPr>
              <a:t>        </a:t>
            </a:r>
            <a:pPr indent="0" marL="0">
              <a:lnSpc>
                <a:spcPts val="1809"/>
              </a:lnSpc>
              <a:buNone/>
            </a:pPr>
            <a:r>
              <a:rPr lang="en-US" sz="1350" i="1" dirty="0">
                <a:solidFill>
                  <a:srgbClr val="7C8798"/>
                </a:solidFill>
                <a:latin typeface="Courier New" pitchFamily="34" charset="0"/>
                <a:ea typeface="Courier New" pitchFamily="34" charset="-122"/>
                <a:cs typeface="Courier New" pitchFamily="34" charset="-120"/>
              </a:rPr>
              <a:t>// n + 1 tests</a:t>
            </a:r>
            <a:endParaRPr lang="en-US" sz="1350" dirty="0"/>
          </a:p>
          <a:p>
            <a:pPr indent="0" marL="0">
              <a:lnSpc>
                <a:spcPts val="1809"/>
              </a:lnSpc>
              <a:buNone/>
            </a:pPr>
            <a:r>
              <a:rPr lang="en-US" sz="1350" dirty="0">
                <a:solidFill>
                  <a:srgbClr val="E6EAF0"/>
                </a:solidFill>
                <a:latin typeface="Courier New" pitchFamily="34" charset="0"/>
                <a:ea typeface="Courier New" pitchFamily="34" charset="-122"/>
                <a:cs typeface="Courier New" pitchFamily="34" charset="-120"/>
              </a:rPr>
              <a:t>      s := s + a[i];         </a:t>
            </a:r>
            <a:pPr indent="0" marL="0">
              <a:lnSpc>
                <a:spcPts val="1809"/>
              </a:lnSpc>
              <a:buNone/>
            </a:pPr>
            <a:r>
              <a:rPr lang="en-US" sz="1350" i="1" dirty="0">
                <a:solidFill>
                  <a:srgbClr val="7C8798"/>
                </a:solidFill>
                <a:latin typeface="Courier New" pitchFamily="34" charset="0"/>
                <a:ea typeface="Courier New" pitchFamily="34" charset="-122"/>
                <a:cs typeface="Courier New" pitchFamily="34" charset="-120"/>
              </a:rPr>
              <a:t>// n additions</a:t>
            </a:r>
            <a:endParaRPr lang="en-US" sz="1350" dirty="0"/>
          </a:p>
          <a:p>
            <a:pPr indent="0" marL="0">
              <a:lnSpc>
                <a:spcPts val="1809"/>
              </a:lnSpc>
              <a:buNone/>
            </a:pPr>
            <a:r>
              <a:rPr lang="en-US" sz="1350" dirty="0">
                <a:solidFill>
                  <a:srgbClr val="E6EAF0"/>
                </a:solidFill>
                <a:latin typeface="Courier New" pitchFamily="34" charset="0"/>
                <a:ea typeface="Courier New" pitchFamily="34" charset="-122"/>
                <a:cs typeface="Courier New" pitchFamily="34" charset="-120"/>
              </a:rPr>
              <a:t>   </a:t>
            </a:r>
            <a:pPr indent="0" marL="0">
              <a:lnSpc>
                <a:spcPts val="1809"/>
              </a:lnSpc>
              <a:buNone/>
            </a:pPr>
            <a:r>
              <a:rPr lang="en-US" sz="1350" b="1" dirty="0">
                <a:solidFill>
                  <a:srgbClr val="E8871E"/>
                </a:solidFill>
                <a:latin typeface="Courier New" pitchFamily="34" charset="0"/>
                <a:ea typeface="Courier New" pitchFamily="34" charset="-122"/>
                <a:cs typeface="Courier New" pitchFamily="34" charset="-120"/>
              </a:rPr>
              <a:t>return</a:t>
            </a:r>
            <a:pPr indent="0" marL="0">
              <a:lnSpc>
                <a:spcPts val="1809"/>
              </a:lnSpc>
              <a:buNone/>
            </a:pPr>
            <a:r>
              <a:rPr lang="en-US" sz="1350" dirty="0">
                <a:solidFill>
                  <a:srgbClr val="E6EAF0"/>
                </a:solidFill>
                <a:latin typeface="Courier New" pitchFamily="34" charset="0"/>
                <a:ea typeface="Courier New" pitchFamily="34" charset="-122"/>
                <a:cs typeface="Courier New" pitchFamily="34" charset="-120"/>
              </a:rPr>
              <a:t> s;                 </a:t>
            </a:r>
            <a:pPr indent="0" marL="0">
              <a:lnSpc>
                <a:spcPts val="1809"/>
              </a:lnSpc>
              <a:buNone/>
            </a:pPr>
            <a:r>
              <a:rPr lang="en-US" sz="1350" i="1" dirty="0">
                <a:solidFill>
                  <a:srgbClr val="7C8798"/>
                </a:solidFill>
                <a:latin typeface="Courier New" pitchFamily="34" charset="0"/>
                <a:ea typeface="Courier New" pitchFamily="34" charset="-122"/>
                <a:cs typeface="Courier New" pitchFamily="34" charset="-120"/>
              </a:rPr>
              <a:t>// 1 unit</a:t>
            </a:r>
            <a:endParaRPr lang="en-US" sz="1350" dirty="0"/>
          </a:p>
          <a:p>
            <a:pPr indent="0" marL="0">
              <a:lnSpc>
                <a:spcPts val="1809"/>
              </a:lnSpc>
              <a:buNone/>
            </a:pPr>
            <a:r>
              <a:rPr lang="en-US" sz="1350" dirty="0">
                <a:solidFill>
                  <a:srgbClr val="E6EAF0"/>
                </a:solidFill>
                <a:latin typeface="Courier New" pitchFamily="34" charset="0"/>
                <a:ea typeface="Courier New" pitchFamily="34" charset="-122"/>
                <a:cs typeface="Courier New" pitchFamily="34" charset="-120"/>
              </a:rPr>
              <a:t>}</a:t>
            </a:r>
            <a:endParaRPr lang="en-US" sz="1350" dirty="0"/>
          </a:p>
        </p:txBody>
      </p:sp>
      <p:sp>
        <p:nvSpPr>
          <p:cNvPr id="6" name="Shape 4"/>
          <p:cNvSpPr/>
          <p:nvPr/>
        </p:nvSpPr>
        <p:spPr>
          <a:xfrm>
            <a:off x="7269480" y="1325880"/>
            <a:ext cx="4279392" cy="2788920"/>
          </a:xfrm>
          <a:prstGeom prst="roundRect">
            <a:avLst>
              <a:gd name="adj" fmla="val 1967"/>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7" name="Text 5"/>
          <p:cNvSpPr/>
          <p:nvPr/>
        </p:nvSpPr>
        <p:spPr>
          <a:xfrm>
            <a:off x="7525512" y="1508760"/>
            <a:ext cx="3749040" cy="292608"/>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Conventions we follow</a:t>
            </a:r>
            <a:endParaRPr lang="en-US" sz="1600" dirty="0"/>
          </a:p>
        </p:txBody>
      </p:sp>
      <p:sp>
        <p:nvSpPr>
          <p:cNvPr id="8" name="Text 6"/>
          <p:cNvSpPr/>
          <p:nvPr/>
        </p:nvSpPr>
        <p:spPr>
          <a:xfrm>
            <a:off x="7525512" y="1901952"/>
            <a:ext cx="3794760" cy="20116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3A4551"/>
                </a:solidFill>
                <a:latin typeface="Calibri" pitchFamily="34" charset="0"/>
                <a:ea typeface="Calibri" pitchFamily="34" charset="-122"/>
                <a:cs typeface="Calibri" pitchFamily="34" charset="-120"/>
              </a:rPr>
              <a:t>Name, inputs and outputs stated in the header</a:t>
            </a:r>
            <a:endParaRPr lang="en-US" sz="1250" dirty="0"/>
          </a:p>
          <a:p>
            <a:pPr marL="342900" indent="-342900">
              <a:spcAft>
                <a:spcPts val="800"/>
              </a:spcAft>
              <a:buSzPct val="100000"/>
              <a:buChar char="•"/>
            </a:pPr>
            <a:r>
              <a:rPr lang="en-US" sz="1250" dirty="0">
                <a:solidFill>
                  <a:srgbClr val="3A4551"/>
                </a:solidFill>
                <a:latin typeface="Calibri" pitchFamily="34" charset="0"/>
                <a:ea typeface="Calibri" pitchFamily="34" charset="-122"/>
                <a:cs typeface="Calibri" pitchFamily="34" charset="-120"/>
              </a:rPr>
              <a:t>Blocks marked with { } and indentation</a:t>
            </a:r>
            <a:endParaRPr lang="en-US" sz="1250" dirty="0"/>
          </a:p>
          <a:p>
            <a:pPr marL="342900" indent="-342900">
              <a:spcAft>
                <a:spcPts val="800"/>
              </a:spcAft>
              <a:buSzPct val="100000"/>
              <a:buChar char="•"/>
            </a:pPr>
            <a:r>
              <a:rPr lang="en-US" sz="1250" dirty="0">
                <a:solidFill>
                  <a:srgbClr val="3A4551"/>
                </a:solidFill>
                <a:latin typeface="Calibri" pitchFamily="34" charset="0"/>
                <a:ea typeface="Calibri" pitchFamily="34" charset="-122"/>
                <a:cs typeface="Calibri" pitchFamily="34" charset="-120"/>
              </a:rPr>
              <a:t>:= for assignment, = for comparison</a:t>
            </a:r>
            <a:endParaRPr lang="en-US" sz="1250" dirty="0"/>
          </a:p>
          <a:p>
            <a:pPr marL="342900" indent="-342900">
              <a:spcAft>
                <a:spcPts val="800"/>
              </a:spcAft>
              <a:buSzPct val="100000"/>
              <a:buChar char="•"/>
            </a:pPr>
            <a:r>
              <a:rPr lang="en-US" sz="1250" dirty="0">
                <a:solidFill>
                  <a:srgbClr val="3A4551"/>
                </a:solidFill>
                <a:latin typeface="Calibri" pitchFamily="34" charset="0"/>
                <a:ea typeface="Calibri" pitchFamily="34" charset="-122"/>
                <a:cs typeface="Calibri" pitchFamily="34" charset="-120"/>
              </a:rPr>
              <a:t>Arrays indexed from 1 unless stated</a:t>
            </a:r>
            <a:endParaRPr lang="en-US" sz="1250" dirty="0"/>
          </a:p>
          <a:p>
            <a:pPr marL="342900" indent="-342900">
              <a:spcAft>
                <a:spcPts val="800"/>
              </a:spcAft>
              <a:buSzPct val="100000"/>
              <a:buChar char="•"/>
            </a:pPr>
            <a:r>
              <a:rPr lang="en-US" sz="1250" dirty="0">
                <a:solidFill>
                  <a:srgbClr val="3A4551"/>
                </a:solidFill>
                <a:latin typeface="Calibri" pitchFamily="34" charset="0"/>
                <a:ea typeface="Calibri" pitchFamily="34" charset="-122"/>
                <a:cs typeface="Calibri" pitchFamily="34" charset="-120"/>
              </a:rPr>
              <a:t>One logical step per line so it can be counted</a:t>
            </a:r>
            <a:endParaRPr lang="en-US" sz="1250" dirty="0"/>
          </a:p>
        </p:txBody>
      </p:sp>
      <p:sp>
        <p:nvSpPr>
          <p:cNvPr id="9" name="Shape 7"/>
          <p:cNvSpPr/>
          <p:nvPr/>
        </p:nvSpPr>
        <p:spPr>
          <a:xfrm>
            <a:off x="640080" y="4160520"/>
            <a:ext cx="10908792" cy="1463040"/>
          </a:xfrm>
          <a:prstGeom prst="roundRect">
            <a:avLst>
              <a:gd name="adj" fmla="val 3750"/>
            </a:avLst>
          </a:prstGeom>
          <a:solidFill>
            <a:srgbClr val="1B2129"/>
          </a:solidFill>
          <a:ln/>
          <a:effectLst>
            <a:outerShdw sx="100000" sy="100000" kx="0" ky="0" algn="bl" rotWithShape="0" blurRad="127000" dist="25400" dir="5400000">
              <a:srgbClr val="9AA6B2">
                <a:alpha val="22000"/>
              </a:srgbClr>
            </a:outerShdw>
          </a:effectLst>
        </p:spPr>
      </p:sp>
      <p:sp>
        <p:nvSpPr>
          <p:cNvPr id="10" name="Text 8"/>
          <p:cNvSpPr/>
          <p:nvPr/>
        </p:nvSpPr>
        <p:spPr>
          <a:xfrm>
            <a:off x="914400" y="4343400"/>
            <a:ext cx="4572000" cy="274320"/>
          </a:xfrm>
          <a:prstGeom prst="rect">
            <a:avLst/>
          </a:prstGeom>
          <a:noFill/>
          <a:ln/>
        </p:spPr>
        <p:txBody>
          <a:bodyPr wrap="square" lIns="0" tIns="0" rIns="0" bIns="0" rtlCol="0" anchor="t"/>
          <a:lstStyle/>
          <a:p>
            <a:pPr indent="0" marL="0">
              <a:buNone/>
            </a:pPr>
            <a:r>
              <a:rPr lang="en-US" sz="1300" b="1" dirty="0">
                <a:solidFill>
                  <a:srgbClr val="E8871E"/>
                </a:solidFill>
                <a:latin typeface="Calibri" pitchFamily="34" charset="0"/>
                <a:ea typeface="Calibri" pitchFamily="34" charset="-122"/>
                <a:cs typeface="Calibri" pitchFamily="34" charset="-120"/>
              </a:rPr>
              <a:t>Reading the cost comments</a:t>
            </a:r>
            <a:endParaRPr lang="en-US" sz="1300" dirty="0"/>
          </a:p>
        </p:txBody>
      </p:sp>
      <p:sp>
        <p:nvSpPr>
          <p:cNvPr id="11" name="Text 9"/>
          <p:cNvSpPr/>
          <p:nvPr/>
        </p:nvSpPr>
        <p:spPr>
          <a:xfrm>
            <a:off x="914400" y="4663440"/>
            <a:ext cx="10332720" cy="822960"/>
          </a:xfrm>
          <a:prstGeom prst="rect">
            <a:avLst/>
          </a:prstGeom>
          <a:noFill/>
          <a:ln/>
        </p:spPr>
        <p:txBody>
          <a:bodyPr wrap="square" lIns="0" tIns="0" rIns="0" bIns="0" rtlCol="0" anchor="t"/>
          <a:lstStyle/>
          <a:p>
            <a:pPr indent="0" marL="0">
              <a:lnSpc>
                <a:spcPts val="1800"/>
              </a:lnSpc>
              <a:buNone/>
            </a:pPr>
            <a:r>
              <a:rPr lang="en-US" sz="1300" dirty="0">
                <a:solidFill>
                  <a:srgbClr val="C9D2DC"/>
                </a:solidFill>
                <a:latin typeface="Calibri" pitchFamily="34" charset="0"/>
                <a:ea typeface="Calibri" pitchFamily="34" charset="-122"/>
                <a:cs typeface="Calibri" pitchFamily="34" charset="-120"/>
              </a:rPr>
              <a:t>The comments on the right of each line already anticipate the next section: every statement is charged a cost, and the total cost of the algorithm is the sum of (cost of a statement × number of times it executes). For this algorithm that total works out to 2n + 3 units — a straight line in 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61C"/>
        </a:solidFill>
      </p:bgPr>
    </p:bg>
    <p:spTree>
      <p:nvGrpSpPr>
        <p:cNvPr id="1" name=""/>
        <p:cNvGrpSpPr/>
        <p:nvPr/>
      </p:nvGrpSpPr>
      <p:grpSpPr>
        <a:xfrm>
          <a:off x="0" y="0"/>
          <a:ext cx="0" cy="0"/>
          <a:chOff x="0" y="0"/>
          <a:chExt cx="0" cy="0"/>
        </a:xfrm>
      </p:grpSpPr>
      <p:sp>
        <p:nvSpPr>
          <p:cNvPr id="2" name="Shape 0"/>
          <p:cNvSpPr/>
          <p:nvPr/>
        </p:nvSpPr>
        <p:spPr>
          <a:xfrm>
            <a:off x="10424160" y="1005840"/>
            <a:ext cx="146304" cy="146304"/>
          </a:xfrm>
          <a:prstGeom prst="ellipse">
            <a:avLst/>
          </a:prstGeom>
          <a:solidFill>
            <a:srgbClr val="E8871E"/>
          </a:solidFill>
          <a:ln/>
        </p:spPr>
      </p:sp>
      <p:sp>
        <p:nvSpPr>
          <p:cNvPr id="3" name="Shape 1"/>
          <p:cNvSpPr/>
          <p:nvPr/>
        </p:nvSpPr>
        <p:spPr>
          <a:xfrm>
            <a:off x="11064240" y="1005840"/>
            <a:ext cx="146304" cy="146304"/>
          </a:xfrm>
          <a:prstGeom prst="ellipse">
            <a:avLst/>
          </a:prstGeom>
          <a:solidFill>
            <a:srgbClr val="2C3742"/>
          </a:solidFill>
          <a:ln/>
        </p:spPr>
      </p:sp>
      <p:sp>
        <p:nvSpPr>
          <p:cNvPr id="4" name="Shape 2"/>
          <p:cNvSpPr/>
          <p:nvPr/>
        </p:nvSpPr>
        <p:spPr>
          <a:xfrm>
            <a:off x="11704320" y="1005840"/>
            <a:ext cx="146304" cy="146304"/>
          </a:xfrm>
          <a:prstGeom prst="ellipse">
            <a:avLst/>
          </a:prstGeom>
          <a:solidFill>
            <a:srgbClr val="2C3742"/>
          </a:solidFill>
          <a:ln/>
        </p:spPr>
      </p:sp>
      <p:sp>
        <p:nvSpPr>
          <p:cNvPr id="5" name="Shape 3"/>
          <p:cNvSpPr/>
          <p:nvPr/>
        </p:nvSpPr>
        <p:spPr>
          <a:xfrm>
            <a:off x="10424160" y="1645920"/>
            <a:ext cx="146304" cy="146304"/>
          </a:xfrm>
          <a:prstGeom prst="ellipse">
            <a:avLst/>
          </a:prstGeom>
          <a:solidFill>
            <a:srgbClr val="2C3742"/>
          </a:solidFill>
          <a:ln/>
        </p:spPr>
      </p:sp>
      <p:sp>
        <p:nvSpPr>
          <p:cNvPr id="6" name="Shape 4"/>
          <p:cNvSpPr/>
          <p:nvPr/>
        </p:nvSpPr>
        <p:spPr>
          <a:xfrm>
            <a:off x="11064240" y="1645920"/>
            <a:ext cx="146304" cy="146304"/>
          </a:xfrm>
          <a:prstGeom prst="ellipse">
            <a:avLst/>
          </a:prstGeom>
          <a:solidFill>
            <a:srgbClr val="E8871E"/>
          </a:solidFill>
          <a:ln/>
        </p:spPr>
      </p:sp>
      <p:sp>
        <p:nvSpPr>
          <p:cNvPr id="7" name="Shape 5"/>
          <p:cNvSpPr/>
          <p:nvPr/>
        </p:nvSpPr>
        <p:spPr>
          <a:xfrm>
            <a:off x="11704320" y="1645920"/>
            <a:ext cx="146304" cy="146304"/>
          </a:xfrm>
          <a:prstGeom prst="ellipse">
            <a:avLst/>
          </a:prstGeom>
          <a:solidFill>
            <a:srgbClr val="2C3742"/>
          </a:solidFill>
          <a:ln/>
        </p:spPr>
      </p:sp>
      <p:sp>
        <p:nvSpPr>
          <p:cNvPr id="8" name="Shape 6"/>
          <p:cNvSpPr/>
          <p:nvPr/>
        </p:nvSpPr>
        <p:spPr>
          <a:xfrm>
            <a:off x="10424160" y="2286000"/>
            <a:ext cx="146304" cy="146304"/>
          </a:xfrm>
          <a:prstGeom prst="ellipse">
            <a:avLst/>
          </a:prstGeom>
          <a:solidFill>
            <a:srgbClr val="2C3742"/>
          </a:solidFill>
          <a:ln/>
        </p:spPr>
      </p:sp>
      <p:sp>
        <p:nvSpPr>
          <p:cNvPr id="9" name="Shape 7"/>
          <p:cNvSpPr/>
          <p:nvPr/>
        </p:nvSpPr>
        <p:spPr>
          <a:xfrm>
            <a:off x="11064240" y="2286000"/>
            <a:ext cx="146304" cy="146304"/>
          </a:xfrm>
          <a:prstGeom prst="ellipse">
            <a:avLst/>
          </a:prstGeom>
          <a:solidFill>
            <a:srgbClr val="2C3742"/>
          </a:solidFill>
          <a:ln/>
        </p:spPr>
      </p:sp>
      <p:sp>
        <p:nvSpPr>
          <p:cNvPr id="10" name="Shape 8"/>
          <p:cNvSpPr/>
          <p:nvPr/>
        </p:nvSpPr>
        <p:spPr>
          <a:xfrm>
            <a:off x="11704320" y="2286000"/>
            <a:ext cx="146304" cy="146304"/>
          </a:xfrm>
          <a:prstGeom prst="ellipse">
            <a:avLst/>
          </a:prstGeom>
          <a:solidFill>
            <a:srgbClr val="E8871E"/>
          </a:solidFill>
          <a:ln/>
        </p:spPr>
      </p:sp>
      <p:sp>
        <p:nvSpPr>
          <p:cNvPr id="11" name="Shape 9"/>
          <p:cNvSpPr/>
          <p:nvPr/>
        </p:nvSpPr>
        <p:spPr>
          <a:xfrm>
            <a:off x="640080" y="2286000"/>
            <a:ext cx="786384" cy="786384"/>
          </a:xfrm>
          <a:prstGeom prst="ellipse">
            <a:avLst/>
          </a:prstGeom>
          <a:solidFill>
            <a:srgbClr val="E8871E"/>
          </a:solidFill>
          <a:ln/>
        </p:spPr>
      </p:sp>
      <p:sp>
        <p:nvSpPr>
          <p:cNvPr id="12" name="Text 10"/>
          <p:cNvSpPr/>
          <p:nvPr/>
        </p:nvSpPr>
        <p:spPr>
          <a:xfrm>
            <a:off x="640080" y="2286000"/>
            <a:ext cx="786384" cy="786384"/>
          </a:xfrm>
          <a:prstGeom prst="rect">
            <a:avLst/>
          </a:prstGeom>
          <a:noFill/>
          <a:ln/>
        </p:spPr>
        <p:txBody>
          <a:bodyPr wrap="square" lIns="0" tIns="0" rIns="0" bIns="0" rtlCol="0" anchor="ctr"/>
          <a:lstStyle/>
          <a:p>
            <a:pPr algn="ctr" indent="0" marL="0">
              <a:buNone/>
            </a:pPr>
            <a:r>
              <a:rPr lang="en-US" sz="3000" b="1" dirty="0">
                <a:solidFill>
                  <a:srgbClr val="12161C"/>
                </a:solidFill>
                <a:latin typeface="Calibri" pitchFamily="34" charset="0"/>
                <a:ea typeface="Calibri" pitchFamily="34" charset="-122"/>
                <a:cs typeface="Calibri" pitchFamily="34" charset="-120"/>
              </a:rPr>
              <a:t>01</a:t>
            </a:r>
            <a:endParaRPr lang="en-US" sz="3000" dirty="0"/>
          </a:p>
        </p:txBody>
      </p:sp>
      <p:sp>
        <p:nvSpPr>
          <p:cNvPr id="13" name="Text 11"/>
          <p:cNvSpPr/>
          <p:nvPr/>
        </p:nvSpPr>
        <p:spPr>
          <a:xfrm>
            <a:off x="640080" y="3246120"/>
            <a:ext cx="9601200" cy="8229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Why do we analyse algorithms?</a:t>
            </a:r>
            <a:endParaRPr lang="en-US" sz="3800" dirty="0"/>
          </a:p>
        </p:txBody>
      </p:sp>
      <p:sp>
        <p:nvSpPr>
          <p:cNvPr id="14" name="Text 12"/>
          <p:cNvSpPr/>
          <p:nvPr/>
        </p:nvSpPr>
        <p:spPr>
          <a:xfrm>
            <a:off x="640080" y="4114800"/>
            <a:ext cx="8778240" cy="731520"/>
          </a:xfrm>
          <a:prstGeom prst="rect">
            <a:avLst/>
          </a:prstGeom>
          <a:noFill/>
          <a:ln/>
        </p:spPr>
        <p:txBody>
          <a:bodyPr wrap="square" lIns="0" tIns="0" rIns="0" bIns="0" rtlCol="0" anchor="t"/>
          <a:lstStyle/>
          <a:p>
            <a:pPr indent="0" marL="0">
              <a:buNone/>
            </a:pPr>
            <a:r>
              <a:rPr lang="en-US" sz="1600" dirty="0">
                <a:solidFill>
                  <a:srgbClr val="AAB4C0"/>
                </a:solidFill>
                <a:latin typeface="Calibri" pitchFamily="34" charset="0"/>
                <a:ea typeface="Calibri" pitchFamily="34" charset="-122"/>
                <a:cs typeface="Calibri" pitchFamily="34" charset="-120"/>
              </a:rPr>
              <a:t>A priori analysis, the cost model, and why a stopwatch is not enough</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MOTIVATION</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Four reasons we analyse before we implement</a:t>
            </a:r>
            <a:endParaRPr lang="en-US" sz="3000" dirty="0"/>
          </a:p>
        </p:txBody>
      </p:sp>
      <p:sp>
        <p:nvSpPr>
          <p:cNvPr id="4" name="Shape 2"/>
          <p:cNvSpPr/>
          <p:nvPr/>
        </p:nvSpPr>
        <p:spPr>
          <a:xfrm>
            <a:off x="640080" y="1298448"/>
            <a:ext cx="5303520" cy="1325880"/>
          </a:xfrm>
          <a:prstGeom prst="roundRect">
            <a:avLst>
              <a:gd name="adj" fmla="val 4138"/>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5" name="Shape 3"/>
          <p:cNvSpPr/>
          <p:nvPr/>
        </p:nvSpPr>
        <p:spPr>
          <a:xfrm>
            <a:off x="896112" y="1536192"/>
            <a:ext cx="457200" cy="457200"/>
          </a:xfrm>
          <a:prstGeom prst="ellipse">
            <a:avLst/>
          </a:prstGeom>
          <a:solidFill>
            <a:srgbClr val="0E7C86"/>
          </a:solidFill>
          <a:ln/>
        </p:spPr>
      </p:sp>
      <p:sp>
        <p:nvSpPr>
          <p:cNvPr id="6" name="Text 4"/>
          <p:cNvSpPr/>
          <p:nvPr/>
        </p:nvSpPr>
        <p:spPr>
          <a:xfrm>
            <a:off x="896112" y="15361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81328" y="1517904"/>
            <a:ext cx="4206240" cy="274320"/>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Predict performance</a:t>
            </a:r>
            <a:endParaRPr lang="en-US" sz="1600" dirty="0"/>
          </a:p>
        </p:txBody>
      </p:sp>
      <p:sp>
        <p:nvSpPr>
          <p:cNvPr id="8" name="Text 6"/>
          <p:cNvSpPr/>
          <p:nvPr/>
        </p:nvSpPr>
        <p:spPr>
          <a:xfrm>
            <a:off x="1481328" y="1865376"/>
            <a:ext cx="4251960" cy="658368"/>
          </a:xfrm>
          <a:prstGeom prst="rect">
            <a:avLst/>
          </a:prstGeom>
          <a:noFill/>
          <a:ln/>
        </p:spPr>
        <p:txBody>
          <a:bodyPr wrap="square" lIns="0" tIns="0" rIns="0" bIns="0" rtlCol="0" anchor="t"/>
          <a:lstStyle/>
          <a:p>
            <a:pPr indent="0" marL="0">
              <a:lnSpc>
                <a:spcPts val="1550"/>
              </a:lnSpc>
              <a:buNone/>
            </a:pPr>
            <a:r>
              <a:rPr lang="en-US" sz="1200" dirty="0">
                <a:solidFill>
                  <a:srgbClr val="6B7784"/>
                </a:solidFill>
                <a:latin typeface="Calibri" pitchFamily="34" charset="0"/>
                <a:ea typeface="Calibri" pitchFamily="34" charset="-122"/>
                <a:cs typeface="Calibri" pitchFamily="34" charset="-120"/>
              </a:rPr>
              <a:t>Estimate running time and memory for large inputs while the algorithm is still on paper — before a month of coding is wasted.</a:t>
            </a:r>
            <a:endParaRPr lang="en-US" sz="1200" dirty="0"/>
          </a:p>
        </p:txBody>
      </p:sp>
      <p:sp>
        <p:nvSpPr>
          <p:cNvPr id="9" name="Shape 7"/>
          <p:cNvSpPr/>
          <p:nvPr/>
        </p:nvSpPr>
        <p:spPr>
          <a:xfrm>
            <a:off x="6245352" y="1298448"/>
            <a:ext cx="5303520" cy="1325880"/>
          </a:xfrm>
          <a:prstGeom prst="roundRect">
            <a:avLst>
              <a:gd name="adj" fmla="val 4138"/>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10" name="Shape 8"/>
          <p:cNvSpPr/>
          <p:nvPr/>
        </p:nvSpPr>
        <p:spPr>
          <a:xfrm>
            <a:off x="6501384" y="1536192"/>
            <a:ext cx="457200" cy="457200"/>
          </a:xfrm>
          <a:prstGeom prst="ellipse">
            <a:avLst/>
          </a:prstGeom>
          <a:solidFill>
            <a:srgbClr val="A85F0C"/>
          </a:solidFill>
          <a:ln/>
        </p:spPr>
      </p:sp>
      <p:sp>
        <p:nvSpPr>
          <p:cNvPr id="11" name="Text 9"/>
          <p:cNvSpPr/>
          <p:nvPr/>
        </p:nvSpPr>
        <p:spPr>
          <a:xfrm>
            <a:off x="6501384" y="15361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7086600" y="1517904"/>
            <a:ext cx="4206240" cy="274320"/>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Compare alternatives objectively</a:t>
            </a:r>
            <a:endParaRPr lang="en-US" sz="1600" dirty="0"/>
          </a:p>
        </p:txBody>
      </p:sp>
      <p:sp>
        <p:nvSpPr>
          <p:cNvPr id="13" name="Text 11"/>
          <p:cNvSpPr/>
          <p:nvPr/>
        </p:nvSpPr>
        <p:spPr>
          <a:xfrm>
            <a:off x="7086600" y="1865376"/>
            <a:ext cx="4251960" cy="658368"/>
          </a:xfrm>
          <a:prstGeom prst="rect">
            <a:avLst/>
          </a:prstGeom>
          <a:noFill/>
          <a:ln/>
        </p:spPr>
        <p:txBody>
          <a:bodyPr wrap="square" lIns="0" tIns="0" rIns="0" bIns="0" rtlCol="0" anchor="t"/>
          <a:lstStyle/>
          <a:p>
            <a:pPr indent="0" marL="0">
              <a:lnSpc>
                <a:spcPts val="1550"/>
              </a:lnSpc>
              <a:buNone/>
            </a:pPr>
            <a:r>
              <a:rPr lang="en-US" sz="1200" dirty="0">
                <a:solidFill>
                  <a:srgbClr val="6B7784"/>
                </a:solidFill>
                <a:latin typeface="Calibri" pitchFamily="34" charset="0"/>
                <a:ea typeface="Calibri" pitchFamily="34" charset="-122"/>
                <a:cs typeface="Calibri" pitchFamily="34" charset="-120"/>
              </a:rPr>
              <a:t>Two correct algorithms are not equally good. Analysis gives a fair, machine-independent basis for choosing one.</a:t>
            </a:r>
            <a:endParaRPr lang="en-US" sz="1200" dirty="0"/>
          </a:p>
        </p:txBody>
      </p:sp>
      <p:sp>
        <p:nvSpPr>
          <p:cNvPr id="14" name="Shape 12"/>
          <p:cNvSpPr/>
          <p:nvPr/>
        </p:nvSpPr>
        <p:spPr>
          <a:xfrm>
            <a:off x="640080" y="2816352"/>
            <a:ext cx="5303520" cy="1325880"/>
          </a:xfrm>
          <a:prstGeom prst="roundRect">
            <a:avLst>
              <a:gd name="adj" fmla="val 4138"/>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15" name="Shape 13"/>
          <p:cNvSpPr/>
          <p:nvPr/>
        </p:nvSpPr>
        <p:spPr>
          <a:xfrm>
            <a:off x="896112" y="3054096"/>
            <a:ext cx="457200" cy="457200"/>
          </a:xfrm>
          <a:prstGeom prst="ellipse">
            <a:avLst/>
          </a:prstGeom>
          <a:solidFill>
            <a:srgbClr val="2E7D5B"/>
          </a:solidFill>
          <a:ln/>
        </p:spPr>
      </p:sp>
      <p:sp>
        <p:nvSpPr>
          <p:cNvPr id="16" name="Text 14"/>
          <p:cNvSpPr/>
          <p:nvPr/>
        </p:nvSpPr>
        <p:spPr>
          <a:xfrm>
            <a:off x="896112" y="305409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481328" y="3035808"/>
            <a:ext cx="4206240" cy="274320"/>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Locate bottlenecks</a:t>
            </a:r>
            <a:endParaRPr lang="en-US" sz="1600" dirty="0"/>
          </a:p>
        </p:txBody>
      </p:sp>
      <p:sp>
        <p:nvSpPr>
          <p:cNvPr id="18" name="Text 16"/>
          <p:cNvSpPr/>
          <p:nvPr/>
        </p:nvSpPr>
        <p:spPr>
          <a:xfrm>
            <a:off x="1481328" y="3383280"/>
            <a:ext cx="4251960" cy="658368"/>
          </a:xfrm>
          <a:prstGeom prst="rect">
            <a:avLst/>
          </a:prstGeom>
          <a:noFill/>
          <a:ln/>
        </p:spPr>
        <p:txBody>
          <a:bodyPr wrap="square" lIns="0" tIns="0" rIns="0" bIns="0" rtlCol="0" anchor="t"/>
          <a:lstStyle/>
          <a:p>
            <a:pPr indent="0" marL="0">
              <a:lnSpc>
                <a:spcPts val="1550"/>
              </a:lnSpc>
              <a:buNone/>
            </a:pPr>
            <a:r>
              <a:rPr lang="en-US" sz="1200" dirty="0">
                <a:solidFill>
                  <a:srgbClr val="6B7784"/>
                </a:solidFill>
                <a:latin typeface="Calibri" pitchFamily="34" charset="0"/>
                <a:ea typeface="Calibri" pitchFamily="34" charset="-122"/>
                <a:cs typeface="Calibri" pitchFamily="34" charset="-120"/>
              </a:rPr>
              <a:t>Analysis points to the statement executing most often — that is where optimisation actually pays.</a:t>
            </a:r>
            <a:endParaRPr lang="en-US" sz="1200" dirty="0"/>
          </a:p>
        </p:txBody>
      </p:sp>
      <p:sp>
        <p:nvSpPr>
          <p:cNvPr id="19" name="Shape 17"/>
          <p:cNvSpPr/>
          <p:nvPr/>
        </p:nvSpPr>
        <p:spPr>
          <a:xfrm>
            <a:off x="6245352" y="2816352"/>
            <a:ext cx="5303520" cy="1325880"/>
          </a:xfrm>
          <a:prstGeom prst="roundRect">
            <a:avLst>
              <a:gd name="adj" fmla="val 4138"/>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20" name="Shape 18"/>
          <p:cNvSpPr/>
          <p:nvPr/>
        </p:nvSpPr>
        <p:spPr>
          <a:xfrm>
            <a:off x="6501384" y="3054096"/>
            <a:ext cx="457200" cy="457200"/>
          </a:xfrm>
          <a:prstGeom prst="ellipse">
            <a:avLst/>
          </a:prstGeom>
          <a:solidFill>
            <a:srgbClr val="B3261E"/>
          </a:solidFill>
          <a:ln/>
        </p:spPr>
      </p:sp>
      <p:sp>
        <p:nvSpPr>
          <p:cNvPr id="21" name="Text 19"/>
          <p:cNvSpPr/>
          <p:nvPr/>
        </p:nvSpPr>
        <p:spPr>
          <a:xfrm>
            <a:off x="6501384" y="305409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7086600" y="3035808"/>
            <a:ext cx="4206240" cy="274320"/>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Establish feasibility limits</a:t>
            </a:r>
            <a:endParaRPr lang="en-US" sz="1600" dirty="0"/>
          </a:p>
        </p:txBody>
      </p:sp>
      <p:sp>
        <p:nvSpPr>
          <p:cNvPr id="23" name="Text 21"/>
          <p:cNvSpPr/>
          <p:nvPr/>
        </p:nvSpPr>
        <p:spPr>
          <a:xfrm>
            <a:off x="7086600" y="3383280"/>
            <a:ext cx="4251960" cy="658368"/>
          </a:xfrm>
          <a:prstGeom prst="rect">
            <a:avLst/>
          </a:prstGeom>
          <a:noFill/>
          <a:ln/>
        </p:spPr>
        <p:txBody>
          <a:bodyPr wrap="square" lIns="0" tIns="0" rIns="0" bIns="0" rtlCol="0" anchor="t"/>
          <a:lstStyle/>
          <a:p>
            <a:pPr indent="0" marL="0">
              <a:lnSpc>
                <a:spcPts val="1550"/>
              </a:lnSpc>
              <a:buNone/>
            </a:pPr>
            <a:r>
              <a:rPr lang="en-US" sz="1200" dirty="0">
                <a:solidFill>
                  <a:srgbClr val="6B7784"/>
                </a:solidFill>
                <a:latin typeface="Calibri" pitchFamily="34" charset="0"/>
                <a:ea typeface="Calibri" pitchFamily="34" charset="-122"/>
                <a:cs typeface="Calibri" pitchFamily="34" charset="-120"/>
              </a:rPr>
              <a:t>It tells us the largest n we can handle, and warns when a problem is intractable at the required scale.</a:t>
            </a:r>
            <a:endParaRPr lang="en-US" sz="1200" dirty="0"/>
          </a:p>
        </p:txBody>
      </p:sp>
      <p:sp>
        <p:nvSpPr>
          <p:cNvPr id="24" name="Shape 22"/>
          <p:cNvSpPr/>
          <p:nvPr/>
        </p:nvSpPr>
        <p:spPr>
          <a:xfrm>
            <a:off x="640080" y="4434840"/>
            <a:ext cx="10908792" cy="1298448"/>
          </a:xfrm>
          <a:prstGeom prst="roundRect">
            <a:avLst>
              <a:gd name="adj" fmla="val 4225"/>
            </a:avLst>
          </a:prstGeom>
          <a:solidFill>
            <a:srgbClr val="1B2129"/>
          </a:solidFill>
          <a:ln/>
          <a:effectLst>
            <a:outerShdw sx="100000" sy="100000" kx="0" ky="0" algn="bl" rotWithShape="0" blurRad="127000" dist="25400" dir="5400000">
              <a:srgbClr val="9AA6B2">
                <a:alpha val="22000"/>
              </a:srgbClr>
            </a:outerShdw>
          </a:effectLst>
        </p:spPr>
      </p:sp>
      <p:sp>
        <p:nvSpPr>
          <p:cNvPr id="25" name="Text 23"/>
          <p:cNvSpPr/>
          <p:nvPr/>
        </p:nvSpPr>
        <p:spPr>
          <a:xfrm>
            <a:off x="960120" y="4590288"/>
            <a:ext cx="2377440" cy="685800"/>
          </a:xfrm>
          <a:prstGeom prst="rect">
            <a:avLst/>
          </a:prstGeom>
          <a:noFill/>
          <a:ln/>
        </p:spPr>
        <p:txBody>
          <a:bodyPr wrap="square" lIns="0" tIns="0" rIns="0" bIns="0" rtlCol="0" anchor="t"/>
          <a:lstStyle/>
          <a:p>
            <a:pPr indent="0" marL="0">
              <a:buNone/>
            </a:pPr>
            <a:r>
              <a:rPr lang="en-US" sz="3400" b="1" dirty="0">
                <a:solidFill>
                  <a:srgbClr val="E8871E"/>
                </a:solidFill>
                <a:latin typeface="Cambria" pitchFamily="34" charset="0"/>
                <a:ea typeface="Cambria" pitchFamily="34" charset="-122"/>
                <a:cs typeface="Cambria" pitchFamily="34" charset="-120"/>
              </a:rPr>
              <a:t>1 million</a:t>
            </a:r>
            <a:endParaRPr lang="en-US" sz="3400" dirty="0"/>
          </a:p>
        </p:txBody>
      </p:sp>
      <p:sp>
        <p:nvSpPr>
          <p:cNvPr id="26" name="Text 24"/>
          <p:cNvSpPr/>
          <p:nvPr/>
        </p:nvSpPr>
        <p:spPr>
          <a:xfrm>
            <a:off x="960120" y="5248656"/>
            <a:ext cx="2377440" cy="274320"/>
          </a:xfrm>
          <a:prstGeom prst="rect">
            <a:avLst/>
          </a:prstGeom>
          <a:noFill/>
          <a:ln/>
        </p:spPr>
        <p:txBody>
          <a:bodyPr wrap="square" lIns="0" tIns="0" rIns="0" bIns="0" rtlCol="0" anchor="t"/>
          <a:lstStyle/>
          <a:p>
            <a:pPr indent="0" marL="0">
              <a:buNone/>
            </a:pPr>
            <a:r>
              <a:rPr lang="en-US" sz="1100" dirty="0">
                <a:solidFill>
                  <a:srgbClr val="9AA6B4"/>
                </a:solidFill>
                <a:latin typeface="Calibri" pitchFamily="34" charset="0"/>
                <a:ea typeface="Calibri" pitchFamily="34" charset="-122"/>
                <a:cs typeface="Calibri" pitchFamily="34" charset="-120"/>
              </a:rPr>
              <a:t>input size n</a:t>
            </a:r>
            <a:endParaRPr lang="en-US" sz="1100" dirty="0"/>
          </a:p>
        </p:txBody>
      </p:sp>
      <p:sp>
        <p:nvSpPr>
          <p:cNvPr id="27" name="Shape 25"/>
          <p:cNvSpPr/>
          <p:nvPr/>
        </p:nvSpPr>
        <p:spPr>
          <a:xfrm>
            <a:off x="3566160" y="4617720"/>
            <a:ext cx="914" cy="914400"/>
          </a:xfrm>
          <a:prstGeom prst="line">
            <a:avLst/>
          </a:prstGeom>
          <a:noFill/>
          <a:ln w="12700">
            <a:solidFill>
              <a:srgbClr val="2C3742"/>
            </a:solidFill>
            <a:prstDash val="solid"/>
          </a:ln>
        </p:spPr>
      </p:sp>
      <p:sp>
        <p:nvSpPr>
          <p:cNvPr id="28" name="Text 26"/>
          <p:cNvSpPr/>
          <p:nvPr/>
        </p:nvSpPr>
        <p:spPr>
          <a:xfrm>
            <a:off x="3840480" y="4590288"/>
            <a:ext cx="7406640" cy="960120"/>
          </a:xfrm>
          <a:prstGeom prst="rect">
            <a:avLst/>
          </a:prstGeom>
          <a:noFill/>
          <a:ln/>
        </p:spPr>
        <p:txBody>
          <a:bodyPr wrap="square" lIns="0" tIns="0" rIns="0" bIns="0" rtlCol="0" anchor="ctr"/>
          <a:lstStyle/>
          <a:p>
            <a:pPr indent="0" marL="0">
              <a:lnSpc>
                <a:spcPts val="2000"/>
              </a:lnSpc>
              <a:buNone/>
            </a:pPr>
            <a:r>
              <a:rPr lang="en-US" sz="1400" dirty="0">
                <a:solidFill>
                  <a:srgbClr val="C9D2DC"/>
                </a:solidFill>
                <a:latin typeface="Calibri" pitchFamily="34" charset="0"/>
                <a:ea typeface="Calibri" pitchFamily="34" charset="-122"/>
                <a:cs typeface="Calibri" pitchFamily="34" charset="-120"/>
              </a:rPr>
              <a:t>An O(n) algorithm finishes in about a second.  </a:t>
            </a:r>
            <a:pPr indent="0" marL="0">
              <a:lnSpc>
                <a:spcPts val="2000"/>
              </a:lnSpc>
              <a:buNone/>
            </a:pPr>
            <a:r>
              <a:rPr lang="en-US" sz="1400" b="1" dirty="0">
                <a:solidFill>
                  <a:srgbClr val="FFFFFF"/>
                </a:solidFill>
                <a:latin typeface="Calibri" pitchFamily="34" charset="0"/>
                <a:ea typeface="Calibri" pitchFamily="34" charset="-122"/>
                <a:cs typeface="Calibri" pitchFamily="34" charset="-120"/>
              </a:rPr>
              <a:t>An O(n²) algorithm on the same machine needs roughly 11.5 days.</a:t>
            </a:r>
            <a:pPr indent="0" marL="0">
              <a:lnSpc>
                <a:spcPts val="2000"/>
              </a:lnSpc>
              <a:buNone/>
            </a:pPr>
            <a:r>
              <a:rPr lang="en-US" sz="1400" dirty="0">
                <a:solidFill>
                  <a:srgbClr val="C9D2DC"/>
                </a:solidFill>
                <a:latin typeface="Calibri" pitchFamily="34" charset="0"/>
                <a:ea typeface="Calibri" pitchFamily="34" charset="-122"/>
                <a:cs typeface="Calibri" pitchFamily="34" charset="-120"/>
              </a:rPr>
              <a:t>  No amount of faster hardware closes that gap — only a better algorithm does.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TWO APPROACHES</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A posteriori testing vs a priori analysis</a:t>
            </a:r>
            <a:endParaRPr lang="en-US" sz="3000" dirty="0"/>
          </a:p>
        </p:txBody>
      </p:sp>
      <p:sp>
        <p:nvSpPr>
          <p:cNvPr id="4" name="Shape 2"/>
          <p:cNvSpPr/>
          <p:nvPr/>
        </p:nvSpPr>
        <p:spPr>
          <a:xfrm>
            <a:off x="640080" y="1325880"/>
            <a:ext cx="5303520" cy="3566160"/>
          </a:xfrm>
          <a:prstGeom prst="roundRect">
            <a:avLst>
              <a:gd name="adj" fmla="val 1538"/>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5" name="Shape 3"/>
          <p:cNvSpPr/>
          <p:nvPr/>
        </p:nvSpPr>
        <p:spPr>
          <a:xfrm>
            <a:off x="640994" y="1325880"/>
            <a:ext cx="5303520" cy="868680"/>
          </a:xfrm>
          <a:prstGeom prst="roundRect">
            <a:avLst>
              <a:gd name="adj" fmla="val 6316"/>
            </a:avLst>
          </a:prstGeom>
          <a:solidFill>
            <a:srgbClr val="FAE6E4"/>
          </a:solidFill>
          <a:ln/>
        </p:spPr>
      </p:sp>
      <p:sp>
        <p:nvSpPr>
          <p:cNvPr id="6" name="Text 4"/>
          <p:cNvSpPr/>
          <p:nvPr/>
        </p:nvSpPr>
        <p:spPr>
          <a:xfrm>
            <a:off x="914400" y="1463040"/>
            <a:ext cx="4754880" cy="310896"/>
          </a:xfrm>
          <a:prstGeom prst="rect">
            <a:avLst/>
          </a:prstGeom>
          <a:noFill/>
          <a:ln/>
        </p:spPr>
        <p:txBody>
          <a:bodyPr wrap="square" lIns="0" tIns="0" rIns="0" bIns="0" rtlCol="0" anchor="t"/>
          <a:lstStyle/>
          <a:p>
            <a:pPr indent="0" marL="0">
              <a:buNone/>
            </a:pPr>
            <a:r>
              <a:rPr lang="en-US" sz="1700" b="1" dirty="0">
                <a:solidFill>
                  <a:srgbClr val="B3261E"/>
                </a:solidFill>
                <a:latin typeface="Cambria" pitchFamily="34" charset="0"/>
                <a:ea typeface="Cambria" pitchFamily="34" charset="-122"/>
                <a:cs typeface="Cambria" pitchFamily="34" charset="-120"/>
              </a:rPr>
              <a:t>A posteriori (experimental)</a:t>
            </a:r>
            <a:endParaRPr lang="en-US" sz="1700" dirty="0"/>
          </a:p>
        </p:txBody>
      </p:sp>
      <p:sp>
        <p:nvSpPr>
          <p:cNvPr id="7" name="Text 5"/>
          <p:cNvSpPr/>
          <p:nvPr/>
        </p:nvSpPr>
        <p:spPr>
          <a:xfrm>
            <a:off x="914400" y="1792224"/>
            <a:ext cx="4754880" cy="274320"/>
          </a:xfrm>
          <a:prstGeom prst="rect">
            <a:avLst/>
          </a:prstGeom>
          <a:noFill/>
          <a:ln/>
        </p:spPr>
        <p:txBody>
          <a:bodyPr wrap="square" lIns="0" tIns="0" rIns="0" bIns="0" rtlCol="0" anchor="t"/>
          <a:lstStyle/>
          <a:p>
            <a:pPr indent="0" marL="0">
              <a:buNone/>
            </a:pPr>
            <a:r>
              <a:rPr lang="en-US" sz="1200" i="1" dirty="0">
                <a:solidFill>
                  <a:srgbClr val="3A4551"/>
                </a:solidFill>
                <a:latin typeface="Calibri" pitchFamily="34" charset="0"/>
                <a:ea typeface="Calibri" pitchFamily="34" charset="-122"/>
                <a:cs typeface="Calibri" pitchFamily="34" charset="-120"/>
              </a:rPr>
              <a:t>Run the program, measure with a clock</a:t>
            </a:r>
            <a:endParaRPr lang="en-US" sz="1200" dirty="0"/>
          </a:p>
        </p:txBody>
      </p:sp>
      <p:sp>
        <p:nvSpPr>
          <p:cNvPr id="8" name="Text 6"/>
          <p:cNvSpPr/>
          <p:nvPr/>
        </p:nvSpPr>
        <p:spPr>
          <a:xfrm>
            <a:off x="950976" y="2377440"/>
            <a:ext cx="4663440" cy="228600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3A4551"/>
                </a:solidFill>
                <a:latin typeface="Calibri" pitchFamily="34" charset="0"/>
                <a:ea typeface="Calibri" pitchFamily="34" charset="-122"/>
                <a:cs typeface="Calibri" pitchFamily="34" charset="-120"/>
              </a:rPr>
              <a:t>Needs a complete implementation</a:t>
            </a:r>
            <a:endParaRPr lang="en-US" sz="1250" dirty="0"/>
          </a:p>
          <a:p>
            <a:pPr marL="342900" indent="-342900">
              <a:spcAft>
                <a:spcPts val="900"/>
              </a:spcAft>
              <a:buSzPct val="100000"/>
              <a:buChar char="•"/>
            </a:pPr>
            <a:r>
              <a:rPr lang="en-US" sz="1250" dirty="0">
                <a:solidFill>
                  <a:srgbClr val="3A4551"/>
                </a:solidFill>
                <a:latin typeface="Calibri" pitchFamily="34" charset="0"/>
                <a:ea typeface="Calibri" pitchFamily="34" charset="-122"/>
                <a:cs typeface="Calibri" pitchFamily="34" charset="-120"/>
              </a:rPr>
              <a:t>Results depend on machine, compiler and OS load</a:t>
            </a:r>
            <a:endParaRPr lang="en-US" sz="1250" dirty="0"/>
          </a:p>
          <a:p>
            <a:pPr marL="342900" indent="-342900">
              <a:spcAft>
                <a:spcPts val="900"/>
              </a:spcAft>
              <a:buSzPct val="100000"/>
              <a:buChar char="•"/>
            </a:pPr>
            <a:r>
              <a:rPr lang="en-US" sz="1250" dirty="0">
                <a:solidFill>
                  <a:srgbClr val="3A4551"/>
                </a:solidFill>
                <a:latin typeface="Calibri" pitchFamily="34" charset="0"/>
                <a:ea typeface="Calibri" pitchFamily="34" charset="-122"/>
                <a:cs typeface="Calibri" pitchFamily="34" charset="-120"/>
              </a:rPr>
              <a:t>Only covers the inputs you happened to test</a:t>
            </a:r>
            <a:endParaRPr lang="en-US" sz="1250" dirty="0"/>
          </a:p>
          <a:p>
            <a:pPr marL="342900" indent="-342900">
              <a:spcAft>
                <a:spcPts val="900"/>
              </a:spcAft>
              <a:buSzPct val="100000"/>
              <a:buChar char="•"/>
            </a:pPr>
            <a:r>
              <a:rPr lang="en-US" sz="1250" dirty="0">
                <a:solidFill>
                  <a:srgbClr val="3A4551"/>
                </a:solidFill>
                <a:latin typeface="Calibri" pitchFamily="34" charset="0"/>
                <a:ea typeface="Calibri" pitchFamily="34" charset="-122"/>
                <a:cs typeface="Calibri" pitchFamily="34" charset="-120"/>
              </a:rPr>
              <a:t>Cannot say anything about untested large n</a:t>
            </a:r>
            <a:endParaRPr lang="en-US" sz="1250" dirty="0"/>
          </a:p>
          <a:p>
            <a:pPr marL="342900" indent="-342900">
              <a:spcAft>
                <a:spcPts val="900"/>
              </a:spcAft>
              <a:buSzPct val="100000"/>
              <a:buChar char="•"/>
            </a:pPr>
            <a:r>
              <a:rPr lang="en-US" sz="1250" dirty="0">
                <a:solidFill>
                  <a:srgbClr val="3A4551"/>
                </a:solidFill>
                <a:latin typeface="Calibri" pitchFamily="34" charset="0"/>
                <a:ea typeface="Calibri" pitchFamily="34" charset="-122"/>
                <a:cs typeface="Calibri" pitchFamily="34" charset="-120"/>
              </a:rPr>
              <a:t>Still useful for final tuning and constants</a:t>
            </a:r>
            <a:endParaRPr lang="en-US" sz="1250" dirty="0"/>
          </a:p>
        </p:txBody>
      </p:sp>
      <p:sp>
        <p:nvSpPr>
          <p:cNvPr id="9" name="Shape 7"/>
          <p:cNvSpPr/>
          <p:nvPr/>
        </p:nvSpPr>
        <p:spPr>
          <a:xfrm>
            <a:off x="6245352" y="1325880"/>
            <a:ext cx="5303520" cy="3566160"/>
          </a:xfrm>
          <a:prstGeom prst="roundRect">
            <a:avLst>
              <a:gd name="adj" fmla="val 1538"/>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10" name="Shape 8"/>
          <p:cNvSpPr/>
          <p:nvPr/>
        </p:nvSpPr>
        <p:spPr>
          <a:xfrm>
            <a:off x="6246266" y="1325880"/>
            <a:ext cx="5303520" cy="868680"/>
          </a:xfrm>
          <a:prstGeom prst="roundRect">
            <a:avLst>
              <a:gd name="adj" fmla="val 6316"/>
            </a:avLst>
          </a:prstGeom>
          <a:solidFill>
            <a:srgbClr val="E2F0EA"/>
          </a:solidFill>
          <a:ln/>
        </p:spPr>
      </p:sp>
      <p:sp>
        <p:nvSpPr>
          <p:cNvPr id="11" name="Text 9"/>
          <p:cNvSpPr/>
          <p:nvPr/>
        </p:nvSpPr>
        <p:spPr>
          <a:xfrm>
            <a:off x="6519672" y="1463040"/>
            <a:ext cx="4754880" cy="310896"/>
          </a:xfrm>
          <a:prstGeom prst="rect">
            <a:avLst/>
          </a:prstGeom>
          <a:noFill/>
          <a:ln/>
        </p:spPr>
        <p:txBody>
          <a:bodyPr wrap="square" lIns="0" tIns="0" rIns="0" bIns="0" rtlCol="0" anchor="t"/>
          <a:lstStyle/>
          <a:p>
            <a:pPr indent="0" marL="0">
              <a:buNone/>
            </a:pPr>
            <a:r>
              <a:rPr lang="en-US" sz="1700" b="1" dirty="0">
                <a:solidFill>
                  <a:srgbClr val="2E7D5B"/>
                </a:solidFill>
                <a:latin typeface="Cambria" pitchFamily="34" charset="0"/>
                <a:ea typeface="Cambria" pitchFamily="34" charset="-122"/>
                <a:cs typeface="Cambria" pitchFamily="34" charset="-120"/>
              </a:rPr>
              <a:t>A priori (theoretical)</a:t>
            </a:r>
            <a:endParaRPr lang="en-US" sz="1700" dirty="0"/>
          </a:p>
        </p:txBody>
      </p:sp>
      <p:sp>
        <p:nvSpPr>
          <p:cNvPr id="12" name="Text 10"/>
          <p:cNvSpPr/>
          <p:nvPr/>
        </p:nvSpPr>
        <p:spPr>
          <a:xfrm>
            <a:off x="6519672" y="1792224"/>
            <a:ext cx="4754880" cy="274320"/>
          </a:xfrm>
          <a:prstGeom prst="rect">
            <a:avLst/>
          </a:prstGeom>
          <a:noFill/>
          <a:ln/>
        </p:spPr>
        <p:txBody>
          <a:bodyPr wrap="square" lIns="0" tIns="0" rIns="0" bIns="0" rtlCol="0" anchor="t"/>
          <a:lstStyle/>
          <a:p>
            <a:pPr indent="0" marL="0">
              <a:buNone/>
            </a:pPr>
            <a:r>
              <a:rPr lang="en-US" sz="1200" i="1" dirty="0">
                <a:solidFill>
                  <a:srgbClr val="3A4551"/>
                </a:solidFill>
                <a:latin typeface="Calibri" pitchFamily="34" charset="0"/>
                <a:ea typeface="Calibri" pitchFamily="34" charset="-122"/>
                <a:cs typeface="Calibri" pitchFamily="34" charset="-120"/>
              </a:rPr>
              <a:t>Analyse the algorithm mathematically</a:t>
            </a:r>
            <a:endParaRPr lang="en-US" sz="1200" dirty="0"/>
          </a:p>
        </p:txBody>
      </p:sp>
      <p:sp>
        <p:nvSpPr>
          <p:cNvPr id="13" name="Text 11"/>
          <p:cNvSpPr/>
          <p:nvPr/>
        </p:nvSpPr>
        <p:spPr>
          <a:xfrm>
            <a:off x="6556248" y="2377440"/>
            <a:ext cx="4663440" cy="228600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3A4551"/>
                </a:solidFill>
                <a:latin typeface="Calibri" pitchFamily="34" charset="0"/>
                <a:ea typeface="Calibri" pitchFamily="34" charset="-122"/>
                <a:cs typeface="Calibri" pitchFamily="34" charset="-120"/>
              </a:rPr>
              <a:t>Needs only the algorithm, not the code</a:t>
            </a:r>
            <a:endParaRPr lang="en-US" sz="1250" dirty="0"/>
          </a:p>
          <a:p>
            <a:pPr marL="342900" indent="-342900">
              <a:spcAft>
                <a:spcPts val="900"/>
              </a:spcAft>
              <a:buSzPct val="100000"/>
              <a:buChar char="•"/>
            </a:pPr>
            <a:r>
              <a:rPr lang="en-US" sz="1250" dirty="0">
                <a:solidFill>
                  <a:srgbClr val="3A4551"/>
                </a:solidFill>
                <a:latin typeface="Calibri" pitchFamily="34" charset="0"/>
                <a:ea typeface="Calibri" pitchFamily="34" charset="-122"/>
                <a:cs typeface="Calibri" pitchFamily="34" charset="-120"/>
              </a:rPr>
              <a:t>Independent of hardware and language</a:t>
            </a:r>
            <a:endParaRPr lang="en-US" sz="1250" dirty="0"/>
          </a:p>
          <a:p>
            <a:pPr marL="342900" indent="-342900">
              <a:spcAft>
                <a:spcPts val="900"/>
              </a:spcAft>
              <a:buSzPct val="100000"/>
              <a:buChar char="•"/>
            </a:pPr>
            <a:r>
              <a:rPr lang="en-US" sz="1250" dirty="0">
                <a:solidFill>
                  <a:srgbClr val="3A4551"/>
                </a:solidFill>
                <a:latin typeface="Calibri" pitchFamily="34" charset="0"/>
                <a:ea typeface="Calibri" pitchFamily="34" charset="-122"/>
                <a:cs typeface="Calibri" pitchFamily="34" charset="-120"/>
              </a:rPr>
              <a:t>Covers all inputs of every size</a:t>
            </a:r>
            <a:endParaRPr lang="en-US" sz="1250" dirty="0"/>
          </a:p>
          <a:p>
            <a:pPr marL="342900" indent="-342900">
              <a:spcAft>
                <a:spcPts val="900"/>
              </a:spcAft>
              <a:buSzPct val="100000"/>
              <a:buChar char="•"/>
            </a:pPr>
            <a:r>
              <a:rPr lang="en-US" sz="1250" dirty="0">
                <a:solidFill>
                  <a:srgbClr val="3A4551"/>
                </a:solidFill>
                <a:latin typeface="Calibri" pitchFamily="34" charset="0"/>
                <a:ea typeface="Calibri" pitchFamily="34" charset="-122"/>
                <a:cs typeface="Calibri" pitchFamily="34" charset="-120"/>
              </a:rPr>
              <a:t>Predicts behaviour as n grows without bound</a:t>
            </a:r>
            <a:endParaRPr lang="en-US" sz="1250" dirty="0"/>
          </a:p>
          <a:p>
            <a:pPr marL="342900" indent="-342900">
              <a:spcAft>
                <a:spcPts val="900"/>
              </a:spcAft>
              <a:buSzPct val="100000"/>
              <a:buChar char="•"/>
            </a:pPr>
            <a:r>
              <a:rPr lang="en-US" sz="1250" dirty="0">
                <a:solidFill>
                  <a:srgbClr val="3A4551"/>
                </a:solidFill>
                <a:latin typeface="Calibri" pitchFamily="34" charset="0"/>
                <a:ea typeface="Calibri" pitchFamily="34" charset="-122"/>
                <a:cs typeface="Calibri" pitchFamily="34" charset="-120"/>
              </a:rPr>
              <a:t>Gives the growth rate — what we call complexity</a:t>
            </a:r>
            <a:endParaRPr lang="en-US" sz="1250" dirty="0"/>
          </a:p>
        </p:txBody>
      </p:sp>
      <p:sp>
        <p:nvSpPr>
          <p:cNvPr id="14" name="Shape 12"/>
          <p:cNvSpPr/>
          <p:nvPr/>
        </p:nvSpPr>
        <p:spPr>
          <a:xfrm>
            <a:off x="640080" y="5074920"/>
            <a:ext cx="10908792" cy="749808"/>
          </a:xfrm>
          <a:prstGeom prst="roundRect">
            <a:avLst>
              <a:gd name="adj" fmla="val 7317"/>
            </a:avLst>
          </a:prstGeom>
          <a:solidFill>
            <a:srgbClr val="DFEEF0"/>
          </a:solidFill>
          <a:ln w="12700">
            <a:solidFill>
              <a:srgbClr val="DFEEF0"/>
            </a:solidFill>
            <a:prstDash val="solid"/>
          </a:ln>
          <a:effectLst>
            <a:outerShdw sx="100000" sy="100000" kx="0" ky="0" algn="bl" rotWithShape="0" blurRad="127000" dist="25400" dir="5400000">
              <a:srgbClr val="9AA6B2">
                <a:alpha val="22000"/>
              </a:srgbClr>
            </a:outerShdw>
          </a:effectLst>
        </p:spPr>
      </p:sp>
      <p:sp>
        <p:nvSpPr>
          <p:cNvPr id="15" name="Text 13"/>
          <p:cNvSpPr/>
          <p:nvPr/>
        </p:nvSpPr>
        <p:spPr>
          <a:xfrm>
            <a:off x="914400" y="5074920"/>
            <a:ext cx="10332720" cy="749808"/>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This course is about a priori analysis. </a:t>
            </a:r>
            <a:pPr indent="0" marL="0">
              <a:buNone/>
            </a:pPr>
            <a:r>
              <a:rPr lang="en-US" sz="1300" dirty="0">
                <a:solidFill>
                  <a:srgbClr val="3A4551"/>
                </a:solidFill>
                <a:latin typeface="Calibri" pitchFamily="34" charset="0"/>
                <a:ea typeface="Calibri" pitchFamily="34" charset="-122"/>
                <a:cs typeface="Calibri" pitchFamily="34" charset="-120"/>
              </a:rPr>
              <a:t>We count the frequency of basic operations as a function of input size n, and then describe how that count grows.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THE COST MODEL</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Counting operations: the RAM model</a:t>
            </a:r>
            <a:endParaRPr lang="en-US" sz="3000" dirty="0"/>
          </a:p>
        </p:txBody>
      </p:sp>
      <p:sp>
        <p:nvSpPr>
          <p:cNvPr id="4" name="Shape 2"/>
          <p:cNvSpPr/>
          <p:nvPr/>
        </p:nvSpPr>
        <p:spPr>
          <a:xfrm>
            <a:off x="640080" y="1325880"/>
            <a:ext cx="4892040" cy="3246120"/>
          </a:xfrm>
          <a:prstGeom prst="roundRect">
            <a:avLst>
              <a:gd name="adj" fmla="val 1690"/>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5" name="Text 3"/>
          <p:cNvSpPr/>
          <p:nvPr/>
        </p:nvSpPr>
        <p:spPr>
          <a:xfrm>
            <a:off x="914400" y="1508760"/>
            <a:ext cx="4297680" cy="292608"/>
          </a:xfrm>
          <a:prstGeom prst="rect">
            <a:avLst/>
          </a:prstGeom>
          <a:noFill/>
          <a:ln/>
        </p:spPr>
        <p:txBody>
          <a:bodyPr wrap="square" lIns="0" tIns="0" rIns="0" bIns="0" rtlCol="0" anchor="t"/>
          <a:lstStyle/>
          <a:p>
            <a:pPr indent="0" marL="0">
              <a:buNone/>
            </a:pPr>
            <a:r>
              <a:rPr lang="en-US" sz="1700" b="1" dirty="0">
                <a:solidFill>
                  <a:srgbClr val="12161C"/>
                </a:solidFill>
                <a:latin typeface="Cambria" pitchFamily="34" charset="0"/>
                <a:ea typeface="Cambria" pitchFamily="34" charset="-122"/>
                <a:cs typeface="Cambria" pitchFamily="34" charset="-120"/>
              </a:rPr>
              <a:t>Assumptions</a:t>
            </a:r>
            <a:endParaRPr lang="en-US" sz="1700" dirty="0"/>
          </a:p>
        </p:txBody>
      </p:sp>
      <p:sp>
        <p:nvSpPr>
          <p:cNvPr id="6" name="Text 4"/>
          <p:cNvSpPr/>
          <p:nvPr/>
        </p:nvSpPr>
        <p:spPr>
          <a:xfrm>
            <a:off x="914400" y="1938528"/>
            <a:ext cx="4343400" cy="2377440"/>
          </a:xfrm>
          <a:prstGeom prst="rect">
            <a:avLst/>
          </a:prstGeom>
          <a:noFill/>
          <a:ln/>
        </p:spPr>
        <p:txBody>
          <a:bodyPr wrap="square" lIns="0" tIns="0" rIns="0" bIns="0" rtlCol="0" anchor="t"/>
          <a:lstStyle/>
          <a:p>
            <a:pPr marL="342900" indent="-342900">
              <a:lnSpc>
                <a:spcPts val="1600"/>
              </a:lnSpc>
              <a:spcAft>
                <a:spcPts val="1000"/>
              </a:spcAft>
              <a:buSzPct val="100000"/>
              <a:buChar char="•"/>
            </a:pPr>
            <a:r>
              <a:rPr lang="en-US" sz="1250" dirty="0">
                <a:solidFill>
                  <a:srgbClr val="3A4551"/>
                </a:solidFill>
                <a:latin typeface="Calibri" pitchFamily="34" charset="0"/>
                <a:ea typeface="Calibri" pitchFamily="34" charset="-122"/>
                <a:cs typeface="Calibri" pitchFamily="34" charset="-120"/>
              </a:rPr>
              <a:t>A single processor executing instructions one after another</a:t>
            </a:r>
            <a:endParaRPr lang="en-US" sz="1250" dirty="0"/>
          </a:p>
          <a:p>
            <a:pPr marL="342900" indent="-342900">
              <a:lnSpc>
                <a:spcPts val="1600"/>
              </a:lnSpc>
              <a:spcAft>
                <a:spcPts val="1000"/>
              </a:spcAft>
              <a:buSzPct val="100000"/>
              <a:buChar char="•"/>
            </a:pPr>
            <a:r>
              <a:rPr lang="en-US" sz="1250" dirty="0">
                <a:solidFill>
                  <a:srgbClr val="3A4551"/>
                </a:solidFill>
                <a:latin typeface="Calibri" pitchFamily="34" charset="0"/>
                <a:ea typeface="Calibri" pitchFamily="34" charset="-122"/>
                <a:cs typeface="Calibri" pitchFamily="34" charset="-120"/>
              </a:rPr>
              <a:t>Each simple instruction takes one constant unit of time</a:t>
            </a:r>
            <a:endParaRPr lang="en-US" sz="1250" dirty="0"/>
          </a:p>
          <a:p>
            <a:pPr marL="342900" indent="-342900">
              <a:lnSpc>
                <a:spcPts val="1600"/>
              </a:lnSpc>
              <a:spcAft>
                <a:spcPts val="1000"/>
              </a:spcAft>
              <a:buSzPct val="100000"/>
              <a:buChar char="•"/>
            </a:pPr>
            <a:r>
              <a:rPr lang="en-US" sz="1250" dirty="0">
                <a:solidFill>
                  <a:srgbClr val="3A4551"/>
                </a:solidFill>
                <a:latin typeface="Calibri" pitchFamily="34" charset="0"/>
                <a:ea typeface="Calibri" pitchFamily="34" charset="-122"/>
                <a:cs typeface="Calibri" pitchFamily="34" charset="-120"/>
              </a:rPr>
              <a:t>Any memory location can be accessed in the same unit time</a:t>
            </a:r>
            <a:endParaRPr lang="en-US" sz="1250" dirty="0"/>
          </a:p>
          <a:p>
            <a:pPr marL="342900" indent="-342900">
              <a:lnSpc>
                <a:spcPts val="1600"/>
              </a:lnSpc>
              <a:spcAft>
                <a:spcPts val="1000"/>
              </a:spcAft>
              <a:buSzPct val="100000"/>
              <a:buChar char="•"/>
            </a:pPr>
            <a:r>
              <a:rPr lang="en-US" sz="1250" dirty="0">
                <a:solidFill>
                  <a:srgbClr val="3A4551"/>
                </a:solidFill>
                <a:latin typeface="Calibri" pitchFamily="34" charset="0"/>
                <a:ea typeface="Calibri" pitchFamily="34" charset="-122"/>
                <a:cs typeface="Calibri" pitchFamily="34" charset="-120"/>
              </a:rPr>
              <a:t>Memory is unlimited</a:t>
            </a:r>
            <a:endParaRPr lang="en-US" sz="1250" dirty="0"/>
          </a:p>
          <a:p>
            <a:pPr marL="342900" indent="-342900">
              <a:lnSpc>
                <a:spcPts val="1600"/>
              </a:lnSpc>
              <a:spcAft>
                <a:spcPts val="1000"/>
              </a:spcAft>
              <a:buSzPct val="100000"/>
              <a:buChar char="•"/>
            </a:pPr>
            <a:r>
              <a:rPr lang="en-US" sz="1250" dirty="0">
                <a:solidFill>
                  <a:srgbClr val="3A4551"/>
                </a:solidFill>
                <a:latin typeface="Calibri" pitchFamily="34" charset="0"/>
                <a:ea typeface="Calibri" pitchFamily="34" charset="-122"/>
                <a:cs typeface="Calibri" pitchFamily="34" charset="-120"/>
              </a:rPr>
              <a:t>Numbers fit in one word — arithmetic is a single operation</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852160" y="1325880"/>
          <a:ext cx="5696712" cy="914400"/>
        </p:xfrm>
        <a:graphic>
          <a:graphicData uri="http://schemas.openxmlformats.org/drawingml/2006/table">
            <a:tbl>
              <a:tblPr/>
              <a:tblGrid>
                <a:gridCol w="2148840"/>
                <a:gridCol w="1691640"/>
                <a:gridCol w="1856232"/>
              </a:tblGrid>
              <a:tr h="402336">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Construct</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Cost</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Why</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r>
              <a:tr h="402336">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Assignment  x := 5</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One write</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Arithmetic  a + b</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One ALU operation</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Comparison  a &lt; b</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One test</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Array access  a[i]</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Random access assumed</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if – else block</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test + branch taken</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Only one branch runs</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Loop running n times</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n × body + (n+1) tests</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The extra test fails and exits</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Nested loops</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product of the counts</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Inner runs fully each time</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bl>
          </a:graphicData>
        </a:graphic>
      </p:graphicFrame>
      <p:sp>
        <p:nvSpPr>
          <p:cNvPr id="8" name="Text 5"/>
          <p:cNvSpPr/>
          <p:nvPr/>
        </p:nvSpPr>
        <p:spPr>
          <a:xfrm>
            <a:off x="5852160" y="4709160"/>
            <a:ext cx="5669280" cy="274320"/>
          </a:xfrm>
          <a:prstGeom prst="rect">
            <a:avLst/>
          </a:prstGeom>
          <a:noFill/>
          <a:ln/>
        </p:spPr>
        <p:txBody>
          <a:bodyPr wrap="square" lIns="0" tIns="0" rIns="0" bIns="0" rtlCol="0" anchor="t"/>
          <a:lstStyle/>
          <a:p>
            <a:pPr indent="0" marL="0">
              <a:buNone/>
            </a:pPr>
            <a:r>
              <a:rPr lang="en-US" sz="1150" i="1" dirty="0">
                <a:solidFill>
                  <a:srgbClr val="6B7784"/>
                </a:solidFill>
                <a:latin typeface="Calibri" pitchFamily="34" charset="0"/>
                <a:ea typeface="Calibri" pitchFamily="34" charset="-122"/>
                <a:cs typeface="Calibri" pitchFamily="34" charset="-120"/>
              </a:rPr>
              <a:t>The unit is deliberately abstract — “one step”, not “one nanosecond”.</a:t>
            </a:r>
            <a:endParaRPr lang="en-US" sz="1150" dirty="0"/>
          </a:p>
        </p:txBody>
      </p:sp>
      <p:sp>
        <p:nvSpPr>
          <p:cNvPr id="9" name="Shape 6"/>
          <p:cNvSpPr/>
          <p:nvPr/>
        </p:nvSpPr>
        <p:spPr>
          <a:xfrm>
            <a:off x="640080" y="4754880"/>
            <a:ext cx="4892040" cy="960120"/>
          </a:xfrm>
          <a:prstGeom prst="roundRect">
            <a:avLst>
              <a:gd name="adj" fmla="val 5714"/>
            </a:avLst>
          </a:prstGeom>
          <a:solidFill>
            <a:srgbClr val="FDF0E0"/>
          </a:solidFill>
          <a:ln w="12700">
            <a:solidFill>
              <a:srgbClr val="FDF0E0"/>
            </a:solidFill>
            <a:prstDash val="solid"/>
          </a:ln>
          <a:effectLst>
            <a:outerShdw sx="100000" sy="100000" kx="0" ky="0" algn="bl" rotWithShape="0" blurRad="127000" dist="25400" dir="5400000">
              <a:srgbClr val="9AA6B2">
                <a:alpha val="22000"/>
              </a:srgbClr>
            </a:outerShdw>
          </a:effectLst>
        </p:spPr>
      </p:sp>
      <p:sp>
        <p:nvSpPr>
          <p:cNvPr id="10" name="Text 7"/>
          <p:cNvSpPr/>
          <p:nvPr/>
        </p:nvSpPr>
        <p:spPr>
          <a:xfrm>
            <a:off x="914400" y="4754880"/>
            <a:ext cx="4389120" cy="960120"/>
          </a:xfrm>
          <a:prstGeom prst="rect">
            <a:avLst/>
          </a:prstGeom>
          <a:noFill/>
          <a:ln/>
        </p:spPr>
        <p:txBody>
          <a:bodyPr wrap="square" lIns="0" tIns="0" rIns="0" bIns="0" rtlCol="0" anchor="ctr"/>
          <a:lstStyle/>
          <a:p>
            <a:pPr indent="0" marL="0">
              <a:lnSpc>
                <a:spcPts val="1700"/>
              </a:lnSpc>
              <a:buNone/>
            </a:pPr>
            <a:r>
              <a:rPr lang="en-US" sz="1250" b="1" dirty="0">
                <a:solidFill>
                  <a:srgbClr val="A85F0C"/>
                </a:solidFill>
                <a:latin typeface="Calibri" pitchFamily="34" charset="0"/>
                <a:ea typeface="Calibri" pitchFamily="34" charset="-122"/>
                <a:cs typeface="Calibri" pitchFamily="34" charset="-120"/>
              </a:rPr>
              <a:t>Board work: mark the cost of every line of a small program, then add the column.</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WORKED EXAMPLE</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Frequency count: the step-count table</a:t>
            </a:r>
            <a:endParaRPr lang="en-US" sz="3000" dirty="0"/>
          </a:p>
        </p:txBody>
      </p:sp>
      <p:sp>
        <p:nvSpPr>
          <p:cNvPr id="4" name="Shape 2"/>
          <p:cNvSpPr/>
          <p:nvPr/>
        </p:nvSpPr>
        <p:spPr>
          <a:xfrm>
            <a:off x="640080" y="1298448"/>
            <a:ext cx="4526280" cy="1799971"/>
          </a:xfrm>
          <a:prstGeom prst="roundRect">
            <a:avLst>
              <a:gd name="adj" fmla="val 2540"/>
            </a:avLst>
          </a:prstGeom>
          <a:solidFill>
            <a:srgbClr val="171C24"/>
          </a:solidFill>
          <a:ln/>
          <a:effectLst>
            <a:outerShdw sx="100000" sy="100000" kx="0" ky="0" algn="bl" rotWithShape="0" blurRad="101600" dist="25400" dir="5400000">
              <a:srgbClr val="9AA6B2">
                <a:alpha val="30000"/>
              </a:srgbClr>
            </a:outerShdw>
          </a:effectLst>
        </p:spPr>
      </p:sp>
      <p:sp>
        <p:nvSpPr>
          <p:cNvPr id="5" name="Text 3"/>
          <p:cNvSpPr/>
          <p:nvPr/>
        </p:nvSpPr>
        <p:spPr>
          <a:xfrm>
            <a:off x="804672" y="1426464"/>
            <a:ext cx="4197096" cy="1543939"/>
          </a:xfrm>
          <a:prstGeom prst="rect">
            <a:avLst/>
          </a:prstGeom>
          <a:noFill/>
          <a:ln/>
        </p:spPr>
        <p:txBody>
          <a:bodyPr wrap="square" lIns="0" tIns="0" rIns="0" bIns="0" rtlCol="0" anchor="t"/>
          <a:lstStyle/>
          <a:p>
            <a:pPr indent="0" marL="0">
              <a:lnSpc>
                <a:spcPts val="1675"/>
              </a:lnSpc>
              <a:buNone/>
            </a:pPr>
            <a:r>
              <a:rPr lang="en-US" sz="1250" b="1" dirty="0">
                <a:solidFill>
                  <a:srgbClr val="E8871E"/>
                </a:solidFill>
                <a:latin typeface="Courier New" pitchFamily="34" charset="0"/>
                <a:ea typeface="Courier New" pitchFamily="34" charset="-122"/>
                <a:cs typeface="Courier New" pitchFamily="34" charset="-120"/>
              </a:rPr>
              <a:t>Algorithm</a:t>
            </a:r>
            <a:pPr indent="0" marL="0">
              <a:lnSpc>
                <a:spcPts val="1675"/>
              </a:lnSpc>
              <a:buNone/>
            </a:pPr>
            <a:r>
              <a:rPr lang="en-US" sz="1250" dirty="0">
                <a:solidFill>
                  <a:srgbClr val="E6EAF0"/>
                </a:solidFill>
                <a:latin typeface="Courier New" pitchFamily="34" charset="0"/>
                <a:ea typeface="Courier New" pitchFamily="34" charset="-122"/>
                <a:cs typeface="Courier New" pitchFamily="34" charset="-120"/>
              </a:rPr>
              <a:t> Sum(a, n)</a:t>
            </a:r>
            <a:endParaRPr lang="en-US" sz="1250" dirty="0"/>
          </a:p>
          <a:p>
            <a:pPr indent="0" marL="0">
              <a:lnSpc>
                <a:spcPts val="1675"/>
              </a:lnSpc>
              <a:buNone/>
            </a:pPr>
            <a:r>
              <a:rPr lang="en-US" sz="1250" dirty="0">
                <a:solidFill>
                  <a:srgbClr val="E6EAF0"/>
                </a:solidFill>
                <a:latin typeface="Courier New" pitchFamily="34" charset="0"/>
                <a:ea typeface="Courier New" pitchFamily="34" charset="-122"/>
                <a:cs typeface="Courier New" pitchFamily="34" charset="-120"/>
              </a:rPr>
              <a:t>{</a:t>
            </a:r>
            <a:endParaRPr lang="en-US" sz="1250" dirty="0"/>
          </a:p>
          <a:p>
            <a:pPr indent="0" marL="0">
              <a:lnSpc>
                <a:spcPts val="1675"/>
              </a:lnSpc>
              <a:buNone/>
            </a:pPr>
            <a:r>
              <a:rPr lang="en-US" sz="1250" dirty="0">
                <a:solidFill>
                  <a:srgbClr val="E6EAF0"/>
                </a:solidFill>
                <a:latin typeface="Courier New" pitchFamily="34" charset="0"/>
                <a:ea typeface="Courier New" pitchFamily="34" charset="-122"/>
                <a:cs typeface="Courier New" pitchFamily="34" charset="-120"/>
              </a:rPr>
              <a:t>   s := 0.0;</a:t>
            </a:r>
            <a:endParaRPr lang="en-US" sz="1250" dirty="0"/>
          </a:p>
          <a:p>
            <a:pPr indent="0" marL="0">
              <a:lnSpc>
                <a:spcPts val="1675"/>
              </a:lnSpc>
              <a:buNone/>
            </a:pPr>
            <a:r>
              <a:rPr lang="en-US" sz="1250" dirty="0">
                <a:solidFill>
                  <a:srgbClr val="E6EAF0"/>
                </a:solidFill>
                <a:latin typeface="Courier New" pitchFamily="34" charset="0"/>
                <a:ea typeface="Courier New" pitchFamily="34" charset="-122"/>
                <a:cs typeface="Courier New" pitchFamily="34" charset="-120"/>
              </a:rPr>
              <a:t>   </a:t>
            </a:r>
            <a:pPr indent="0" marL="0">
              <a:lnSpc>
                <a:spcPts val="1675"/>
              </a:lnSpc>
              <a:buNone/>
            </a:pPr>
            <a:r>
              <a:rPr lang="en-US" sz="1250" b="1" dirty="0">
                <a:solidFill>
                  <a:srgbClr val="E8871E"/>
                </a:solidFill>
                <a:latin typeface="Courier New" pitchFamily="34" charset="0"/>
                <a:ea typeface="Courier New" pitchFamily="34" charset="-122"/>
                <a:cs typeface="Courier New" pitchFamily="34" charset="-120"/>
              </a:rPr>
              <a:t>for</a:t>
            </a:r>
            <a:pPr indent="0" marL="0">
              <a:lnSpc>
                <a:spcPts val="1675"/>
              </a:lnSpc>
              <a:buNone/>
            </a:pPr>
            <a:r>
              <a:rPr lang="en-US" sz="1250" dirty="0">
                <a:solidFill>
                  <a:srgbClr val="E6EAF0"/>
                </a:solidFill>
                <a:latin typeface="Courier New" pitchFamily="34" charset="0"/>
                <a:ea typeface="Courier New" pitchFamily="34" charset="-122"/>
                <a:cs typeface="Courier New" pitchFamily="34" charset="-120"/>
              </a:rPr>
              <a:t> i := 1 to n </a:t>
            </a:r>
            <a:pPr indent="0" marL="0">
              <a:lnSpc>
                <a:spcPts val="1675"/>
              </a:lnSpc>
              <a:buNone/>
            </a:pPr>
            <a:r>
              <a:rPr lang="en-US" sz="1250" b="1" dirty="0">
                <a:solidFill>
                  <a:srgbClr val="E8871E"/>
                </a:solidFill>
                <a:latin typeface="Courier New" pitchFamily="34" charset="0"/>
                <a:ea typeface="Courier New" pitchFamily="34" charset="-122"/>
                <a:cs typeface="Courier New" pitchFamily="34" charset="-120"/>
              </a:rPr>
              <a:t>do</a:t>
            </a:r>
            <a:endParaRPr lang="en-US" sz="1250" dirty="0"/>
          </a:p>
          <a:p>
            <a:pPr indent="0" marL="0">
              <a:lnSpc>
                <a:spcPts val="1675"/>
              </a:lnSpc>
              <a:buNone/>
            </a:pPr>
            <a:r>
              <a:rPr lang="en-US" sz="1250" dirty="0">
                <a:solidFill>
                  <a:srgbClr val="E6EAF0"/>
                </a:solidFill>
                <a:latin typeface="Courier New" pitchFamily="34" charset="0"/>
                <a:ea typeface="Courier New" pitchFamily="34" charset="-122"/>
                <a:cs typeface="Courier New" pitchFamily="34" charset="-120"/>
              </a:rPr>
              <a:t>      s := s + a[i];</a:t>
            </a:r>
            <a:endParaRPr lang="en-US" sz="1250" dirty="0"/>
          </a:p>
          <a:p>
            <a:pPr indent="0" marL="0">
              <a:lnSpc>
                <a:spcPts val="1675"/>
              </a:lnSpc>
              <a:buNone/>
            </a:pPr>
            <a:r>
              <a:rPr lang="en-US" sz="1250" dirty="0">
                <a:solidFill>
                  <a:srgbClr val="E6EAF0"/>
                </a:solidFill>
                <a:latin typeface="Courier New" pitchFamily="34" charset="0"/>
                <a:ea typeface="Courier New" pitchFamily="34" charset="-122"/>
                <a:cs typeface="Courier New" pitchFamily="34" charset="-120"/>
              </a:rPr>
              <a:t>   </a:t>
            </a:r>
            <a:pPr indent="0" marL="0">
              <a:lnSpc>
                <a:spcPts val="1675"/>
              </a:lnSpc>
              <a:buNone/>
            </a:pPr>
            <a:r>
              <a:rPr lang="en-US" sz="1250" b="1" dirty="0">
                <a:solidFill>
                  <a:srgbClr val="E8871E"/>
                </a:solidFill>
                <a:latin typeface="Courier New" pitchFamily="34" charset="0"/>
                <a:ea typeface="Courier New" pitchFamily="34" charset="-122"/>
                <a:cs typeface="Courier New" pitchFamily="34" charset="-120"/>
              </a:rPr>
              <a:t>return</a:t>
            </a:r>
            <a:pPr indent="0" marL="0">
              <a:lnSpc>
                <a:spcPts val="1675"/>
              </a:lnSpc>
              <a:buNone/>
            </a:pPr>
            <a:r>
              <a:rPr lang="en-US" sz="1250" dirty="0">
                <a:solidFill>
                  <a:srgbClr val="E6EAF0"/>
                </a:solidFill>
                <a:latin typeface="Courier New" pitchFamily="34" charset="0"/>
                <a:ea typeface="Courier New" pitchFamily="34" charset="-122"/>
                <a:cs typeface="Courier New" pitchFamily="34" charset="-120"/>
              </a:rPr>
              <a:t> s;</a:t>
            </a:r>
            <a:endParaRPr lang="en-US" sz="1250" dirty="0"/>
          </a:p>
          <a:p>
            <a:pPr indent="0" marL="0">
              <a:lnSpc>
                <a:spcPts val="1675"/>
              </a:lnSpc>
              <a:buNone/>
            </a:pPr>
            <a:r>
              <a:rPr lang="en-US" sz="1250" dirty="0">
                <a:solidFill>
                  <a:srgbClr val="E6EAF0"/>
                </a:solidFill>
                <a:latin typeface="Courier New" pitchFamily="34" charset="0"/>
                <a:ea typeface="Courier New" pitchFamily="34" charset="-122"/>
                <a:cs typeface="Courier New" pitchFamily="34" charset="-120"/>
              </a:rPr>
              <a:t>}</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40680" y="1298448"/>
          <a:ext cx="6108192" cy="914400"/>
        </p:xfrm>
        <a:graphic>
          <a:graphicData uri="http://schemas.openxmlformats.org/drawingml/2006/table">
            <a:tbl>
              <a:tblPr/>
              <a:tblGrid>
                <a:gridCol w="2286000"/>
                <a:gridCol w="777240"/>
                <a:gridCol w="1490472"/>
                <a:gridCol w="1554480"/>
              </a:tblGrid>
              <a:tr h="38404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Statement</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s/e</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Frequency</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r>
              <a:tr h="384048">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s := 0.0</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384048">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for i := 1 to n</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n + 1</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n + 1</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384048">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s := s + a[i]</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n</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n</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384048">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return s</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384048">
                <a:tc>
                  <a:txBody>
                    <a:bodyPr/>
                    <a:lstStyle/>
                    <a:p>
                      <a:pPr algn="l" indent="0" marL="0">
                        <a:buNone/>
                      </a:pPr>
                      <a:r>
                        <a:rPr lang="en-US" sz="1250" b="1" dirty="0">
                          <a:solidFill>
                            <a:srgbClr val="3A4551"/>
                          </a:solidFill>
                          <a:latin typeface="Calibri" pitchFamily="34" charset="0"/>
                          <a:ea typeface="Calibri" pitchFamily="34" charset="-122"/>
                          <a:cs typeface="Calibri" pitchFamily="34" charset="-120"/>
                        </a:rPr>
                        <a:t>Total steps</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A85F0C"/>
                          </a:solidFill>
                          <a:latin typeface="Calibri" pitchFamily="34" charset="0"/>
                          <a:ea typeface="Calibri" pitchFamily="34" charset="-122"/>
                          <a:cs typeface="Calibri" pitchFamily="34" charset="-120"/>
                        </a:rPr>
                        <a:t>2n + 3</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bl>
          </a:graphicData>
        </a:graphic>
      </p:graphicFrame>
      <p:sp>
        <p:nvSpPr>
          <p:cNvPr id="7" name="Shape 4"/>
          <p:cNvSpPr/>
          <p:nvPr/>
        </p:nvSpPr>
        <p:spPr>
          <a:xfrm>
            <a:off x="640080" y="3977640"/>
            <a:ext cx="4617720" cy="1737360"/>
          </a:xfrm>
          <a:prstGeom prst="roundRect">
            <a:avLst>
              <a:gd name="adj" fmla="val 3158"/>
            </a:avLst>
          </a:prstGeom>
          <a:solidFill>
            <a:srgbClr val="1B2129"/>
          </a:solidFill>
          <a:ln/>
          <a:effectLst>
            <a:outerShdw sx="100000" sy="100000" kx="0" ky="0" algn="bl" rotWithShape="0" blurRad="127000" dist="25400" dir="5400000">
              <a:srgbClr val="9AA6B2">
                <a:alpha val="22000"/>
              </a:srgbClr>
            </a:outerShdw>
          </a:effectLst>
        </p:spPr>
      </p:sp>
      <p:sp>
        <p:nvSpPr>
          <p:cNvPr id="8" name="Text 5"/>
          <p:cNvSpPr/>
          <p:nvPr/>
        </p:nvSpPr>
        <p:spPr>
          <a:xfrm>
            <a:off x="914400" y="4160520"/>
            <a:ext cx="4023360" cy="274320"/>
          </a:xfrm>
          <a:prstGeom prst="rect">
            <a:avLst/>
          </a:prstGeom>
          <a:noFill/>
          <a:ln/>
        </p:spPr>
        <p:txBody>
          <a:bodyPr wrap="square" lIns="0" tIns="0" rIns="0" bIns="0" rtlCol="0" anchor="t"/>
          <a:lstStyle/>
          <a:p>
            <a:pPr indent="0" marL="0">
              <a:buNone/>
            </a:pPr>
            <a:r>
              <a:rPr lang="en-US" sz="1250" b="1" dirty="0">
                <a:solidFill>
                  <a:srgbClr val="E8871E"/>
                </a:solidFill>
                <a:latin typeface="Calibri" pitchFamily="34" charset="0"/>
                <a:ea typeface="Calibri" pitchFamily="34" charset="-122"/>
                <a:cs typeface="Calibri" pitchFamily="34" charset="-120"/>
              </a:rPr>
              <a:t>s/e = steps per execution</a:t>
            </a:r>
            <a:endParaRPr lang="en-US" sz="1250" dirty="0"/>
          </a:p>
        </p:txBody>
      </p:sp>
      <p:sp>
        <p:nvSpPr>
          <p:cNvPr id="9" name="Text 6"/>
          <p:cNvSpPr/>
          <p:nvPr/>
        </p:nvSpPr>
        <p:spPr>
          <a:xfrm>
            <a:off x="914400" y="4462272"/>
            <a:ext cx="4114800" cy="1005840"/>
          </a:xfrm>
          <a:prstGeom prst="rect">
            <a:avLst/>
          </a:prstGeom>
          <a:noFill/>
          <a:ln/>
        </p:spPr>
        <p:txBody>
          <a:bodyPr wrap="square" lIns="0" tIns="0" rIns="0" bIns="0" rtlCol="0" anchor="t"/>
          <a:lstStyle/>
          <a:p>
            <a:pPr indent="0" marL="0">
              <a:lnSpc>
                <a:spcPts val="1700"/>
              </a:lnSpc>
              <a:buNone/>
            </a:pPr>
            <a:r>
              <a:rPr lang="en-US" sz="1250" dirty="0">
                <a:solidFill>
                  <a:srgbClr val="C9D2DC"/>
                </a:solidFill>
                <a:latin typeface="Calibri" pitchFamily="34" charset="0"/>
                <a:ea typeface="Calibri" pitchFamily="34" charset="-122"/>
                <a:cs typeface="Calibri" pitchFamily="34" charset="-120"/>
              </a:rPr>
              <a:t>Frequency = how many times that statement runs for an input of size n. Multiply the two, then add the column to get the total step count T(n).</a:t>
            </a:r>
            <a:endParaRPr lang="en-US" sz="1250" dirty="0"/>
          </a:p>
        </p:txBody>
      </p:sp>
      <p:sp>
        <p:nvSpPr>
          <p:cNvPr id="10" name="Shape 7"/>
          <p:cNvSpPr/>
          <p:nvPr/>
        </p:nvSpPr>
        <p:spPr>
          <a:xfrm>
            <a:off x="5532120" y="3977640"/>
            <a:ext cx="6016752" cy="1737360"/>
          </a:xfrm>
          <a:prstGeom prst="roundRect">
            <a:avLst>
              <a:gd name="adj" fmla="val 3158"/>
            </a:avLst>
          </a:prstGeom>
          <a:solidFill>
            <a:srgbClr val="DFEEF0"/>
          </a:solidFill>
          <a:ln w="12700">
            <a:solidFill>
              <a:srgbClr val="DFEEF0"/>
            </a:solidFill>
            <a:prstDash val="solid"/>
          </a:ln>
          <a:effectLst>
            <a:outerShdw sx="100000" sy="100000" kx="0" ky="0" algn="bl" rotWithShape="0" blurRad="127000" dist="25400" dir="5400000">
              <a:srgbClr val="9AA6B2">
                <a:alpha val="22000"/>
              </a:srgbClr>
            </a:outerShdw>
          </a:effectLst>
        </p:spPr>
      </p:sp>
      <p:sp>
        <p:nvSpPr>
          <p:cNvPr id="11" name="Text 8"/>
          <p:cNvSpPr/>
          <p:nvPr/>
        </p:nvSpPr>
        <p:spPr>
          <a:xfrm>
            <a:off x="5806440" y="4114800"/>
            <a:ext cx="5486400" cy="457200"/>
          </a:xfrm>
          <a:prstGeom prst="rect">
            <a:avLst/>
          </a:prstGeom>
          <a:noFill/>
          <a:ln/>
        </p:spPr>
        <p:txBody>
          <a:bodyPr wrap="square" lIns="0" tIns="0" rIns="0" bIns="0" rtlCol="0" anchor="t"/>
          <a:lstStyle/>
          <a:p>
            <a:pPr indent="0" marL="0">
              <a:buNone/>
            </a:pPr>
            <a:r>
              <a:rPr lang="en-US" sz="2000" b="1" dirty="0">
                <a:solidFill>
                  <a:srgbClr val="0E7C86"/>
                </a:solidFill>
                <a:latin typeface="Courier New" pitchFamily="34" charset="0"/>
                <a:ea typeface="Courier New" pitchFamily="34" charset="-122"/>
                <a:cs typeface="Courier New" pitchFamily="34" charset="-120"/>
              </a:rPr>
              <a:t>T(n) = 2n + 3</a:t>
            </a:r>
            <a:endParaRPr lang="en-US" sz="2000" dirty="0"/>
          </a:p>
        </p:txBody>
      </p:sp>
      <p:sp>
        <p:nvSpPr>
          <p:cNvPr id="12" name="Text 9"/>
          <p:cNvSpPr/>
          <p:nvPr/>
        </p:nvSpPr>
        <p:spPr>
          <a:xfrm>
            <a:off x="5806440" y="4617720"/>
            <a:ext cx="5486400" cy="1005840"/>
          </a:xfrm>
          <a:prstGeom prst="rect">
            <a:avLst/>
          </a:prstGeom>
          <a:noFill/>
          <a:ln/>
        </p:spPr>
        <p:txBody>
          <a:bodyPr wrap="square" lIns="0" tIns="0" rIns="0" bIns="0" rtlCol="0" anchor="t"/>
          <a:lstStyle/>
          <a:p>
            <a:pPr indent="0" marL="0">
              <a:lnSpc>
                <a:spcPts val="1700"/>
              </a:lnSpc>
              <a:buNone/>
            </a:pPr>
            <a:r>
              <a:rPr lang="en-US" sz="1250" dirty="0">
                <a:solidFill>
                  <a:srgbClr val="3A4551"/>
                </a:solidFill>
                <a:latin typeface="Calibri" pitchFamily="34" charset="0"/>
                <a:ea typeface="Calibri" pitchFamily="34" charset="-122"/>
                <a:cs typeface="Calibri" pitchFamily="34" charset="-120"/>
              </a:rPr>
              <a:t>The constants 2 and 3 depend on how we charge each line; the fact that T(n) grows linearly in n does not. That robust part — the growth rate — is what asymptotic notation captures, and it is why we will write this simply as O(n).</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161C"/>
        </a:solidFill>
      </p:bgPr>
    </p:bg>
    <p:spTree>
      <p:nvGrpSpPr>
        <p:cNvPr id="1" name=""/>
        <p:cNvGrpSpPr/>
        <p:nvPr/>
      </p:nvGrpSpPr>
      <p:grpSpPr>
        <a:xfrm>
          <a:off x="0" y="0"/>
          <a:ext cx="0" cy="0"/>
          <a:chOff x="0" y="0"/>
          <a:chExt cx="0" cy="0"/>
        </a:xfrm>
      </p:grpSpPr>
      <p:sp>
        <p:nvSpPr>
          <p:cNvPr id="2" name="Shape 0"/>
          <p:cNvSpPr/>
          <p:nvPr/>
        </p:nvSpPr>
        <p:spPr>
          <a:xfrm>
            <a:off x="10424160" y="1005840"/>
            <a:ext cx="146304" cy="146304"/>
          </a:xfrm>
          <a:prstGeom prst="ellipse">
            <a:avLst/>
          </a:prstGeom>
          <a:solidFill>
            <a:srgbClr val="E8871E"/>
          </a:solidFill>
          <a:ln/>
        </p:spPr>
      </p:sp>
      <p:sp>
        <p:nvSpPr>
          <p:cNvPr id="3" name="Shape 1"/>
          <p:cNvSpPr/>
          <p:nvPr/>
        </p:nvSpPr>
        <p:spPr>
          <a:xfrm>
            <a:off x="11064240" y="1005840"/>
            <a:ext cx="146304" cy="146304"/>
          </a:xfrm>
          <a:prstGeom prst="ellipse">
            <a:avLst/>
          </a:prstGeom>
          <a:solidFill>
            <a:srgbClr val="2C3742"/>
          </a:solidFill>
          <a:ln/>
        </p:spPr>
      </p:sp>
      <p:sp>
        <p:nvSpPr>
          <p:cNvPr id="4" name="Shape 2"/>
          <p:cNvSpPr/>
          <p:nvPr/>
        </p:nvSpPr>
        <p:spPr>
          <a:xfrm>
            <a:off x="11704320" y="1005840"/>
            <a:ext cx="146304" cy="146304"/>
          </a:xfrm>
          <a:prstGeom prst="ellipse">
            <a:avLst/>
          </a:prstGeom>
          <a:solidFill>
            <a:srgbClr val="2C3742"/>
          </a:solidFill>
          <a:ln/>
        </p:spPr>
      </p:sp>
      <p:sp>
        <p:nvSpPr>
          <p:cNvPr id="5" name="Shape 3"/>
          <p:cNvSpPr/>
          <p:nvPr/>
        </p:nvSpPr>
        <p:spPr>
          <a:xfrm>
            <a:off x="10424160" y="1645920"/>
            <a:ext cx="146304" cy="146304"/>
          </a:xfrm>
          <a:prstGeom prst="ellipse">
            <a:avLst/>
          </a:prstGeom>
          <a:solidFill>
            <a:srgbClr val="2C3742"/>
          </a:solidFill>
          <a:ln/>
        </p:spPr>
      </p:sp>
      <p:sp>
        <p:nvSpPr>
          <p:cNvPr id="6" name="Shape 4"/>
          <p:cNvSpPr/>
          <p:nvPr/>
        </p:nvSpPr>
        <p:spPr>
          <a:xfrm>
            <a:off x="11064240" y="1645920"/>
            <a:ext cx="146304" cy="146304"/>
          </a:xfrm>
          <a:prstGeom prst="ellipse">
            <a:avLst/>
          </a:prstGeom>
          <a:solidFill>
            <a:srgbClr val="E8871E"/>
          </a:solidFill>
          <a:ln/>
        </p:spPr>
      </p:sp>
      <p:sp>
        <p:nvSpPr>
          <p:cNvPr id="7" name="Shape 5"/>
          <p:cNvSpPr/>
          <p:nvPr/>
        </p:nvSpPr>
        <p:spPr>
          <a:xfrm>
            <a:off x="11704320" y="1645920"/>
            <a:ext cx="146304" cy="146304"/>
          </a:xfrm>
          <a:prstGeom prst="ellipse">
            <a:avLst/>
          </a:prstGeom>
          <a:solidFill>
            <a:srgbClr val="2C3742"/>
          </a:solidFill>
          <a:ln/>
        </p:spPr>
      </p:sp>
      <p:sp>
        <p:nvSpPr>
          <p:cNvPr id="8" name="Shape 6"/>
          <p:cNvSpPr/>
          <p:nvPr/>
        </p:nvSpPr>
        <p:spPr>
          <a:xfrm>
            <a:off x="10424160" y="2286000"/>
            <a:ext cx="146304" cy="146304"/>
          </a:xfrm>
          <a:prstGeom prst="ellipse">
            <a:avLst/>
          </a:prstGeom>
          <a:solidFill>
            <a:srgbClr val="2C3742"/>
          </a:solidFill>
          <a:ln/>
        </p:spPr>
      </p:sp>
      <p:sp>
        <p:nvSpPr>
          <p:cNvPr id="9" name="Shape 7"/>
          <p:cNvSpPr/>
          <p:nvPr/>
        </p:nvSpPr>
        <p:spPr>
          <a:xfrm>
            <a:off x="11064240" y="2286000"/>
            <a:ext cx="146304" cy="146304"/>
          </a:xfrm>
          <a:prstGeom prst="ellipse">
            <a:avLst/>
          </a:prstGeom>
          <a:solidFill>
            <a:srgbClr val="2C3742"/>
          </a:solidFill>
          <a:ln/>
        </p:spPr>
      </p:sp>
      <p:sp>
        <p:nvSpPr>
          <p:cNvPr id="10" name="Shape 8"/>
          <p:cNvSpPr/>
          <p:nvPr/>
        </p:nvSpPr>
        <p:spPr>
          <a:xfrm>
            <a:off x="11704320" y="2286000"/>
            <a:ext cx="146304" cy="146304"/>
          </a:xfrm>
          <a:prstGeom prst="ellipse">
            <a:avLst/>
          </a:prstGeom>
          <a:solidFill>
            <a:srgbClr val="E8871E"/>
          </a:solidFill>
          <a:ln/>
        </p:spPr>
      </p:sp>
      <p:sp>
        <p:nvSpPr>
          <p:cNvPr id="11" name="Shape 9"/>
          <p:cNvSpPr/>
          <p:nvPr/>
        </p:nvSpPr>
        <p:spPr>
          <a:xfrm>
            <a:off x="640080" y="2286000"/>
            <a:ext cx="786384" cy="786384"/>
          </a:xfrm>
          <a:prstGeom prst="ellipse">
            <a:avLst/>
          </a:prstGeom>
          <a:solidFill>
            <a:srgbClr val="E8871E"/>
          </a:solidFill>
          <a:ln/>
        </p:spPr>
      </p:sp>
      <p:sp>
        <p:nvSpPr>
          <p:cNvPr id="12" name="Text 10"/>
          <p:cNvSpPr/>
          <p:nvPr/>
        </p:nvSpPr>
        <p:spPr>
          <a:xfrm>
            <a:off x="640080" y="2286000"/>
            <a:ext cx="786384" cy="786384"/>
          </a:xfrm>
          <a:prstGeom prst="rect">
            <a:avLst/>
          </a:prstGeom>
          <a:noFill/>
          <a:ln/>
        </p:spPr>
        <p:txBody>
          <a:bodyPr wrap="square" lIns="0" tIns="0" rIns="0" bIns="0" rtlCol="0" anchor="ctr"/>
          <a:lstStyle/>
          <a:p>
            <a:pPr algn="ctr" indent="0" marL="0">
              <a:buNone/>
            </a:pPr>
            <a:r>
              <a:rPr lang="en-US" sz="3000" b="1" dirty="0">
                <a:solidFill>
                  <a:srgbClr val="12161C"/>
                </a:solidFill>
                <a:latin typeface="Calibri" pitchFamily="34" charset="0"/>
                <a:ea typeface="Calibri" pitchFamily="34" charset="-122"/>
                <a:cs typeface="Calibri" pitchFamily="34" charset="-120"/>
              </a:rPr>
              <a:t>02</a:t>
            </a:r>
            <a:endParaRPr lang="en-US" sz="3000" dirty="0"/>
          </a:p>
        </p:txBody>
      </p:sp>
      <p:sp>
        <p:nvSpPr>
          <p:cNvPr id="13" name="Text 11"/>
          <p:cNvSpPr/>
          <p:nvPr/>
        </p:nvSpPr>
        <p:spPr>
          <a:xfrm>
            <a:off x="640080" y="3246120"/>
            <a:ext cx="9601200" cy="8229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Time and Space Complexity</a:t>
            </a:r>
            <a:endParaRPr lang="en-US" sz="3800" dirty="0"/>
          </a:p>
        </p:txBody>
      </p:sp>
      <p:sp>
        <p:nvSpPr>
          <p:cNvPr id="14" name="Text 12"/>
          <p:cNvSpPr/>
          <p:nvPr/>
        </p:nvSpPr>
        <p:spPr>
          <a:xfrm>
            <a:off x="640080" y="4114800"/>
            <a:ext cx="8778240" cy="731520"/>
          </a:xfrm>
          <a:prstGeom prst="rect">
            <a:avLst/>
          </a:prstGeom>
          <a:noFill/>
          <a:ln/>
        </p:spPr>
        <p:txBody>
          <a:bodyPr wrap="square" lIns="0" tIns="0" rIns="0" bIns="0" rtlCol="0" anchor="t"/>
          <a:lstStyle/>
          <a:p>
            <a:pPr indent="0" marL="0">
              <a:buNone/>
            </a:pPr>
            <a:r>
              <a:rPr lang="en-US" sz="1600" dirty="0">
                <a:solidFill>
                  <a:srgbClr val="AAB4C0"/>
                </a:solidFill>
                <a:latin typeface="Calibri" pitchFamily="34" charset="0"/>
                <a:ea typeface="Calibri" pitchFamily="34" charset="-122"/>
                <a:cs typeface="Calibri" pitchFamily="34" charset="-120"/>
              </a:rPr>
              <a:t>The two resources every algorithm consumes — and how to measure each</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TIME COMPLEXITY</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The amount of time taken as a function of input size</a:t>
            </a:r>
            <a:endParaRPr lang="en-US" sz="3000" dirty="0"/>
          </a:p>
        </p:txBody>
      </p:sp>
      <p:sp>
        <p:nvSpPr>
          <p:cNvPr id="4" name="Shape 2"/>
          <p:cNvSpPr/>
          <p:nvPr/>
        </p:nvSpPr>
        <p:spPr>
          <a:xfrm>
            <a:off x="640080" y="1298448"/>
            <a:ext cx="10908792" cy="841248"/>
          </a:xfrm>
          <a:prstGeom prst="roundRect">
            <a:avLst>
              <a:gd name="adj" fmla="val 6522"/>
            </a:avLst>
          </a:prstGeom>
          <a:solidFill>
            <a:srgbClr val="1B2129"/>
          </a:solidFill>
          <a:ln/>
          <a:effectLst>
            <a:outerShdw sx="100000" sy="100000" kx="0" ky="0" algn="bl" rotWithShape="0" blurRad="127000" dist="25400" dir="5400000">
              <a:srgbClr val="9AA6B2">
                <a:alpha val="22000"/>
              </a:srgbClr>
            </a:outerShdw>
          </a:effectLst>
        </p:spPr>
      </p:sp>
      <p:sp>
        <p:nvSpPr>
          <p:cNvPr id="5" name="Text 3"/>
          <p:cNvSpPr/>
          <p:nvPr/>
        </p:nvSpPr>
        <p:spPr>
          <a:xfrm>
            <a:off x="914400" y="1298448"/>
            <a:ext cx="10332720" cy="841248"/>
          </a:xfrm>
          <a:prstGeom prst="rect">
            <a:avLst/>
          </a:prstGeom>
          <a:noFill/>
          <a:ln/>
        </p:spPr>
        <p:txBody>
          <a:bodyPr wrap="square" lIns="0" tIns="0" rIns="0" bIns="0" rtlCol="0" anchor="ctr"/>
          <a:lstStyle/>
          <a:p>
            <a:pPr indent="0" marL="0">
              <a:lnSpc>
                <a:spcPts val="1900"/>
              </a:lnSpc>
              <a:buNone/>
            </a:pPr>
            <a:r>
              <a:rPr lang="en-US" sz="1350" b="1" dirty="0">
                <a:solidFill>
                  <a:srgbClr val="E8871E"/>
                </a:solidFill>
                <a:latin typeface="Calibri" pitchFamily="34" charset="0"/>
                <a:ea typeface="Calibri" pitchFamily="34" charset="-122"/>
                <a:cs typeface="Calibri" pitchFamily="34" charset="-120"/>
              </a:rPr>
              <a:t>Definition:  </a:t>
            </a:r>
            <a:pPr indent="0" marL="0">
              <a:lnSpc>
                <a:spcPts val="1900"/>
              </a:lnSpc>
              <a:buNone/>
            </a:pPr>
            <a:r>
              <a:rPr lang="en-US" sz="1350" dirty="0">
                <a:solidFill>
                  <a:srgbClr val="D8DEE6"/>
                </a:solidFill>
                <a:latin typeface="Calibri" pitchFamily="34" charset="0"/>
                <a:ea typeface="Calibri" pitchFamily="34" charset="-122"/>
                <a:cs typeface="Calibri" pitchFamily="34" charset="-120"/>
              </a:rPr>
              <a:t>the time complexity T(n) of an algorithm is the number of elementary operations it performs, expressed as a function of the input size n — not the wall-clock time on any particular machine.</a:t>
            </a:r>
            <a:endParaRPr lang="en-US" sz="1350" dirty="0"/>
          </a:p>
        </p:txBody>
      </p:sp>
      <p:sp>
        <p:nvSpPr>
          <p:cNvPr id="6" name="Shape 4"/>
          <p:cNvSpPr/>
          <p:nvPr/>
        </p:nvSpPr>
        <p:spPr>
          <a:xfrm>
            <a:off x="640080" y="2377440"/>
            <a:ext cx="3456432" cy="3108960"/>
          </a:xfrm>
          <a:prstGeom prst="roundRect">
            <a:avLst>
              <a:gd name="adj" fmla="val 1765"/>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7" name="Text 5"/>
          <p:cNvSpPr/>
          <p:nvPr/>
        </p:nvSpPr>
        <p:spPr>
          <a:xfrm>
            <a:off x="896112" y="2542032"/>
            <a:ext cx="3017520" cy="310896"/>
          </a:xfrm>
          <a:prstGeom prst="rect">
            <a:avLst/>
          </a:prstGeom>
          <a:noFill/>
          <a:ln/>
        </p:spPr>
        <p:txBody>
          <a:bodyPr wrap="square" lIns="0" tIns="0" rIns="0" bIns="0" rtlCol="0" anchor="t"/>
          <a:lstStyle/>
          <a:p>
            <a:pPr indent="0" marL="0">
              <a:buNone/>
            </a:pPr>
            <a:r>
              <a:rPr lang="en-US" sz="1600" b="1" dirty="0">
                <a:solidFill>
                  <a:srgbClr val="2E7D5B"/>
                </a:solidFill>
                <a:latin typeface="Cambria" pitchFamily="34" charset="0"/>
                <a:ea typeface="Cambria" pitchFamily="34" charset="-122"/>
                <a:cs typeface="Cambria" pitchFamily="34" charset="-120"/>
              </a:rPr>
              <a:t>Constant — O(1)</a:t>
            </a:r>
            <a:endParaRPr lang="en-US" sz="1600" dirty="0"/>
          </a:p>
        </p:txBody>
      </p:sp>
      <p:sp>
        <p:nvSpPr>
          <p:cNvPr id="8" name="Shape 6"/>
          <p:cNvSpPr/>
          <p:nvPr/>
        </p:nvSpPr>
        <p:spPr>
          <a:xfrm>
            <a:off x="896112" y="2926080"/>
            <a:ext cx="2944368" cy="1234440"/>
          </a:xfrm>
          <a:prstGeom prst="roundRect">
            <a:avLst>
              <a:gd name="adj" fmla="val 3704"/>
            </a:avLst>
          </a:prstGeom>
          <a:solidFill>
            <a:srgbClr val="171C24"/>
          </a:solidFill>
          <a:ln/>
          <a:effectLst>
            <a:outerShdw sx="100000" sy="100000" kx="0" ky="0" algn="bl" rotWithShape="0" blurRad="101600" dist="25400" dir="5400000">
              <a:srgbClr val="9AA6B2">
                <a:alpha val="30000"/>
              </a:srgbClr>
            </a:outerShdw>
          </a:effectLst>
        </p:spPr>
      </p:sp>
      <p:sp>
        <p:nvSpPr>
          <p:cNvPr id="9" name="Text 7"/>
          <p:cNvSpPr/>
          <p:nvPr/>
        </p:nvSpPr>
        <p:spPr>
          <a:xfrm>
            <a:off x="1060704" y="3054096"/>
            <a:ext cx="2615184" cy="978408"/>
          </a:xfrm>
          <a:prstGeom prst="rect">
            <a:avLst/>
          </a:prstGeom>
          <a:noFill/>
          <a:ln/>
        </p:spPr>
        <p:txBody>
          <a:bodyPr wrap="square" lIns="0" tIns="0" rIns="0" bIns="0" rtlCol="0" anchor="t"/>
          <a:lstStyle/>
          <a:p>
            <a:pPr indent="0" marL="0">
              <a:lnSpc>
                <a:spcPts val="1407"/>
              </a:lnSpc>
              <a:buNone/>
            </a:pPr>
            <a:r>
              <a:rPr lang="en-US" sz="1050" dirty="0">
                <a:solidFill>
                  <a:srgbClr val="E6EAF0"/>
                </a:solidFill>
                <a:latin typeface="Courier New" pitchFamily="34" charset="0"/>
                <a:ea typeface="Courier New" pitchFamily="34" charset="-122"/>
                <a:cs typeface="Courier New" pitchFamily="34" charset="-120"/>
              </a:rPr>
              <a:t>x := a[0] + a[n-1];</a:t>
            </a:r>
            <a:endParaRPr lang="en-US" sz="1050" dirty="0"/>
          </a:p>
          <a:p>
            <a:pPr indent="0" marL="0">
              <a:lnSpc>
                <a:spcPts val="1407"/>
              </a:lnSpc>
              <a:buNone/>
            </a:pPr>
            <a:r>
              <a:rPr lang="en-US" sz="1050" b="1" dirty="0">
                <a:solidFill>
                  <a:srgbClr val="E8871E"/>
                </a:solidFill>
                <a:latin typeface="Courier New" pitchFamily="34" charset="0"/>
                <a:ea typeface="Courier New" pitchFamily="34" charset="-122"/>
                <a:cs typeface="Courier New" pitchFamily="34" charset="-120"/>
              </a:rPr>
              <a:t>return</a:t>
            </a:r>
            <a:pPr indent="0" marL="0">
              <a:lnSpc>
                <a:spcPts val="1407"/>
              </a:lnSpc>
              <a:buNone/>
            </a:pPr>
            <a:r>
              <a:rPr lang="en-US" sz="1050" dirty="0">
                <a:solidFill>
                  <a:srgbClr val="E6EAF0"/>
                </a:solidFill>
                <a:latin typeface="Courier New" pitchFamily="34" charset="0"/>
                <a:ea typeface="Courier New" pitchFamily="34" charset="-122"/>
                <a:cs typeface="Courier New" pitchFamily="34" charset="-120"/>
              </a:rPr>
              <a:t> x;</a:t>
            </a:r>
            <a:endParaRPr lang="en-US" sz="1050" dirty="0"/>
          </a:p>
        </p:txBody>
      </p:sp>
      <p:sp>
        <p:nvSpPr>
          <p:cNvPr id="10" name="Text 8"/>
          <p:cNvSpPr/>
          <p:nvPr/>
        </p:nvSpPr>
        <p:spPr>
          <a:xfrm>
            <a:off x="896112" y="4279392"/>
            <a:ext cx="2971800" cy="731520"/>
          </a:xfrm>
          <a:prstGeom prst="rect">
            <a:avLst/>
          </a:prstGeom>
          <a:noFill/>
          <a:ln/>
        </p:spPr>
        <p:txBody>
          <a:bodyPr wrap="square" lIns="0" tIns="0" rIns="0" bIns="0" rtlCol="0" anchor="t"/>
          <a:lstStyle/>
          <a:p>
            <a:pPr indent="0" marL="0">
              <a:lnSpc>
                <a:spcPts val="1600"/>
              </a:lnSpc>
              <a:buNone/>
            </a:pPr>
            <a:r>
              <a:rPr lang="en-US" sz="1200" dirty="0">
                <a:solidFill>
                  <a:srgbClr val="6B7784"/>
                </a:solidFill>
                <a:latin typeface="Calibri" pitchFamily="34" charset="0"/>
                <a:ea typeface="Calibri" pitchFamily="34" charset="-122"/>
                <a:cs typeface="Calibri" pitchFamily="34" charset="-120"/>
              </a:rPr>
              <a:t>Runs the same number of steps regardless of n.</a:t>
            </a:r>
            <a:endParaRPr lang="en-US" sz="1200" dirty="0"/>
          </a:p>
        </p:txBody>
      </p:sp>
      <p:sp>
        <p:nvSpPr>
          <p:cNvPr id="11" name="Shape 9"/>
          <p:cNvSpPr/>
          <p:nvPr/>
        </p:nvSpPr>
        <p:spPr>
          <a:xfrm>
            <a:off x="896112" y="4937760"/>
            <a:ext cx="2944368" cy="384048"/>
          </a:xfrm>
          <a:prstGeom prst="roundRect">
            <a:avLst>
              <a:gd name="adj" fmla="val 11905"/>
            </a:avLst>
          </a:prstGeom>
          <a:solidFill>
            <a:srgbClr val="F4F6F8"/>
          </a:solidFill>
          <a:ln/>
        </p:spPr>
      </p:sp>
      <p:sp>
        <p:nvSpPr>
          <p:cNvPr id="12" name="Text 10"/>
          <p:cNvSpPr/>
          <p:nvPr/>
        </p:nvSpPr>
        <p:spPr>
          <a:xfrm>
            <a:off x="1042416" y="4937760"/>
            <a:ext cx="2651760" cy="384048"/>
          </a:xfrm>
          <a:prstGeom prst="rect">
            <a:avLst/>
          </a:prstGeom>
          <a:noFill/>
          <a:ln/>
        </p:spPr>
        <p:txBody>
          <a:bodyPr wrap="square" lIns="0" tIns="0" rIns="0" bIns="0" rtlCol="0" anchor="ctr"/>
          <a:lstStyle/>
          <a:p>
            <a:pPr indent="0" marL="0">
              <a:buNone/>
            </a:pPr>
            <a:r>
              <a:rPr lang="en-US" sz="1150" b="1" dirty="0">
                <a:solidFill>
                  <a:srgbClr val="3A4551"/>
                </a:solidFill>
                <a:latin typeface="Calibri" pitchFamily="34" charset="0"/>
                <a:ea typeface="Calibri" pitchFamily="34" charset="-122"/>
                <a:cs typeface="Calibri" pitchFamily="34" charset="-120"/>
              </a:rPr>
              <a:t>Steps: constant</a:t>
            </a:r>
            <a:endParaRPr lang="en-US" sz="1150" dirty="0"/>
          </a:p>
        </p:txBody>
      </p:sp>
      <p:sp>
        <p:nvSpPr>
          <p:cNvPr id="13" name="Shape 11"/>
          <p:cNvSpPr/>
          <p:nvPr/>
        </p:nvSpPr>
        <p:spPr>
          <a:xfrm>
            <a:off x="4370832" y="2377440"/>
            <a:ext cx="3456432" cy="3108960"/>
          </a:xfrm>
          <a:prstGeom prst="roundRect">
            <a:avLst>
              <a:gd name="adj" fmla="val 1765"/>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14" name="Text 12"/>
          <p:cNvSpPr/>
          <p:nvPr/>
        </p:nvSpPr>
        <p:spPr>
          <a:xfrm>
            <a:off x="4626864" y="2542032"/>
            <a:ext cx="3017520" cy="310896"/>
          </a:xfrm>
          <a:prstGeom prst="rect">
            <a:avLst/>
          </a:prstGeom>
          <a:noFill/>
          <a:ln/>
        </p:spPr>
        <p:txBody>
          <a:bodyPr wrap="square" lIns="0" tIns="0" rIns="0" bIns="0" rtlCol="0" anchor="t"/>
          <a:lstStyle/>
          <a:p>
            <a:pPr indent="0" marL="0">
              <a:buNone/>
            </a:pPr>
            <a:r>
              <a:rPr lang="en-US" sz="1600" b="1" dirty="0">
                <a:solidFill>
                  <a:srgbClr val="A85F0C"/>
                </a:solidFill>
                <a:latin typeface="Cambria" pitchFamily="34" charset="0"/>
                <a:ea typeface="Cambria" pitchFamily="34" charset="-122"/>
                <a:cs typeface="Cambria" pitchFamily="34" charset="-120"/>
              </a:rPr>
              <a:t>Linear — O(n)</a:t>
            </a:r>
            <a:endParaRPr lang="en-US" sz="1600" dirty="0"/>
          </a:p>
        </p:txBody>
      </p:sp>
      <p:sp>
        <p:nvSpPr>
          <p:cNvPr id="15" name="Shape 13"/>
          <p:cNvSpPr/>
          <p:nvPr/>
        </p:nvSpPr>
        <p:spPr>
          <a:xfrm>
            <a:off x="4626864" y="2926080"/>
            <a:ext cx="2944368" cy="1234440"/>
          </a:xfrm>
          <a:prstGeom prst="roundRect">
            <a:avLst>
              <a:gd name="adj" fmla="val 3704"/>
            </a:avLst>
          </a:prstGeom>
          <a:solidFill>
            <a:srgbClr val="171C24"/>
          </a:solidFill>
          <a:ln/>
          <a:effectLst>
            <a:outerShdw sx="100000" sy="100000" kx="0" ky="0" algn="bl" rotWithShape="0" blurRad="101600" dist="25400" dir="5400000">
              <a:srgbClr val="9AA6B2">
                <a:alpha val="30000"/>
              </a:srgbClr>
            </a:outerShdw>
          </a:effectLst>
        </p:spPr>
      </p:sp>
      <p:sp>
        <p:nvSpPr>
          <p:cNvPr id="16" name="Text 14"/>
          <p:cNvSpPr/>
          <p:nvPr/>
        </p:nvSpPr>
        <p:spPr>
          <a:xfrm>
            <a:off x="4791456" y="3054096"/>
            <a:ext cx="2615184" cy="978408"/>
          </a:xfrm>
          <a:prstGeom prst="rect">
            <a:avLst/>
          </a:prstGeom>
          <a:noFill/>
          <a:ln/>
        </p:spPr>
        <p:txBody>
          <a:bodyPr wrap="square" lIns="0" tIns="0" rIns="0" bIns="0" rtlCol="0" anchor="t"/>
          <a:lstStyle/>
          <a:p>
            <a:pPr indent="0" marL="0">
              <a:lnSpc>
                <a:spcPts val="1407"/>
              </a:lnSpc>
              <a:buNone/>
            </a:pPr>
            <a:r>
              <a:rPr lang="en-US" sz="1050" b="1" dirty="0">
                <a:solidFill>
                  <a:srgbClr val="E8871E"/>
                </a:solidFill>
                <a:latin typeface="Courier New" pitchFamily="34" charset="0"/>
                <a:ea typeface="Courier New" pitchFamily="34" charset="-122"/>
                <a:cs typeface="Courier New" pitchFamily="34" charset="-120"/>
              </a:rPr>
              <a:t>for</a:t>
            </a:r>
            <a:pPr indent="0" marL="0">
              <a:lnSpc>
                <a:spcPts val="1407"/>
              </a:lnSpc>
              <a:buNone/>
            </a:pPr>
            <a:r>
              <a:rPr lang="en-US" sz="1050" dirty="0">
                <a:solidFill>
                  <a:srgbClr val="E6EAF0"/>
                </a:solidFill>
                <a:latin typeface="Courier New" pitchFamily="34" charset="0"/>
                <a:ea typeface="Courier New" pitchFamily="34" charset="-122"/>
                <a:cs typeface="Courier New" pitchFamily="34" charset="-120"/>
              </a:rPr>
              <a:t> i := 1 to n </a:t>
            </a:r>
            <a:pPr indent="0" marL="0">
              <a:lnSpc>
                <a:spcPts val="1407"/>
              </a:lnSpc>
              <a:buNone/>
            </a:pPr>
            <a:r>
              <a:rPr lang="en-US" sz="1050" b="1" dirty="0">
                <a:solidFill>
                  <a:srgbClr val="E8871E"/>
                </a:solidFill>
                <a:latin typeface="Courier New" pitchFamily="34" charset="0"/>
                <a:ea typeface="Courier New" pitchFamily="34" charset="-122"/>
                <a:cs typeface="Courier New" pitchFamily="34" charset="-120"/>
              </a:rPr>
              <a:t>do</a:t>
            </a:r>
            <a:endParaRPr lang="en-US" sz="1050" dirty="0"/>
          </a:p>
          <a:p>
            <a:pPr indent="0" marL="0">
              <a:lnSpc>
                <a:spcPts val="1407"/>
              </a:lnSpc>
              <a:buNone/>
            </a:pPr>
            <a:r>
              <a:rPr lang="en-US" sz="1050" dirty="0">
                <a:solidFill>
                  <a:srgbClr val="E6EAF0"/>
                </a:solidFill>
                <a:latin typeface="Courier New" pitchFamily="34" charset="0"/>
                <a:ea typeface="Courier New" pitchFamily="34" charset="-122"/>
                <a:cs typeface="Courier New" pitchFamily="34" charset="-120"/>
              </a:rPr>
              <a:t>   sum := sum + a[i];</a:t>
            </a:r>
            <a:endParaRPr lang="en-US" sz="1050" dirty="0"/>
          </a:p>
        </p:txBody>
      </p:sp>
      <p:sp>
        <p:nvSpPr>
          <p:cNvPr id="17" name="Text 15"/>
          <p:cNvSpPr/>
          <p:nvPr/>
        </p:nvSpPr>
        <p:spPr>
          <a:xfrm>
            <a:off x="4626864" y="4279392"/>
            <a:ext cx="2971800" cy="731520"/>
          </a:xfrm>
          <a:prstGeom prst="rect">
            <a:avLst/>
          </a:prstGeom>
          <a:noFill/>
          <a:ln/>
        </p:spPr>
        <p:txBody>
          <a:bodyPr wrap="square" lIns="0" tIns="0" rIns="0" bIns="0" rtlCol="0" anchor="t"/>
          <a:lstStyle/>
          <a:p>
            <a:pPr indent="0" marL="0">
              <a:lnSpc>
                <a:spcPts val="1600"/>
              </a:lnSpc>
              <a:buNone/>
            </a:pPr>
            <a:r>
              <a:rPr lang="en-US" sz="1200" dirty="0">
                <a:solidFill>
                  <a:srgbClr val="6B7784"/>
                </a:solidFill>
                <a:latin typeface="Calibri" pitchFamily="34" charset="0"/>
                <a:ea typeface="Calibri" pitchFamily="34" charset="-122"/>
                <a:cs typeface="Calibri" pitchFamily="34" charset="-120"/>
              </a:rPr>
              <a:t>The body executes n times: cost grows in step with n.</a:t>
            </a:r>
            <a:endParaRPr lang="en-US" sz="1200" dirty="0"/>
          </a:p>
        </p:txBody>
      </p:sp>
      <p:sp>
        <p:nvSpPr>
          <p:cNvPr id="18" name="Shape 16"/>
          <p:cNvSpPr/>
          <p:nvPr/>
        </p:nvSpPr>
        <p:spPr>
          <a:xfrm>
            <a:off x="4626864" y="4937760"/>
            <a:ext cx="2944368" cy="384048"/>
          </a:xfrm>
          <a:prstGeom prst="roundRect">
            <a:avLst>
              <a:gd name="adj" fmla="val 11905"/>
            </a:avLst>
          </a:prstGeom>
          <a:solidFill>
            <a:srgbClr val="F4F6F8"/>
          </a:solidFill>
          <a:ln/>
        </p:spPr>
      </p:sp>
      <p:sp>
        <p:nvSpPr>
          <p:cNvPr id="19" name="Text 17"/>
          <p:cNvSpPr/>
          <p:nvPr/>
        </p:nvSpPr>
        <p:spPr>
          <a:xfrm>
            <a:off x="4773168" y="4937760"/>
            <a:ext cx="2651760" cy="384048"/>
          </a:xfrm>
          <a:prstGeom prst="rect">
            <a:avLst/>
          </a:prstGeom>
          <a:noFill/>
          <a:ln/>
        </p:spPr>
        <p:txBody>
          <a:bodyPr wrap="square" lIns="0" tIns="0" rIns="0" bIns="0" rtlCol="0" anchor="ctr"/>
          <a:lstStyle/>
          <a:p>
            <a:pPr indent="0" marL="0">
              <a:buNone/>
            </a:pPr>
            <a:r>
              <a:rPr lang="en-US" sz="1150" b="1" dirty="0">
                <a:solidFill>
                  <a:srgbClr val="3A4551"/>
                </a:solidFill>
                <a:latin typeface="Calibri" pitchFamily="34" charset="0"/>
                <a:ea typeface="Calibri" pitchFamily="34" charset="-122"/>
                <a:cs typeface="Calibri" pitchFamily="34" charset="-120"/>
              </a:rPr>
              <a:t>Steps: ≈ n</a:t>
            </a:r>
            <a:endParaRPr lang="en-US" sz="1150" dirty="0"/>
          </a:p>
        </p:txBody>
      </p:sp>
      <p:sp>
        <p:nvSpPr>
          <p:cNvPr id="20" name="Shape 18"/>
          <p:cNvSpPr/>
          <p:nvPr/>
        </p:nvSpPr>
        <p:spPr>
          <a:xfrm>
            <a:off x="8101584" y="2377440"/>
            <a:ext cx="3456432" cy="3108960"/>
          </a:xfrm>
          <a:prstGeom prst="roundRect">
            <a:avLst>
              <a:gd name="adj" fmla="val 1765"/>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21" name="Text 19"/>
          <p:cNvSpPr/>
          <p:nvPr/>
        </p:nvSpPr>
        <p:spPr>
          <a:xfrm>
            <a:off x="8357616" y="2542032"/>
            <a:ext cx="3017520" cy="310896"/>
          </a:xfrm>
          <a:prstGeom prst="rect">
            <a:avLst/>
          </a:prstGeom>
          <a:noFill/>
          <a:ln/>
        </p:spPr>
        <p:txBody>
          <a:bodyPr wrap="square" lIns="0" tIns="0" rIns="0" bIns="0" rtlCol="0" anchor="t"/>
          <a:lstStyle/>
          <a:p>
            <a:pPr indent="0" marL="0">
              <a:buNone/>
            </a:pPr>
            <a:r>
              <a:rPr lang="en-US" sz="1600" b="1" dirty="0">
                <a:solidFill>
                  <a:srgbClr val="B3261E"/>
                </a:solidFill>
                <a:latin typeface="Cambria" pitchFamily="34" charset="0"/>
                <a:ea typeface="Cambria" pitchFamily="34" charset="-122"/>
                <a:cs typeface="Cambria" pitchFamily="34" charset="-120"/>
              </a:rPr>
              <a:t>Quadratic — O(n²)</a:t>
            </a:r>
            <a:endParaRPr lang="en-US" sz="1600" dirty="0"/>
          </a:p>
        </p:txBody>
      </p:sp>
      <p:sp>
        <p:nvSpPr>
          <p:cNvPr id="22" name="Shape 20"/>
          <p:cNvSpPr/>
          <p:nvPr/>
        </p:nvSpPr>
        <p:spPr>
          <a:xfrm>
            <a:off x="8357616" y="2926080"/>
            <a:ext cx="2944368" cy="1234440"/>
          </a:xfrm>
          <a:prstGeom prst="roundRect">
            <a:avLst>
              <a:gd name="adj" fmla="val 3704"/>
            </a:avLst>
          </a:prstGeom>
          <a:solidFill>
            <a:srgbClr val="171C24"/>
          </a:solidFill>
          <a:ln/>
          <a:effectLst>
            <a:outerShdw sx="100000" sy="100000" kx="0" ky="0" algn="bl" rotWithShape="0" blurRad="101600" dist="25400" dir="5400000">
              <a:srgbClr val="9AA6B2">
                <a:alpha val="30000"/>
              </a:srgbClr>
            </a:outerShdw>
          </a:effectLst>
        </p:spPr>
      </p:sp>
      <p:sp>
        <p:nvSpPr>
          <p:cNvPr id="23" name="Text 21"/>
          <p:cNvSpPr/>
          <p:nvPr/>
        </p:nvSpPr>
        <p:spPr>
          <a:xfrm>
            <a:off x="8522208" y="3054096"/>
            <a:ext cx="2615184" cy="978408"/>
          </a:xfrm>
          <a:prstGeom prst="rect">
            <a:avLst/>
          </a:prstGeom>
          <a:noFill/>
          <a:ln/>
        </p:spPr>
        <p:txBody>
          <a:bodyPr wrap="square" lIns="0" tIns="0" rIns="0" bIns="0" rtlCol="0" anchor="t"/>
          <a:lstStyle/>
          <a:p>
            <a:pPr indent="0" marL="0">
              <a:lnSpc>
                <a:spcPts val="1407"/>
              </a:lnSpc>
              <a:buNone/>
            </a:pPr>
            <a:r>
              <a:rPr lang="en-US" sz="1050" b="1" dirty="0">
                <a:solidFill>
                  <a:srgbClr val="E8871E"/>
                </a:solidFill>
                <a:latin typeface="Courier New" pitchFamily="34" charset="0"/>
                <a:ea typeface="Courier New" pitchFamily="34" charset="-122"/>
                <a:cs typeface="Courier New" pitchFamily="34" charset="-120"/>
              </a:rPr>
              <a:t>for</a:t>
            </a:r>
            <a:pPr indent="0" marL="0">
              <a:lnSpc>
                <a:spcPts val="1407"/>
              </a:lnSpc>
              <a:buNone/>
            </a:pPr>
            <a:r>
              <a:rPr lang="en-US" sz="1050" dirty="0">
                <a:solidFill>
                  <a:srgbClr val="E6EAF0"/>
                </a:solidFill>
                <a:latin typeface="Courier New" pitchFamily="34" charset="0"/>
                <a:ea typeface="Courier New" pitchFamily="34" charset="-122"/>
                <a:cs typeface="Courier New" pitchFamily="34" charset="-120"/>
              </a:rPr>
              <a:t> i := 1 to n </a:t>
            </a:r>
            <a:pPr indent="0" marL="0">
              <a:lnSpc>
                <a:spcPts val="1407"/>
              </a:lnSpc>
              <a:buNone/>
            </a:pPr>
            <a:r>
              <a:rPr lang="en-US" sz="1050" b="1" dirty="0">
                <a:solidFill>
                  <a:srgbClr val="E8871E"/>
                </a:solidFill>
                <a:latin typeface="Courier New" pitchFamily="34" charset="0"/>
                <a:ea typeface="Courier New" pitchFamily="34" charset="-122"/>
                <a:cs typeface="Courier New" pitchFamily="34" charset="-120"/>
              </a:rPr>
              <a:t>do</a:t>
            </a:r>
            <a:endParaRPr lang="en-US" sz="1050" dirty="0"/>
          </a:p>
          <a:p>
            <a:pPr indent="0" marL="0">
              <a:lnSpc>
                <a:spcPts val="1407"/>
              </a:lnSpc>
              <a:buNone/>
            </a:pPr>
            <a:r>
              <a:rPr lang="en-US" sz="1050" dirty="0">
                <a:solidFill>
                  <a:srgbClr val="E6EAF0"/>
                </a:solidFill>
                <a:latin typeface="Courier New" pitchFamily="34" charset="0"/>
                <a:ea typeface="Courier New" pitchFamily="34" charset="-122"/>
                <a:cs typeface="Courier New" pitchFamily="34" charset="-120"/>
              </a:rPr>
              <a:t>   </a:t>
            </a:r>
            <a:pPr indent="0" marL="0">
              <a:lnSpc>
                <a:spcPts val="1407"/>
              </a:lnSpc>
              <a:buNone/>
            </a:pPr>
            <a:r>
              <a:rPr lang="en-US" sz="1050" b="1" dirty="0">
                <a:solidFill>
                  <a:srgbClr val="E8871E"/>
                </a:solidFill>
                <a:latin typeface="Courier New" pitchFamily="34" charset="0"/>
                <a:ea typeface="Courier New" pitchFamily="34" charset="-122"/>
                <a:cs typeface="Courier New" pitchFamily="34" charset="-120"/>
              </a:rPr>
              <a:t>for</a:t>
            </a:r>
            <a:pPr indent="0" marL="0">
              <a:lnSpc>
                <a:spcPts val="1407"/>
              </a:lnSpc>
              <a:buNone/>
            </a:pPr>
            <a:r>
              <a:rPr lang="en-US" sz="1050" dirty="0">
                <a:solidFill>
                  <a:srgbClr val="E6EAF0"/>
                </a:solidFill>
                <a:latin typeface="Courier New" pitchFamily="34" charset="0"/>
                <a:ea typeface="Courier New" pitchFamily="34" charset="-122"/>
                <a:cs typeface="Courier New" pitchFamily="34" charset="-120"/>
              </a:rPr>
              <a:t> j := 1 to n </a:t>
            </a:r>
            <a:pPr indent="0" marL="0">
              <a:lnSpc>
                <a:spcPts val="1407"/>
              </a:lnSpc>
              <a:buNone/>
            </a:pPr>
            <a:r>
              <a:rPr lang="en-US" sz="1050" b="1" dirty="0">
                <a:solidFill>
                  <a:srgbClr val="E8871E"/>
                </a:solidFill>
                <a:latin typeface="Courier New" pitchFamily="34" charset="0"/>
                <a:ea typeface="Courier New" pitchFamily="34" charset="-122"/>
                <a:cs typeface="Courier New" pitchFamily="34" charset="-120"/>
              </a:rPr>
              <a:t>do</a:t>
            </a:r>
            <a:endParaRPr lang="en-US" sz="1050" dirty="0"/>
          </a:p>
          <a:p>
            <a:pPr indent="0" marL="0">
              <a:lnSpc>
                <a:spcPts val="1407"/>
              </a:lnSpc>
              <a:buNone/>
            </a:pPr>
            <a:r>
              <a:rPr lang="en-US" sz="1050" dirty="0">
                <a:solidFill>
                  <a:srgbClr val="E6EAF0"/>
                </a:solidFill>
                <a:latin typeface="Courier New" pitchFamily="34" charset="0"/>
                <a:ea typeface="Courier New" pitchFamily="34" charset="-122"/>
                <a:cs typeface="Courier New" pitchFamily="34" charset="-120"/>
              </a:rPr>
              <a:t>      c := c + 1;</a:t>
            </a:r>
            <a:endParaRPr lang="en-US" sz="1050" dirty="0"/>
          </a:p>
        </p:txBody>
      </p:sp>
      <p:sp>
        <p:nvSpPr>
          <p:cNvPr id="24" name="Text 22"/>
          <p:cNvSpPr/>
          <p:nvPr/>
        </p:nvSpPr>
        <p:spPr>
          <a:xfrm>
            <a:off x="8357616" y="4279392"/>
            <a:ext cx="2971800" cy="731520"/>
          </a:xfrm>
          <a:prstGeom prst="rect">
            <a:avLst/>
          </a:prstGeom>
          <a:noFill/>
          <a:ln/>
        </p:spPr>
        <p:txBody>
          <a:bodyPr wrap="square" lIns="0" tIns="0" rIns="0" bIns="0" rtlCol="0" anchor="t"/>
          <a:lstStyle/>
          <a:p>
            <a:pPr indent="0" marL="0">
              <a:lnSpc>
                <a:spcPts val="1600"/>
              </a:lnSpc>
              <a:buNone/>
            </a:pPr>
            <a:r>
              <a:rPr lang="en-US" sz="1200" dirty="0">
                <a:solidFill>
                  <a:srgbClr val="6B7784"/>
                </a:solidFill>
                <a:latin typeface="Calibri" pitchFamily="34" charset="0"/>
                <a:ea typeface="Calibri" pitchFamily="34" charset="-122"/>
                <a:cs typeface="Calibri" pitchFamily="34" charset="-120"/>
              </a:rPr>
              <a:t>Inner loop runs n times for each of n outer passes.</a:t>
            </a:r>
            <a:endParaRPr lang="en-US" sz="1200" dirty="0"/>
          </a:p>
        </p:txBody>
      </p:sp>
      <p:sp>
        <p:nvSpPr>
          <p:cNvPr id="25" name="Shape 23"/>
          <p:cNvSpPr/>
          <p:nvPr/>
        </p:nvSpPr>
        <p:spPr>
          <a:xfrm>
            <a:off x="8357616" y="4937760"/>
            <a:ext cx="2944368" cy="384048"/>
          </a:xfrm>
          <a:prstGeom prst="roundRect">
            <a:avLst>
              <a:gd name="adj" fmla="val 11905"/>
            </a:avLst>
          </a:prstGeom>
          <a:solidFill>
            <a:srgbClr val="F4F6F8"/>
          </a:solidFill>
          <a:ln/>
        </p:spPr>
      </p:sp>
      <p:sp>
        <p:nvSpPr>
          <p:cNvPr id="26" name="Text 24"/>
          <p:cNvSpPr/>
          <p:nvPr/>
        </p:nvSpPr>
        <p:spPr>
          <a:xfrm>
            <a:off x="8503920" y="4937760"/>
            <a:ext cx="2651760" cy="384048"/>
          </a:xfrm>
          <a:prstGeom prst="rect">
            <a:avLst/>
          </a:prstGeom>
          <a:noFill/>
          <a:ln/>
        </p:spPr>
        <p:txBody>
          <a:bodyPr wrap="square" lIns="0" tIns="0" rIns="0" bIns="0" rtlCol="0" anchor="ctr"/>
          <a:lstStyle/>
          <a:p>
            <a:pPr indent="0" marL="0">
              <a:buNone/>
            </a:pPr>
            <a:r>
              <a:rPr lang="en-US" sz="1150" b="1" dirty="0">
                <a:solidFill>
                  <a:srgbClr val="3A4551"/>
                </a:solidFill>
                <a:latin typeface="Calibri" pitchFamily="34" charset="0"/>
                <a:ea typeface="Calibri" pitchFamily="34" charset="-122"/>
                <a:cs typeface="Calibri" pitchFamily="34" charset="-120"/>
              </a:rPr>
              <a:t>Steps: ≈ n²</a:t>
            </a:r>
            <a:endParaRPr lang="en-US" sz="1150" dirty="0"/>
          </a:p>
        </p:txBody>
      </p:sp>
      <p:sp>
        <p:nvSpPr>
          <p:cNvPr id="27" name="Text 25"/>
          <p:cNvSpPr/>
          <p:nvPr/>
        </p:nvSpPr>
        <p:spPr>
          <a:xfrm>
            <a:off x="640080" y="5623560"/>
            <a:ext cx="10881360" cy="274320"/>
          </a:xfrm>
          <a:prstGeom prst="rect">
            <a:avLst/>
          </a:prstGeom>
          <a:noFill/>
          <a:ln/>
        </p:spPr>
        <p:txBody>
          <a:bodyPr wrap="square" lIns="0" tIns="0" rIns="0" bIns="0" rtlCol="0" anchor="t"/>
          <a:lstStyle/>
          <a:p>
            <a:pPr indent="0" marL="0">
              <a:buNone/>
            </a:pPr>
            <a:r>
              <a:rPr lang="en-US" sz="1200" i="1" dirty="0">
                <a:solidFill>
                  <a:srgbClr val="6B7784"/>
                </a:solidFill>
                <a:latin typeface="Calibri" pitchFamily="34" charset="0"/>
                <a:ea typeface="Calibri" pitchFamily="34" charset="-122"/>
                <a:cs typeface="Calibri" pitchFamily="34" charset="-120"/>
              </a:rPr>
              <a:t>Rule of thumb: count how many times the innermost statement executes — that statement dominates the total.</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SPACE COMPLEXITY</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The amount of memory an algorithm needs</a:t>
            </a:r>
            <a:endParaRPr lang="en-US" sz="3000" dirty="0"/>
          </a:p>
        </p:txBody>
      </p:sp>
      <p:sp>
        <p:nvSpPr>
          <p:cNvPr id="4" name="Shape 2"/>
          <p:cNvSpPr/>
          <p:nvPr/>
        </p:nvSpPr>
        <p:spPr>
          <a:xfrm>
            <a:off x="640080" y="1298448"/>
            <a:ext cx="10908792" cy="777240"/>
          </a:xfrm>
          <a:prstGeom prst="roundRect">
            <a:avLst>
              <a:gd name="adj" fmla="val 7059"/>
            </a:avLst>
          </a:prstGeom>
          <a:solidFill>
            <a:srgbClr val="DFEEF0"/>
          </a:solidFill>
          <a:ln w="12700">
            <a:solidFill>
              <a:srgbClr val="DFEEF0"/>
            </a:solidFill>
            <a:prstDash val="solid"/>
          </a:ln>
          <a:effectLst>
            <a:outerShdw sx="100000" sy="100000" kx="0" ky="0" algn="bl" rotWithShape="0" blurRad="127000" dist="25400" dir="5400000">
              <a:srgbClr val="9AA6B2">
                <a:alpha val="22000"/>
              </a:srgbClr>
            </a:outerShdw>
          </a:effectLst>
        </p:spPr>
      </p:sp>
      <p:sp>
        <p:nvSpPr>
          <p:cNvPr id="5" name="Text 3"/>
          <p:cNvSpPr/>
          <p:nvPr/>
        </p:nvSpPr>
        <p:spPr>
          <a:xfrm>
            <a:off x="914400" y="1298448"/>
            <a:ext cx="10332720" cy="777240"/>
          </a:xfrm>
          <a:prstGeom prst="rect">
            <a:avLst/>
          </a:prstGeom>
          <a:noFill/>
          <a:ln/>
        </p:spPr>
        <p:txBody>
          <a:bodyPr wrap="square" lIns="0" tIns="0" rIns="0" bIns="0" rtlCol="0" anchor="ctr"/>
          <a:lstStyle/>
          <a:p>
            <a:pPr indent="0" marL="0">
              <a:buNone/>
            </a:pPr>
            <a:r>
              <a:rPr lang="en-US" sz="1700" b="1" dirty="0">
                <a:solidFill>
                  <a:srgbClr val="0E7C86"/>
                </a:solidFill>
                <a:latin typeface="Courier New" pitchFamily="34" charset="0"/>
                <a:ea typeface="Courier New" pitchFamily="34" charset="-122"/>
                <a:cs typeface="Courier New" pitchFamily="34" charset="-120"/>
              </a:rPr>
              <a:t>S(P)  =  C  +  Sₚ(instance)</a:t>
            </a:r>
            <a:pPr indent="0" marL="0">
              <a:buNone/>
            </a:pPr>
            <a:r>
              <a:rPr lang="en-US" sz="1300" dirty="0">
                <a:solidFill>
                  <a:srgbClr val="3A4551"/>
                </a:solidFill>
                <a:latin typeface="Calibri" pitchFamily="34" charset="0"/>
                <a:ea typeface="Calibri" pitchFamily="34" charset="-122"/>
                <a:cs typeface="Calibri" pitchFamily="34" charset="-120"/>
              </a:rPr>
              <a:t>      fixed part  +  variable part</a:t>
            </a:r>
            <a:endParaRPr lang="en-US" sz="1700" dirty="0"/>
          </a:p>
        </p:txBody>
      </p:sp>
      <p:sp>
        <p:nvSpPr>
          <p:cNvPr id="6" name="Shape 4"/>
          <p:cNvSpPr/>
          <p:nvPr/>
        </p:nvSpPr>
        <p:spPr>
          <a:xfrm>
            <a:off x="640080" y="2286000"/>
            <a:ext cx="5303520" cy="2331720"/>
          </a:xfrm>
          <a:prstGeom prst="roundRect">
            <a:avLst>
              <a:gd name="adj" fmla="val 2353"/>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7" name="Shape 5"/>
          <p:cNvSpPr/>
          <p:nvPr/>
        </p:nvSpPr>
        <p:spPr>
          <a:xfrm>
            <a:off x="914400" y="2487168"/>
            <a:ext cx="475488" cy="475488"/>
          </a:xfrm>
          <a:prstGeom prst="ellipse">
            <a:avLst/>
          </a:prstGeom>
          <a:solidFill>
            <a:srgbClr val="0E7C86"/>
          </a:solidFill>
          <a:ln/>
        </p:spPr>
      </p:sp>
      <p:sp>
        <p:nvSpPr>
          <p:cNvPr id="8" name="Text 6"/>
          <p:cNvSpPr/>
          <p:nvPr/>
        </p:nvSpPr>
        <p:spPr>
          <a:xfrm>
            <a:off x="914400" y="248716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9" name="Text 7"/>
          <p:cNvSpPr/>
          <p:nvPr/>
        </p:nvSpPr>
        <p:spPr>
          <a:xfrm>
            <a:off x="1508760" y="2560320"/>
            <a:ext cx="4114800" cy="310896"/>
          </a:xfrm>
          <a:prstGeom prst="rect">
            <a:avLst/>
          </a:prstGeom>
          <a:noFill/>
          <a:ln/>
        </p:spPr>
        <p:txBody>
          <a:bodyPr wrap="square" lIns="0" tIns="0" rIns="0" bIns="0" rtlCol="0" anchor="t"/>
          <a:lstStyle/>
          <a:p>
            <a:pPr indent="0" marL="0">
              <a:buNone/>
            </a:pPr>
            <a:r>
              <a:rPr lang="en-US" sz="1700" b="1" dirty="0">
                <a:solidFill>
                  <a:srgbClr val="12161C"/>
                </a:solidFill>
                <a:latin typeface="Cambria" pitchFamily="34" charset="0"/>
                <a:ea typeface="Cambria" pitchFamily="34" charset="-122"/>
                <a:cs typeface="Cambria" pitchFamily="34" charset="-120"/>
              </a:rPr>
              <a:t>Fixed part</a:t>
            </a:r>
            <a:endParaRPr lang="en-US" sz="1700" dirty="0"/>
          </a:p>
        </p:txBody>
      </p:sp>
      <p:sp>
        <p:nvSpPr>
          <p:cNvPr id="10" name="Text 8"/>
          <p:cNvSpPr/>
          <p:nvPr/>
        </p:nvSpPr>
        <p:spPr>
          <a:xfrm>
            <a:off x="950976" y="3108960"/>
            <a:ext cx="4663440" cy="137160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3A4551"/>
                </a:solidFill>
                <a:latin typeface="Calibri" pitchFamily="34" charset="0"/>
                <a:ea typeface="Calibri" pitchFamily="34" charset="-122"/>
                <a:cs typeface="Calibri" pitchFamily="34" charset="-120"/>
              </a:rPr>
              <a:t>Instruction (code) space</a:t>
            </a:r>
            <a:endParaRPr lang="en-US" sz="1250" dirty="0"/>
          </a:p>
          <a:p>
            <a:pPr marL="342900" indent="-342900">
              <a:spcAft>
                <a:spcPts val="800"/>
              </a:spcAft>
              <a:buSzPct val="100000"/>
              <a:buChar char="•"/>
            </a:pPr>
            <a:r>
              <a:rPr lang="en-US" sz="1250" dirty="0">
                <a:solidFill>
                  <a:srgbClr val="3A4551"/>
                </a:solidFill>
                <a:latin typeface="Calibri" pitchFamily="34" charset="0"/>
                <a:ea typeface="Calibri" pitchFamily="34" charset="-122"/>
                <a:cs typeface="Calibri" pitchFamily="34" charset="-120"/>
              </a:rPr>
              <a:t>Simple variables and constants</a:t>
            </a:r>
            <a:endParaRPr lang="en-US" sz="1250" dirty="0"/>
          </a:p>
          <a:p>
            <a:pPr marL="342900" indent="-342900">
              <a:spcAft>
                <a:spcPts val="800"/>
              </a:spcAft>
              <a:buSzPct val="100000"/>
              <a:buChar char="•"/>
            </a:pPr>
            <a:r>
              <a:rPr lang="en-US" sz="1250" dirty="0">
                <a:solidFill>
                  <a:srgbClr val="3A4551"/>
                </a:solidFill>
                <a:latin typeface="Calibri" pitchFamily="34" charset="0"/>
                <a:ea typeface="Calibri" pitchFamily="34" charset="-122"/>
                <a:cs typeface="Calibri" pitchFamily="34" charset="-120"/>
              </a:rPr>
              <a:t>Fixed-size component variables</a:t>
            </a:r>
            <a:endParaRPr lang="en-US" sz="1250" dirty="0"/>
          </a:p>
          <a:p>
            <a:pPr marL="342900" indent="-342900">
              <a:spcAft>
                <a:spcPts val="800"/>
              </a:spcAft>
              <a:buSzPct val="100000"/>
              <a:buChar char="•"/>
            </a:pPr>
            <a:r>
              <a:rPr lang="en-US" sz="1250" dirty="0">
                <a:solidFill>
                  <a:srgbClr val="3A4551"/>
                </a:solidFill>
                <a:latin typeface="Calibri" pitchFamily="34" charset="0"/>
                <a:ea typeface="Calibri" pitchFamily="34" charset="-122"/>
                <a:cs typeface="Calibri" pitchFamily="34" charset="-120"/>
              </a:rPr>
              <a:t>Independent of input size n</a:t>
            </a:r>
            <a:endParaRPr lang="en-US" sz="1250" dirty="0"/>
          </a:p>
        </p:txBody>
      </p:sp>
      <p:sp>
        <p:nvSpPr>
          <p:cNvPr id="11" name="Shape 9"/>
          <p:cNvSpPr/>
          <p:nvPr/>
        </p:nvSpPr>
        <p:spPr>
          <a:xfrm>
            <a:off x="6245352" y="2286000"/>
            <a:ext cx="5303520" cy="2331720"/>
          </a:xfrm>
          <a:prstGeom prst="roundRect">
            <a:avLst>
              <a:gd name="adj" fmla="val 2353"/>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12" name="Shape 10"/>
          <p:cNvSpPr/>
          <p:nvPr/>
        </p:nvSpPr>
        <p:spPr>
          <a:xfrm>
            <a:off x="6519672" y="2487168"/>
            <a:ext cx="475488" cy="475488"/>
          </a:xfrm>
          <a:prstGeom prst="ellipse">
            <a:avLst/>
          </a:prstGeom>
          <a:solidFill>
            <a:srgbClr val="A85F0C"/>
          </a:solidFill>
          <a:ln/>
        </p:spPr>
      </p:sp>
      <p:sp>
        <p:nvSpPr>
          <p:cNvPr id="13" name="Text 11"/>
          <p:cNvSpPr/>
          <p:nvPr/>
        </p:nvSpPr>
        <p:spPr>
          <a:xfrm>
            <a:off x="6519672" y="248716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Sₚ</a:t>
            </a:r>
            <a:endParaRPr lang="en-US" sz="1400" dirty="0"/>
          </a:p>
        </p:txBody>
      </p:sp>
      <p:sp>
        <p:nvSpPr>
          <p:cNvPr id="14" name="Text 12"/>
          <p:cNvSpPr/>
          <p:nvPr/>
        </p:nvSpPr>
        <p:spPr>
          <a:xfrm>
            <a:off x="7114032" y="2560320"/>
            <a:ext cx="4114800" cy="310896"/>
          </a:xfrm>
          <a:prstGeom prst="rect">
            <a:avLst/>
          </a:prstGeom>
          <a:noFill/>
          <a:ln/>
        </p:spPr>
        <p:txBody>
          <a:bodyPr wrap="square" lIns="0" tIns="0" rIns="0" bIns="0" rtlCol="0" anchor="t"/>
          <a:lstStyle/>
          <a:p>
            <a:pPr indent="0" marL="0">
              <a:buNone/>
            </a:pPr>
            <a:r>
              <a:rPr lang="en-US" sz="1700" b="1" dirty="0">
                <a:solidFill>
                  <a:srgbClr val="12161C"/>
                </a:solidFill>
                <a:latin typeface="Cambria" pitchFamily="34" charset="0"/>
                <a:ea typeface="Cambria" pitchFamily="34" charset="-122"/>
                <a:cs typeface="Cambria" pitchFamily="34" charset="-120"/>
              </a:rPr>
              <a:t>Variable part</a:t>
            </a:r>
            <a:endParaRPr lang="en-US" sz="1700" dirty="0"/>
          </a:p>
        </p:txBody>
      </p:sp>
      <p:sp>
        <p:nvSpPr>
          <p:cNvPr id="15" name="Text 13"/>
          <p:cNvSpPr/>
          <p:nvPr/>
        </p:nvSpPr>
        <p:spPr>
          <a:xfrm>
            <a:off x="6556248" y="3108960"/>
            <a:ext cx="4663440" cy="137160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3A4551"/>
                </a:solidFill>
                <a:latin typeface="Calibri" pitchFamily="34" charset="0"/>
                <a:ea typeface="Calibri" pitchFamily="34" charset="-122"/>
                <a:cs typeface="Calibri" pitchFamily="34" charset="-120"/>
              </a:rPr>
              <a:t>Arrays and structures whose size depends on n</a:t>
            </a:r>
            <a:endParaRPr lang="en-US" sz="1250" dirty="0"/>
          </a:p>
          <a:p>
            <a:pPr marL="342900" indent="-342900">
              <a:spcAft>
                <a:spcPts val="800"/>
              </a:spcAft>
              <a:buSzPct val="100000"/>
              <a:buChar char="•"/>
            </a:pPr>
            <a:r>
              <a:rPr lang="en-US" sz="1250" dirty="0">
                <a:solidFill>
                  <a:srgbClr val="3A4551"/>
                </a:solidFill>
                <a:latin typeface="Calibri" pitchFamily="34" charset="0"/>
                <a:ea typeface="Calibri" pitchFamily="34" charset="-122"/>
                <a:cs typeface="Calibri" pitchFamily="34" charset="-120"/>
              </a:rPr>
              <a:t>Dynamically allocated memory</a:t>
            </a:r>
            <a:endParaRPr lang="en-US" sz="1250" dirty="0"/>
          </a:p>
          <a:p>
            <a:pPr marL="342900" indent="-342900">
              <a:spcAft>
                <a:spcPts val="800"/>
              </a:spcAft>
              <a:buSzPct val="100000"/>
              <a:buChar char="•"/>
            </a:pPr>
            <a:r>
              <a:rPr lang="en-US" sz="1250" dirty="0">
                <a:solidFill>
                  <a:srgbClr val="3A4551"/>
                </a:solidFill>
                <a:latin typeface="Calibri" pitchFamily="34" charset="0"/>
                <a:ea typeface="Calibri" pitchFamily="34" charset="-122"/>
                <a:cs typeface="Calibri" pitchFamily="34" charset="-120"/>
              </a:rPr>
              <a:t>Recursion stack — one frame per pending call</a:t>
            </a:r>
            <a:endParaRPr lang="en-US" sz="1250" dirty="0"/>
          </a:p>
          <a:p>
            <a:pPr marL="342900" indent="-342900">
              <a:spcAft>
                <a:spcPts val="800"/>
              </a:spcAft>
              <a:buSzPct val="100000"/>
              <a:buChar char="•"/>
            </a:pPr>
            <a:r>
              <a:rPr lang="en-US" sz="1250" dirty="0">
                <a:solidFill>
                  <a:srgbClr val="3A4551"/>
                </a:solidFill>
                <a:latin typeface="Calibri" pitchFamily="34" charset="0"/>
                <a:ea typeface="Calibri" pitchFamily="34" charset="-122"/>
                <a:cs typeface="Calibri" pitchFamily="34" charset="-120"/>
              </a:rPr>
              <a:t>This is the part we analyse</a:t>
            </a:r>
            <a:endParaRPr lang="en-US" sz="1250" dirty="0"/>
          </a:p>
        </p:txBody>
      </p:sp>
      <p:sp>
        <p:nvSpPr>
          <p:cNvPr id="16" name="Shape 14"/>
          <p:cNvSpPr/>
          <p:nvPr/>
        </p:nvSpPr>
        <p:spPr>
          <a:xfrm>
            <a:off x="640080" y="4800600"/>
            <a:ext cx="10908792" cy="914400"/>
          </a:xfrm>
          <a:prstGeom prst="roundRect">
            <a:avLst>
              <a:gd name="adj" fmla="val 6000"/>
            </a:avLst>
          </a:prstGeom>
          <a:solidFill>
            <a:srgbClr val="1B2129"/>
          </a:solidFill>
          <a:ln/>
          <a:effectLst>
            <a:outerShdw sx="100000" sy="100000" kx="0" ky="0" algn="bl" rotWithShape="0" blurRad="127000" dist="25400" dir="5400000">
              <a:srgbClr val="9AA6B2">
                <a:alpha val="22000"/>
              </a:srgbClr>
            </a:outerShdw>
          </a:effectLst>
        </p:spPr>
      </p:sp>
      <p:sp>
        <p:nvSpPr>
          <p:cNvPr id="17" name="Text 15"/>
          <p:cNvSpPr/>
          <p:nvPr/>
        </p:nvSpPr>
        <p:spPr>
          <a:xfrm>
            <a:off x="914400" y="4800600"/>
            <a:ext cx="10332720" cy="914400"/>
          </a:xfrm>
          <a:prstGeom prst="rect">
            <a:avLst/>
          </a:prstGeom>
          <a:noFill/>
          <a:ln/>
        </p:spPr>
        <p:txBody>
          <a:bodyPr wrap="square" lIns="0" tIns="0" rIns="0" bIns="0" rtlCol="0" anchor="ctr"/>
          <a:lstStyle/>
          <a:p>
            <a:pPr indent="0" marL="0">
              <a:lnSpc>
                <a:spcPts val="1800"/>
              </a:lnSpc>
              <a:buNone/>
            </a:pPr>
            <a:r>
              <a:rPr lang="en-US" sz="1300" b="1" dirty="0">
                <a:solidFill>
                  <a:srgbClr val="E8871E"/>
                </a:solidFill>
                <a:latin typeface="Calibri" pitchFamily="34" charset="0"/>
                <a:ea typeface="Calibri" pitchFamily="34" charset="-122"/>
                <a:cs typeface="Calibri" pitchFamily="34" charset="-120"/>
              </a:rPr>
              <a:t>Convention:  </a:t>
            </a:r>
            <a:pPr indent="0" marL="0">
              <a:lnSpc>
                <a:spcPts val="1800"/>
              </a:lnSpc>
              <a:buNone/>
            </a:pPr>
            <a:r>
              <a:rPr lang="en-US" sz="1300" dirty="0">
                <a:solidFill>
                  <a:srgbClr val="C9D2DC"/>
                </a:solidFill>
                <a:latin typeface="Calibri" pitchFamily="34" charset="0"/>
                <a:ea typeface="Calibri" pitchFamily="34" charset="-122"/>
                <a:cs typeface="Calibri" pitchFamily="34" charset="-120"/>
              </a:rPr>
              <a:t>we usually report </a:t>
            </a:r>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auxiliary space</a:t>
            </a:r>
            <a:pPr indent="0" marL="0">
              <a:lnSpc>
                <a:spcPts val="1800"/>
              </a:lnSpc>
              <a:buNone/>
            </a:pPr>
            <a:r>
              <a:rPr lang="en-US" sz="1300" dirty="0">
                <a:solidFill>
                  <a:srgbClr val="C9D2DC"/>
                </a:solidFill>
                <a:latin typeface="Calibri" pitchFamily="34" charset="0"/>
                <a:ea typeface="Calibri" pitchFamily="34" charset="-122"/>
                <a:cs typeface="Calibri" pitchFamily="34" charset="-120"/>
              </a:rPr>
              <a:t> — the extra memory beyond the input itself. Linear search stores nothing extra, so its auxiliary space is O(1) even though the array it scans occupies n cells.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WORKED EXAMPLE</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Same task, two space profiles</a:t>
            </a:r>
            <a:endParaRPr lang="en-US" sz="3000" dirty="0"/>
          </a:p>
        </p:txBody>
      </p:sp>
      <p:sp>
        <p:nvSpPr>
          <p:cNvPr id="4" name="Text 2"/>
          <p:cNvSpPr/>
          <p:nvPr/>
        </p:nvSpPr>
        <p:spPr>
          <a:xfrm>
            <a:off x="640080" y="1280160"/>
            <a:ext cx="5303520" cy="292608"/>
          </a:xfrm>
          <a:prstGeom prst="rect">
            <a:avLst/>
          </a:prstGeom>
          <a:noFill/>
          <a:ln/>
        </p:spPr>
        <p:txBody>
          <a:bodyPr wrap="square" lIns="0" tIns="0" rIns="0" bIns="0" rtlCol="0" anchor="t"/>
          <a:lstStyle/>
          <a:p>
            <a:pPr indent="0" marL="0">
              <a:buNone/>
            </a:pPr>
            <a:r>
              <a:rPr lang="en-US" sz="1600" b="1" dirty="0">
                <a:solidFill>
                  <a:srgbClr val="2E7D5B"/>
                </a:solidFill>
                <a:latin typeface="Cambria" pitchFamily="34" charset="0"/>
                <a:ea typeface="Cambria" pitchFamily="34" charset="-122"/>
                <a:cs typeface="Cambria" pitchFamily="34" charset="-120"/>
              </a:rPr>
              <a:t>Iterative sum — auxiliary space O(1)</a:t>
            </a:r>
            <a:endParaRPr lang="en-US" sz="1600" dirty="0"/>
          </a:p>
        </p:txBody>
      </p:sp>
      <p:sp>
        <p:nvSpPr>
          <p:cNvPr id="5" name="Shape 3"/>
          <p:cNvSpPr/>
          <p:nvPr/>
        </p:nvSpPr>
        <p:spPr>
          <a:xfrm>
            <a:off x="640080" y="1645920"/>
            <a:ext cx="5303520" cy="1740408"/>
          </a:xfrm>
          <a:prstGeom prst="roundRect">
            <a:avLst>
              <a:gd name="adj" fmla="val 2627"/>
            </a:avLst>
          </a:prstGeom>
          <a:solidFill>
            <a:srgbClr val="171C24"/>
          </a:solidFill>
          <a:ln/>
          <a:effectLst>
            <a:outerShdw sx="100000" sy="100000" kx="0" ky="0" algn="bl" rotWithShape="0" blurRad="101600" dist="25400" dir="5400000">
              <a:srgbClr val="9AA6B2">
                <a:alpha val="30000"/>
              </a:srgbClr>
            </a:outerShdw>
          </a:effectLst>
        </p:spPr>
      </p:sp>
      <p:sp>
        <p:nvSpPr>
          <p:cNvPr id="6" name="Text 4"/>
          <p:cNvSpPr/>
          <p:nvPr/>
        </p:nvSpPr>
        <p:spPr>
          <a:xfrm>
            <a:off x="804672" y="1773936"/>
            <a:ext cx="4974336" cy="1484376"/>
          </a:xfrm>
          <a:prstGeom prst="rect">
            <a:avLst/>
          </a:prstGeom>
          <a:noFill/>
          <a:ln/>
        </p:spPr>
        <p:txBody>
          <a:bodyPr wrap="square" lIns="0" tIns="0" rIns="0" bIns="0" rtlCol="0" anchor="t"/>
          <a:lstStyle/>
          <a:p>
            <a:pPr indent="0" marL="0">
              <a:lnSpc>
                <a:spcPts val="1608"/>
              </a:lnSpc>
              <a:buNone/>
            </a:pPr>
            <a:r>
              <a:rPr lang="en-US" sz="1200" b="1" dirty="0">
                <a:solidFill>
                  <a:srgbClr val="E8871E"/>
                </a:solidFill>
                <a:latin typeface="Courier New" pitchFamily="34" charset="0"/>
                <a:ea typeface="Courier New" pitchFamily="34" charset="-122"/>
                <a:cs typeface="Courier New" pitchFamily="34" charset="-120"/>
              </a:rPr>
              <a:t>Algorithm</a:t>
            </a:r>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 SumIter(a, n)</a:t>
            </a:r>
            <a:endParaRPr lang="en-US" sz="1200" dirty="0"/>
          </a:p>
          <a:p>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a:t>
            </a:r>
            <a:endParaRPr lang="en-US" sz="1200" dirty="0"/>
          </a:p>
          <a:p>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   s := 0;</a:t>
            </a:r>
            <a:endParaRPr lang="en-US" sz="1200" dirty="0"/>
          </a:p>
          <a:p>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   </a:t>
            </a:r>
            <a:pPr indent="0" marL="0">
              <a:lnSpc>
                <a:spcPts val="1608"/>
              </a:lnSpc>
              <a:buNone/>
            </a:pPr>
            <a:r>
              <a:rPr lang="en-US" sz="1200" b="1" dirty="0">
                <a:solidFill>
                  <a:srgbClr val="E8871E"/>
                </a:solidFill>
                <a:latin typeface="Courier New" pitchFamily="34" charset="0"/>
                <a:ea typeface="Courier New" pitchFamily="34" charset="-122"/>
                <a:cs typeface="Courier New" pitchFamily="34" charset="-120"/>
              </a:rPr>
              <a:t>for</a:t>
            </a:r>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 i := 1 to n </a:t>
            </a:r>
            <a:pPr indent="0" marL="0">
              <a:lnSpc>
                <a:spcPts val="1608"/>
              </a:lnSpc>
              <a:buNone/>
            </a:pPr>
            <a:r>
              <a:rPr lang="en-US" sz="1200" b="1" dirty="0">
                <a:solidFill>
                  <a:srgbClr val="E8871E"/>
                </a:solidFill>
                <a:latin typeface="Courier New" pitchFamily="34" charset="0"/>
                <a:ea typeface="Courier New" pitchFamily="34" charset="-122"/>
                <a:cs typeface="Courier New" pitchFamily="34" charset="-120"/>
              </a:rPr>
              <a:t>do</a:t>
            </a:r>
            <a:endParaRPr lang="en-US" sz="1200" dirty="0"/>
          </a:p>
          <a:p>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      s := s + a[i];</a:t>
            </a:r>
            <a:endParaRPr lang="en-US" sz="1200" dirty="0"/>
          </a:p>
          <a:p>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   </a:t>
            </a:r>
            <a:pPr indent="0" marL="0">
              <a:lnSpc>
                <a:spcPts val="1608"/>
              </a:lnSpc>
              <a:buNone/>
            </a:pPr>
            <a:r>
              <a:rPr lang="en-US" sz="1200" b="1" dirty="0">
                <a:solidFill>
                  <a:srgbClr val="E8871E"/>
                </a:solidFill>
                <a:latin typeface="Courier New" pitchFamily="34" charset="0"/>
                <a:ea typeface="Courier New" pitchFamily="34" charset="-122"/>
                <a:cs typeface="Courier New" pitchFamily="34" charset="-120"/>
              </a:rPr>
              <a:t>return</a:t>
            </a:r>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 s;</a:t>
            </a:r>
            <a:endParaRPr lang="en-US" sz="1200" dirty="0"/>
          </a:p>
          <a:p>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a:t>
            </a:r>
            <a:endParaRPr lang="en-US" sz="1200" dirty="0"/>
          </a:p>
        </p:txBody>
      </p:sp>
      <p:sp>
        <p:nvSpPr>
          <p:cNvPr id="7" name="Text 5"/>
          <p:cNvSpPr/>
          <p:nvPr/>
        </p:nvSpPr>
        <p:spPr>
          <a:xfrm>
            <a:off x="640080" y="3657600"/>
            <a:ext cx="5303520" cy="274320"/>
          </a:xfrm>
          <a:prstGeom prst="rect">
            <a:avLst/>
          </a:prstGeom>
          <a:noFill/>
          <a:ln/>
        </p:spPr>
        <p:txBody>
          <a:bodyPr wrap="square" lIns="0" tIns="0" rIns="0" bIns="0" rtlCol="0" anchor="t"/>
          <a:lstStyle/>
          <a:p>
            <a:pPr indent="0" marL="0">
              <a:buNone/>
            </a:pPr>
            <a:r>
              <a:rPr lang="en-US" sz="1200" i="1" dirty="0">
                <a:solidFill>
                  <a:srgbClr val="6B7784"/>
                </a:solidFill>
                <a:latin typeface="Calibri" pitchFamily="34" charset="0"/>
                <a:ea typeface="Calibri" pitchFamily="34" charset="-122"/>
                <a:cs typeface="Calibri" pitchFamily="34" charset="-120"/>
              </a:rPr>
              <a:t>Variables s and i only — two words, whatever n is.</a:t>
            </a:r>
            <a:endParaRPr lang="en-US" sz="1200" dirty="0"/>
          </a:p>
        </p:txBody>
      </p:sp>
      <p:sp>
        <p:nvSpPr>
          <p:cNvPr id="8" name="Text 6"/>
          <p:cNvSpPr/>
          <p:nvPr/>
        </p:nvSpPr>
        <p:spPr>
          <a:xfrm>
            <a:off x="6245352" y="1280160"/>
            <a:ext cx="5303520" cy="292608"/>
          </a:xfrm>
          <a:prstGeom prst="rect">
            <a:avLst/>
          </a:prstGeom>
          <a:noFill/>
          <a:ln/>
        </p:spPr>
        <p:txBody>
          <a:bodyPr wrap="square" lIns="0" tIns="0" rIns="0" bIns="0" rtlCol="0" anchor="t"/>
          <a:lstStyle/>
          <a:p>
            <a:pPr indent="0" marL="0">
              <a:buNone/>
            </a:pPr>
            <a:r>
              <a:rPr lang="en-US" sz="1600" b="1" dirty="0">
                <a:solidFill>
                  <a:srgbClr val="B3261E"/>
                </a:solidFill>
                <a:latin typeface="Cambria" pitchFamily="34" charset="0"/>
                <a:ea typeface="Cambria" pitchFamily="34" charset="-122"/>
                <a:cs typeface="Cambria" pitchFamily="34" charset="-120"/>
              </a:rPr>
              <a:t>Recursive sum — auxiliary space O(n)</a:t>
            </a:r>
            <a:endParaRPr lang="en-US" sz="1600" dirty="0"/>
          </a:p>
        </p:txBody>
      </p:sp>
      <p:sp>
        <p:nvSpPr>
          <p:cNvPr id="9" name="Shape 7"/>
          <p:cNvSpPr/>
          <p:nvPr/>
        </p:nvSpPr>
        <p:spPr>
          <a:xfrm>
            <a:off x="6245352" y="1645920"/>
            <a:ext cx="5303520" cy="1331976"/>
          </a:xfrm>
          <a:prstGeom prst="roundRect">
            <a:avLst>
              <a:gd name="adj" fmla="val 3432"/>
            </a:avLst>
          </a:prstGeom>
          <a:solidFill>
            <a:srgbClr val="171C24"/>
          </a:solidFill>
          <a:ln/>
          <a:effectLst>
            <a:outerShdw sx="100000" sy="100000" kx="0" ky="0" algn="bl" rotWithShape="0" blurRad="101600" dist="25400" dir="5400000">
              <a:srgbClr val="9AA6B2">
                <a:alpha val="30000"/>
              </a:srgbClr>
            </a:outerShdw>
          </a:effectLst>
        </p:spPr>
      </p:sp>
      <p:sp>
        <p:nvSpPr>
          <p:cNvPr id="10" name="Text 8"/>
          <p:cNvSpPr/>
          <p:nvPr/>
        </p:nvSpPr>
        <p:spPr>
          <a:xfrm>
            <a:off x="6409944" y="1773936"/>
            <a:ext cx="4974336" cy="1075944"/>
          </a:xfrm>
          <a:prstGeom prst="rect">
            <a:avLst/>
          </a:prstGeom>
          <a:noFill/>
          <a:ln/>
        </p:spPr>
        <p:txBody>
          <a:bodyPr wrap="square" lIns="0" tIns="0" rIns="0" bIns="0" rtlCol="0" anchor="t"/>
          <a:lstStyle/>
          <a:p>
            <a:pPr indent="0" marL="0">
              <a:lnSpc>
                <a:spcPts val="1608"/>
              </a:lnSpc>
              <a:buNone/>
            </a:pPr>
            <a:r>
              <a:rPr lang="en-US" sz="1200" b="1" dirty="0">
                <a:solidFill>
                  <a:srgbClr val="E8871E"/>
                </a:solidFill>
                <a:latin typeface="Courier New" pitchFamily="34" charset="0"/>
                <a:ea typeface="Courier New" pitchFamily="34" charset="-122"/>
                <a:cs typeface="Courier New" pitchFamily="34" charset="-120"/>
              </a:rPr>
              <a:t>Algorithm</a:t>
            </a:r>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 SumRec(a, n)</a:t>
            </a:r>
            <a:endParaRPr lang="en-US" sz="1200" dirty="0"/>
          </a:p>
          <a:p>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a:t>
            </a:r>
            <a:endParaRPr lang="en-US" sz="1200" dirty="0"/>
          </a:p>
          <a:p>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   </a:t>
            </a:r>
            <a:pPr indent="0" marL="0">
              <a:lnSpc>
                <a:spcPts val="1608"/>
              </a:lnSpc>
              <a:buNone/>
            </a:pPr>
            <a:r>
              <a:rPr lang="en-US" sz="1200" b="1" dirty="0">
                <a:solidFill>
                  <a:srgbClr val="E8871E"/>
                </a:solidFill>
                <a:latin typeface="Courier New" pitchFamily="34" charset="0"/>
                <a:ea typeface="Courier New" pitchFamily="34" charset="-122"/>
                <a:cs typeface="Courier New" pitchFamily="34" charset="-120"/>
              </a:rPr>
              <a:t>if</a:t>
            </a:r>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 n = 0 </a:t>
            </a:r>
            <a:pPr indent="0" marL="0">
              <a:lnSpc>
                <a:spcPts val="1608"/>
              </a:lnSpc>
              <a:buNone/>
            </a:pPr>
            <a:r>
              <a:rPr lang="en-US" sz="1200" b="1" dirty="0">
                <a:solidFill>
                  <a:srgbClr val="E8871E"/>
                </a:solidFill>
                <a:latin typeface="Courier New" pitchFamily="34" charset="0"/>
                <a:ea typeface="Courier New" pitchFamily="34" charset="-122"/>
                <a:cs typeface="Courier New" pitchFamily="34" charset="-120"/>
              </a:rPr>
              <a:t>then</a:t>
            </a:r>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 </a:t>
            </a:r>
            <a:pPr indent="0" marL="0">
              <a:lnSpc>
                <a:spcPts val="1608"/>
              </a:lnSpc>
              <a:buNone/>
            </a:pPr>
            <a:r>
              <a:rPr lang="en-US" sz="1200" b="1" dirty="0">
                <a:solidFill>
                  <a:srgbClr val="E8871E"/>
                </a:solidFill>
                <a:latin typeface="Courier New" pitchFamily="34" charset="0"/>
                <a:ea typeface="Courier New" pitchFamily="34" charset="-122"/>
                <a:cs typeface="Courier New" pitchFamily="34" charset="-120"/>
              </a:rPr>
              <a:t>return</a:t>
            </a:r>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 0;</a:t>
            </a:r>
            <a:endParaRPr lang="en-US" sz="1200" dirty="0"/>
          </a:p>
          <a:p>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   </a:t>
            </a:r>
            <a:pPr indent="0" marL="0">
              <a:lnSpc>
                <a:spcPts val="1608"/>
              </a:lnSpc>
              <a:buNone/>
            </a:pPr>
            <a:r>
              <a:rPr lang="en-US" sz="1200" b="1" dirty="0">
                <a:solidFill>
                  <a:srgbClr val="E8871E"/>
                </a:solidFill>
                <a:latin typeface="Courier New" pitchFamily="34" charset="0"/>
                <a:ea typeface="Courier New" pitchFamily="34" charset="-122"/>
                <a:cs typeface="Courier New" pitchFamily="34" charset="-120"/>
              </a:rPr>
              <a:t>return</a:t>
            </a:r>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 a[n] + SumRec(a, n-1);</a:t>
            </a:r>
            <a:endParaRPr lang="en-US" sz="1200" dirty="0"/>
          </a:p>
          <a:p>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a:t>
            </a:r>
            <a:endParaRPr lang="en-US" sz="1200" dirty="0"/>
          </a:p>
        </p:txBody>
      </p:sp>
      <p:sp>
        <p:nvSpPr>
          <p:cNvPr id="11" name="Text 9"/>
          <p:cNvSpPr/>
          <p:nvPr/>
        </p:nvSpPr>
        <p:spPr>
          <a:xfrm>
            <a:off x="6245352" y="3200400"/>
            <a:ext cx="5303520" cy="502920"/>
          </a:xfrm>
          <a:prstGeom prst="rect">
            <a:avLst/>
          </a:prstGeom>
          <a:noFill/>
          <a:ln/>
        </p:spPr>
        <p:txBody>
          <a:bodyPr wrap="square" lIns="0" tIns="0" rIns="0" bIns="0" rtlCol="0" anchor="t"/>
          <a:lstStyle/>
          <a:p>
            <a:pPr indent="0" marL="0">
              <a:lnSpc>
                <a:spcPts val="1600"/>
              </a:lnSpc>
              <a:buNone/>
            </a:pPr>
            <a:r>
              <a:rPr lang="en-US" sz="1200" i="1" dirty="0">
                <a:solidFill>
                  <a:srgbClr val="6B7784"/>
                </a:solidFill>
                <a:latin typeface="Calibri" pitchFamily="34" charset="0"/>
                <a:ea typeface="Calibri" pitchFamily="34" charset="-122"/>
                <a:cs typeface="Calibri" pitchFamily="34" charset="-120"/>
              </a:rPr>
              <a:t>Each pending call keeps a frame on the stack: n frames deep before the first one returns.</a:t>
            </a:r>
            <a:endParaRPr lang="en-US" sz="1200" dirty="0"/>
          </a:p>
        </p:txBody>
      </p:sp>
      <p:sp>
        <p:nvSpPr>
          <p:cNvPr id="12" name="Shape 10"/>
          <p:cNvSpPr/>
          <p:nvPr/>
        </p:nvSpPr>
        <p:spPr>
          <a:xfrm>
            <a:off x="640080" y="4069080"/>
            <a:ext cx="10908792" cy="1645920"/>
          </a:xfrm>
          <a:prstGeom prst="roundRect">
            <a:avLst>
              <a:gd name="adj" fmla="val 3333"/>
            </a:avLst>
          </a:prstGeom>
          <a:solidFill>
            <a:srgbClr val="1B2129"/>
          </a:solidFill>
          <a:ln/>
          <a:effectLst>
            <a:outerShdw sx="100000" sy="100000" kx="0" ky="0" algn="bl" rotWithShape="0" blurRad="127000" dist="25400" dir="5400000">
              <a:srgbClr val="9AA6B2">
                <a:alpha val="22000"/>
              </a:srgbClr>
            </a:outerShdw>
          </a:effectLst>
        </p:spPr>
      </p:sp>
      <p:sp>
        <p:nvSpPr>
          <p:cNvPr id="13" name="Text 11"/>
          <p:cNvSpPr/>
          <p:nvPr/>
        </p:nvSpPr>
        <p:spPr>
          <a:xfrm>
            <a:off x="914400" y="4224528"/>
            <a:ext cx="4572000" cy="274320"/>
          </a:xfrm>
          <a:prstGeom prst="rect">
            <a:avLst/>
          </a:prstGeom>
          <a:noFill/>
          <a:ln/>
        </p:spPr>
        <p:txBody>
          <a:bodyPr wrap="square" lIns="0" tIns="0" rIns="0" bIns="0" rtlCol="0" anchor="t"/>
          <a:lstStyle/>
          <a:p>
            <a:pPr indent="0" marL="0">
              <a:buNone/>
            </a:pPr>
            <a:r>
              <a:rPr lang="en-US" sz="1250" b="1" dirty="0">
                <a:solidFill>
                  <a:srgbClr val="E8871E"/>
                </a:solidFill>
                <a:latin typeface="Calibri" pitchFamily="34" charset="0"/>
                <a:ea typeface="Calibri" pitchFamily="34" charset="-122"/>
                <a:cs typeface="Calibri" pitchFamily="34" charset="-120"/>
              </a:rPr>
              <a:t>The recursion stack, drawn</a:t>
            </a:r>
            <a:endParaRPr lang="en-US" sz="1250" dirty="0"/>
          </a:p>
        </p:txBody>
      </p:sp>
      <p:sp>
        <p:nvSpPr>
          <p:cNvPr id="14" name="Shape 12"/>
          <p:cNvSpPr/>
          <p:nvPr/>
        </p:nvSpPr>
        <p:spPr>
          <a:xfrm>
            <a:off x="914400" y="4617720"/>
            <a:ext cx="1874520" cy="502920"/>
          </a:xfrm>
          <a:prstGeom prst="roundRect">
            <a:avLst>
              <a:gd name="adj" fmla="val 10909"/>
            </a:avLst>
          </a:prstGeom>
          <a:solidFill>
            <a:srgbClr val="2C3742"/>
          </a:solidFill>
          <a:ln/>
        </p:spPr>
      </p:sp>
      <p:sp>
        <p:nvSpPr>
          <p:cNvPr id="15" name="Text 13"/>
          <p:cNvSpPr/>
          <p:nvPr/>
        </p:nvSpPr>
        <p:spPr>
          <a:xfrm>
            <a:off x="914400" y="4617720"/>
            <a:ext cx="1874520" cy="5029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SumRec(a, n)</a:t>
            </a:r>
            <a:endParaRPr lang="en-US" sz="1100" dirty="0"/>
          </a:p>
        </p:txBody>
      </p:sp>
      <p:sp>
        <p:nvSpPr>
          <p:cNvPr id="16" name="Shape 14"/>
          <p:cNvSpPr/>
          <p:nvPr/>
        </p:nvSpPr>
        <p:spPr>
          <a:xfrm>
            <a:off x="2999232" y="4617720"/>
            <a:ext cx="1874520" cy="502920"/>
          </a:xfrm>
          <a:prstGeom prst="roundRect">
            <a:avLst>
              <a:gd name="adj" fmla="val 10909"/>
            </a:avLst>
          </a:prstGeom>
          <a:solidFill>
            <a:srgbClr val="2C3742"/>
          </a:solidFill>
          <a:ln/>
        </p:spPr>
      </p:sp>
      <p:sp>
        <p:nvSpPr>
          <p:cNvPr id="17" name="Text 15"/>
          <p:cNvSpPr/>
          <p:nvPr/>
        </p:nvSpPr>
        <p:spPr>
          <a:xfrm>
            <a:off x="2999232" y="4617720"/>
            <a:ext cx="1874520" cy="5029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SumRec(a, n-1)</a:t>
            </a:r>
            <a:endParaRPr lang="en-US" sz="1100" dirty="0"/>
          </a:p>
        </p:txBody>
      </p:sp>
      <p:sp>
        <p:nvSpPr>
          <p:cNvPr id="18" name="Shape 16"/>
          <p:cNvSpPr/>
          <p:nvPr/>
        </p:nvSpPr>
        <p:spPr>
          <a:xfrm>
            <a:off x="5084064" y="4617720"/>
            <a:ext cx="1874520" cy="502920"/>
          </a:xfrm>
          <a:prstGeom prst="roundRect">
            <a:avLst>
              <a:gd name="adj" fmla="val 10909"/>
            </a:avLst>
          </a:prstGeom>
          <a:solidFill>
            <a:srgbClr val="2C3742"/>
          </a:solidFill>
          <a:ln/>
        </p:spPr>
      </p:sp>
      <p:sp>
        <p:nvSpPr>
          <p:cNvPr id="19" name="Text 17"/>
          <p:cNvSpPr/>
          <p:nvPr/>
        </p:nvSpPr>
        <p:spPr>
          <a:xfrm>
            <a:off x="5084064" y="4617720"/>
            <a:ext cx="1874520" cy="5029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SumRec(a, n-2)</a:t>
            </a:r>
            <a:endParaRPr lang="en-US" sz="1100" dirty="0"/>
          </a:p>
        </p:txBody>
      </p:sp>
      <p:sp>
        <p:nvSpPr>
          <p:cNvPr id="20" name="Shape 18"/>
          <p:cNvSpPr/>
          <p:nvPr/>
        </p:nvSpPr>
        <p:spPr>
          <a:xfrm>
            <a:off x="7168896" y="4617720"/>
            <a:ext cx="1874520" cy="502920"/>
          </a:xfrm>
          <a:prstGeom prst="roundRect">
            <a:avLst>
              <a:gd name="adj" fmla="val 10909"/>
            </a:avLst>
          </a:prstGeom>
          <a:solidFill>
            <a:srgbClr val="2C3742"/>
          </a:solidFill>
          <a:ln/>
        </p:spPr>
      </p:sp>
      <p:sp>
        <p:nvSpPr>
          <p:cNvPr id="21" name="Text 19"/>
          <p:cNvSpPr/>
          <p:nvPr/>
        </p:nvSpPr>
        <p:spPr>
          <a:xfrm>
            <a:off x="7168896" y="4617720"/>
            <a:ext cx="1874520" cy="5029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p:txBody>
      </p:sp>
      <p:sp>
        <p:nvSpPr>
          <p:cNvPr id="22" name="Shape 20"/>
          <p:cNvSpPr/>
          <p:nvPr/>
        </p:nvSpPr>
        <p:spPr>
          <a:xfrm>
            <a:off x="9253728" y="4617720"/>
            <a:ext cx="1874520" cy="502920"/>
          </a:xfrm>
          <a:prstGeom prst="roundRect">
            <a:avLst>
              <a:gd name="adj" fmla="val 10909"/>
            </a:avLst>
          </a:prstGeom>
          <a:solidFill>
            <a:srgbClr val="A85F0C"/>
          </a:solidFill>
          <a:ln/>
        </p:spPr>
      </p:sp>
      <p:sp>
        <p:nvSpPr>
          <p:cNvPr id="23" name="Text 21"/>
          <p:cNvSpPr/>
          <p:nvPr/>
        </p:nvSpPr>
        <p:spPr>
          <a:xfrm>
            <a:off x="9253728" y="4617720"/>
            <a:ext cx="1874520" cy="5029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SumRec(a, 0)</a:t>
            </a:r>
            <a:endParaRPr lang="en-US" sz="1100" dirty="0"/>
          </a:p>
        </p:txBody>
      </p:sp>
      <p:sp>
        <p:nvSpPr>
          <p:cNvPr id="24" name="Text 22"/>
          <p:cNvSpPr/>
          <p:nvPr/>
        </p:nvSpPr>
        <p:spPr>
          <a:xfrm>
            <a:off x="914400" y="5230368"/>
            <a:ext cx="10332720" cy="320040"/>
          </a:xfrm>
          <a:prstGeom prst="rect">
            <a:avLst/>
          </a:prstGeom>
          <a:noFill/>
          <a:ln/>
        </p:spPr>
        <p:txBody>
          <a:bodyPr wrap="square" lIns="0" tIns="0" rIns="0" bIns="0" rtlCol="0" anchor="t"/>
          <a:lstStyle/>
          <a:p>
            <a:pPr indent="0" marL="0">
              <a:buNone/>
            </a:pPr>
            <a:r>
              <a:rPr lang="en-US" sz="1250" dirty="0">
                <a:solidFill>
                  <a:srgbClr val="C9D2DC"/>
                </a:solidFill>
                <a:latin typeface="Calibri" pitchFamily="34" charset="0"/>
                <a:ea typeface="Calibri" pitchFamily="34" charset="-122"/>
                <a:cs typeface="Calibri" pitchFamily="34" charset="-120"/>
              </a:rPr>
              <a:t>n + 1 stack frames alive at the deepest point  →  space complexity O(n), even though both algorithms take O(n) time.</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TRADE-OFF</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Time and space pull against each other</a:t>
            </a:r>
            <a:endParaRPr lang="en-US" sz="3000" dirty="0"/>
          </a:p>
        </p:txBody>
      </p:sp>
      <p:sp>
        <p:nvSpPr>
          <p:cNvPr id="4" name="Shape 2"/>
          <p:cNvSpPr/>
          <p:nvPr/>
        </p:nvSpPr>
        <p:spPr>
          <a:xfrm>
            <a:off x="640080" y="1325880"/>
            <a:ext cx="5303520" cy="2697480"/>
          </a:xfrm>
          <a:prstGeom prst="roundRect">
            <a:avLst>
              <a:gd name="adj" fmla="val 2034"/>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5" name="Shape 3"/>
          <p:cNvSpPr/>
          <p:nvPr/>
        </p:nvSpPr>
        <p:spPr>
          <a:xfrm>
            <a:off x="640080" y="1325880"/>
            <a:ext cx="5303520" cy="658368"/>
          </a:xfrm>
          <a:prstGeom prst="roundRect">
            <a:avLst>
              <a:gd name="adj" fmla="val 8333"/>
            </a:avLst>
          </a:prstGeom>
          <a:solidFill>
            <a:srgbClr val="DFEEF0"/>
          </a:solidFill>
          <a:ln/>
        </p:spPr>
      </p:sp>
      <p:sp>
        <p:nvSpPr>
          <p:cNvPr id="6" name="Text 4"/>
          <p:cNvSpPr/>
          <p:nvPr/>
        </p:nvSpPr>
        <p:spPr>
          <a:xfrm>
            <a:off x="914400" y="1325880"/>
            <a:ext cx="4754880" cy="658368"/>
          </a:xfrm>
          <a:prstGeom prst="rect">
            <a:avLst/>
          </a:prstGeom>
          <a:noFill/>
          <a:ln/>
        </p:spPr>
        <p:txBody>
          <a:bodyPr wrap="square" lIns="0" tIns="0" rIns="0" bIns="0" rtlCol="0" anchor="ctr"/>
          <a:lstStyle/>
          <a:p>
            <a:pPr indent="0" marL="0">
              <a:buNone/>
            </a:pPr>
            <a:r>
              <a:rPr lang="en-US" sz="1700" b="1" dirty="0">
                <a:solidFill>
                  <a:srgbClr val="0E7C86"/>
                </a:solidFill>
                <a:latin typeface="Cambria" pitchFamily="34" charset="0"/>
                <a:ea typeface="Cambria" pitchFamily="34" charset="-122"/>
                <a:cs typeface="Cambria" pitchFamily="34" charset="-120"/>
              </a:rPr>
              <a:t>Spend space, save time</a:t>
            </a:r>
            <a:endParaRPr lang="en-US" sz="1700" dirty="0"/>
          </a:p>
        </p:txBody>
      </p:sp>
      <p:sp>
        <p:nvSpPr>
          <p:cNvPr id="7" name="Text 5"/>
          <p:cNvSpPr/>
          <p:nvPr/>
        </p:nvSpPr>
        <p:spPr>
          <a:xfrm>
            <a:off x="950976" y="2148840"/>
            <a:ext cx="4663440" cy="1737360"/>
          </a:xfrm>
          <a:prstGeom prst="rect">
            <a:avLst/>
          </a:prstGeom>
          <a:noFill/>
          <a:ln/>
        </p:spPr>
        <p:txBody>
          <a:bodyPr wrap="square" lIns="0" tIns="0" rIns="0" bIns="0" rtlCol="0" anchor="t"/>
          <a:lstStyle/>
          <a:p>
            <a:pPr marL="342900" indent="-342900">
              <a:lnSpc>
                <a:spcPts val="1600"/>
              </a:lnSpc>
              <a:spcAft>
                <a:spcPts val="1000"/>
              </a:spcAft>
              <a:buSzPct val="100000"/>
              <a:buChar char="•"/>
            </a:pPr>
            <a:r>
              <a:rPr lang="en-US" sz="1250" dirty="0">
                <a:solidFill>
                  <a:srgbClr val="3A4551"/>
                </a:solidFill>
                <a:latin typeface="Calibri" pitchFamily="34" charset="0"/>
                <a:ea typeface="Calibri" pitchFamily="34" charset="-122"/>
                <a:cs typeface="Calibri" pitchFamily="34" charset="-120"/>
              </a:rPr>
              <a:t>Lookup / hash tables: O(1) retrieval at the cost of a large table</a:t>
            </a:r>
            <a:endParaRPr lang="en-US" sz="1250" dirty="0"/>
          </a:p>
          <a:p>
            <a:pPr marL="342900" indent="-342900">
              <a:lnSpc>
                <a:spcPts val="1600"/>
              </a:lnSpc>
              <a:spcAft>
                <a:spcPts val="1000"/>
              </a:spcAft>
              <a:buSzPct val="100000"/>
              <a:buChar char="•"/>
            </a:pPr>
            <a:r>
              <a:rPr lang="en-US" sz="1250" dirty="0">
                <a:solidFill>
                  <a:srgbClr val="3A4551"/>
                </a:solidFill>
                <a:latin typeface="Calibri" pitchFamily="34" charset="0"/>
                <a:ea typeface="Calibri" pitchFamily="34" charset="-122"/>
                <a:cs typeface="Calibri" pitchFamily="34" charset="-120"/>
              </a:rPr>
              <a:t>Memoisation in dynamic programming: store sub-results instead of recomputing</a:t>
            </a:r>
            <a:endParaRPr lang="en-US" sz="1250" dirty="0"/>
          </a:p>
          <a:p>
            <a:pPr marL="342900" indent="-342900">
              <a:lnSpc>
                <a:spcPts val="1600"/>
              </a:lnSpc>
              <a:spcAft>
                <a:spcPts val="1000"/>
              </a:spcAft>
              <a:buSzPct val="100000"/>
              <a:buChar char="•"/>
            </a:pPr>
            <a:r>
              <a:rPr lang="en-US" sz="1250" dirty="0">
                <a:solidFill>
                  <a:srgbClr val="3A4551"/>
                </a:solidFill>
                <a:latin typeface="Calibri" pitchFamily="34" charset="0"/>
                <a:ea typeface="Calibri" pitchFamily="34" charset="-122"/>
                <a:cs typeface="Calibri" pitchFamily="34" charset="-120"/>
              </a:rPr>
              <a:t>Pre-computed indexes in databases</a:t>
            </a:r>
            <a:endParaRPr lang="en-US" sz="1250" dirty="0"/>
          </a:p>
        </p:txBody>
      </p:sp>
      <p:sp>
        <p:nvSpPr>
          <p:cNvPr id="8" name="Shape 6"/>
          <p:cNvSpPr/>
          <p:nvPr/>
        </p:nvSpPr>
        <p:spPr>
          <a:xfrm>
            <a:off x="6245352" y="1325880"/>
            <a:ext cx="5303520" cy="2697480"/>
          </a:xfrm>
          <a:prstGeom prst="roundRect">
            <a:avLst>
              <a:gd name="adj" fmla="val 2034"/>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9" name="Shape 7"/>
          <p:cNvSpPr/>
          <p:nvPr/>
        </p:nvSpPr>
        <p:spPr>
          <a:xfrm>
            <a:off x="6245352" y="1325880"/>
            <a:ext cx="5303520" cy="658368"/>
          </a:xfrm>
          <a:prstGeom prst="roundRect">
            <a:avLst>
              <a:gd name="adj" fmla="val 8333"/>
            </a:avLst>
          </a:prstGeom>
          <a:solidFill>
            <a:srgbClr val="FDF0E0"/>
          </a:solidFill>
          <a:ln/>
        </p:spPr>
      </p:sp>
      <p:sp>
        <p:nvSpPr>
          <p:cNvPr id="10" name="Text 8"/>
          <p:cNvSpPr/>
          <p:nvPr/>
        </p:nvSpPr>
        <p:spPr>
          <a:xfrm>
            <a:off x="6519672" y="1325880"/>
            <a:ext cx="4754880" cy="658368"/>
          </a:xfrm>
          <a:prstGeom prst="rect">
            <a:avLst/>
          </a:prstGeom>
          <a:noFill/>
          <a:ln/>
        </p:spPr>
        <p:txBody>
          <a:bodyPr wrap="square" lIns="0" tIns="0" rIns="0" bIns="0" rtlCol="0" anchor="ctr"/>
          <a:lstStyle/>
          <a:p>
            <a:pPr indent="0" marL="0">
              <a:buNone/>
            </a:pPr>
            <a:r>
              <a:rPr lang="en-US" sz="1700" b="1" dirty="0">
                <a:solidFill>
                  <a:srgbClr val="A85F0C"/>
                </a:solidFill>
                <a:latin typeface="Cambria" pitchFamily="34" charset="0"/>
                <a:ea typeface="Cambria" pitchFamily="34" charset="-122"/>
                <a:cs typeface="Cambria" pitchFamily="34" charset="-120"/>
              </a:rPr>
              <a:t>Spend time, save space</a:t>
            </a:r>
            <a:endParaRPr lang="en-US" sz="1700" dirty="0"/>
          </a:p>
        </p:txBody>
      </p:sp>
      <p:sp>
        <p:nvSpPr>
          <p:cNvPr id="11" name="Text 9"/>
          <p:cNvSpPr/>
          <p:nvPr/>
        </p:nvSpPr>
        <p:spPr>
          <a:xfrm>
            <a:off x="6556248" y="2148840"/>
            <a:ext cx="4663440" cy="1737360"/>
          </a:xfrm>
          <a:prstGeom prst="rect">
            <a:avLst/>
          </a:prstGeom>
          <a:noFill/>
          <a:ln/>
        </p:spPr>
        <p:txBody>
          <a:bodyPr wrap="square" lIns="0" tIns="0" rIns="0" bIns="0" rtlCol="0" anchor="t"/>
          <a:lstStyle/>
          <a:p>
            <a:pPr marL="342900" indent="-342900">
              <a:lnSpc>
                <a:spcPts val="1600"/>
              </a:lnSpc>
              <a:spcAft>
                <a:spcPts val="1000"/>
              </a:spcAft>
              <a:buSzPct val="100000"/>
              <a:buChar char="•"/>
            </a:pPr>
            <a:r>
              <a:rPr lang="en-US" sz="1250" dirty="0">
                <a:solidFill>
                  <a:srgbClr val="3A4551"/>
                </a:solidFill>
                <a:latin typeface="Calibri" pitchFamily="34" charset="0"/>
                <a:ea typeface="Calibri" pitchFamily="34" charset="-122"/>
                <a:cs typeface="Calibri" pitchFamily="34" charset="-120"/>
              </a:rPr>
              <a:t>Recompute values instead of storing them</a:t>
            </a:r>
            <a:endParaRPr lang="en-US" sz="1250" dirty="0"/>
          </a:p>
          <a:p>
            <a:pPr marL="342900" indent="-342900">
              <a:lnSpc>
                <a:spcPts val="1600"/>
              </a:lnSpc>
              <a:spcAft>
                <a:spcPts val="1000"/>
              </a:spcAft>
              <a:buSzPct val="100000"/>
              <a:buChar char="•"/>
            </a:pPr>
            <a:r>
              <a:rPr lang="en-US" sz="1250" dirty="0">
                <a:solidFill>
                  <a:srgbClr val="3A4551"/>
                </a:solidFill>
                <a:latin typeface="Calibri" pitchFamily="34" charset="0"/>
                <a:ea typeface="Calibri" pitchFamily="34" charset="-122"/>
                <a:cs typeface="Calibri" pitchFamily="34" charset="-120"/>
              </a:rPr>
              <a:t>Compressed data: smaller in memory, slower to read</a:t>
            </a:r>
            <a:endParaRPr lang="en-US" sz="1250" dirty="0"/>
          </a:p>
          <a:p>
            <a:pPr marL="342900" indent="-342900">
              <a:lnSpc>
                <a:spcPts val="1600"/>
              </a:lnSpc>
              <a:spcAft>
                <a:spcPts val="1000"/>
              </a:spcAft>
              <a:buSzPct val="100000"/>
              <a:buChar char="•"/>
            </a:pPr>
            <a:r>
              <a:rPr lang="en-US" sz="1250" dirty="0">
                <a:solidFill>
                  <a:srgbClr val="3A4551"/>
                </a:solidFill>
                <a:latin typeface="Calibri" pitchFamily="34" charset="0"/>
                <a:ea typeface="Calibri" pitchFamily="34" charset="-122"/>
                <a:cs typeface="Calibri" pitchFamily="34" charset="-120"/>
              </a:rPr>
              <a:t>In-place algorithms: sort without an auxiliary array</a:t>
            </a:r>
            <a:endParaRPr lang="en-US" sz="1250" dirty="0"/>
          </a:p>
        </p:txBody>
      </p:sp>
      <p:sp>
        <p:nvSpPr>
          <p:cNvPr id="12" name="Shape 10"/>
          <p:cNvSpPr/>
          <p:nvPr/>
        </p:nvSpPr>
        <p:spPr>
          <a:xfrm>
            <a:off x="640080" y="4206240"/>
            <a:ext cx="10908792" cy="1508760"/>
          </a:xfrm>
          <a:prstGeom prst="roundRect">
            <a:avLst>
              <a:gd name="adj" fmla="val 3636"/>
            </a:avLst>
          </a:prstGeom>
          <a:solidFill>
            <a:srgbClr val="1B2129"/>
          </a:solidFill>
          <a:ln/>
          <a:effectLst>
            <a:outerShdw sx="100000" sy="100000" kx="0" ky="0" algn="bl" rotWithShape="0" blurRad="127000" dist="25400" dir="5400000">
              <a:srgbClr val="9AA6B2">
                <a:alpha val="22000"/>
              </a:srgbClr>
            </a:outerShdw>
          </a:effectLst>
        </p:spPr>
      </p:sp>
      <p:sp>
        <p:nvSpPr>
          <p:cNvPr id="13" name="Text 11"/>
          <p:cNvSpPr/>
          <p:nvPr/>
        </p:nvSpPr>
        <p:spPr>
          <a:xfrm>
            <a:off x="914400" y="4389120"/>
            <a:ext cx="4572000" cy="292608"/>
          </a:xfrm>
          <a:prstGeom prst="rect">
            <a:avLst/>
          </a:prstGeom>
          <a:noFill/>
          <a:ln/>
        </p:spPr>
        <p:txBody>
          <a:bodyPr wrap="square" lIns="0" tIns="0" rIns="0" bIns="0" rtlCol="0" anchor="t"/>
          <a:lstStyle/>
          <a:p>
            <a:pPr indent="0" marL="0">
              <a:buNone/>
            </a:pPr>
            <a:r>
              <a:rPr lang="en-US" sz="1400" b="1" dirty="0">
                <a:solidFill>
                  <a:srgbClr val="E8871E"/>
                </a:solidFill>
                <a:latin typeface="Calibri" pitchFamily="34" charset="0"/>
                <a:ea typeface="Calibri" pitchFamily="34" charset="-122"/>
                <a:cs typeface="Calibri" pitchFamily="34" charset="-120"/>
              </a:rPr>
              <a:t>Which do we optimise?</a:t>
            </a:r>
            <a:endParaRPr lang="en-US" sz="1400" dirty="0"/>
          </a:p>
        </p:txBody>
      </p:sp>
      <p:sp>
        <p:nvSpPr>
          <p:cNvPr id="14" name="Text 12"/>
          <p:cNvSpPr/>
          <p:nvPr/>
        </p:nvSpPr>
        <p:spPr>
          <a:xfrm>
            <a:off x="914400" y="4718304"/>
            <a:ext cx="10332720" cy="868680"/>
          </a:xfrm>
          <a:prstGeom prst="rect">
            <a:avLst/>
          </a:prstGeom>
          <a:noFill/>
          <a:ln/>
        </p:spPr>
        <p:txBody>
          <a:bodyPr wrap="square" lIns="0" tIns="0" rIns="0" bIns="0" rtlCol="0" anchor="t"/>
          <a:lstStyle/>
          <a:p>
            <a:pPr indent="0" marL="0">
              <a:lnSpc>
                <a:spcPts val="1800"/>
              </a:lnSpc>
              <a:buNone/>
            </a:pPr>
            <a:r>
              <a:rPr lang="en-US" sz="1300" dirty="0">
                <a:solidFill>
                  <a:srgbClr val="C9D2DC"/>
                </a:solidFill>
                <a:latin typeface="Calibri" pitchFamily="34" charset="0"/>
                <a:ea typeface="Calibri" pitchFamily="34" charset="-122"/>
                <a:cs typeface="Calibri" pitchFamily="34" charset="-120"/>
              </a:rPr>
              <a:t>It depends on the constraint that binds. On a server with 128 GB of RAM, time is scarce and space is cheap. On a microcontroller with 2 KB of RAM, the same trade is reversed. State your constraint first, then choose — and in this course, unless told otherwise, we optimise time.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161C"/>
        </a:solidFill>
      </p:bgPr>
    </p:bg>
    <p:spTree>
      <p:nvGrpSpPr>
        <p:cNvPr id="1" name=""/>
        <p:cNvGrpSpPr/>
        <p:nvPr/>
      </p:nvGrpSpPr>
      <p:grpSpPr>
        <a:xfrm>
          <a:off x="0" y="0"/>
          <a:ext cx="0" cy="0"/>
          <a:chOff x="0" y="0"/>
          <a:chExt cx="0" cy="0"/>
        </a:xfrm>
      </p:grpSpPr>
      <p:sp>
        <p:nvSpPr>
          <p:cNvPr id="2" name="Shape 0"/>
          <p:cNvSpPr/>
          <p:nvPr/>
        </p:nvSpPr>
        <p:spPr>
          <a:xfrm>
            <a:off x="10424160" y="1005840"/>
            <a:ext cx="146304" cy="146304"/>
          </a:xfrm>
          <a:prstGeom prst="ellipse">
            <a:avLst/>
          </a:prstGeom>
          <a:solidFill>
            <a:srgbClr val="E8871E"/>
          </a:solidFill>
          <a:ln/>
        </p:spPr>
      </p:sp>
      <p:sp>
        <p:nvSpPr>
          <p:cNvPr id="3" name="Shape 1"/>
          <p:cNvSpPr/>
          <p:nvPr/>
        </p:nvSpPr>
        <p:spPr>
          <a:xfrm>
            <a:off x="11064240" y="1005840"/>
            <a:ext cx="146304" cy="146304"/>
          </a:xfrm>
          <a:prstGeom prst="ellipse">
            <a:avLst/>
          </a:prstGeom>
          <a:solidFill>
            <a:srgbClr val="2C3742"/>
          </a:solidFill>
          <a:ln/>
        </p:spPr>
      </p:sp>
      <p:sp>
        <p:nvSpPr>
          <p:cNvPr id="4" name="Shape 2"/>
          <p:cNvSpPr/>
          <p:nvPr/>
        </p:nvSpPr>
        <p:spPr>
          <a:xfrm>
            <a:off x="11704320" y="1005840"/>
            <a:ext cx="146304" cy="146304"/>
          </a:xfrm>
          <a:prstGeom prst="ellipse">
            <a:avLst/>
          </a:prstGeom>
          <a:solidFill>
            <a:srgbClr val="2C3742"/>
          </a:solidFill>
          <a:ln/>
        </p:spPr>
      </p:sp>
      <p:sp>
        <p:nvSpPr>
          <p:cNvPr id="5" name="Shape 3"/>
          <p:cNvSpPr/>
          <p:nvPr/>
        </p:nvSpPr>
        <p:spPr>
          <a:xfrm>
            <a:off x="10424160" y="1645920"/>
            <a:ext cx="146304" cy="146304"/>
          </a:xfrm>
          <a:prstGeom prst="ellipse">
            <a:avLst/>
          </a:prstGeom>
          <a:solidFill>
            <a:srgbClr val="2C3742"/>
          </a:solidFill>
          <a:ln/>
        </p:spPr>
      </p:sp>
      <p:sp>
        <p:nvSpPr>
          <p:cNvPr id="6" name="Shape 4"/>
          <p:cNvSpPr/>
          <p:nvPr/>
        </p:nvSpPr>
        <p:spPr>
          <a:xfrm>
            <a:off x="11064240" y="1645920"/>
            <a:ext cx="146304" cy="146304"/>
          </a:xfrm>
          <a:prstGeom prst="ellipse">
            <a:avLst/>
          </a:prstGeom>
          <a:solidFill>
            <a:srgbClr val="E8871E"/>
          </a:solidFill>
          <a:ln/>
        </p:spPr>
      </p:sp>
      <p:sp>
        <p:nvSpPr>
          <p:cNvPr id="7" name="Shape 5"/>
          <p:cNvSpPr/>
          <p:nvPr/>
        </p:nvSpPr>
        <p:spPr>
          <a:xfrm>
            <a:off x="11704320" y="1645920"/>
            <a:ext cx="146304" cy="146304"/>
          </a:xfrm>
          <a:prstGeom prst="ellipse">
            <a:avLst/>
          </a:prstGeom>
          <a:solidFill>
            <a:srgbClr val="2C3742"/>
          </a:solidFill>
          <a:ln/>
        </p:spPr>
      </p:sp>
      <p:sp>
        <p:nvSpPr>
          <p:cNvPr id="8" name="Shape 6"/>
          <p:cNvSpPr/>
          <p:nvPr/>
        </p:nvSpPr>
        <p:spPr>
          <a:xfrm>
            <a:off x="10424160" y="2286000"/>
            <a:ext cx="146304" cy="146304"/>
          </a:xfrm>
          <a:prstGeom prst="ellipse">
            <a:avLst/>
          </a:prstGeom>
          <a:solidFill>
            <a:srgbClr val="2C3742"/>
          </a:solidFill>
          <a:ln/>
        </p:spPr>
      </p:sp>
      <p:sp>
        <p:nvSpPr>
          <p:cNvPr id="9" name="Shape 7"/>
          <p:cNvSpPr/>
          <p:nvPr/>
        </p:nvSpPr>
        <p:spPr>
          <a:xfrm>
            <a:off x="11064240" y="2286000"/>
            <a:ext cx="146304" cy="146304"/>
          </a:xfrm>
          <a:prstGeom prst="ellipse">
            <a:avLst/>
          </a:prstGeom>
          <a:solidFill>
            <a:srgbClr val="2C3742"/>
          </a:solidFill>
          <a:ln/>
        </p:spPr>
      </p:sp>
      <p:sp>
        <p:nvSpPr>
          <p:cNvPr id="10" name="Shape 8"/>
          <p:cNvSpPr/>
          <p:nvPr/>
        </p:nvSpPr>
        <p:spPr>
          <a:xfrm>
            <a:off x="11704320" y="2286000"/>
            <a:ext cx="146304" cy="146304"/>
          </a:xfrm>
          <a:prstGeom prst="ellipse">
            <a:avLst/>
          </a:prstGeom>
          <a:solidFill>
            <a:srgbClr val="E8871E"/>
          </a:solidFill>
          <a:ln/>
        </p:spPr>
      </p:sp>
      <p:sp>
        <p:nvSpPr>
          <p:cNvPr id="11" name="Shape 9"/>
          <p:cNvSpPr/>
          <p:nvPr/>
        </p:nvSpPr>
        <p:spPr>
          <a:xfrm>
            <a:off x="640080" y="2286000"/>
            <a:ext cx="786384" cy="786384"/>
          </a:xfrm>
          <a:prstGeom prst="ellipse">
            <a:avLst/>
          </a:prstGeom>
          <a:solidFill>
            <a:srgbClr val="E8871E"/>
          </a:solidFill>
          <a:ln/>
        </p:spPr>
      </p:sp>
      <p:sp>
        <p:nvSpPr>
          <p:cNvPr id="12" name="Text 10"/>
          <p:cNvSpPr/>
          <p:nvPr/>
        </p:nvSpPr>
        <p:spPr>
          <a:xfrm>
            <a:off x="640080" y="2286000"/>
            <a:ext cx="786384" cy="786384"/>
          </a:xfrm>
          <a:prstGeom prst="rect">
            <a:avLst/>
          </a:prstGeom>
          <a:noFill/>
          <a:ln/>
        </p:spPr>
        <p:txBody>
          <a:bodyPr wrap="square" lIns="0" tIns="0" rIns="0" bIns="0" rtlCol="0" anchor="ctr"/>
          <a:lstStyle/>
          <a:p>
            <a:pPr algn="ctr" indent="0" marL="0">
              <a:buNone/>
            </a:pPr>
            <a:r>
              <a:rPr lang="en-US" sz="3000" b="1" dirty="0">
                <a:solidFill>
                  <a:srgbClr val="12161C"/>
                </a:solidFill>
                <a:latin typeface="Calibri" pitchFamily="34" charset="0"/>
                <a:ea typeface="Calibri" pitchFamily="34" charset="-122"/>
                <a:cs typeface="Calibri" pitchFamily="34" charset="-120"/>
              </a:rPr>
              <a:t>03</a:t>
            </a:r>
            <a:endParaRPr lang="en-US" sz="3000" dirty="0"/>
          </a:p>
        </p:txBody>
      </p:sp>
      <p:sp>
        <p:nvSpPr>
          <p:cNvPr id="13" name="Text 11"/>
          <p:cNvSpPr/>
          <p:nvPr/>
        </p:nvSpPr>
        <p:spPr>
          <a:xfrm>
            <a:off x="640080" y="3246120"/>
            <a:ext cx="9601200" cy="8229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Best, Average and Worst Case</a:t>
            </a:r>
            <a:endParaRPr lang="en-US" sz="3800" dirty="0"/>
          </a:p>
        </p:txBody>
      </p:sp>
      <p:sp>
        <p:nvSpPr>
          <p:cNvPr id="14" name="Text 12"/>
          <p:cNvSpPr/>
          <p:nvPr/>
        </p:nvSpPr>
        <p:spPr>
          <a:xfrm>
            <a:off x="640080" y="4114800"/>
            <a:ext cx="8778240" cy="731520"/>
          </a:xfrm>
          <a:prstGeom prst="rect">
            <a:avLst/>
          </a:prstGeom>
          <a:noFill/>
          <a:ln/>
        </p:spPr>
        <p:txBody>
          <a:bodyPr wrap="square" lIns="0" tIns="0" rIns="0" bIns="0" rtlCol="0" anchor="t"/>
          <a:lstStyle/>
          <a:p>
            <a:pPr indent="0" marL="0">
              <a:buNone/>
            </a:pPr>
            <a:r>
              <a:rPr lang="en-US" sz="1600" dirty="0">
                <a:solidFill>
                  <a:srgbClr val="AAB4C0"/>
                </a:solidFill>
                <a:latin typeface="Calibri" pitchFamily="34" charset="0"/>
                <a:ea typeface="Calibri" pitchFamily="34" charset="-122"/>
                <a:cs typeface="Calibri" pitchFamily="34" charset="-120"/>
              </a:rPr>
              <a:t>One algorithm, three different answers — depending on which input it meets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CASE ANALYSIS</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Three ways to describe one algorithm</a:t>
            </a:r>
            <a:endParaRPr lang="en-US" sz="3000" dirty="0"/>
          </a:p>
        </p:txBody>
      </p:sp>
      <p:sp>
        <p:nvSpPr>
          <p:cNvPr id="4" name="Shape 2"/>
          <p:cNvSpPr/>
          <p:nvPr/>
        </p:nvSpPr>
        <p:spPr>
          <a:xfrm>
            <a:off x="640080" y="1298448"/>
            <a:ext cx="3456432" cy="3703320"/>
          </a:xfrm>
          <a:prstGeom prst="roundRect">
            <a:avLst>
              <a:gd name="adj" fmla="val 1587"/>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5" name="Shape 3"/>
          <p:cNvSpPr/>
          <p:nvPr/>
        </p:nvSpPr>
        <p:spPr>
          <a:xfrm>
            <a:off x="640080" y="1298448"/>
            <a:ext cx="3456432" cy="749808"/>
          </a:xfrm>
          <a:prstGeom prst="roundRect">
            <a:avLst>
              <a:gd name="adj" fmla="val 7317"/>
            </a:avLst>
          </a:prstGeom>
          <a:solidFill>
            <a:srgbClr val="E2F0EA"/>
          </a:solidFill>
          <a:ln/>
        </p:spPr>
      </p:sp>
      <p:sp>
        <p:nvSpPr>
          <p:cNvPr id="6" name="Text 4"/>
          <p:cNvSpPr/>
          <p:nvPr/>
        </p:nvSpPr>
        <p:spPr>
          <a:xfrm>
            <a:off x="896112" y="1371600"/>
            <a:ext cx="2377440" cy="310896"/>
          </a:xfrm>
          <a:prstGeom prst="rect">
            <a:avLst/>
          </a:prstGeom>
          <a:noFill/>
          <a:ln/>
        </p:spPr>
        <p:txBody>
          <a:bodyPr wrap="square" lIns="0" tIns="0" rIns="0" bIns="0" rtlCol="0" anchor="t"/>
          <a:lstStyle/>
          <a:p>
            <a:pPr indent="0" marL="0">
              <a:buNone/>
            </a:pPr>
            <a:r>
              <a:rPr lang="en-US" sz="1700" b="1" dirty="0">
                <a:solidFill>
                  <a:srgbClr val="2E7D5B"/>
                </a:solidFill>
                <a:latin typeface="Cambria" pitchFamily="34" charset="0"/>
                <a:ea typeface="Cambria" pitchFamily="34" charset="-122"/>
                <a:cs typeface="Cambria" pitchFamily="34" charset="-120"/>
              </a:rPr>
              <a:t>Best case</a:t>
            </a:r>
            <a:endParaRPr lang="en-US" sz="1700" dirty="0"/>
          </a:p>
        </p:txBody>
      </p:sp>
      <p:sp>
        <p:nvSpPr>
          <p:cNvPr id="7" name="Text 5"/>
          <p:cNvSpPr/>
          <p:nvPr/>
        </p:nvSpPr>
        <p:spPr>
          <a:xfrm>
            <a:off x="896112" y="1700784"/>
            <a:ext cx="2377440" cy="256032"/>
          </a:xfrm>
          <a:prstGeom prst="rect">
            <a:avLst/>
          </a:prstGeom>
          <a:noFill/>
          <a:ln/>
        </p:spPr>
        <p:txBody>
          <a:bodyPr wrap="square" lIns="0" tIns="0" rIns="0" bIns="0" rtlCol="0" anchor="t"/>
          <a:lstStyle/>
          <a:p>
            <a:pPr indent="0" marL="0">
              <a:buNone/>
            </a:pPr>
            <a:r>
              <a:rPr lang="en-US" sz="1200" dirty="0">
                <a:solidFill>
                  <a:srgbClr val="2E7D5B"/>
                </a:solidFill>
                <a:latin typeface="Courier New" pitchFamily="34" charset="0"/>
                <a:ea typeface="Courier New" pitchFamily="34" charset="-122"/>
                <a:cs typeface="Courier New" pitchFamily="34" charset="-120"/>
              </a:rPr>
              <a:t>B(n)</a:t>
            </a:r>
            <a:endParaRPr lang="en-US" sz="1200" dirty="0"/>
          </a:p>
        </p:txBody>
      </p:sp>
      <p:sp>
        <p:nvSpPr>
          <p:cNvPr id="8" name="Text 6"/>
          <p:cNvSpPr/>
          <p:nvPr/>
        </p:nvSpPr>
        <p:spPr>
          <a:xfrm>
            <a:off x="896112" y="2212848"/>
            <a:ext cx="2971800" cy="685800"/>
          </a:xfrm>
          <a:prstGeom prst="rect">
            <a:avLst/>
          </a:prstGeom>
          <a:noFill/>
          <a:ln/>
        </p:spPr>
        <p:txBody>
          <a:bodyPr wrap="square" lIns="0" tIns="0" rIns="0" bIns="0" rtlCol="0" anchor="t"/>
          <a:lstStyle/>
          <a:p>
            <a:pPr indent="0" marL="0">
              <a:lnSpc>
                <a:spcPts val="1600"/>
              </a:lnSpc>
              <a:buNone/>
            </a:pPr>
            <a:r>
              <a:rPr lang="en-US" sz="1250" b="1" dirty="0">
                <a:solidFill>
                  <a:srgbClr val="12161C"/>
                </a:solidFill>
                <a:latin typeface="Calibri" pitchFamily="34" charset="0"/>
                <a:ea typeface="Calibri" pitchFamily="34" charset="-122"/>
                <a:cs typeface="Calibri" pitchFamily="34" charset="-120"/>
              </a:rPr>
              <a:t>The minimum number of steps over all inputs of size n.</a:t>
            </a:r>
            <a:endParaRPr lang="en-US" sz="1250" dirty="0"/>
          </a:p>
        </p:txBody>
      </p:sp>
      <p:sp>
        <p:nvSpPr>
          <p:cNvPr id="9" name="Text 7"/>
          <p:cNvSpPr/>
          <p:nvPr/>
        </p:nvSpPr>
        <p:spPr>
          <a:xfrm>
            <a:off x="896112" y="2971800"/>
            <a:ext cx="2971800" cy="960120"/>
          </a:xfrm>
          <a:prstGeom prst="rect">
            <a:avLst/>
          </a:prstGeom>
          <a:noFill/>
          <a:ln/>
        </p:spPr>
        <p:txBody>
          <a:bodyPr wrap="square" lIns="0" tIns="0" rIns="0" bIns="0" rtlCol="0" anchor="t"/>
          <a:lstStyle/>
          <a:p>
            <a:pPr indent="0" marL="0">
              <a:lnSpc>
                <a:spcPts val="1600"/>
              </a:lnSpc>
              <a:buNone/>
            </a:pPr>
            <a:r>
              <a:rPr lang="en-US" sz="1200" dirty="0">
                <a:solidFill>
                  <a:srgbClr val="6B7784"/>
                </a:solidFill>
                <a:latin typeface="Calibri" pitchFamily="34" charset="0"/>
                <a:ea typeface="Calibri" pitchFamily="34" charset="-122"/>
                <a:cs typeface="Calibri" pitchFamily="34" charset="-120"/>
              </a:rPr>
              <a:t>The luckiest input. Rarely useful on its own — it can flatter a bad algorithm.</a:t>
            </a:r>
            <a:endParaRPr lang="en-US" sz="1200" dirty="0"/>
          </a:p>
        </p:txBody>
      </p:sp>
      <p:sp>
        <p:nvSpPr>
          <p:cNvPr id="10" name="Shape 8"/>
          <p:cNvSpPr/>
          <p:nvPr/>
        </p:nvSpPr>
        <p:spPr>
          <a:xfrm>
            <a:off x="896112" y="4041648"/>
            <a:ext cx="2944368" cy="777240"/>
          </a:xfrm>
          <a:prstGeom prst="roundRect">
            <a:avLst>
              <a:gd name="adj" fmla="val 7059"/>
            </a:avLst>
          </a:prstGeom>
          <a:solidFill>
            <a:srgbClr val="F4F6F8"/>
          </a:solidFill>
          <a:ln/>
        </p:spPr>
      </p:sp>
      <p:sp>
        <p:nvSpPr>
          <p:cNvPr id="11" name="Text 9"/>
          <p:cNvSpPr/>
          <p:nvPr/>
        </p:nvSpPr>
        <p:spPr>
          <a:xfrm>
            <a:off x="1042416" y="4041648"/>
            <a:ext cx="2697480" cy="777240"/>
          </a:xfrm>
          <a:prstGeom prst="rect">
            <a:avLst/>
          </a:prstGeom>
          <a:noFill/>
          <a:ln/>
        </p:spPr>
        <p:txBody>
          <a:bodyPr wrap="square" lIns="0" tIns="0" rIns="0" bIns="0" rtlCol="0" anchor="ctr"/>
          <a:lstStyle/>
          <a:p>
            <a:pPr indent="0" marL="0">
              <a:lnSpc>
                <a:spcPts val="1500"/>
              </a:lnSpc>
              <a:buNone/>
            </a:pPr>
            <a:r>
              <a:rPr lang="en-US" sz="1150" dirty="0">
                <a:solidFill>
                  <a:srgbClr val="3A4551"/>
                </a:solidFill>
                <a:latin typeface="Calibri" pitchFamily="34" charset="0"/>
                <a:ea typeface="Calibri" pitchFamily="34" charset="-122"/>
                <a:cs typeface="Calibri" pitchFamily="34" charset="-120"/>
              </a:rPr>
              <a:t>In linear search: key found at the very first position</a:t>
            </a:r>
            <a:endParaRPr lang="en-US" sz="1150" dirty="0"/>
          </a:p>
        </p:txBody>
      </p:sp>
      <p:sp>
        <p:nvSpPr>
          <p:cNvPr id="12" name="Shape 10"/>
          <p:cNvSpPr/>
          <p:nvPr/>
        </p:nvSpPr>
        <p:spPr>
          <a:xfrm>
            <a:off x="4370832" y="1298448"/>
            <a:ext cx="3456432" cy="3703320"/>
          </a:xfrm>
          <a:prstGeom prst="roundRect">
            <a:avLst>
              <a:gd name="adj" fmla="val 1587"/>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13" name="Shape 11"/>
          <p:cNvSpPr/>
          <p:nvPr/>
        </p:nvSpPr>
        <p:spPr>
          <a:xfrm>
            <a:off x="4370832" y="1298448"/>
            <a:ext cx="3456432" cy="749808"/>
          </a:xfrm>
          <a:prstGeom prst="roundRect">
            <a:avLst>
              <a:gd name="adj" fmla="val 7317"/>
            </a:avLst>
          </a:prstGeom>
          <a:solidFill>
            <a:srgbClr val="FDF0E0"/>
          </a:solidFill>
          <a:ln/>
        </p:spPr>
      </p:sp>
      <p:sp>
        <p:nvSpPr>
          <p:cNvPr id="14" name="Text 12"/>
          <p:cNvSpPr/>
          <p:nvPr/>
        </p:nvSpPr>
        <p:spPr>
          <a:xfrm>
            <a:off x="4626864" y="1371600"/>
            <a:ext cx="2377440" cy="310896"/>
          </a:xfrm>
          <a:prstGeom prst="rect">
            <a:avLst/>
          </a:prstGeom>
          <a:noFill/>
          <a:ln/>
        </p:spPr>
        <p:txBody>
          <a:bodyPr wrap="square" lIns="0" tIns="0" rIns="0" bIns="0" rtlCol="0" anchor="t"/>
          <a:lstStyle/>
          <a:p>
            <a:pPr indent="0" marL="0">
              <a:buNone/>
            </a:pPr>
            <a:r>
              <a:rPr lang="en-US" sz="1700" b="1" dirty="0">
                <a:solidFill>
                  <a:srgbClr val="A85F0C"/>
                </a:solidFill>
                <a:latin typeface="Cambria" pitchFamily="34" charset="0"/>
                <a:ea typeface="Cambria" pitchFamily="34" charset="-122"/>
                <a:cs typeface="Cambria" pitchFamily="34" charset="-120"/>
              </a:rPr>
              <a:t>Average case</a:t>
            </a:r>
            <a:endParaRPr lang="en-US" sz="1700" dirty="0"/>
          </a:p>
        </p:txBody>
      </p:sp>
      <p:sp>
        <p:nvSpPr>
          <p:cNvPr id="15" name="Text 13"/>
          <p:cNvSpPr/>
          <p:nvPr/>
        </p:nvSpPr>
        <p:spPr>
          <a:xfrm>
            <a:off x="4626864" y="1700784"/>
            <a:ext cx="2377440" cy="256032"/>
          </a:xfrm>
          <a:prstGeom prst="rect">
            <a:avLst/>
          </a:prstGeom>
          <a:noFill/>
          <a:ln/>
        </p:spPr>
        <p:txBody>
          <a:bodyPr wrap="square" lIns="0" tIns="0" rIns="0" bIns="0" rtlCol="0" anchor="t"/>
          <a:lstStyle/>
          <a:p>
            <a:pPr indent="0" marL="0">
              <a:buNone/>
            </a:pPr>
            <a:r>
              <a:rPr lang="en-US" sz="1200" dirty="0">
                <a:solidFill>
                  <a:srgbClr val="A85F0C"/>
                </a:solidFill>
                <a:latin typeface="Courier New" pitchFamily="34" charset="0"/>
                <a:ea typeface="Courier New" pitchFamily="34" charset="-122"/>
                <a:cs typeface="Courier New" pitchFamily="34" charset="-120"/>
              </a:rPr>
              <a:t>A(n)</a:t>
            </a:r>
            <a:endParaRPr lang="en-US" sz="1200" dirty="0"/>
          </a:p>
        </p:txBody>
      </p:sp>
      <p:sp>
        <p:nvSpPr>
          <p:cNvPr id="16" name="Text 14"/>
          <p:cNvSpPr/>
          <p:nvPr/>
        </p:nvSpPr>
        <p:spPr>
          <a:xfrm>
            <a:off x="4626864" y="2212848"/>
            <a:ext cx="2971800" cy="685800"/>
          </a:xfrm>
          <a:prstGeom prst="rect">
            <a:avLst/>
          </a:prstGeom>
          <a:noFill/>
          <a:ln/>
        </p:spPr>
        <p:txBody>
          <a:bodyPr wrap="square" lIns="0" tIns="0" rIns="0" bIns="0" rtlCol="0" anchor="t"/>
          <a:lstStyle/>
          <a:p>
            <a:pPr indent="0" marL="0">
              <a:lnSpc>
                <a:spcPts val="1600"/>
              </a:lnSpc>
              <a:buNone/>
            </a:pPr>
            <a:r>
              <a:rPr lang="en-US" sz="1250" b="1" dirty="0">
                <a:solidFill>
                  <a:srgbClr val="12161C"/>
                </a:solidFill>
                <a:latin typeface="Calibri" pitchFamily="34" charset="0"/>
                <a:ea typeface="Calibri" pitchFamily="34" charset="-122"/>
                <a:cs typeface="Calibri" pitchFamily="34" charset="-120"/>
              </a:rPr>
              <a:t>The expected number of steps, averaged over all inputs of size n.</a:t>
            </a:r>
            <a:endParaRPr lang="en-US" sz="1250" dirty="0"/>
          </a:p>
        </p:txBody>
      </p:sp>
      <p:sp>
        <p:nvSpPr>
          <p:cNvPr id="17" name="Text 15"/>
          <p:cNvSpPr/>
          <p:nvPr/>
        </p:nvSpPr>
        <p:spPr>
          <a:xfrm>
            <a:off x="4626864" y="2971800"/>
            <a:ext cx="2971800" cy="960120"/>
          </a:xfrm>
          <a:prstGeom prst="rect">
            <a:avLst/>
          </a:prstGeom>
          <a:noFill/>
          <a:ln/>
        </p:spPr>
        <p:txBody>
          <a:bodyPr wrap="square" lIns="0" tIns="0" rIns="0" bIns="0" rtlCol="0" anchor="t"/>
          <a:lstStyle/>
          <a:p>
            <a:pPr indent="0" marL="0">
              <a:lnSpc>
                <a:spcPts val="1600"/>
              </a:lnSpc>
              <a:buNone/>
            </a:pPr>
            <a:r>
              <a:rPr lang="en-US" sz="1200" dirty="0">
                <a:solidFill>
                  <a:srgbClr val="6B7784"/>
                </a:solidFill>
                <a:latin typeface="Calibri" pitchFamily="34" charset="0"/>
                <a:ea typeface="Calibri" pitchFamily="34" charset="-122"/>
                <a:cs typeface="Calibri" pitchFamily="34" charset="-120"/>
              </a:rPr>
              <a:t>The most realistic, but the hardest — it needs an assumption about how inputs are distributed.</a:t>
            </a:r>
            <a:endParaRPr lang="en-US" sz="1200" dirty="0"/>
          </a:p>
        </p:txBody>
      </p:sp>
      <p:sp>
        <p:nvSpPr>
          <p:cNvPr id="18" name="Shape 16"/>
          <p:cNvSpPr/>
          <p:nvPr/>
        </p:nvSpPr>
        <p:spPr>
          <a:xfrm>
            <a:off x="4626864" y="4041648"/>
            <a:ext cx="2944368" cy="777240"/>
          </a:xfrm>
          <a:prstGeom prst="roundRect">
            <a:avLst>
              <a:gd name="adj" fmla="val 7059"/>
            </a:avLst>
          </a:prstGeom>
          <a:solidFill>
            <a:srgbClr val="F4F6F8"/>
          </a:solidFill>
          <a:ln/>
        </p:spPr>
      </p:sp>
      <p:sp>
        <p:nvSpPr>
          <p:cNvPr id="19" name="Text 17"/>
          <p:cNvSpPr/>
          <p:nvPr/>
        </p:nvSpPr>
        <p:spPr>
          <a:xfrm>
            <a:off x="4773168" y="4041648"/>
            <a:ext cx="2697480" cy="777240"/>
          </a:xfrm>
          <a:prstGeom prst="rect">
            <a:avLst/>
          </a:prstGeom>
          <a:noFill/>
          <a:ln/>
        </p:spPr>
        <p:txBody>
          <a:bodyPr wrap="square" lIns="0" tIns="0" rIns="0" bIns="0" rtlCol="0" anchor="ctr"/>
          <a:lstStyle/>
          <a:p>
            <a:pPr indent="0" marL="0">
              <a:lnSpc>
                <a:spcPts val="1500"/>
              </a:lnSpc>
              <a:buNone/>
            </a:pPr>
            <a:r>
              <a:rPr lang="en-US" sz="1150" dirty="0">
                <a:solidFill>
                  <a:srgbClr val="3A4551"/>
                </a:solidFill>
                <a:latin typeface="Calibri" pitchFamily="34" charset="0"/>
                <a:ea typeface="Calibri" pitchFamily="34" charset="-122"/>
                <a:cs typeface="Calibri" pitchFamily="34" charset="-120"/>
              </a:rPr>
              <a:t>In linear search: key equally likely at any position</a:t>
            </a:r>
            <a:endParaRPr lang="en-US" sz="1150" dirty="0"/>
          </a:p>
        </p:txBody>
      </p:sp>
      <p:sp>
        <p:nvSpPr>
          <p:cNvPr id="20" name="Shape 18"/>
          <p:cNvSpPr/>
          <p:nvPr/>
        </p:nvSpPr>
        <p:spPr>
          <a:xfrm>
            <a:off x="8101584" y="1298448"/>
            <a:ext cx="3456432" cy="3703320"/>
          </a:xfrm>
          <a:prstGeom prst="roundRect">
            <a:avLst>
              <a:gd name="adj" fmla="val 1587"/>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21" name="Shape 19"/>
          <p:cNvSpPr/>
          <p:nvPr/>
        </p:nvSpPr>
        <p:spPr>
          <a:xfrm>
            <a:off x="8101584" y="1298448"/>
            <a:ext cx="3456432" cy="749808"/>
          </a:xfrm>
          <a:prstGeom prst="roundRect">
            <a:avLst>
              <a:gd name="adj" fmla="val 7317"/>
            </a:avLst>
          </a:prstGeom>
          <a:solidFill>
            <a:srgbClr val="FAE6E4"/>
          </a:solidFill>
          <a:ln/>
        </p:spPr>
      </p:sp>
      <p:sp>
        <p:nvSpPr>
          <p:cNvPr id="22" name="Text 20"/>
          <p:cNvSpPr/>
          <p:nvPr/>
        </p:nvSpPr>
        <p:spPr>
          <a:xfrm>
            <a:off x="8357616" y="1371600"/>
            <a:ext cx="2377440" cy="310896"/>
          </a:xfrm>
          <a:prstGeom prst="rect">
            <a:avLst/>
          </a:prstGeom>
          <a:noFill/>
          <a:ln/>
        </p:spPr>
        <p:txBody>
          <a:bodyPr wrap="square" lIns="0" tIns="0" rIns="0" bIns="0" rtlCol="0" anchor="t"/>
          <a:lstStyle/>
          <a:p>
            <a:pPr indent="0" marL="0">
              <a:buNone/>
            </a:pPr>
            <a:r>
              <a:rPr lang="en-US" sz="1700" b="1" dirty="0">
                <a:solidFill>
                  <a:srgbClr val="B3261E"/>
                </a:solidFill>
                <a:latin typeface="Cambria" pitchFamily="34" charset="0"/>
                <a:ea typeface="Cambria" pitchFamily="34" charset="-122"/>
                <a:cs typeface="Cambria" pitchFamily="34" charset="-120"/>
              </a:rPr>
              <a:t>Worst case</a:t>
            </a:r>
            <a:endParaRPr lang="en-US" sz="1700" dirty="0"/>
          </a:p>
        </p:txBody>
      </p:sp>
      <p:sp>
        <p:nvSpPr>
          <p:cNvPr id="23" name="Text 21"/>
          <p:cNvSpPr/>
          <p:nvPr/>
        </p:nvSpPr>
        <p:spPr>
          <a:xfrm>
            <a:off x="8357616" y="1700784"/>
            <a:ext cx="2377440" cy="256032"/>
          </a:xfrm>
          <a:prstGeom prst="rect">
            <a:avLst/>
          </a:prstGeom>
          <a:noFill/>
          <a:ln/>
        </p:spPr>
        <p:txBody>
          <a:bodyPr wrap="square" lIns="0" tIns="0" rIns="0" bIns="0" rtlCol="0" anchor="t"/>
          <a:lstStyle/>
          <a:p>
            <a:pPr indent="0" marL="0">
              <a:buNone/>
            </a:pPr>
            <a:r>
              <a:rPr lang="en-US" sz="1200" dirty="0">
                <a:solidFill>
                  <a:srgbClr val="B3261E"/>
                </a:solidFill>
                <a:latin typeface="Courier New" pitchFamily="34" charset="0"/>
                <a:ea typeface="Courier New" pitchFamily="34" charset="-122"/>
                <a:cs typeface="Courier New" pitchFamily="34" charset="-120"/>
              </a:rPr>
              <a:t>W(n)</a:t>
            </a:r>
            <a:endParaRPr lang="en-US" sz="1200" dirty="0"/>
          </a:p>
        </p:txBody>
      </p:sp>
      <p:sp>
        <p:nvSpPr>
          <p:cNvPr id="24" name="Text 22"/>
          <p:cNvSpPr/>
          <p:nvPr/>
        </p:nvSpPr>
        <p:spPr>
          <a:xfrm>
            <a:off x="8357616" y="2212848"/>
            <a:ext cx="2971800" cy="685800"/>
          </a:xfrm>
          <a:prstGeom prst="rect">
            <a:avLst/>
          </a:prstGeom>
          <a:noFill/>
          <a:ln/>
        </p:spPr>
        <p:txBody>
          <a:bodyPr wrap="square" lIns="0" tIns="0" rIns="0" bIns="0" rtlCol="0" anchor="t"/>
          <a:lstStyle/>
          <a:p>
            <a:pPr indent="0" marL="0">
              <a:lnSpc>
                <a:spcPts val="1600"/>
              </a:lnSpc>
              <a:buNone/>
            </a:pPr>
            <a:r>
              <a:rPr lang="en-US" sz="1250" b="1" dirty="0">
                <a:solidFill>
                  <a:srgbClr val="12161C"/>
                </a:solidFill>
                <a:latin typeface="Calibri" pitchFamily="34" charset="0"/>
                <a:ea typeface="Calibri" pitchFamily="34" charset="-122"/>
                <a:cs typeface="Calibri" pitchFamily="34" charset="-120"/>
              </a:rPr>
              <a:t>The maximum number of steps over all inputs of size n.</a:t>
            </a:r>
            <a:endParaRPr lang="en-US" sz="1250" dirty="0"/>
          </a:p>
        </p:txBody>
      </p:sp>
      <p:sp>
        <p:nvSpPr>
          <p:cNvPr id="25" name="Text 23"/>
          <p:cNvSpPr/>
          <p:nvPr/>
        </p:nvSpPr>
        <p:spPr>
          <a:xfrm>
            <a:off x="8357616" y="2971800"/>
            <a:ext cx="2971800" cy="960120"/>
          </a:xfrm>
          <a:prstGeom prst="rect">
            <a:avLst/>
          </a:prstGeom>
          <a:noFill/>
          <a:ln/>
        </p:spPr>
        <p:txBody>
          <a:bodyPr wrap="square" lIns="0" tIns="0" rIns="0" bIns="0" rtlCol="0" anchor="t"/>
          <a:lstStyle/>
          <a:p>
            <a:pPr indent="0" marL="0">
              <a:lnSpc>
                <a:spcPts val="1600"/>
              </a:lnSpc>
              <a:buNone/>
            </a:pPr>
            <a:r>
              <a:rPr lang="en-US" sz="1200" dirty="0">
                <a:solidFill>
                  <a:srgbClr val="6B7784"/>
                </a:solidFill>
                <a:latin typeface="Calibri" pitchFamily="34" charset="0"/>
                <a:ea typeface="Calibri" pitchFamily="34" charset="-122"/>
                <a:cs typeface="Calibri" pitchFamily="34" charset="-120"/>
              </a:rPr>
              <a:t>A guarantee: performance will never be worse than this. The default in this course.</a:t>
            </a:r>
            <a:endParaRPr lang="en-US" sz="1200" dirty="0"/>
          </a:p>
        </p:txBody>
      </p:sp>
      <p:sp>
        <p:nvSpPr>
          <p:cNvPr id="26" name="Shape 24"/>
          <p:cNvSpPr/>
          <p:nvPr/>
        </p:nvSpPr>
        <p:spPr>
          <a:xfrm>
            <a:off x="8357616" y="4041648"/>
            <a:ext cx="2944368" cy="777240"/>
          </a:xfrm>
          <a:prstGeom prst="roundRect">
            <a:avLst>
              <a:gd name="adj" fmla="val 7059"/>
            </a:avLst>
          </a:prstGeom>
          <a:solidFill>
            <a:srgbClr val="F4F6F8"/>
          </a:solidFill>
          <a:ln/>
        </p:spPr>
      </p:sp>
      <p:sp>
        <p:nvSpPr>
          <p:cNvPr id="27" name="Text 25"/>
          <p:cNvSpPr/>
          <p:nvPr/>
        </p:nvSpPr>
        <p:spPr>
          <a:xfrm>
            <a:off x="8503920" y="4041648"/>
            <a:ext cx="2697480" cy="777240"/>
          </a:xfrm>
          <a:prstGeom prst="rect">
            <a:avLst/>
          </a:prstGeom>
          <a:noFill/>
          <a:ln/>
        </p:spPr>
        <p:txBody>
          <a:bodyPr wrap="square" lIns="0" tIns="0" rIns="0" bIns="0" rtlCol="0" anchor="ctr"/>
          <a:lstStyle/>
          <a:p>
            <a:pPr indent="0" marL="0">
              <a:lnSpc>
                <a:spcPts val="1500"/>
              </a:lnSpc>
              <a:buNone/>
            </a:pPr>
            <a:r>
              <a:rPr lang="en-US" sz="1150" dirty="0">
                <a:solidFill>
                  <a:srgbClr val="3A4551"/>
                </a:solidFill>
                <a:latin typeface="Calibri" pitchFamily="34" charset="0"/>
                <a:ea typeface="Calibri" pitchFamily="34" charset="-122"/>
                <a:cs typeface="Calibri" pitchFamily="34" charset="-120"/>
              </a:rPr>
              <a:t>In linear search: key at the last position, or absent</a:t>
            </a:r>
            <a:endParaRPr lang="en-US" sz="1150" dirty="0"/>
          </a:p>
        </p:txBody>
      </p:sp>
      <p:sp>
        <p:nvSpPr>
          <p:cNvPr id="28" name="Shape 26"/>
          <p:cNvSpPr/>
          <p:nvPr/>
        </p:nvSpPr>
        <p:spPr>
          <a:xfrm>
            <a:off x="640080" y="5166360"/>
            <a:ext cx="10908792" cy="658368"/>
          </a:xfrm>
          <a:prstGeom prst="roundRect">
            <a:avLst>
              <a:gd name="adj" fmla="val 8333"/>
            </a:avLst>
          </a:prstGeom>
          <a:solidFill>
            <a:srgbClr val="1B2129"/>
          </a:solidFill>
          <a:ln/>
          <a:effectLst>
            <a:outerShdw sx="100000" sy="100000" kx="0" ky="0" algn="bl" rotWithShape="0" blurRad="127000" dist="25400" dir="5400000">
              <a:srgbClr val="9AA6B2">
                <a:alpha val="22000"/>
              </a:srgbClr>
            </a:outerShdw>
          </a:effectLst>
        </p:spPr>
      </p:sp>
      <p:sp>
        <p:nvSpPr>
          <p:cNvPr id="29" name="Text 27"/>
          <p:cNvSpPr/>
          <p:nvPr/>
        </p:nvSpPr>
        <p:spPr>
          <a:xfrm>
            <a:off x="914400" y="5166360"/>
            <a:ext cx="10332720" cy="658368"/>
          </a:xfrm>
          <a:prstGeom prst="rect">
            <a:avLst/>
          </a:prstGeom>
          <a:noFill/>
          <a:ln/>
        </p:spPr>
        <p:txBody>
          <a:bodyPr wrap="square" lIns="0" tIns="0" rIns="0" bIns="0" rtlCol="0" anchor="ctr"/>
          <a:lstStyle/>
          <a:p>
            <a:pPr indent="0" marL="0">
              <a:buNone/>
            </a:pPr>
            <a:r>
              <a:rPr lang="en-US" sz="1300" dirty="0">
                <a:solidFill>
                  <a:srgbClr val="D8DEE6"/>
                </a:solidFill>
                <a:latin typeface="Calibri" pitchFamily="34" charset="0"/>
                <a:ea typeface="Calibri" pitchFamily="34" charset="-122"/>
                <a:cs typeface="Calibri" pitchFamily="34" charset="-120"/>
              </a:rPr>
              <a:t>Always ask two questions: what is the input size n, and which input of that size is being assumed?</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NUMERICAL EXAMPLE</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Case analysis of Linear Search</a:t>
            </a:r>
            <a:endParaRPr lang="en-US" sz="3000" dirty="0"/>
          </a:p>
        </p:txBody>
      </p:sp>
      <p:sp>
        <p:nvSpPr>
          <p:cNvPr id="4" name="Shape 2"/>
          <p:cNvSpPr/>
          <p:nvPr/>
        </p:nvSpPr>
        <p:spPr>
          <a:xfrm>
            <a:off x="640080" y="1298448"/>
            <a:ext cx="4846320" cy="1680845"/>
          </a:xfrm>
          <a:prstGeom prst="roundRect">
            <a:avLst>
              <a:gd name="adj" fmla="val 2720"/>
            </a:avLst>
          </a:prstGeom>
          <a:solidFill>
            <a:srgbClr val="171C24"/>
          </a:solidFill>
          <a:ln/>
          <a:effectLst>
            <a:outerShdw sx="100000" sy="100000" kx="0" ky="0" algn="bl" rotWithShape="0" blurRad="101600" dist="25400" dir="5400000">
              <a:srgbClr val="9AA6B2">
                <a:alpha val="30000"/>
              </a:srgbClr>
            </a:outerShdw>
          </a:effectLst>
        </p:spPr>
      </p:sp>
      <p:sp>
        <p:nvSpPr>
          <p:cNvPr id="5" name="Text 3"/>
          <p:cNvSpPr/>
          <p:nvPr/>
        </p:nvSpPr>
        <p:spPr>
          <a:xfrm>
            <a:off x="804672" y="1426464"/>
            <a:ext cx="4517136" cy="1424813"/>
          </a:xfrm>
          <a:prstGeom prst="rect">
            <a:avLst/>
          </a:prstGeom>
          <a:noFill/>
          <a:ln/>
        </p:spPr>
        <p:txBody>
          <a:bodyPr wrap="square" lIns="0" tIns="0" rIns="0" bIns="0" rtlCol="0" anchor="t"/>
          <a:lstStyle/>
          <a:p>
            <a:pPr indent="0" marL="0">
              <a:lnSpc>
                <a:spcPts val="1541"/>
              </a:lnSpc>
              <a:buNone/>
            </a:pPr>
            <a:r>
              <a:rPr lang="en-US" sz="1150" b="1" dirty="0">
                <a:solidFill>
                  <a:srgbClr val="E8871E"/>
                </a:solidFill>
                <a:latin typeface="Courier New" pitchFamily="34" charset="0"/>
                <a:ea typeface="Courier New" pitchFamily="34" charset="-122"/>
                <a:cs typeface="Courier New" pitchFamily="34" charset="-120"/>
              </a:rPr>
              <a:t>Algorithm</a:t>
            </a:r>
            <a:pPr indent="0" marL="0">
              <a:lnSpc>
                <a:spcPts val="1541"/>
              </a:lnSpc>
              <a:buNone/>
            </a:pPr>
            <a:r>
              <a:rPr lang="en-US" sz="1150" dirty="0">
                <a:solidFill>
                  <a:srgbClr val="E6EAF0"/>
                </a:solidFill>
                <a:latin typeface="Courier New" pitchFamily="34" charset="0"/>
                <a:ea typeface="Courier New" pitchFamily="34" charset="-122"/>
                <a:cs typeface="Courier New" pitchFamily="34" charset="-120"/>
              </a:rPr>
              <a:t> LinSearch(a, n, key)</a:t>
            </a:r>
            <a:endParaRPr lang="en-US" sz="1150" dirty="0"/>
          </a:p>
          <a:p>
            <a:pPr indent="0" marL="0">
              <a:lnSpc>
                <a:spcPts val="1541"/>
              </a:lnSpc>
              <a:buNone/>
            </a:pPr>
            <a:r>
              <a:rPr lang="en-US" sz="1150" dirty="0">
                <a:solidFill>
                  <a:srgbClr val="E6EAF0"/>
                </a:solidFill>
                <a:latin typeface="Courier New" pitchFamily="34" charset="0"/>
                <a:ea typeface="Courier New" pitchFamily="34" charset="-122"/>
                <a:cs typeface="Courier New" pitchFamily="34" charset="-120"/>
              </a:rPr>
              <a:t>{</a:t>
            </a:r>
            <a:endParaRPr lang="en-US" sz="1150" dirty="0"/>
          </a:p>
          <a:p>
            <a:pPr indent="0" marL="0">
              <a:lnSpc>
                <a:spcPts val="1541"/>
              </a:lnSpc>
              <a:buNone/>
            </a:pPr>
            <a:r>
              <a:rPr lang="en-US" sz="1150" dirty="0">
                <a:solidFill>
                  <a:srgbClr val="E6EAF0"/>
                </a:solidFill>
                <a:latin typeface="Courier New" pitchFamily="34" charset="0"/>
                <a:ea typeface="Courier New" pitchFamily="34" charset="-122"/>
                <a:cs typeface="Courier New" pitchFamily="34" charset="-120"/>
              </a:rPr>
              <a:t>   </a:t>
            </a:r>
            <a:pPr indent="0" marL="0">
              <a:lnSpc>
                <a:spcPts val="1541"/>
              </a:lnSpc>
              <a:buNone/>
            </a:pPr>
            <a:r>
              <a:rPr lang="en-US" sz="1150" b="1" dirty="0">
                <a:solidFill>
                  <a:srgbClr val="E8871E"/>
                </a:solidFill>
                <a:latin typeface="Courier New" pitchFamily="34" charset="0"/>
                <a:ea typeface="Courier New" pitchFamily="34" charset="-122"/>
                <a:cs typeface="Courier New" pitchFamily="34" charset="-120"/>
              </a:rPr>
              <a:t>for</a:t>
            </a:r>
            <a:pPr indent="0" marL="0">
              <a:lnSpc>
                <a:spcPts val="1541"/>
              </a:lnSpc>
              <a:buNone/>
            </a:pPr>
            <a:r>
              <a:rPr lang="en-US" sz="1150" dirty="0">
                <a:solidFill>
                  <a:srgbClr val="E6EAF0"/>
                </a:solidFill>
                <a:latin typeface="Courier New" pitchFamily="34" charset="0"/>
                <a:ea typeface="Courier New" pitchFamily="34" charset="-122"/>
                <a:cs typeface="Courier New" pitchFamily="34" charset="-120"/>
              </a:rPr>
              <a:t> i := 1 to n </a:t>
            </a:r>
            <a:pPr indent="0" marL="0">
              <a:lnSpc>
                <a:spcPts val="1541"/>
              </a:lnSpc>
              <a:buNone/>
            </a:pPr>
            <a:r>
              <a:rPr lang="en-US" sz="1150" b="1" dirty="0">
                <a:solidFill>
                  <a:srgbClr val="E8871E"/>
                </a:solidFill>
                <a:latin typeface="Courier New" pitchFamily="34" charset="0"/>
                <a:ea typeface="Courier New" pitchFamily="34" charset="-122"/>
                <a:cs typeface="Courier New" pitchFamily="34" charset="-120"/>
              </a:rPr>
              <a:t>do</a:t>
            </a:r>
            <a:endParaRPr lang="en-US" sz="1150" dirty="0"/>
          </a:p>
          <a:p>
            <a:pPr indent="0" marL="0">
              <a:lnSpc>
                <a:spcPts val="1541"/>
              </a:lnSpc>
              <a:buNone/>
            </a:pPr>
            <a:r>
              <a:rPr lang="en-US" sz="1150" dirty="0">
                <a:solidFill>
                  <a:srgbClr val="E6EAF0"/>
                </a:solidFill>
                <a:latin typeface="Courier New" pitchFamily="34" charset="0"/>
                <a:ea typeface="Courier New" pitchFamily="34" charset="-122"/>
                <a:cs typeface="Courier New" pitchFamily="34" charset="-120"/>
              </a:rPr>
              <a:t>      </a:t>
            </a:r>
            <a:pPr indent="0" marL="0">
              <a:lnSpc>
                <a:spcPts val="1541"/>
              </a:lnSpc>
              <a:buNone/>
            </a:pPr>
            <a:r>
              <a:rPr lang="en-US" sz="1150" b="1" dirty="0">
                <a:solidFill>
                  <a:srgbClr val="E8871E"/>
                </a:solidFill>
                <a:latin typeface="Courier New" pitchFamily="34" charset="0"/>
                <a:ea typeface="Courier New" pitchFamily="34" charset="-122"/>
                <a:cs typeface="Courier New" pitchFamily="34" charset="-120"/>
              </a:rPr>
              <a:t>if</a:t>
            </a:r>
            <a:pPr indent="0" marL="0">
              <a:lnSpc>
                <a:spcPts val="1541"/>
              </a:lnSpc>
              <a:buNone/>
            </a:pPr>
            <a:r>
              <a:rPr lang="en-US" sz="1150" dirty="0">
                <a:solidFill>
                  <a:srgbClr val="E6EAF0"/>
                </a:solidFill>
                <a:latin typeface="Courier New" pitchFamily="34" charset="0"/>
                <a:ea typeface="Courier New" pitchFamily="34" charset="-122"/>
                <a:cs typeface="Courier New" pitchFamily="34" charset="-120"/>
              </a:rPr>
              <a:t> a[i] = key </a:t>
            </a:r>
            <a:pPr indent="0" marL="0">
              <a:lnSpc>
                <a:spcPts val="1541"/>
              </a:lnSpc>
              <a:buNone/>
            </a:pPr>
            <a:r>
              <a:rPr lang="en-US" sz="1150" b="1" dirty="0">
                <a:solidFill>
                  <a:srgbClr val="E8871E"/>
                </a:solidFill>
                <a:latin typeface="Courier New" pitchFamily="34" charset="0"/>
                <a:ea typeface="Courier New" pitchFamily="34" charset="-122"/>
                <a:cs typeface="Courier New" pitchFamily="34" charset="-120"/>
              </a:rPr>
              <a:t>then</a:t>
            </a:r>
            <a:endParaRPr lang="en-US" sz="1150" dirty="0"/>
          </a:p>
          <a:p>
            <a:pPr indent="0" marL="0">
              <a:lnSpc>
                <a:spcPts val="1541"/>
              </a:lnSpc>
              <a:buNone/>
            </a:pPr>
            <a:r>
              <a:rPr lang="en-US" sz="1150" dirty="0">
                <a:solidFill>
                  <a:srgbClr val="E6EAF0"/>
                </a:solidFill>
                <a:latin typeface="Courier New" pitchFamily="34" charset="0"/>
                <a:ea typeface="Courier New" pitchFamily="34" charset="-122"/>
                <a:cs typeface="Courier New" pitchFamily="34" charset="-120"/>
              </a:rPr>
              <a:t>         </a:t>
            </a:r>
            <a:pPr indent="0" marL="0">
              <a:lnSpc>
                <a:spcPts val="1541"/>
              </a:lnSpc>
              <a:buNone/>
            </a:pPr>
            <a:r>
              <a:rPr lang="en-US" sz="1150" b="1" dirty="0">
                <a:solidFill>
                  <a:srgbClr val="E8871E"/>
                </a:solidFill>
                <a:latin typeface="Courier New" pitchFamily="34" charset="0"/>
                <a:ea typeface="Courier New" pitchFamily="34" charset="-122"/>
                <a:cs typeface="Courier New" pitchFamily="34" charset="-120"/>
              </a:rPr>
              <a:t>return</a:t>
            </a:r>
            <a:pPr indent="0" marL="0">
              <a:lnSpc>
                <a:spcPts val="1541"/>
              </a:lnSpc>
              <a:buNone/>
            </a:pPr>
            <a:r>
              <a:rPr lang="en-US" sz="1150" dirty="0">
                <a:solidFill>
                  <a:srgbClr val="E6EAF0"/>
                </a:solidFill>
                <a:latin typeface="Courier New" pitchFamily="34" charset="0"/>
                <a:ea typeface="Courier New" pitchFamily="34" charset="-122"/>
                <a:cs typeface="Courier New" pitchFamily="34" charset="-120"/>
              </a:rPr>
              <a:t> i;</a:t>
            </a:r>
            <a:endParaRPr lang="en-US" sz="1150" dirty="0"/>
          </a:p>
          <a:p>
            <a:pPr indent="0" marL="0">
              <a:lnSpc>
                <a:spcPts val="1541"/>
              </a:lnSpc>
              <a:buNone/>
            </a:pPr>
            <a:r>
              <a:rPr lang="en-US" sz="1150" dirty="0">
                <a:solidFill>
                  <a:srgbClr val="E6EAF0"/>
                </a:solidFill>
                <a:latin typeface="Courier New" pitchFamily="34" charset="0"/>
                <a:ea typeface="Courier New" pitchFamily="34" charset="-122"/>
                <a:cs typeface="Courier New" pitchFamily="34" charset="-120"/>
              </a:rPr>
              <a:t>   </a:t>
            </a:r>
            <a:pPr indent="0" marL="0">
              <a:lnSpc>
                <a:spcPts val="1541"/>
              </a:lnSpc>
              <a:buNone/>
            </a:pPr>
            <a:r>
              <a:rPr lang="en-US" sz="1150" b="1" dirty="0">
                <a:solidFill>
                  <a:srgbClr val="E8871E"/>
                </a:solidFill>
                <a:latin typeface="Courier New" pitchFamily="34" charset="0"/>
                <a:ea typeface="Courier New" pitchFamily="34" charset="-122"/>
                <a:cs typeface="Courier New" pitchFamily="34" charset="-120"/>
              </a:rPr>
              <a:t>return</a:t>
            </a:r>
            <a:pPr indent="0" marL="0">
              <a:lnSpc>
                <a:spcPts val="1541"/>
              </a:lnSpc>
              <a:buNone/>
            </a:pPr>
            <a:r>
              <a:rPr lang="en-US" sz="1150" dirty="0">
                <a:solidFill>
                  <a:srgbClr val="E6EAF0"/>
                </a:solidFill>
                <a:latin typeface="Courier New" pitchFamily="34" charset="0"/>
                <a:ea typeface="Courier New" pitchFamily="34" charset="-122"/>
                <a:cs typeface="Courier New" pitchFamily="34" charset="-120"/>
              </a:rPr>
              <a:t> -1;      </a:t>
            </a:r>
            <a:pPr indent="0" marL="0">
              <a:lnSpc>
                <a:spcPts val="1541"/>
              </a:lnSpc>
              <a:buNone/>
            </a:pPr>
            <a:r>
              <a:rPr lang="en-US" sz="1150" i="1" dirty="0">
                <a:solidFill>
                  <a:srgbClr val="7C8798"/>
                </a:solidFill>
                <a:latin typeface="Courier New" pitchFamily="34" charset="0"/>
                <a:ea typeface="Courier New" pitchFamily="34" charset="-122"/>
                <a:cs typeface="Courier New" pitchFamily="34" charset="-120"/>
              </a:rPr>
              <a:t>// not found</a:t>
            </a:r>
            <a:endParaRPr lang="en-US" sz="1150" dirty="0"/>
          </a:p>
          <a:p>
            <a:pPr indent="0" marL="0">
              <a:lnSpc>
                <a:spcPts val="1541"/>
              </a:lnSpc>
              <a:buNone/>
            </a:pPr>
            <a:r>
              <a:rPr lang="en-US" sz="1150" dirty="0">
                <a:solidFill>
                  <a:srgbClr val="E6EAF0"/>
                </a:solidFill>
                <a:latin typeface="Courier New" pitchFamily="34" charset="0"/>
                <a:ea typeface="Courier New" pitchFamily="34" charset="-122"/>
                <a:cs typeface="Courier New" pitchFamily="34" charset="-120"/>
              </a:rPr>
              <a:t>}</a:t>
            </a:r>
            <a:endParaRPr lang="en-US" sz="1150" dirty="0"/>
          </a:p>
        </p:txBody>
      </p:sp>
      <p:sp>
        <p:nvSpPr>
          <p:cNvPr id="6" name="Text 4"/>
          <p:cNvSpPr/>
          <p:nvPr/>
        </p:nvSpPr>
        <p:spPr>
          <a:xfrm>
            <a:off x="640080" y="3108960"/>
            <a:ext cx="4846320" cy="274320"/>
          </a:xfrm>
          <a:prstGeom prst="rect">
            <a:avLst/>
          </a:prstGeom>
          <a:noFill/>
          <a:ln/>
        </p:spPr>
        <p:txBody>
          <a:bodyPr wrap="square" lIns="0" tIns="0" rIns="0" bIns="0" rtlCol="0" anchor="t"/>
          <a:lstStyle/>
          <a:p>
            <a:pPr indent="0" marL="0">
              <a:buNone/>
            </a:pPr>
            <a:r>
              <a:rPr lang="en-US" sz="1200" i="1" dirty="0">
                <a:solidFill>
                  <a:srgbClr val="6B7784"/>
                </a:solidFill>
                <a:latin typeface="Calibri" pitchFamily="34" charset="0"/>
                <a:ea typeface="Calibri" pitchFamily="34" charset="-122"/>
                <a:cs typeface="Calibri" pitchFamily="34" charset="-120"/>
              </a:rPr>
              <a:t>a[ ] = { 12, 4, 9, 7, 15 },  n = 5</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760720" y="1298448"/>
          <a:ext cx="5788152" cy="914400"/>
        </p:xfrm>
        <a:graphic>
          <a:graphicData uri="http://schemas.openxmlformats.org/drawingml/2006/table">
            <a:tbl>
              <a:tblPr/>
              <a:tblGrid>
                <a:gridCol w="1051560"/>
                <a:gridCol w="2148840"/>
                <a:gridCol w="1490472"/>
                <a:gridCol w="1097280"/>
              </a:tblGrid>
              <a:tr h="47548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Case</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Situation</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Comparisons</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Order</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r>
              <a:tr h="475488">
                <a:tc>
                  <a:txBody>
                    <a:bodyPr/>
                    <a:lstStyle/>
                    <a:p>
                      <a:pPr algn="l" indent="0" marL="0">
                        <a:buNone/>
                      </a:pPr>
                      <a:r>
                        <a:rPr lang="en-US" sz="1250" b="1" dirty="0">
                          <a:solidFill>
                            <a:srgbClr val="2E7D5B"/>
                          </a:solidFill>
                          <a:latin typeface="Calibri" pitchFamily="34" charset="0"/>
                          <a:ea typeface="Calibri" pitchFamily="34" charset="-122"/>
                          <a:cs typeface="Calibri" pitchFamily="34" charset="-120"/>
                        </a:rPr>
                        <a:t>Best</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key = 12 (first)</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O(1)</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75488">
                <a:tc>
                  <a:txBody>
                    <a:bodyPr/>
                    <a:lstStyle/>
                    <a:p>
                      <a:pPr algn="l" indent="0" marL="0">
                        <a:buNone/>
                      </a:pPr>
                      <a:r>
                        <a:rPr lang="en-US" sz="1250" b="1" dirty="0">
                          <a:solidFill>
                            <a:srgbClr val="A85F0C"/>
                          </a:solidFill>
                          <a:latin typeface="Calibri" pitchFamily="34" charset="0"/>
                          <a:ea typeface="Calibri" pitchFamily="34" charset="-122"/>
                          <a:cs typeface="Calibri" pitchFamily="34" charset="-120"/>
                        </a:rPr>
                        <a:t>Average</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key equally likely anywhere</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(n+1)/2 = 3</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O(n)</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75488">
                <a:tc>
                  <a:txBody>
                    <a:bodyPr/>
                    <a:lstStyle/>
                    <a:p>
                      <a:pPr algn="l" indent="0" marL="0">
                        <a:buNone/>
                      </a:pPr>
                      <a:r>
                        <a:rPr lang="en-US" sz="1250" b="1" dirty="0">
                          <a:solidFill>
                            <a:srgbClr val="B3261E"/>
                          </a:solidFill>
                          <a:latin typeface="Calibri" pitchFamily="34" charset="0"/>
                          <a:ea typeface="Calibri" pitchFamily="34" charset="-122"/>
                          <a:cs typeface="Calibri" pitchFamily="34" charset="-120"/>
                        </a:rPr>
                        <a:t>Worst</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key = 15, or key absent</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n = 5</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O(n)</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bl>
          </a:graphicData>
        </a:graphic>
      </p:graphicFrame>
      <p:sp>
        <p:nvSpPr>
          <p:cNvPr id="8" name="Shape 5"/>
          <p:cNvSpPr/>
          <p:nvPr/>
        </p:nvSpPr>
        <p:spPr>
          <a:xfrm>
            <a:off x="5760720" y="3520440"/>
            <a:ext cx="5788152" cy="2194560"/>
          </a:xfrm>
          <a:prstGeom prst="roundRect">
            <a:avLst>
              <a:gd name="adj" fmla="val 2500"/>
            </a:avLst>
          </a:prstGeom>
          <a:solidFill>
            <a:srgbClr val="1B2129"/>
          </a:solidFill>
          <a:ln/>
          <a:effectLst>
            <a:outerShdw sx="100000" sy="100000" kx="0" ky="0" algn="bl" rotWithShape="0" blurRad="127000" dist="25400" dir="5400000">
              <a:srgbClr val="9AA6B2">
                <a:alpha val="22000"/>
              </a:srgbClr>
            </a:outerShdw>
          </a:effectLst>
        </p:spPr>
      </p:sp>
      <p:sp>
        <p:nvSpPr>
          <p:cNvPr id="9" name="Text 6"/>
          <p:cNvSpPr/>
          <p:nvPr/>
        </p:nvSpPr>
        <p:spPr>
          <a:xfrm>
            <a:off x="6035040" y="3675888"/>
            <a:ext cx="5212080" cy="274320"/>
          </a:xfrm>
          <a:prstGeom prst="rect">
            <a:avLst/>
          </a:prstGeom>
          <a:noFill/>
          <a:ln/>
        </p:spPr>
        <p:txBody>
          <a:bodyPr wrap="square" lIns="0" tIns="0" rIns="0" bIns="0" rtlCol="0" anchor="t"/>
          <a:lstStyle/>
          <a:p>
            <a:pPr indent="0" marL="0">
              <a:buNone/>
            </a:pPr>
            <a:r>
              <a:rPr lang="en-US" sz="1300" b="1" dirty="0">
                <a:solidFill>
                  <a:srgbClr val="E8871E"/>
                </a:solidFill>
                <a:latin typeface="Calibri" pitchFamily="34" charset="0"/>
                <a:ea typeface="Calibri" pitchFamily="34" charset="-122"/>
                <a:cs typeface="Calibri" pitchFamily="34" charset="-120"/>
              </a:rPr>
              <a:t>Deriving the average case</a:t>
            </a:r>
            <a:endParaRPr lang="en-US" sz="1300" dirty="0"/>
          </a:p>
        </p:txBody>
      </p:sp>
      <p:sp>
        <p:nvSpPr>
          <p:cNvPr id="10" name="Text 7"/>
          <p:cNvSpPr/>
          <p:nvPr/>
        </p:nvSpPr>
        <p:spPr>
          <a:xfrm>
            <a:off x="6035040" y="4005072"/>
            <a:ext cx="5257800" cy="1600200"/>
          </a:xfrm>
          <a:prstGeom prst="rect">
            <a:avLst/>
          </a:prstGeom>
          <a:noFill/>
          <a:ln/>
        </p:spPr>
        <p:txBody>
          <a:bodyPr wrap="square" lIns="0" tIns="0" rIns="0" bIns="0" rtlCol="0" anchor="ctr"/>
          <a:lstStyle/>
          <a:p>
            <a:pPr indent="0" marL="0">
              <a:lnSpc>
                <a:spcPts val="1700"/>
              </a:lnSpc>
              <a:buNone/>
            </a:pPr>
            <a:r>
              <a:rPr lang="en-US" sz="1250" dirty="0">
                <a:solidFill>
                  <a:srgbClr val="C9D2DC"/>
                </a:solidFill>
              </a:rPr>
              <a:t>If the key is present and equally likely at each of the n positions,</a:t>
            </a:r>
            <a:endParaRPr lang="en-US" sz="1250" dirty="0"/>
          </a:p>
          <a:p>
            <a:pPr indent="0" marL="0">
              <a:lnSpc>
                <a:spcPts val="1700"/>
              </a:lnSpc>
              <a:buNone/>
            </a:pPr>
            <a:r>
              <a:rPr lang="en-US" sz="1250" dirty="0">
                <a:solidFill>
                  <a:srgbClr val="C9D2DC"/>
                </a:solidFill>
              </a:rPr>
              <a:t>each position has probability 1/n and costs i comparisons:</a:t>
            </a:r>
            <a:endParaRPr lang="en-US" sz="1250" dirty="0"/>
          </a:p>
          <a:p>
            <a:pPr indent="0" marL="0">
              <a:lnSpc>
                <a:spcPts val="1700"/>
              </a:lnSpc>
              <a:buNone/>
            </a:pPr>
            <a:r>
              <a:rPr lang="en-US" sz="600" dirty="0">
                <a:solidFill>
                  <a:srgbClr val="000000"/>
                </a:solidFill>
              </a:rPr>
              <a:t> </a:t>
            </a:r>
            <a:endParaRPr lang="en-US" sz="1250" dirty="0"/>
          </a:p>
          <a:p>
            <a:pPr indent="0" marL="0">
              <a:lnSpc>
                <a:spcPts val="1700"/>
              </a:lnSpc>
              <a:buNone/>
            </a:pPr>
            <a:r>
              <a:rPr lang="en-US" sz="1250" dirty="0">
                <a:solidFill>
                  <a:srgbClr val="FFFFFF"/>
                </a:solidFill>
                <a:latin typeface="Courier New" pitchFamily="34" charset="0"/>
                <a:ea typeface="Courier New" pitchFamily="34" charset="-122"/>
                <a:cs typeface="Courier New" pitchFamily="34" charset="-120"/>
              </a:rPr>
              <a:t>A(n) = Σ (1/n) × i,  i = 1 … n</a:t>
            </a:r>
            <a:endParaRPr lang="en-US" sz="1250" dirty="0"/>
          </a:p>
          <a:p>
            <a:pPr indent="0" marL="0">
              <a:lnSpc>
                <a:spcPts val="1700"/>
              </a:lnSpc>
              <a:buNone/>
            </a:pPr>
            <a:r>
              <a:rPr lang="en-US" sz="1250" b="1" dirty="0">
                <a:solidFill>
                  <a:srgbClr val="E8871E"/>
                </a:solidFill>
                <a:latin typeface="Courier New" pitchFamily="34" charset="0"/>
                <a:ea typeface="Courier New" pitchFamily="34" charset="-122"/>
                <a:cs typeface="Courier New" pitchFamily="34" charset="-120"/>
              </a:rPr>
              <a:t>        = (1/n) × n(n+1)/2  =  (n+1)/2</a:t>
            </a:r>
            <a:endParaRPr lang="en-US" sz="1250" dirty="0"/>
          </a:p>
          <a:p>
            <a:pPr indent="0" marL="0">
              <a:lnSpc>
                <a:spcPts val="1700"/>
              </a:lnSpc>
              <a:buNone/>
            </a:pPr>
            <a:r>
              <a:rPr lang="en-US" sz="600" dirty="0">
                <a:solidFill>
                  <a:srgbClr val="000000"/>
                </a:solidFill>
              </a:rPr>
              <a:t> </a:t>
            </a:r>
            <a:endParaRPr lang="en-US" sz="1250" dirty="0"/>
          </a:p>
          <a:p>
            <a:pPr indent="0" marL="0">
              <a:lnSpc>
                <a:spcPts val="1700"/>
              </a:lnSpc>
              <a:buNone/>
            </a:pPr>
            <a:r>
              <a:rPr lang="en-US" sz="1250" i="1" dirty="0">
                <a:solidFill>
                  <a:srgbClr val="9AA6B4"/>
                </a:solidFill>
              </a:rPr>
              <a:t>About half the array — still linear in n.</a:t>
            </a:r>
            <a:endParaRPr lang="en-US" sz="1250" dirty="0"/>
          </a:p>
        </p:txBody>
      </p:sp>
      <p:sp>
        <p:nvSpPr>
          <p:cNvPr id="11" name="Shape 8"/>
          <p:cNvSpPr/>
          <p:nvPr/>
        </p:nvSpPr>
        <p:spPr>
          <a:xfrm>
            <a:off x="640080" y="3520440"/>
            <a:ext cx="4846320" cy="2194560"/>
          </a:xfrm>
          <a:prstGeom prst="roundRect">
            <a:avLst>
              <a:gd name="adj" fmla="val 2500"/>
            </a:avLst>
          </a:prstGeom>
          <a:solidFill>
            <a:srgbClr val="FDF0E0"/>
          </a:solidFill>
          <a:ln w="12700">
            <a:solidFill>
              <a:srgbClr val="FDF0E0"/>
            </a:solidFill>
            <a:prstDash val="solid"/>
          </a:ln>
          <a:effectLst>
            <a:outerShdw sx="100000" sy="100000" kx="0" ky="0" algn="bl" rotWithShape="0" blurRad="127000" dist="25400" dir="5400000">
              <a:srgbClr val="9AA6B2">
                <a:alpha val="22000"/>
              </a:srgbClr>
            </a:outerShdw>
          </a:effectLst>
        </p:spPr>
      </p:sp>
      <p:sp>
        <p:nvSpPr>
          <p:cNvPr id="12" name="Text 9"/>
          <p:cNvSpPr/>
          <p:nvPr/>
        </p:nvSpPr>
        <p:spPr>
          <a:xfrm>
            <a:off x="914400" y="3675888"/>
            <a:ext cx="4297680" cy="274320"/>
          </a:xfrm>
          <a:prstGeom prst="rect">
            <a:avLst/>
          </a:prstGeom>
          <a:noFill/>
          <a:ln/>
        </p:spPr>
        <p:txBody>
          <a:bodyPr wrap="square" lIns="0" tIns="0" rIns="0" bIns="0" rtlCol="0" anchor="t"/>
          <a:lstStyle/>
          <a:p>
            <a:pPr indent="0" marL="0">
              <a:buNone/>
            </a:pPr>
            <a:r>
              <a:rPr lang="en-US" sz="1300" b="1" dirty="0">
                <a:solidFill>
                  <a:srgbClr val="A85F0C"/>
                </a:solidFill>
                <a:latin typeface="Calibri" pitchFamily="34" charset="0"/>
                <a:ea typeface="Calibri" pitchFamily="34" charset="-122"/>
                <a:cs typeface="Calibri" pitchFamily="34" charset="-120"/>
              </a:rPr>
              <a:t>Note the pattern</a:t>
            </a:r>
            <a:endParaRPr lang="en-US" sz="1300" dirty="0"/>
          </a:p>
        </p:txBody>
      </p:sp>
      <p:sp>
        <p:nvSpPr>
          <p:cNvPr id="13" name="Text 10"/>
          <p:cNvSpPr/>
          <p:nvPr/>
        </p:nvSpPr>
        <p:spPr>
          <a:xfrm>
            <a:off x="914400" y="4023360"/>
            <a:ext cx="4343400" cy="1554480"/>
          </a:xfrm>
          <a:prstGeom prst="rect">
            <a:avLst/>
          </a:prstGeom>
          <a:noFill/>
          <a:ln/>
        </p:spPr>
        <p:txBody>
          <a:bodyPr wrap="square" lIns="0" tIns="0" rIns="0" bIns="0" rtlCol="0" anchor="t"/>
          <a:lstStyle/>
          <a:p>
            <a:pPr indent="0" marL="0">
              <a:lnSpc>
                <a:spcPts val="1700"/>
              </a:lnSpc>
              <a:buNone/>
            </a:pPr>
            <a:r>
              <a:rPr lang="en-US" sz="1250" dirty="0">
                <a:solidFill>
                  <a:srgbClr val="3A4551"/>
                </a:solidFill>
                <a:latin typeface="Calibri" pitchFamily="34" charset="0"/>
                <a:ea typeface="Calibri" pitchFamily="34" charset="-122"/>
                <a:cs typeface="Calibri" pitchFamily="34" charset="-120"/>
              </a:rPr>
              <a:t>Best case is O(1) but average and worst are both O(n). Halving the work — 3 comparisons instead of 5 — does not change the class. Constants improve; the growth rate does not. That is exactly why we need a notation that ignores constants.</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DESIGN DECISIONS</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Which case should guide us?</a:t>
            </a:r>
            <a:endParaRPr lang="en-US" sz="3000" dirty="0"/>
          </a:p>
        </p:txBody>
      </p:sp>
      <p:sp>
        <p:nvSpPr>
          <p:cNvPr id="4" name="Shape 2"/>
          <p:cNvSpPr/>
          <p:nvPr/>
        </p:nvSpPr>
        <p:spPr>
          <a:xfrm>
            <a:off x="640080" y="1325880"/>
            <a:ext cx="3456432" cy="3794760"/>
          </a:xfrm>
          <a:prstGeom prst="roundRect">
            <a:avLst>
              <a:gd name="adj" fmla="val 1587"/>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5" name="Shape 3"/>
          <p:cNvSpPr/>
          <p:nvPr/>
        </p:nvSpPr>
        <p:spPr>
          <a:xfrm>
            <a:off x="896112" y="1536192"/>
            <a:ext cx="402336" cy="402336"/>
          </a:xfrm>
          <a:prstGeom prst="ellipse">
            <a:avLst/>
          </a:prstGeom>
          <a:solidFill>
            <a:srgbClr val="B3261E"/>
          </a:solidFill>
          <a:ln/>
        </p:spPr>
      </p:sp>
      <p:sp>
        <p:nvSpPr>
          <p:cNvPr id="6" name="Text 4"/>
          <p:cNvSpPr/>
          <p:nvPr/>
        </p:nvSpPr>
        <p:spPr>
          <a:xfrm>
            <a:off x="896112" y="153619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408176" y="1536192"/>
            <a:ext cx="2560320" cy="274320"/>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Worst case</a:t>
            </a:r>
            <a:endParaRPr lang="en-US" sz="1600" dirty="0"/>
          </a:p>
        </p:txBody>
      </p:sp>
      <p:sp>
        <p:nvSpPr>
          <p:cNvPr id="8" name="Text 6"/>
          <p:cNvSpPr/>
          <p:nvPr/>
        </p:nvSpPr>
        <p:spPr>
          <a:xfrm>
            <a:off x="1408176" y="1810512"/>
            <a:ext cx="2560320" cy="237744"/>
          </a:xfrm>
          <a:prstGeom prst="rect">
            <a:avLst/>
          </a:prstGeom>
          <a:noFill/>
          <a:ln/>
        </p:spPr>
        <p:txBody>
          <a:bodyPr wrap="square" lIns="0" tIns="0" rIns="0" bIns="0" rtlCol="0" anchor="t"/>
          <a:lstStyle/>
          <a:p>
            <a:pPr indent="0" marL="0">
              <a:buNone/>
            </a:pPr>
            <a:r>
              <a:rPr lang="en-US" sz="1100" i="1" dirty="0">
                <a:solidFill>
                  <a:srgbClr val="B3261E"/>
                </a:solidFill>
                <a:latin typeface="Calibri" pitchFamily="34" charset="0"/>
                <a:ea typeface="Calibri" pitchFamily="34" charset="-122"/>
                <a:cs typeface="Calibri" pitchFamily="34" charset="-120"/>
              </a:rPr>
              <a:t>The default</a:t>
            </a:r>
            <a:endParaRPr lang="en-US" sz="1100" dirty="0"/>
          </a:p>
        </p:txBody>
      </p:sp>
      <p:sp>
        <p:nvSpPr>
          <p:cNvPr id="9" name="Text 7"/>
          <p:cNvSpPr/>
          <p:nvPr/>
        </p:nvSpPr>
        <p:spPr>
          <a:xfrm>
            <a:off x="932688" y="2240280"/>
            <a:ext cx="2926080" cy="2743200"/>
          </a:xfrm>
          <a:prstGeom prst="rect">
            <a:avLst/>
          </a:prstGeom>
          <a:noFill/>
          <a:ln/>
        </p:spPr>
        <p:txBody>
          <a:bodyPr wrap="square" lIns="0" tIns="0" rIns="0" bIns="0" rtlCol="0" anchor="t"/>
          <a:lstStyle/>
          <a:p>
            <a:pPr marL="342900" indent="-342900">
              <a:lnSpc>
                <a:spcPts val="1500"/>
              </a:lnSpc>
              <a:spcAft>
                <a:spcPts val="900"/>
              </a:spcAft>
              <a:buSzPct val="100000"/>
              <a:buChar char="•"/>
            </a:pPr>
            <a:r>
              <a:rPr lang="en-US" sz="1150" dirty="0">
                <a:solidFill>
                  <a:srgbClr val="3A4551"/>
                </a:solidFill>
                <a:latin typeface="Calibri" pitchFamily="34" charset="0"/>
                <a:ea typeface="Calibri" pitchFamily="34" charset="-122"/>
                <a:cs typeface="Calibri" pitchFamily="34" charset="-120"/>
              </a:rPr>
              <a:t>Gives a guarantee — the algorithm will never do worse</a:t>
            </a:r>
            <a:endParaRPr lang="en-US" sz="1150" dirty="0"/>
          </a:p>
          <a:p>
            <a:pPr marL="342900" indent="-342900">
              <a:lnSpc>
                <a:spcPts val="1500"/>
              </a:lnSpc>
              <a:spcAft>
                <a:spcPts val="900"/>
              </a:spcAft>
              <a:buSzPct val="100000"/>
              <a:buChar char="•"/>
            </a:pPr>
            <a:r>
              <a:rPr lang="en-US" sz="1150" dirty="0">
                <a:solidFill>
                  <a:srgbClr val="3A4551"/>
                </a:solidFill>
                <a:latin typeface="Calibri" pitchFamily="34" charset="0"/>
                <a:ea typeface="Calibri" pitchFamily="34" charset="-122"/>
                <a:cs typeface="Calibri" pitchFamily="34" charset="-120"/>
              </a:rPr>
              <a:t>Essential for real-time, safety-critical and interactive systems</a:t>
            </a:r>
            <a:endParaRPr lang="en-US" sz="1150" dirty="0"/>
          </a:p>
          <a:p>
            <a:pPr marL="342900" indent="-342900">
              <a:lnSpc>
                <a:spcPts val="1500"/>
              </a:lnSpc>
              <a:spcAft>
                <a:spcPts val="900"/>
              </a:spcAft>
              <a:buSzPct val="100000"/>
              <a:buChar char="•"/>
            </a:pPr>
            <a:r>
              <a:rPr lang="en-US" sz="1150" dirty="0">
                <a:solidFill>
                  <a:srgbClr val="3A4551"/>
                </a:solidFill>
                <a:latin typeface="Calibri" pitchFamily="34" charset="0"/>
                <a:ea typeface="Calibri" pitchFamily="34" charset="-122"/>
                <a:cs typeface="Calibri" pitchFamily="34" charset="-120"/>
              </a:rPr>
              <a:t>Often occurs more frequently than people expect (sorted or reverse-sorted data)</a:t>
            </a:r>
            <a:endParaRPr lang="en-US" sz="1150" dirty="0"/>
          </a:p>
          <a:p>
            <a:pPr marL="342900" indent="-342900">
              <a:lnSpc>
                <a:spcPts val="1500"/>
              </a:lnSpc>
              <a:spcAft>
                <a:spcPts val="900"/>
              </a:spcAft>
              <a:buSzPct val="100000"/>
              <a:buChar char="•"/>
            </a:pPr>
            <a:r>
              <a:rPr lang="en-US" sz="1150" dirty="0">
                <a:solidFill>
                  <a:srgbClr val="3A4551"/>
                </a:solidFill>
                <a:latin typeface="Calibri" pitchFamily="34" charset="0"/>
                <a:ea typeface="Calibri" pitchFamily="34" charset="-122"/>
                <a:cs typeface="Calibri" pitchFamily="34" charset="-120"/>
              </a:rPr>
              <a:t>Usually the easiest of the three to compute</a:t>
            </a:r>
            <a:endParaRPr lang="en-US" sz="1150" dirty="0"/>
          </a:p>
        </p:txBody>
      </p:sp>
      <p:sp>
        <p:nvSpPr>
          <p:cNvPr id="10" name="Shape 8"/>
          <p:cNvSpPr/>
          <p:nvPr/>
        </p:nvSpPr>
        <p:spPr>
          <a:xfrm>
            <a:off x="4370832" y="1325880"/>
            <a:ext cx="3456432" cy="3794760"/>
          </a:xfrm>
          <a:prstGeom prst="roundRect">
            <a:avLst>
              <a:gd name="adj" fmla="val 1587"/>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11" name="Shape 9"/>
          <p:cNvSpPr/>
          <p:nvPr/>
        </p:nvSpPr>
        <p:spPr>
          <a:xfrm>
            <a:off x="4626864" y="1536192"/>
            <a:ext cx="402336" cy="402336"/>
          </a:xfrm>
          <a:prstGeom prst="ellipse">
            <a:avLst/>
          </a:prstGeom>
          <a:solidFill>
            <a:srgbClr val="A85F0C"/>
          </a:solidFill>
          <a:ln/>
        </p:spPr>
      </p:sp>
      <p:sp>
        <p:nvSpPr>
          <p:cNvPr id="12" name="Text 10"/>
          <p:cNvSpPr/>
          <p:nvPr/>
        </p:nvSpPr>
        <p:spPr>
          <a:xfrm>
            <a:off x="4626864" y="153619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5138928" y="1536192"/>
            <a:ext cx="2560320" cy="274320"/>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Average case</a:t>
            </a:r>
            <a:endParaRPr lang="en-US" sz="1600" dirty="0"/>
          </a:p>
        </p:txBody>
      </p:sp>
      <p:sp>
        <p:nvSpPr>
          <p:cNvPr id="14" name="Text 12"/>
          <p:cNvSpPr/>
          <p:nvPr/>
        </p:nvSpPr>
        <p:spPr>
          <a:xfrm>
            <a:off x="5138928" y="1810512"/>
            <a:ext cx="2560320" cy="237744"/>
          </a:xfrm>
          <a:prstGeom prst="rect">
            <a:avLst/>
          </a:prstGeom>
          <a:noFill/>
          <a:ln/>
        </p:spPr>
        <p:txBody>
          <a:bodyPr wrap="square" lIns="0" tIns="0" rIns="0" bIns="0" rtlCol="0" anchor="t"/>
          <a:lstStyle/>
          <a:p>
            <a:pPr indent="0" marL="0">
              <a:buNone/>
            </a:pPr>
            <a:r>
              <a:rPr lang="en-US" sz="1100" i="1" dirty="0">
                <a:solidFill>
                  <a:srgbClr val="A85F0C"/>
                </a:solidFill>
                <a:latin typeface="Calibri" pitchFamily="34" charset="0"/>
                <a:ea typeface="Calibri" pitchFamily="34" charset="-122"/>
                <a:cs typeface="Calibri" pitchFamily="34" charset="-120"/>
              </a:rPr>
              <a:t>When distribution is known</a:t>
            </a:r>
            <a:endParaRPr lang="en-US" sz="1100" dirty="0"/>
          </a:p>
        </p:txBody>
      </p:sp>
      <p:sp>
        <p:nvSpPr>
          <p:cNvPr id="15" name="Text 13"/>
          <p:cNvSpPr/>
          <p:nvPr/>
        </p:nvSpPr>
        <p:spPr>
          <a:xfrm>
            <a:off x="4663440" y="2240280"/>
            <a:ext cx="2926080" cy="2743200"/>
          </a:xfrm>
          <a:prstGeom prst="rect">
            <a:avLst/>
          </a:prstGeom>
          <a:noFill/>
          <a:ln/>
        </p:spPr>
        <p:txBody>
          <a:bodyPr wrap="square" lIns="0" tIns="0" rIns="0" bIns="0" rtlCol="0" anchor="t"/>
          <a:lstStyle/>
          <a:p>
            <a:pPr marL="342900" indent="-342900">
              <a:lnSpc>
                <a:spcPts val="1500"/>
              </a:lnSpc>
              <a:spcAft>
                <a:spcPts val="900"/>
              </a:spcAft>
              <a:buSzPct val="100000"/>
              <a:buChar char="•"/>
            </a:pPr>
            <a:r>
              <a:rPr lang="en-US" sz="1150" dirty="0">
                <a:solidFill>
                  <a:srgbClr val="3A4551"/>
                </a:solidFill>
                <a:latin typeface="Calibri" pitchFamily="34" charset="0"/>
                <a:ea typeface="Calibri" pitchFamily="34" charset="-122"/>
                <a:cs typeface="Calibri" pitchFamily="34" charset="-120"/>
              </a:rPr>
              <a:t>Best model of everyday behaviour</a:t>
            </a:r>
            <a:endParaRPr lang="en-US" sz="1150" dirty="0"/>
          </a:p>
          <a:p>
            <a:pPr marL="342900" indent="-342900">
              <a:lnSpc>
                <a:spcPts val="1500"/>
              </a:lnSpc>
              <a:spcAft>
                <a:spcPts val="900"/>
              </a:spcAft>
              <a:buSzPct val="100000"/>
              <a:buChar char="•"/>
            </a:pPr>
            <a:r>
              <a:rPr lang="en-US" sz="1150" dirty="0">
                <a:solidFill>
                  <a:srgbClr val="3A4551"/>
                </a:solidFill>
                <a:latin typeface="Calibri" pitchFamily="34" charset="0"/>
                <a:ea typeface="Calibri" pitchFamily="34" charset="-122"/>
                <a:cs typeface="Calibri" pitchFamily="34" charset="-120"/>
              </a:rPr>
              <a:t>Requires a probability assumption — state it explicitly</a:t>
            </a:r>
            <a:endParaRPr lang="en-US" sz="1150" dirty="0"/>
          </a:p>
          <a:p>
            <a:pPr marL="342900" indent="-342900">
              <a:lnSpc>
                <a:spcPts val="1500"/>
              </a:lnSpc>
              <a:spcAft>
                <a:spcPts val="900"/>
              </a:spcAft>
              <a:buSzPct val="100000"/>
              <a:buChar char="•"/>
            </a:pPr>
            <a:r>
              <a:rPr lang="en-US" sz="1150" dirty="0">
                <a:solidFill>
                  <a:srgbClr val="3A4551"/>
                </a:solidFill>
                <a:latin typeface="Calibri" pitchFamily="34" charset="0"/>
                <a:ea typeface="Calibri" pitchFamily="34" charset="-122"/>
                <a:cs typeface="Calibri" pitchFamily="34" charset="-120"/>
              </a:rPr>
              <a:t>Quicksort is the classic case: Θ(n log n) average, Θ(n²) worst</a:t>
            </a:r>
            <a:endParaRPr lang="en-US" sz="1150" dirty="0"/>
          </a:p>
          <a:p>
            <a:pPr marL="342900" indent="-342900">
              <a:lnSpc>
                <a:spcPts val="1500"/>
              </a:lnSpc>
              <a:spcAft>
                <a:spcPts val="900"/>
              </a:spcAft>
              <a:buSzPct val="100000"/>
              <a:buChar char="•"/>
            </a:pPr>
            <a:r>
              <a:rPr lang="en-US" sz="1150" dirty="0">
                <a:solidFill>
                  <a:srgbClr val="3A4551"/>
                </a:solidFill>
                <a:latin typeface="Calibri" pitchFamily="34" charset="0"/>
                <a:ea typeface="Calibri" pitchFamily="34" charset="-122"/>
                <a:cs typeface="Calibri" pitchFamily="34" charset="-120"/>
              </a:rPr>
              <a:t>Harder mathematics: expectation and summations</a:t>
            </a:r>
            <a:endParaRPr lang="en-US" sz="1150" dirty="0"/>
          </a:p>
        </p:txBody>
      </p:sp>
      <p:sp>
        <p:nvSpPr>
          <p:cNvPr id="16" name="Shape 14"/>
          <p:cNvSpPr/>
          <p:nvPr/>
        </p:nvSpPr>
        <p:spPr>
          <a:xfrm>
            <a:off x="8101584" y="1325880"/>
            <a:ext cx="3456432" cy="3794760"/>
          </a:xfrm>
          <a:prstGeom prst="roundRect">
            <a:avLst>
              <a:gd name="adj" fmla="val 1587"/>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17" name="Shape 15"/>
          <p:cNvSpPr/>
          <p:nvPr/>
        </p:nvSpPr>
        <p:spPr>
          <a:xfrm>
            <a:off x="8357616" y="1536192"/>
            <a:ext cx="402336" cy="402336"/>
          </a:xfrm>
          <a:prstGeom prst="ellipse">
            <a:avLst/>
          </a:prstGeom>
          <a:solidFill>
            <a:srgbClr val="2E7D5B"/>
          </a:solidFill>
          <a:ln/>
        </p:spPr>
      </p:sp>
      <p:sp>
        <p:nvSpPr>
          <p:cNvPr id="18" name="Text 16"/>
          <p:cNvSpPr/>
          <p:nvPr/>
        </p:nvSpPr>
        <p:spPr>
          <a:xfrm>
            <a:off x="8357616" y="153619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869680" y="1536192"/>
            <a:ext cx="2560320" cy="274320"/>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Best case</a:t>
            </a:r>
            <a:endParaRPr lang="en-US" sz="1600" dirty="0"/>
          </a:p>
        </p:txBody>
      </p:sp>
      <p:sp>
        <p:nvSpPr>
          <p:cNvPr id="20" name="Text 18"/>
          <p:cNvSpPr/>
          <p:nvPr/>
        </p:nvSpPr>
        <p:spPr>
          <a:xfrm>
            <a:off x="8869680" y="1810512"/>
            <a:ext cx="2560320" cy="237744"/>
          </a:xfrm>
          <a:prstGeom prst="rect">
            <a:avLst/>
          </a:prstGeom>
          <a:noFill/>
          <a:ln/>
        </p:spPr>
        <p:txBody>
          <a:bodyPr wrap="square" lIns="0" tIns="0" rIns="0" bIns="0" rtlCol="0" anchor="t"/>
          <a:lstStyle/>
          <a:p>
            <a:pPr indent="0" marL="0">
              <a:buNone/>
            </a:pPr>
            <a:r>
              <a:rPr lang="en-US" sz="1100" i="1" dirty="0">
                <a:solidFill>
                  <a:srgbClr val="2E7D5B"/>
                </a:solidFill>
                <a:latin typeface="Calibri" pitchFamily="34" charset="0"/>
                <a:ea typeface="Calibri" pitchFamily="34" charset="-122"/>
                <a:cs typeface="Calibri" pitchFamily="34" charset="-120"/>
              </a:rPr>
              <a:t>Rarely decisive</a:t>
            </a:r>
            <a:endParaRPr lang="en-US" sz="1100" dirty="0"/>
          </a:p>
        </p:txBody>
      </p:sp>
      <p:sp>
        <p:nvSpPr>
          <p:cNvPr id="21" name="Text 19"/>
          <p:cNvSpPr/>
          <p:nvPr/>
        </p:nvSpPr>
        <p:spPr>
          <a:xfrm>
            <a:off x="8394192" y="2240280"/>
            <a:ext cx="2926080" cy="2743200"/>
          </a:xfrm>
          <a:prstGeom prst="rect">
            <a:avLst/>
          </a:prstGeom>
          <a:noFill/>
          <a:ln/>
        </p:spPr>
        <p:txBody>
          <a:bodyPr wrap="square" lIns="0" tIns="0" rIns="0" bIns="0" rtlCol="0" anchor="t"/>
          <a:lstStyle/>
          <a:p>
            <a:pPr marL="342900" indent="-342900">
              <a:lnSpc>
                <a:spcPts val="1500"/>
              </a:lnSpc>
              <a:spcAft>
                <a:spcPts val="900"/>
              </a:spcAft>
              <a:buSzPct val="100000"/>
              <a:buChar char="•"/>
            </a:pPr>
            <a:r>
              <a:rPr lang="en-US" sz="1150" dirty="0">
                <a:solidFill>
                  <a:srgbClr val="3A4551"/>
                </a:solidFill>
                <a:latin typeface="Calibri" pitchFamily="34" charset="0"/>
                <a:ea typeface="Calibri" pitchFamily="34" charset="-122"/>
                <a:cs typeface="Calibri" pitchFamily="34" charset="-120"/>
              </a:rPr>
              <a:t>Useful only to show an algorithm can be fast on easy inputs</a:t>
            </a:r>
            <a:endParaRPr lang="en-US" sz="1150" dirty="0"/>
          </a:p>
          <a:p>
            <a:pPr marL="342900" indent="-342900">
              <a:lnSpc>
                <a:spcPts val="1500"/>
              </a:lnSpc>
              <a:spcAft>
                <a:spcPts val="900"/>
              </a:spcAft>
              <a:buSzPct val="100000"/>
              <a:buChar char="•"/>
            </a:pPr>
            <a:r>
              <a:rPr lang="en-US" sz="1150" dirty="0">
                <a:solidFill>
                  <a:srgbClr val="3A4551"/>
                </a:solidFill>
                <a:latin typeface="Calibri" pitchFamily="34" charset="0"/>
                <a:ea typeface="Calibri" pitchFamily="34" charset="-122"/>
                <a:cs typeface="Calibri" pitchFamily="34" charset="-120"/>
              </a:rPr>
              <a:t>Never a basis for choosing an algorithm</a:t>
            </a:r>
            <a:endParaRPr lang="en-US" sz="1150" dirty="0"/>
          </a:p>
          <a:p>
            <a:pPr marL="342900" indent="-342900">
              <a:lnSpc>
                <a:spcPts val="1500"/>
              </a:lnSpc>
              <a:spcAft>
                <a:spcPts val="900"/>
              </a:spcAft>
              <a:buSzPct val="100000"/>
              <a:buChar char="•"/>
            </a:pPr>
            <a:r>
              <a:rPr lang="en-US" sz="1150" dirty="0">
                <a:solidFill>
                  <a:srgbClr val="3A4551"/>
                </a:solidFill>
                <a:latin typeface="Calibri" pitchFamily="34" charset="0"/>
                <a:ea typeface="Calibri" pitchFamily="34" charset="-122"/>
                <a:cs typeface="Calibri" pitchFamily="34" charset="-120"/>
              </a:rPr>
              <a:t>Can be misleading in marketing claims</a:t>
            </a:r>
            <a:endParaRPr lang="en-US" sz="1150" dirty="0"/>
          </a:p>
          <a:p>
            <a:pPr marL="342900" indent="-342900">
              <a:lnSpc>
                <a:spcPts val="1500"/>
              </a:lnSpc>
              <a:spcAft>
                <a:spcPts val="900"/>
              </a:spcAft>
              <a:buSzPct val="100000"/>
              <a:buChar char="•"/>
            </a:pPr>
            <a:r>
              <a:rPr lang="en-US" sz="1150" dirty="0">
                <a:solidFill>
                  <a:srgbClr val="3A4551"/>
                </a:solidFill>
                <a:latin typeface="Calibri" pitchFamily="34" charset="0"/>
                <a:ea typeface="Calibri" pitchFamily="34" charset="-122"/>
                <a:cs typeface="Calibri" pitchFamily="34" charset="-120"/>
              </a:rPr>
              <a:t>Insertion sort’s O(n) best case does matter for nearly-sorted data</a:t>
            </a:r>
            <a:endParaRPr lang="en-US" sz="1150" dirty="0"/>
          </a:p>
        </p:txBody>
      </p:sp>
      <p:sp>
        <p:nvSpPr>
          <p:cNvPr id="22" name="Shape 20"/>
          <p:cNvSpPr/>
          <p:nvPr/>
        </p:nvSpPr>
        <p:spPr>
          <a:xfrm>
            <a:off x="640080" y="5285232"/>
            <a:ext cx="10908792" cy="548640"/>
          </a:xfrm>
          <a:prstGeom prst="roundRect">
            <a:avLst>
              <a:gd name="adj" fmla="val 10000"/>
            </a:avLst>
          </a:prstGeom>
          <a:solidFill>
            <a:srgbClr val="DFEEF0"/>
          </a:solidFill>
          <a:ln w="12700">
            <a:solidFill>
              <a:srgbClr val="DFEEF0"/>
            </a:solidFill>
            <a:prstDash val="solid"/>
          </a:ln>
          <a:effectLst>
            <a:outerShdw sx="100000" sy="100000" kx="0" ky="0" algn="bl" rotWithShape="0" blurRad="127000" dist="25400" dir="5400000">
              <a:srgbClr val="9AA6B2">
                <a:alpha val="22000"/>
              </a:srgbClr>
            </a:outerShdw>
          </a:effectLst>
        </p:spPr>
      </p:sp>
      <p:sp>
        <p:nvSpPr>
          <p:cNvPr id="23" name="Text 21"/>
          <p:cNvSpPr/>
          <p:nvPr/>
        </p:nvSpPr>
        <p:spPr>
          <a:xfrm>
            <a:off x="914400" y="5285232"/>
            <a:ext cx="10332720" cy="548640"/>
          </a:xfrm>
          <a:prstGeom prst="rect">
            <a:avLst/>
          </a:prstGeom>
          <a:noFill/>
          <a:ln/>
        </p:spPr>
        <p:txBody>
          <a:bodyPr wrap="square" lIns="0" tIns="0" rIns="0" bIns="0" rtlCol="0" anchor="ctr"/>
          <a:lstStyle/>
          <a:p>
            <a:pPr indent="0" marL="0">
              <a:buNone/>
            </a:pPr>
            <a:r>
              <a:rPr lang="en-US" sz="1250" b="1" dirty="0">
                <a:solidFill>
                  <a:srgbClr val="0E7C86"/>
                </a:solidFill>
                <a:latin typeface="Calibri" pitchFamily="34" charset="0"/>
                <a:ea typeface="Calibri" pitchFamily="34" charset="-122"/>
                <a:cs typeface="Calibri" pitchFamily="34" charset="-120"/>
              </a:rPr>
              <a:t>Convention for this course: unless a question says otherwise, “complexity” means worst-case complexity.</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2161C"/>
        </a:solidFill>
      </p:bgPr>
    </p:bg>
    <p:spTree>
      <p:nvGrpSpPr>
        <p:cNvPr id="1" name=""/>
        <p:cNvGrpSpPr/>
        <p:nvPr/>
      </p:nvGrpSpPr>
      <p:grpSpPr>
        <a:xfrm>
          <a:off x="0" y="0"/>
          <a:ext cx="0" cy="0"/>
          <a:chOff x="0" y="0"/>
          <a:chExt cx="0" cy="0"/>
        </a:xfrm>
      </p:grpSpPr>
      <p:sp>
        <p:nvSpPr>
          <p:cNvPr id="2" name="Shape 0"/>
          <p:cNvSpPr/>
          <p:nvPr/>
        </p:nvSpPr>
        <p:spPr>
          <a:xfrm>
            <a:off x="10424160" y="1005840"/>
            <a:ext cx="146304" cy="146304"/>
          </a:xfrm>
          <a:prstGeom prst="ellipse">
            <a:avLst/>
          </a:prstGeom>
          <a:solidFill>
            <a:srgbClr val="E8871E"/>
          </a:solidFill>
          <a:ln/>
        </p:spPr>
      </p:sp>
      <p:sp>
        <p:nvSpPr>
          <p:cNvPr id="3" name="Shape 1"/>
          <p:cNvSpPr/>
          <p:nvPr/>
        </p:nvSpPr>
        <p:spPr>
          <a:xfrm>
            <a:off x="11064240" y="1005840"/>
            <a:ext cx="146304" cy="146304"/>
          </a:xfrm>
          <a:prstGeom prst="ellipse">
            <a:avLst/>
          </a:prstGeom>
          <a:solidFill>
            <a:srgbClr val="2C3742"/>
          </a:solidFill>
          <a:ln/>
        </p:spPr>
      </p:sp>
      <p:sp>
        <p:nvSpPr>
          <p:cNvPr id="4" name="Shape 2"/>
          <p:cNvSpPr/>
          <p:nvPr/>
        </p:nvSpPr>
        <p:spPr>
          <a:xfrm>
            <a:off x="11704320" y="1005840"/>
            <a:ext cx="146304" cy="146304"/>
          </a:xfrm>
          <a:prstGeom prst="ellipse">
            <a:avLst/>
          </a:prstGeom>
          <a:solidFill>
            <a:srgbClr val="2C3742"/>
          </a:solidFill>
          <a:ln/>
        </p:spPr>
      </p:sp>
      <p:sp>
        <p:nvSpPr>
          <p:cNvPr id="5" name="Shape 3"/>
          <p:cNvSpPr/>
          <p:nvPr/>
        </p:nvSpPr>
        <p:spPr>
          <a:xfrm>
            <a:off x="10424160" y="1645920"/>
            <a:ext cx="146304" cy="146304"/>
          </a:xfrm>
          <a:prstGeom prst="ellipse">
            <a:avLst/>
          </a:prstGeom>
          <a:solidFill>
            <a:srgbClr val="2C3742"/>
          </a:solidFill>
          <a:ln/>
        </p:spPr>
      </p:sp>
      <p:sp>
        <p:nvSpPr>
          <p:cNvPr id="6" name="Shape 4"/>
          <p:cNvSpPr/>
          <p:nvPr/>
        </p:nvSpPr>
        <p:spPr>
          <a:xfrm>
            <a:off x="11064240" y="1645920"/>
            <a:ext cx="146304" cy="146304"/>
          </a:xfrm>
          <a:prstGeom prst="ellipse">
            <a:avLst/>
          </a:prstGeom>
          <a:solidFill>
            <a:srgbClr val="E8871E"/>
          </a:solidFill>
          <a:ln/>
        </p:spPr>
      </p:sp>
      <p:sp>
        <p:nvSpPr>
          <p:cNvPr id="7" name="Shape 5"/>
          <p:cNvSpPr/>
          <p:nvPr/>
        </p:nvSpPr>
        <p:spPr>
          <a:xfrm>
            <a:off x="11704320" y="1645920"/>
            <a:ext cx="146304" cy="146304"/>
          </a:xfrm>
          <a:prstGeom prst="ellipse">
            <a:avLst/>
          </a:prstGeom>
          <a:solidFill>
            <a:srgbClr val="2C3742"/>
          </a:solidFill>
          <a:ln/>
        </p:spPr>
      </p:sp>
      <p:sp>
        <p:nvSpPr>
          <p:cNvPr id="8" name="Shape 6"/>
          <p:cNvSpPr/>
          <p:nvPr/>
        </p:nvSpPr>
        <p:spPr>
          <a:xfrm>
            <a:off x="10424160" y="2286000"/>
            <a:ext cx="146304" cy="146304"/>
          </a:xfrm>
          <a:prstGeom prst="ellipse">
            <a:avLst/>
          </a:prstGeom>
          <a:solidFill>
            <a:srgbClr val="2C3742"/>
          </a:solidFill>
          <a:ln/>
        </p:spPr>
      </p:sp>
      <p:sp>
        <p:nvSpPr>
          <p:cNvPr id="9" name="Shape 7"/>
          <p:cNvSpPr/>
          <p:nvPr/>
        </p:nvSpPr>
        <p:spPr>
          <a:xfrm>
            <a:off x="11064240" y="2286000"/>
            <a:ext cx="146304" cy="146304"/>
          </a:xfrm>
          <a:prstGeom prst="ellipse">
            <a:avLst/>
          </a:prstGeom>
          <a:solidFill>
            <a:srgbClr val="2C3742"/>
          </a:solidFill>
          <a:ln/>
        </p:spPr>
      </p:sp>
      <p:sp>
        <p:nvSpPr>
          <p:cNvPr id="10" name="Shape 8"/>
          <p:cNvSpPr/>
          <p:nvPr/>
        </p:nvSpPr>
        <p:spPr>
          <a:xfrm>
            <a:off x="11704320" y="2286000"/>
            <a:ext cx="146304" cy="146304"/>
          </a:xfrm>
          <a:prstGeom prst="ellipse">
            <a:avLst/>
          </a:prstGeom>
          <a:solidFill>
            <a:srgbClr val="E8871E"/>
          </a:solidFill>
          <a:ln/>
        </p:spPr>
      </p:sp>
      <p:sp>
        <p:nvSpPr>
          <p:cNvPr id="11" name="Shape 9"/>
          <p:cNvSpPr/>
          <p:nvPr/>
        </p:nvSpPr>
        <p:spPr>
          <a:xfrm>
            <a:off x="640080" y="2286000"/>
            <a:ext cx="786384" cy="786384"/>
          </a:xfrm>
          <a:prstGeom prst="ellipse">
            <a:avLst/>
          </a:prstGeom>
          <a:solidFill>
            <a:srgbClr val="E8871E"/>
          </a:solidFill>
          <a:ln/>
        </p:spPr>
      </p:sp>
      <p:sp>
        <p:nvSpPr>
          <p:cNvPr id="12" name="Text 10"/>
          <p:cNvSpPr/>
          <p:nvPr/>
        </p:nvSpPr>
        <p:spPr>
          <a:xfrm>
            <a:off x="640080" y="2286000"/>
            <a:ext cx="786384" cy="786384"/>
          </a:xfrm>
          <a:prstGeom prst="rect">
            <a:avLst/>
          </a:prstGeom>
          <a:noFill/>
          <a:ln/>
        </p:spPr>
        <p:txBody>
          <a:bodyPr wrap="square" lIns="0" tIns="0" rIns="0" bIns="0" rtlCol="0" anchor="ctr"/>
          <a:lstStyle/>
          <a:p>
            <a:pPr algn="ctr" indent="0" marL="0">
              <a:buNone/>
            </a:pPr>
            <a:r>
              <a:rPr lang="en-US" sz="3000" b="1" dirty="0">
                <a:solidFill>
                  <a:srgbClr val="12161C"/>
                </a:solidFill>
                <a:latin typeface="Calibri" pitchFamily="34" charset="0"/>
                <a:ea typeface="Calibri" pitchFamily="34" charset="-122"/>
                <a:cs typeface="Calibri" pitchFamily="34" charset="-120"/>
              </a:rPr>
              <a:t>04</a:t>
            </a:r>
            <a:endParaRPr lang="en-US" sz="3000" dirty="0"/>
          </a:p>
        </p:txBody>
      </p:sp>
      <p:sp>
        <p:nvSpPr>
          <p:cNvPr id="13" name="Text 11"/>
          <p:cNvSpPr/>
          <p:nvPr/>
        </p:nvSpPr>
        <p:spPr>
          <a:xfrm>
            <a:off x="640080" y="3246120"/>
            <a:ext cx="9601200" cy="8229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Asymptotic Notation</a:t>
            </a:r>
            <a:endParaRPr lang="en-US" sz="3800" dirty="0"/>
          </a:p>
        </p:txBody>
      </p:sp>
      <p:sp>
        <p:nvSpPr>
          <p:cNvPr id="14" name="Text 12"/>
          <p:cNvSpPr/>
          <p:nvPr/>
        </p:nvSpPr>
        <p:spPr>
          <a:xfrm>
            <a:off x="640080" y="4114800"/>
            <a:ext cx="8778240" cy="731520"/>
          </a:xfrm>
          <a:prstGeom prst="rect">
            <a:avLst/>
          </a:prstGeom>
          <a:noFill/>
          <a:ln/>
        </p:spPr>
        <p:txBody>
          <a:bodyPr wrap="square" lIns="0" tIns="0" rIns="0" bIns="0" rtlCol="0" anchor="t"/>
          <a:lstStyle/>
          <a:p>
            <a:pPr indent="0" marL="0">
              <a:buNone/>
            </a:pPr>
            <a:r>
              <a:rPr lang="en-US" sz="1600" dirty="0">
                <a:solidFill>
                  <a:srgbClr val="AAB4C0"/>
                </a:solidFill>
                <a:latin typeface="Calibri" pitchFamily="34" charset="0"/>
                <a:ea typeface="Calibri" pitchFamily="34" charset="-122"/>
                <a:cs typeface="Calibri" pitchFamily="34" charset="-120"/>
              </a:rPr>
              <a:t>O, Ω and Θ — the mathematical language for comparing efficiency</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MOTIVATION</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For large n, only the growth rate matters</a:t>
            </a:r>
            <a:endParaRPr lang="en-US" sz="3000" dirty="0"/>
          </a:p>
        </p:txBody>
      </p:sp>
      <p:sp>
        <p:nvSpPr>
          <p:cNvPr id="4" name="Text 2"/>
          <p:cNvSpPr/>
          <p:nvPr/>
        </p:nvSpPr>
        <p:spPr>
          <a:xfrm>
            <a:off x="640080" y="1298448"/>
            <a:ext cx="4846320" cy="365760"/>
          </a:xfrm>
          <a:prstGeom prst="rect">
            <a:avLst/>
          </a:prstGeom>
          <a:noFill/>
          <a:ln/>
        </p:spPr>
        <p:txBody>
          <a:bodyPr wrap="square" lIns="0" tIns="0" rIns="0" bIns="0" rtlCol="0" anchor="t"/>
          <a:lstStyle/>
          <a:p>
            <a:pPr indent="0" marL="0">
              <a:buNone/>
            </a:pPr>
            <a:r>
              <a:rPr lang="en-US" sz="2000" b="1" dirty="0">
                <a:solidFill>
                  <a:srgbClr val="12161C"/>
                </a:solidFill>
                <a:latin typeface="Courier New" pitchFamily="34" charset="0"/>
                <a:ea typeface="Courier New" pitchFamily="34" charset="-122"/>
                <a:cs typeface="Courier New" pitchFamily="34" charset="-120"/>
              </a:rPr>
              <a:t>3n² + 7n + 9</a:t>
            </a:r>
            <a:endParaRPr lang="en-US" sz="2000" dirty="0"/>
          </a:p>
        </p:txBody>
      </p:sp>
      <p:sp>
        <p:nvSpPr>
          <p:cNvPr id="5" name="Text 3"/>
          <p:cNvSpPr/>
          <p:nvPr/>
        </p:nvSpPr>
        <p:spPr>
          <a:xfrm>
            <a:off x="640080" y="1737360"/>
            <a:ext cx="4846320" cy="1005840"/>
          </a:xfrm>
          <a:prstGeom prst="rect">
            <a:avLst/>
          </a:prstGeom>
          <a:noFill/>
          <a:ln/>
        </p:spPr>
        <p:txBody>
          <a:bodyPr wrap="square" lIns="0" tIns="0" rIns="0" bIns="0" rtlCol="0" anchor="t"/>
          <a:lstStyle/>
          <a:p>
            <a:pPr indent="0" marL="0">
              <a:lnSpc>
                <a:spcPts val="2000"/>
              </a:lnSpc>
              <a:buNone/>
            </a:pPr>
            <a:r>
              <a:rPr lang="en-US" sz="1300" dirty="0">
                <a:solidFill>
                  <a:srgbClr val="3A4551"/>
                </a:solidFill>
                <a:latin typeface="Calibri" pitchFamily="34" charset="0"/>
                <a:ea typeface="Calibri" pitchFamily="34" charset="-122"/>
                <a:cs typeface="Calibri" pitchFamily="34" charset="-120"/>
              </a:rPr>
              <a:t>At n = 10 the lower terms contribute 79 of 379 steps — about 21%.</a:t>
            </a:r>
            <a:endParaRPr lang="en-US" sz="1300" dirty="0"/>
          </a:p>
          <a:p>
            <a:pPr indent="0" marL="0">
              <a:lnSpc>
                <a:spcPts val="2000"/>
              </a:lnSpc>
              <a:buNone/>
            </a:pPr>
            <a:r>
              <a:rPr lang="en-US" sz="1300" dirty="0">
                <a:solidFill>
                  <a:srgbClr val="3A4551"/>
                </a:solidFill>
                <a:latin typeface="Calibri" pitchFamily="34" charset="0"/>
                <a:ea typeface="Calibri" pitchFamily="34" charset="-122"/>
                <a:cs typeface="Calibri" pitchFamily="34" charset="-120"/>
              </a:rPr>
              <a:t>At n = 1000 they contribute 7,009 of 3,007,009 — about 0.2%.</a:t>
            </a:r>
            <a:endParaRPr lang="en-US" sz="1300" dirty="0"/>
          </a:p>
          <a:p>
            <a:pPr indent="0" marL="0">
              <a:lnSpc>
                <a:spcPts val="2000"/>
              </a:lnSpc>
              <a:buNone/>
            </a:pPr>
            <a:r>
              <a:rPr lang="en-US" sz="1300" dirty="0">
                <a:solidFill>
                  <a:srgbClr val="3A4551"/>
                </a:solidFill>
                <a:latin typeface="Calibri" pitchFamily="34" charset="0"/>
                <a:ea typeface="Calibri" pitchFamily="34" charset="-122"/>
                <a:cs typeface="Calibri" pitchFamily="34" charset="-120"/>
              </a:rPr>
              <a:t>At n = 10⁶ they are invisible.</a:t>
            </a:r>
            <a:endParaRPr lang="en-US" sz="1300" dirty="0"/>
          </a:p>
        </p:txBody>
      </p:sp>
      <p:sp>
        <p:nvSpPr>
          <p:cNvPr id="6" name="Text 4"/>
          <p:cNvSpPr/>
          <p:nvPr/>
        </p:nvSpPr>
        <p:spPr>
          <a:xfrm>
            <a:off x="640080" y="2834640"/>
            <a:ext cx="4846320" cy="914400"/>
          </a:xfrm>
          <a:prstGeom prst="rect">
            <a:avLst/>
          </a:prstGeom>
          <a:noFill/>
          <a:ln/>
        </p:spPr>
        <p:txBody>
          <a:bodyPr wrap="square" lIns="0" tIns="0" rIns="0" bIns="0" rtlCol="0" anchor="t"/>
          <a:lstStyle/>
          <a:p>
            <a:pPr indent="0" marL="0">
              <a:lnSpc>
                <a:spcPts val="1800"/>
              </a:lnSpc>
              <a:buNone/>
            </a:pPr>
            <a:r>
              <a:rPr lang="en-US" sz="1300" dirty="0">
                <a:solidFill>
                  <a:srgbClr val="6B7784"/>
                </a:solidFill>
                <a:latin typeface="Calibri" pitchFamily="34" charset="0"/>
                <a:ea typeface="Calibri" pitchFamily="34" charset="-122"/>
                <a:cs typeface="Calibri" pitchFamily="34" charset="-120"/>
              </a:rPr>
              <a:t>So we discard the constant 3 and the lower-order terms, and say the algorithm is of order n². Asymptotic notation makes that discarding rigorous rather than sloppy.</a:t>
            </a:r>
            <a:endParaRPr lang="en-US" sz="1300" dirty="0"/>
          </a:p>
        </p:txBody>
      </p:sp>
      <p:sp>
        <p:nvSpPr>
          <p:cNvPr id="7" name="Shape 5"/>
          <p:cNvSpPr/>
          <p:nvPr/>
        </p:nvSpPr>
        <p:spPr>
          <a:xfrm>
            <a:off x="640080" y="3886200"/>
            <a:ext cx="4846320" cy="1828800"/>
          </a:xfrm>
          <a:prstGeom prst="roundRect">
            <a:avLst>
              <a:gd name="adj" fmla="val 3000"/>
            </a:avLst>
          </a:prstGeom>
          <a:solidFill>
            <a:srgbClr val="1B2129"/>
          </a:solidFill>
          <a:ln/>
          <a:effectLst>
            <a:outerShdw sx="100000" sy="100000" kx="0" ky="0" algn="bl" rotWithShape="0" blurRad="127000" dist="25400" dir="5400000">
              <a:srgbClr val="9AA6B2">
                <a:alpha val="22000"/>
              </a:srgbClr>
            </a:outerShdw>
          </a:effectLst>
        </p:spPr>
      </p:sp>
      <p:sp>
        <p:nvSpPr>
          <p:cNvPr id="8" name="Text 6"/>
          <p:cNvSpPr/>
          <p:nvPr/>
        </p:nvSpPr>
        <p:spPr>
          <a:xfrm>
            <a:off x="914400" y="4041648"/>
            <a:ext cx="4297680" cy="274320"/>
          </a:xfrm>
          <a:prstGeom prst="rect">
            <a:avLst/>
          </a:prstGeom>
          <a:noFill/>
          <a:ln/>
        </p:spPr>
        <p:txBody>
          <a:bodyPr wrap="square" lIns="0" tIns="0" rIns="0" bIns="0" rtlCol="0" anchor="t"/>
          <a:lstStyle/>
          <a:p>
            <a:pPr indent="0" marL="0">
              <a:buNone/>
            </a:pPr>
            <a:r>
              <a:rPr lang="en-US" sz="1300" b="1" dirty="0">
                <a:solidFill>
                  <a:srgbClr val="E8871E"/>
                </a:solidFill>
                <a:latin typeface="Calibri" pitchFamily="34" charset="0"/>
                <a:ea typeface="Calibri" pitchFamily="34" charset="-122"/>
                <a:cs typeface="Calibri" pitchFamily="34" charset="-120"/>
              </a:rPr>
              <a:t>Three habits to build</a:t>
            </a:r>
            <a:endParaRPr lang="en-US" sz="1300" dirty="0"/>
          </a:p>
        </p:txBody>
      </p:sp>
      <p:sp>
        <p:nvSpPr>
          <p:cNvPr id="9" name="Text 7"/>
          <p:cNvSpPr/>
          <p:nvPr/>
        </p:nvSpPr>
        <p:spPr>
          <a:xfrm>
            <a:off x="914400" y="4370832"/>
            <a:ext cx="4343400" cy="11887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C9D2DC"/>
                </a:solidFill>
                <a:latin typeface="Calibri" pitchFamily="34" charset="0"/>
                <a:ea typeface="Calibri" pitchFamily="34" charset="-122"/>
                <a:cs typeface="Calibri" pitchFamily="34" charset="-120"/>
              </a:rPr>
              <a:t>Drop constant multipliers</a:t>
            </a:r>
            <a:endParaRPr lang="en-US" sz="1250" dirty="0"/>
          </a:p>
          <a:p>
            <a:pPr marL="342900" indent="-342900">
              <a:spcAft>
                <a:spcPts val="800"/>
              </a:spcAft>
              <a:buSzPct val="100000"/>
              <a:buChar char="•"/>
            </a:pPr>
            <a:r>
              <a:rPr lang="en-US" sz="1250" dirty="0">
                <a:solidFill>
                  <a:srgbClr val="C9D2DC"/>
                </a:solidFill>
                <a:latin typeface="Calibri" pitchFamily="34" charset="0"/>
                <a:ea typeface="Calibri" pitchFamily="34" charset="-122"/>
                <a:cs typeface="Calibri" pitchFamily="34" charset="-120"/>
              </a:rPr>
              <a:t>Keep only the fastest-growing term</a:t>
            </a:r>
            <a:endParaRPr lang="en-US" sz="1250" dirty="0"/>
          </a:p>
          <a:p>
            <a:pPr marL="342900" indent="-342900">
              <a:spcAft>
                <a:spcPts val="800"/>
              </a:spcAft>
              <a:buSzPct val="100000"/>
              <a:buChar char="•"/>
            </a:pPr>
            <a:r>
              <a:rPr lang="en-US" sz="1250" dirty="0">
                <a:solidFill>
                  <a:srgbClr val="C9D2DC"/>
                </a:solidFill>
                <a:latin typeface="Calibri" pitchFamily="34" charset="0"/>
                <a:ea typeface="Calibri" pitchFamily="34" charset="-122"/>
                <a:cs typeface="Calibri" pitchFamily="34" charset="-120"/>
              </a:rPr>
              <a:t>Ask what happens as n → ∞, not at n = 5</a:t>
            </a:r>
            <a:endParaRPr lang="en-US" sz="1250" dirty="0"/>
          </a:p>
        </p:txBody>
      </p:sp>
      <p:graphicFrame>
        <p:nvGraphicFramePr>
          <p:cNvPr id="10" name="Chart 0" descr=""/>
          <p:cNvGraphicFramePr/>
          <p:nvPr/>
        </p:nvGraphicFramePr>
        <p:xfrm>
          <a:off x="5760720" y="1298448"/>
          <a:ext cx="5788152" cy="4416552"/>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UPPER BOUND</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Big-O notation — “grows no faster than”</a:t>
            </a:r>
            <a:endParaRPr lang="en-US" sz="3000" dirty="0"/>
          </a:p>
        </p:txBody>
      </p:sp>
      <p:sp>
        <p:nvSpPr>
          <p:cNvPr id="4" name="Shape 2"/>
          <p:cNvSpPr/>
          <p:nvPr/>
        </p:nvSpPr>
        <p:spPr>
          <a:xfrm>
            <a:off x="640080" y="1298448"/>
            <a:ext cx="5486400" cy="1508760"/>
          </a:xfrm>
          <a:prstGeom prst="roundRect">
            <a:avLst>
              <a:gd name="adj" fmla="val 3636"/>
            </a:avLst>
          </a:prstGeom>
          <a:solidFill>
            <a:srgbClr val="1B2129"/>
          </a:solidFill>
          <a:ln/>
          <a:effectLst>
            <a:outerShdw sx="100000" sy="100000" kx="0" ky="0" algn="bl" rotWithShape="0" blurRad="127000" dist="25400" dir="5400000">
              <a:srgbClr val="9AA6B2">
                <a:alpha val="22000"/>
              </a:srgbClr>
            </a:outerShdw>
          </a:effectLst>
        </p:spPr>
      </p:sp>
      <p:sp>
        <p:nvSpPr>
          <p:cNvPr id="5" name="Text 3"/>
          <p:cNvSpPr/>
          <p:nvPr/>
        </p:nvSpPr>
        <p:spPr>
          <a:xfrm>
            <a:off x="914400" y="1463040"/>
            <a:ext cx="5029200" cy="1188720"/>
          </a:xfrm>
          <a:prstGeom prst="rect">
            <a:avLst/>
          </a:prstGeom>
          <a:noFill/>
          <a:ln/>
        </p:spPr>
        <p:txBody>
          <a:bodyPr wrap="square" lIns="0" tIns="0" rIns="0" bIns="0" rtlCol="0" anchor="ctr"/>
          <a:lstStyle/>
          <a:p>
            <a:pPr indent="0" marL="0">
              <a:lnSpc>
                <a:spcPts val="2100"/>
              </a:lnSpc>
              <a:buNone/>
            </a:pPr>
            <a:r>
              <a:rPr lang="en-US" sz="1700" b="1" dirty="0">
                <a:solidFill>
                  <a:srgbClr val="E8871E"/>
                </a:solidFill>
                <a:latin typeface="Courier New" pitchFamily="34" charset="0"/>
                <a:ea typeface="Courier New" pitchFamily="34" charset="-122"/>
                <a:cs typeface="Courier New" pitchFamily="34" charset="-120"/>
              </a:rPr>
              <a:t>f(n) = O(g(n))</a:t>
            </a:r>
            <a:endParaRPr lang="en-US" sz="1700" dirty="0"/>
          </a:p>
          <a:p>
            <a:pPr indent="0" marL="0">
              <a:lnSpc>
                <a:spcPts val="2100"/>
              </a:lnSpc>
              <a:buNone/>
            </a:pPr>
            <a:r>
              <a:rPr lang="en-US" sz="1250" dirty="0">
                <a:solidFill>
                  <a:srgbClr val="C9D2DC"/>
                </a:solidFill>
                <a:latin typeface="Calibri" pitchFamily="34" charset="0"/>
                <a:ea typeface="Calibri" pitchFamily="34" charset="-122"/>
                <a:cs typeface="Calibri" pitchFamily="34" charset="-120"/>
              </a:rPr>
              <a:t>if there exist positive constants c and n₀ such that</a:t>
            </a:r>
            <a:endParaRPr lang="en-US" sz="1700" dirty="0"/>
          </a:p>
          <a:p>
            <a:pPr indent="0" marL="0">
              <a:lnSpc>
                <a:spcPts val="2100"/>
              </a:lnSpc>
              <a:buNone/>
            </a:pPr>
            <a:r>
              <a:rPr lang="en-US" sz="1400" b="1" dirty="0">
                <a:solidFill>
                  <a:srgbClr val="FFFFFF"/>
                </a:solidFill>
                <a:latin typeface="Courier New" pitchFamily="34" charset="0"/>
                <a:ea typeface="Courier New" pitchFamily="34" charset="-122"/>
                <a:cs typeface="Courier New" pitchFamily="34" charset="-120"/>
              </a:rPr>
              <a:t>0 ≤ f(n) ≤ c · g(n)   for all n ≥ n₀</a:t>
            </a:r>
            <a:endParaRPr lang="en-US" sz="1700" dirty="0"/>
          </a:p>
        </p:txBody>
      </p:sp>
      <p:sp>
        <p:nvSpPr>
          <p:cNvPr id="6" name="Shape 4"/>
          <p:cNvSpPr/>
          <p:nvPr/>
        </p:nvSpPr>
        <p:spPr>
          <a:xfrm>
            <a:off x="640080" y="2935224"/>
            <a:ext cx="310896" cy="310896"/>
          </a:xfrm>
          <a:prstGeom prst="ellipse">
            <a:avLst/>
          </a:prstGeom>
          <a:solidFill>
            <a:srgbClr val="FDF0E0"/>
          </a:solidFill>
          <a:ln/>
        </p:spPr>
      </p:sp>
      <p:sp>
        <p:nvSpPr>
          <p:cNvPr id="7" name="Text 5"/>
          <p:cNvSpPr/>
          <p:nvPr/>
        </p:nvSpPr>
        <p:spPr>
          <a:xfrm>
            <a:off x="640080" y="2935224"/>
            <a:ext cx="310896" cy="310896"/>
          </a:xfrm>
          <a:prstGeom prst="rect">
            <a:avLst/>
          </a:prstGeom>
          <a:noFill/>
          <a:ln/>
        </p:spPr>
        <p:txBody>
          <a:bodyPr wrap="square" lIns="0" tIns="0" rIns="0" bIns="0" rtlCol="0" anchor="ctr"/>
          <a:lstStyle/>
          <a:p>
            <a:pPr algn="ctr" indent="0" marL="0">
              <a:buNone/>
            </a:pPr>
            <a:r>
              <a:rPr lang="en-US" sz="1200" b="1" dirty="0">
                <a:solidFill>
                  <a:srgbClr val="A85F0C"/>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078992" y="2971800"/>
            <a:ext cx="4937760" cy="256032"/>
          </a:xfrm>
          <a:prstGeom prst="rect">
            <a:avLst/>
          </a:prstGeom>
          <a:noFill/>
          <a:ln/>
        </p:spPr>
        <p:txBody>
          <a:bodyPr wrap="square" lIns="0" tIns="0" rIns="0" bIns="0" rtlCol="0" anchor="t"/>
          <a:lstStyle/>
          <a:p>
            <a:pPr indent="0" marL="0">
              <a:buNone/>
            </a:pPr>
            <a:r>
              <a:rPr lang="en-US" sz="1300" b="1" dirty="0">
                <a:solidFill>
                  <a:srgbClr val="12161C"/>
                </a:solidFill>
                <a:latin typeface="Calibri" pitchFamily="34" charset="0"/>
                <a:ea typeface="Calibri" pitchFamily="34" charset="-122"/>
                <a:cs typeface="Calibri" pitchFamily="34" charset="-120"/>
              </a:rPr>
              <a:t>What it says</a:t>
            </a:r>
            <a:endParaRPr lang="en-US" sz="1300" dirty="0"/>
          </a:p>
        </p:txBody>
      </p:sp>
      <p:sp>
        <p:nvSpPr>
          <p:cNvPr id="9" name="Text 7"/>
          <p:cNvSpPr/>
          <p:nvPr/>
        </p:nvSpPr>
        <p:spPr>
          <a:xfrm>
            <a:off x="1078992" y="3246120"/>
            <a:ext cx="4983480" cy="621792"/>
          </a:xfrm>
          <a:prstGeom prst="rect">
            <a:avLst/>
          </a:prstGeom>
          <a:noFill/>
          <a:ln/>
        </p:spPr>
        <p:txBody>
          <a:bodyPr wrap="square" lIns="0" tIns="0" rIns="0" bIns="0" rtlCol="0" anchor="t"/>
          <a:lstStyle/>
          <a:p>
            <a:pPr indent="0" marL="0">
              <a:lnSpc>
                <a:spcPts val="1550"/>
              </a:lnSpc>
              <a:buNone/>
            </a:pPr>
            <a:r>
              <a:rPr lang="en-US" sz="1200" dirty="0">
                <a:solidFill>
                  <a:srgbClr val="6B7784"/>
                </a:solidFill>
                <a:latin typeface="Calibri" pitchFamily="34" charset="0"/>
                <a:ea typeface="Calibri" pitchFamily="34" charset="-122"/>
                <a:cs typeface="Calibri" pitchFamily="34" charset="-120"/>
              </a:rPr>
              <a:t>g(n) is a ceiling on f(n) beyond some point. The algorithm will never be slower than this order.</a:t>
            </a:r>
            <a:endParaRPr lang="en-US" sz="1200" dirty="0"/>
          </a:p>
        </p:txBody>
      </p:sp>
      <p:sp>
        <p:nvSpPr>
          <p:cNvPr id="10" name="Shape 8"/>
          <p:cNvSpPr/>
          <p:nvPr/>
        </p:nvSpPr>
        <p:spPr>
          <a:xfrm>
            <a:off x="640080" y="3895344"/>
            <a:ext cx="310896" cy="310896"/>
          </a:xfrm>
          <a:prstGeom prst="ellipse">
            <a:avLst/>
          </a:prstGeom>
          <a:solidFill>
            <a:srgbClr val="FDF0E0"/>
          </a:solidFill>
          <a:ln/>
        </p:spPr>
      </p:sp>
      <p:sp>
        <p:nvSpPr>
          <p:cNvPr id="11" name="Text 9"/>
          <p:cNvSpPr/>
          <p:nvPr/>
        </p:nvSpPr>
        <p:spPr>
          <a:xfrm>
            <a:off x="640080" y="3895344"/>
            <a:ext cx="310896" cy="310896"/>
          </a:xfrm>
          <a:prstGeom prst="rect">
            <a:avLst/>
          </a:prstGeom>
          <a:noFill/>
          <a:ln/>
        </p:spPr>
        <p:txBody>
          <a:bodyPr wrap="square" lIns="0" tIns="0" rIns="0" bIns="0" rtlCol="0" anchor="ctr"/>
          <a:lstStyle/>
          <a:p>
            <a:pPr algn="ctr" indent="0" marL="0">
              <a:buNone/>
            </a:pPr>
            <a:r>
              <a:rPr lang="en-US" sz="1200" b="1" dirty="0">
                <a:solidFill>
                  <a:srgbClr val="A85F0C"/>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078992" y="3931920"/>
            <a:ext cx="4937760" cy="256032"/>
          </a:xfrm>
          <a:prstGeom prst="rect">
            <a:avLst/>
          </a:prstGeom>
          <a:noFill/>
          <a:ln/>
        </p:spPr>
        <p:txBody>
          <a:bodyPr wrap="square" lIns="0" tIns="0" rIns="0" bIns="0" rtlCol="0" anchor="t"/>
          <a:lstStyle/>
          <a:p>
            <a:pPr indent="0" marL="0">
              <a:buNone/>
            </a:pPr>
            <a:r>
              <a:rPr lang="en-US" sz="1300" b="1" dirty="0">
                <a:solidFill>
                  <a:srgbClr val="12161C"/>
                </a:solidFill>
                <a:latin typeface="Calibri" pitchFamily="34" charset="0"/>
                <a:ea typeface="Calibri" pitchFamily="34" charset="-122"/>
                <a:cs typeface="Calibri" pitchFamily="34" charset="-120"/>
              </a:rPr>
              <a:t>Which case</a:t>
            </a:r>
            <a:endParaRPr lang="en-US" sz="1300" dirty="0"/>
          </a:p>
        </p:txBody>
      </p:sp>
      <p:sp>
        <p:nvSpPr>
          <p:cNvPr id="13" name="Text 11"/>
          <p:cNvSpPr/>
          <p:nvPr/>
        </p:nvSpPr>
        <p:spPr>
          <a:xfrm>
            <a:off x="1078992" y="4206240"/>
            <a:ext cx="4983480" cy="621792"/>
          </a:xfrm>
          <a:prstGeom prst="rect">
            <a:avLst/>
          </a:prstGeom>
          <a:noFill/>
          <a:ln/>
        </p:spPr>
        <p:txBody>
          <a:bodyPr wrap="square" lIns="0" tIns="0" rIns="0" bIns="0" rtlCol="0" anchor="t"/>
          <a:lstStyle/>
          <a:p>
            <a:pPr indent="0" marL="0">
              <a:lnSpc>
                <a:spcPts val="1550"/>
              </a:lnSpc>
              <a:buNone/>
            </a:pPr>
            <a:r>
              <a:rPr lang="en-US" sz="1200" dirty="0">
                <a:solidFill>
                  <a:srgbClr val="6B7784"/>
                </a:solidFill>
                <a:latin typeface="Calibri" pitchFamily="34" charset="0"/>
                <a:ea typeface="Calibri" pitchFamily="34" charset="-122"/>
                <a:cs typeface="Calibri" pitchFamily="34" charset="-120"/>
              </a:rPr>
              <a:t>Most often used for the worst case, but it can bound any case.</a:t>
            </a:r>
            <a:endParaRPr lang="en-US" sz="1200" dirty="0"/>
          </a:p>
        </p:txBody>
      </p:sp>
      <p:sp>
        <p:nvSpPr>
          <p:cNvPr id="14" name="Shape 12"/>
          <p:cNvSpPr/>
          <p:nvPr/>
        </p:nvSpPr>
        <p:spPr>
          <a:xfrm>
            <a:off x="640080" y="4855464"/>
            <a:ext cx="310896" cy="310896"/>
          </a:xfrm>
          <a:prstGeom prst="ellipse">
            <a:avLst/>
          </a:prstGeom>
          <a:solidFill>
            <a:srgbClr val="FDF0E0"/>
          </a:solidFill>
          <a:ln/>
        </p:spPr>
      </p:sp>
      <p:sp>
        <p:nvSpPr>
          <p:cNvPr id="15" name="Text 13"/>
          <p:cNvSpPr/>
          <p:nvPr/>
        </p:nvSpPr>
        <p:spPr>
          <a:xfrm>
            <a:off x="640080" y="4855464"/>
            <a:ext cx="310896" cy="310896"/>
          </a:xfrm>
          <a:prstGeom prst="rect">
            <a:avLst/>
          </a:prstGeom>
          <a:noFill/>
          <a:ln/>
        </p:spPr>
        <p:txBody>
          <a:bodyPr wrap="square" lIns="0" tIns="0" rIns="0" bIns="0" rtlCol="0" anchor="ctr"/>
          <a:lstStyle/>
          <a:p>
            <a:pPr algn="ctr" indent="0" marL="0">
              <a:buNone/>
            </a:pPr>
            <a:r>
              <a:rPr lang="en-US" sz="1200" b="1" dirty="0">
                <a:solidFill>
                  <a:srgbClr val="A85F0C"/>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078992" y="4892040"/>
            <a:ext cx="4937760" cy="256032"/>
          </a:xfrm>
          <a:prstGeom prst="rect">
            <a:avLst/>
          </a:prstGeom>
          <a:noFill/>
          <a:ln/>
        </p:spPr>
        <p:txBody>
          <a:bodyPr wrap="square" lIns="0" tIns="0" rIns="0" bIns="0" rtlCol="0" anchor="t"/>
          <a:lstStyle/>
          <a:p>
            <a:pPr indent="0" marL="0">
              <a:buNone/>
            </a:pPr>
            <a:r>
              <a:rPr lang="en-US" sz="1300" b="1" dirty="0">
                <a:solidFill>
                  <a:srgbClr val="12161C"/>
                </a:solidFill>
                <a:latin typeface="Calibri" pitchFamily="34" charset="0"/>
                <a:ea typeface="Calibri" pitchFamily="34" charset="-122"/>
                <a:cs typeface="Calibri" pitchFamily="34" charset="-120"/>
              </a:rPr>
              <a:t>Watch out</a:t>
            </a:r>
            <a:endParaRPr lang="en-US" sz="1300" dirty="0"/>
          </a:p>
        </p:txBody>
      </p:sp>
      <p:sp>
        <p:nvSpPr>
          <p:cNvPr id="17" name="Text 15"/>
          <p:cNvSpPr/>
          <p:nvPr/>
        </p:nvSpPr>
        <p:spPr>
          <a:xfrm>
            <a:off x="1078992" y="5166360"/>
            <a:ext cx="4983480" cy="621792"/>
          </a:xfrm>
          <a:prstGeom prst="rect">
            <a:avLst/>
          </a:prstGeom>
          <a:noFill/>
          <a:ln/>
        </p:spPr>
        <p:txBody>
          <a:bodyPr wrap="square" lIns="0" tIns="0" rIns="0" bIns="0" rtlCol="0" anchor="t"/>
          <a:lstStyle/>
          <a:p>
            <a:pPr indent="0" marL="0">
              <a:lnSpc>
                <a:spcPts val="1550"/>
              </a:lnSpc>
              <a:buNone/>
            </a:pPr>
            <a:r>
              <a:rPr lang="en-US" sz="1200" dirty="0">
                <a:solidFill>
                  <a:srgbClr val="6B7784"/>
                </a:solidFill>
                <a:latin typeface="Calibri" pitchFamily="34" charset="0"/>
                <a:ea typeface="Calibri" pitchFamily="34" charset="-122"/>
                <a:cs typeface="Calibri" pitchFamily="34" charset="-120"/>
              </a:rPr>
              <a:t>3n + 2 = O(n²) is a true statement — just not a tight one. Always give the tightest bound you can.</a:t>
            </a:r>
            <a:endParaRPr lang="en-US" sz="1200" dirty="0"/>
          </a:p>
        </p:txBody>
      </p:sp>
      <p:sp>
        <p:nvSpPr>
          <p:cNvPr id="18" name="Shape 16"/>
          <p:cNvSpPr/>
          <p:nvPr/>
        </p:nvSpPr>
        <p:spPr>
          <a:xfrm>
            <a:off x="6400800" y="1298448"/>
            <a:ext cx="5148072" cy="4206240"/>
          </a:xfrm>
          <a:prstGeom prst="roundRect">
            <a:avLst>
              <a:gd name="adj" fmla="val 1304"/>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19" name="Shape 17"/>
          <p:cNvSpPr/>
          <p:nvPr/>
        </p:nvSpPr>
        <p:spPr>
          <a:xfrm>
            <a:off x="6812280" y="1691640"/>
            <a:ext cx="914" cy="3063240"/>
          </a:xfrm>
          <a:prstGeom prst="line">
            <a:avLst/>
          </a:prstGeom>
          <a:noFill/>
          <a:ln w="15875">
            <a:solidFill>
              <a:srgbClr val="6B7784"/>
            </a:solidFill>
            <a:prstDash val="solid"/>
          </a:ln>
        </p:spPr>
      </p:sp>
      <p:sp>
        <p:nvSpPr>
          <p:cNvPr id="20" name="Shape 18"/>
          <p:cNvSpPr/>
          <p:nvPr/>
        </p:nvSpPr>
        <p:spPr>
          <a:xfrm>
            <a:off x="6812280" y="4754880"/>
            <a:ext cx="3657600" cy="914"/>
          </a:xfrm>
          <a:prstGeom prst="line">
            <a:avLst/>
          </a:prstGeom>
          <a:noFill/>
          <a:ln w="15875">
            <a:solidFill>
              <a:srgbClr val="6B7784"/>
            </a:solidFill>
            <a:prstDash val="solid"/>
          </a:ln>
        </p:spPr>
      </p:sp>
      <p:sp>
        <p:nvSpPr>
          <p:cNvPr id="21" name="Text 19"/>
          <p:cNvSpPr/>
          <p:nvPr/>
        </p:nvSpPr>
        <p:spPr>
          <a:xfrm>
            <a:off x="9372600" y="4846320"/>
            <a:ext cx="1188720" cy="228600"/>
          </a:xfrm>
          <a:prstGeom prst="rect">
            <a:avLst/>
          </a:prstGeom>
          <a:noFill/>
          <a:ln/>
        </p:spPr>
        <p:txBody>
          <a:bodyPr wrap="square" lIns="0" tIns="0" rIns="0" bIns="0" rtlCol="0" anchor="t"/>
          <a:lstStyle/>
          <a:p>
            <a:pPr algn="r" indent="0" marL="0">
              <a:buNone/>
            </a:pPr>
            <a:r>
              <a:rPr lang="en-US" sz="1100" i="1" dirty="0">
                <a:solidFill>
                  <a:srgbClr val="6B7784"/>
                </a:solidFill>
                <a:latin typeface="Calibri" pitchFamily="34" charset="0"/>
                <a:ea typeface="Calibri" pitchFamily="34" charset="-122"/>
                <a:cs typeface="Calibri" pitchFamily="34" charset="-120"/>
              </a:rPr>
              <a:t>n</a:t>
            </a:r>
            <a:endParaRPr lang="en-US" sz="1100" dirty="0"/>
          </a:p>
        </p:txBody>
      </p:sp>
      <p:sp>
        <p:nvSpPr>
          <p:cNvPr id="22" name="Text 20"/>
          <p:cNvSpPr/>
          <p:nvPr/>
        </p:nvSpPr>
        <p:spPr>
          <a:xfrm>
            <a:off x="6766560" y="1417320"/>
            <a:ext cx="1828800" cy="228600"/>
          </a:xfrm>
          <a:prstGeom prst="rect">
            <a:avLst/>
          </a:prstGeom>
          <a:noFill/>
          <a:ln/>
        </p:spPr>
        <p:txBody>
          <a:bodyPr wrap="square" lIns="0" tIns="0" rIns="0" bIns="0" rtlCol="0" anchor="t"/>
          <a:lstStyle/>
          <a:p>
            <a:pPr indent="0" marL="0">
              <a:buNone/>
            </a:pPr>
            <a:r>
              <a:rPr lang="en-US" sz="1100" i="1" dirty="0">
                <a:solidFill>
                  <a:srgbClr val="6B7784"/>
                </a:solidFill>
                <a:latin typeface="Calibri" pitchFamily="34" charset="0"/>
                <a:ea typeface="Calibri" pitchFamily="34" charset="-122"/>
                <a:cs typeface="Calibri" pitchFamily="34" charset="-120"/>
              </a:rPr>
              <a:t>cost</a:t>
            </a:r>
            <a:endParaRPr lang="en-US" sz="1100" dirty="0"/>
          </a:p>
        </p:txBody>
      </p:sp>
      <p:sp>
        <p:nvSpPr>
          <p:cNvPr id="23" name="Shape 21"/>
          <p:cNvSpPr/>
          <p:nvPr/>
        </p:nvSpPr>
        <p:spPr>
          <a:xfrm flipV="1">
            <a:off x="6812280" y="4257104"/>
            <a:ext cx="182880" cy="130188"/>
          </a:xfrm>
          <a:prstGeom prst="line">
            <a:avLst/>
          </a:prstGeom>
          <a:noFill/>
          <a:ln w="31750">
            <a:solidFill>
              <a:srgbClr val="E8871E"/>
            </a:solidFill>
            <a:prstDash val="solid"/>
          </a:ln>
        </p:spPr>
      </p:sp>
      <p:sp>
        <p:nvSpPr>
          <p:cNvPr id="24" name="Shape 22"/>
          <p:cNvSpPr/>
          <p:nvPr/>
        </p:nvSpPr>
        <p:spPr>
          <a:xfrm flipV="1">
            <a:off x="6995160" y="4126916"/>
            <a:ext cx="182880" cy="130188"/>
          </a:xfrm>
          <a:prstGeom prst="line">
            <a:avLst/>
          </a:prstGeom>
          <a:noFill/>
          <a:ln w="31750">
            <a:solidFill>
              <a:srgbClr val="E8871E"/>
            </a:solidFill>
            <a:prstDash val="solid"/>
          </a:ln>
        </p:spPr>
      </p:sp>
      <p:sp>
        <p:nvSpPr>
          <p:cNvPr id="25" name="Shape 23"/>
          <p:cNvSpPr/>
          <p:nvPr/>
        </p:nvSpPr>
        <p:spPr>
          <a:xfrm flipV="1">
            <a:off x="7178040" y="3996728"/>
            <a:ext cx="182880" cy="130188"/>
          </a:xfrm>
          <a:prstGeom prst="line">
            <a:avLst/>
          </a:prstGeom>
          <a:noFill/>
          <a:ln w="31750">
            <a:solidFill>
              <a:srgbClr val="E8871E"/>
            </a:solidFill>
            <a:prstDash val="solid"/>
          </a:ln>
        </p:spPr>
      </p:sp>
      <p:sp>
        <p:nvSpPr>
          <p:cNvPr id="26" name="Shape 24"/>
          <p:cNvSpPr/>
          <p:nvPr/>
        </p:nvSpPr>
        <p:spPr>
          <a:xfrm flipV="1">
            <a:off x="7360920" y="3866540"/>
            <a:ext cx="182880" cy="130188"/>
          </a:xfrm>
          <a:prstGeom prst="line">
            <a:avLst/>
          </a:prstGeom>
          <a:noFill/>
          <a:ln w="31750">
            <a:solidFill>
              <a:srgbClr val="E8871E"/>
            </a:solidFill>
            <a:prstDash val="solid"/>
          </a:ln>
        </p:spPr>
      </p:sp>
      <p:sp>
        <p:nvSpPr>
          <p:cNvPr id="27" name="Shape 25"/>
          <p:cNvSpPr/>
          <p:nvPr/>
        </p:nvSpPr>
        <p:spPr>
          <a:xfrm flipV="1">
            <a:off x="7543800" y="3736353"/>
            <a:ext cx="182880" cy="130188"/>
          </a:xfrm>
          <a:prstGeom prst="line">
            <a:avLst/>
          </a:prstGeom>
          <a:noFill/>
          <a:ln w="31750">
            <a:solidFill>
              <a:srgbClr val="E8871E"/>
            </a:solidFill>
            <a:prstDash val="solid"/>
          </a:ln>
        </p:spPr>
      </p:sp>
      <p:sp>
        <p:nvSpPr>
          <p:cNvPr id="28" name="Shape 26"/>
          <p:cNvSpPr/>
          <p:nvPr/>
        </p:nvSpPr>
        <p:spPr>
          <a:xfrm flipV="1">
            <a:off x="7726680" y="3606165"/>
            <a:ext cx="182880" cy="130188"/>
          </a:xfrm>
          <a:prstGeom prst="line">
            <a:avLst/>
          </a:prstGeom>
          <a:noFill/>
          <a:ln w="31750">
            <a:solidFill>
              <a:srgbClr val="E8871E"/>
            </a:solidFill>
            <a:prstDash val="solid"/>
          </a:ln>
        </p:spPr>
      </p:sp>
      <p:sp>
        <p:nvSpPr>
          <p:cNvPr id="29" name="Shape 27"/>
          <p:cNvSpPr/>
          <p:nvPr/>
        </p:nvSpPr>
        <p:spPr>
          <a:xfrm flipV="1">
            <a:off x="7909560" y="3475977"/>
            <a:ext cx="182880" cy="130188"/>
          </a:xfrm>
          <a:prstGeom prst="line">
            <a:avLst/>
          </a:prstGeom>
          <a:noFill/>
          <a:ln w="31750">
            <a:solidFill>
              <a:srgbClr val="E8871E"/>
            </a:solidFill>
            <a:prstDash val="solid"/>
          </a:ln>
        </p:spPr>
      </p:sp>
      <p:sp>
        <p:nvSpPr>
          <p:cNvPr id="30" name="Shape 28"/>
          <p:cNvSpPr/>
          <p:nvPr/>
        </p:nvSpPr>
        <p:spPr>
          <a:xfrm flipV="1">
            <a:off x="8092440" y="3345790"/>
            <a:ext cx="182880" cy="130188"/>
          </a:xfrm>
          <a:prstGeom prst="line">
            <a:avLst/>
          </a:prstGeom>
          <a:noFill/>
          <a:ln w="31750">
            <a:solidFill>
              <a:srgbClr val="E8871E"/>
            </a:solidFill>
            <a:prstDash val="solid"/>
          </a:ln>
        </p:spPr>
      </p:sp>
      <p:sp>
        <p:nvSpPr>
          <p:cNvPr id="31" name="Shape 29"/>
          <p:cNvSpPr/>
          <p:nvPr/>
        </p:nvSpPr>
        <p:spPr>
          <a:xfrm flipV="1">
            <a:off x="8275320" y="3215602"/>
            <a:ext cx="182880" cy="130188"/>
          </a:xfrm>
          <a:prstGeom prst="line">
            <a:avLst/>
          </a:prstGeom>
          <a:noFill/>
          <a:ln w="31750">
            <a:solidFill>
              <a:srgbClr val="E8871E"/>
            </a:solidFill>
            <a:prstDash val="solid"/>
          </a:ln>
        </p:spPr>
      </p:sp>
      <p:sp>
        <p:nvSpPr>
          <p:cNvPr id="32" name="Shape 30"/>
          <p:cNvSpPr/>
          <p:nvPr/>
        </p:nvSpPr>
        <p:spPr>
          <a:xfrm flipV="1">
            <a:off x="8458200" y="3085414"/>
            <a:ext cx="182880" cy="130188"/>
          </a:xfrm>
          <a:prstGeom prst="line">
            <a:avLst/>
          </a:prstGeom>
          <a:noFill/>
          <a:ln w="31750">
            <a:solidFill>
              <a:srgbClr val="E8871E"/>
            </a:solidFill>
            <a:prstDash val="solid"/>
          </a:ln>
        </p:spPr>
      </p:sp>
      <p:sp>
        <p:nvSpPr>
          <p:cNvPr id="33" name="Shape 31"/>
          <p:cNvSpPr/>
          <p:nvPr/>
        </p:nvSpPr>
        <p:spPr>
          <a:xfrm flipV="1">
            <a:off x="8641080" y="2955227"/>
            <a:ext cx="182880" cy="130188"/>
          </a:xfrm>
          <a:prstGeom prst="line">
            <a:avLst/>
          </a:prstGeom>
          <a:noFill/>
          <a:ln w="31750">
            <a:solidFill>
              <a:srgbClr val="E8871E"/>
            </a:solidFill>
            <a:prstDash val="solid"/>
          </a:ln>
        </p:spPr>
      </p:sp>
      <p:sp>
        <p:nvSpPr>
          <p:cNvPr id="34" name="Shape 32"/>
          <p:cNvSpPr/>
          <p:nvPr/>
        </p:nvSpPr>
        <p:spPr>
          <a:xfrm flipV="1">
            <a:off x="8823960" y="2825039"/>
            <a:ext cx="182880" cy="130188"/>
          </a:xfrm>
          <a:prstGeom prst="line">
            <a:avLst/>
          </a:prstGeom>
          <a:noFill/>
          <a:ln w="31750">
            <a:solidFill>
              <a:srgbClr val="E8871E"/>
            </a:solidFill>
            <a:prstDash val="solid"/>
          </a:ln>
        </p:spPr>
      </p:sp>
      <p:sp>
        <p:nvSpPr>
          <p:cNvPr id="35" name="Shape 33"/>
          <p:cNvSpPr/>
          <p:nvPr/>
        </p:nvSpPr>
        <p:spPr>
          <a:xfrm flipV="1">
            <a:off x="9006840" y="2694851"/>
            <a:ext cx="182880" cy="130188"/>
          </a:xfrm>
          <a:prstGeom prst="line">
            <a:avLst/>
          </a:prstGeom>
          <a:noFill/>
          <a:ln w="31750">
            <a:solidFill>
              <a:srgbClr val="E8871E"/>
            </a:solidFill>
            <a:prstDash val="solid"/>
          </a:ln>
        </p:spPr>
      </p:sp>
      <p:sp>
        <p:nvSpPr>
          <p:cNvPr id="36" name="Shape 34"/>
          <p:cNvSpPr/>
          <p:nvPr/>
        </p:nvSpPr>
        <p:spPr>
          <a:xfrm flipV="1">
            <a:off x="9189720" y="2564663"/>
            <a:ext cx="182880" cy="130188"/>
          </a:xfrm>
          <a:prstGeom prst="line">
            <a:avLst/>
          </a:prstGeom>
          <a:noFill/>
          <a:ln w="31750">
            <a:solidFill>
              <a:srgbClr val="E8871E"/>
            </a:solidFill>
            <a:prstDash val="solid"/>
          </a:ln>
        </p:spPr>
      </p:sp>
      <p:sp>
        <p:nvSpPr>
          <p:cNvPr id="37" name="Shape 35"/>
          <p:cNvSpPr/>
          <p:nvPr/>
        </p:nvSpPr>
        <p:spPr>
          <a:xfrm flipV="1">
            <a:off x="9372600" y="2434476"/>
            <a:ext cx="182880" cy="130188"/>
          </a:xfrm>
          <a:prstGeom prst="line">
            <a:avLst/>
          </a:prstGeom>
          <a:noFill/>
          <a:ln w="31750">
            <a:solidFill>
              <a:srgbClr val="E8871E"/>
            </a:solidFill>
            <a:prstDash val="solid"/>
          </a:ln>
        </p:spPr>
      </p:sp>
      <p:sp>
        <p:nvSpPr>
          <p:cNvPr id="38" name="Shape 36"/>
          <p:cNvSpPr/>
          <p:nvPr/>
        </p:nvSpPr>
        <p:spPr>
          <a:xfrm flipV="1">
            <a:off x="9555480" y="2304288"/>
            <a:ext cx="182880" cy="130188"/>
          </a:xfrm>
          <a:prstGeom prst="line">
            <a:avLst/>
          </a:prstGeom>
          <a:noFill/>
          <a:ln w="31750">
            <a:solidFill>
              <a:srgbClr val="E8871E"/>
            </a:solidFill>
            <a:prstDash val="solid"/>
          </a:ln>
        </p:spPr>
      </p:sp>
      <p:sp>
        <p:nvSpPr>
          <p:cNvPr id="39" name="Shape 37"/>
          <p:cNvSpPr/>
          <p:nvPr/>
        </p:nvSpPr>
        <p:spPr>
          <a:xfrm flipV="1">
            <a:off x="9738360" y="2174100"/>
            <a:ext cx="182880" cy="130188"/>
          </a:xfrm>
          <a:prstGeom prst="line">
            <a:avLst/>
          </a:prstGeom>
          <a:noFill/>
          <a:ln w="31750">
            <a:solidFill>
              <a:srgbClr val="E8871E"/>
            </a:solidFill>
            <a:prstDash val="solid"/>
          </a:ln>
        </p:spPr>
      </p:sp>
      <p:sp>
        <p:nvSpPr>
          <p:cNvPr id="40" name="Shape 38"/>
          <p:cNvSpPr/>
          <p:nvPr/>
        </p:nvSpPr>
        <p:spPr>
          <a:xfrm flipV="1">
            <a:off x="9921240" y="2043913"/>
            <a:ext cx="182880" cy="130188"/>
          </a:xfrm>
          <a:prstGeom prst="line">
            <a:avLst/>
          </a:prstGeom>
          <a:noFill/>
          <a:ln w="31750">
            <a:solidFill>
              <a:srgbClr val="E8871E"/>
            </a:solidFill>
            <a:prstDash val="solid"/>
          </a:ln>
        </p:spPr>
      </p:sp>
      <p:sp>
        <p:nvSpPr>
          <p:cNvPr id="41" name="Shape 39"/>
          <p:cNvSpPr/>
          <p:nvPr/>
        </p:nvSpPr>
        <p:spPr>
          <a:xfrm flipV="1">
            <a:off x="10104120" y="1913725"/>
            <a:ext cx="182880" cy="130188"/>
          </a:xfrm>
          <a:prstGeom prst="line">
            <a:avLst/>
          </a:prstGeom>
          <a:noFill/>
          <a:ln w="31750">
            <a:solidFill>
              <a:srgbClr val="E8871E"/>
            </a:solidFill>
            <a:prstDash val="solid"/>
          </a:ln>
        </p:spPr>
      </p:sp>
      <p:sp>
        <p:nvSpPr>
          <p:cNvPr id="42" name="Shape 40"/>
          <p:cNvSpPr/>
          <p:nvPr/>
        </p:nvSpPr>
        <p:spPr>
          <a:xfrm flipV="1">
            <a:off x="10287000" y="1783537"/>
            <a:ext cx="182880" cy="130188"/>
          </a:xfrm>
          <a:prstGeom prst="line">
            <a:avLst/>
          </a:prstGeom>
          <a:noFill/>
          <a:ln w="31750">
            <a:solidFill>
              <a:srgbClr val="E8871E"/>
            </a:solidFill>
            <a:prstDash val="solid"/>
          </a:ln>
        </p:spPr>
      </p:sp>
      <p:sp>
        <p:nvSpPr>
          <p:cNvPr id="43" name="Shape 41"/>
          <p:cNvSpPr/>
          <p:nvPr/>
        </p:nvSpPr>
        <p:spPr>
          <a:xfrm flipV="1">
            <a:off x="6812280" y="3976654"/>
            <a:ext cx="152400" cy="165578"/>
          </a:xfrm>
          <a:prstGeom prst="line">
            <a:avLst/>
          </a:prstGeom>
          <a:noFill/>
          <a:ln w="31750">
            <a:solidFill>
              <a:srgbClr val="0E7C86"/>
            </a:solidFill>
            <a:prstDash val="solid"/>
          </a:ln>
        </p:spPr>
      </p:sp>
      <p:sp>
        <p:nvSpPr>
          <p:cNvPr id="44" name="Shape 42"/>
          <p:cNvSpPr/>
          <p:nvPr/>
        </p:nvSpPr>
        <p:spPr>
          <a:xfrm flipV="1">
            <a:off x="6964680" y="3873249"/>
            <a:ext cx="152400" cy="103404"/>
          </a:xfrm>
          <a:prstGeom prst="line">
            <a:avLst/>
          </a:prstGeom>
          <a:noFill/>
          <a:ln w="31750">
            <a:solidFill>
              <a:srgbClr val="0E7C86"/>
            </a:solidFill>
            <a:prstDash val="solid"/>
          </a:ln>
        </p:spPr>
      </p:sp>
      <p:sp>
        <p:nvSpPr>
          <p:cNvPr id="45" name="Shape 43"/>
          <p:cNvSpPr/>
          <p:nvPr/>
        </p:nvSpPr>
        <p:spPr>
          <a:xfrm flipV="1">
            <a:off x="7117080" y="3784969"/>
            <a:ext cx="152400" cy="88280"/>
          </a:xfrm>
          <a:prstGeom prst="line">
            <a:avLst/>
          </a:prstGeom>
          <a:noFill/>
          <a:ln w="31750">
            <a:solidFill>
              <a:srgbClr val="0E7C86"/>
            </a:solidFill>
            <a:prstDash val="solid"/>
          </a:ln>
        </p:spPr>
      </p:sp>
      <p:sp>
        <p:nvSpPr>
          <p:cNvPr id="46" name="Shape 44"/>
          <p:cNvSpPr/>
          <p:nvPr/>
        </p:nvSpPr>
        <p:spPr>
          <a:xfrm flipV="1">
            <a:off x="7269480" y="3705269"/>
            <a:ext cx="152400" cy="79700"/>
          </a:xfrm>
          <a:prstGeom prst="line">
            <a:avLst/>
          </a:prstGeom>
          <a:noFill/>
          <a:ln w="31750">
            <a:solidFill>
              <a:srgbClr val="0E7C86"/>
            </a:solidFill>
            <a:prstDash val="solid"/>
          </a:ln>
        </p:spPr>
      </p:sp>
      <p:sp>
        <p:nvSpPr>
          <p:cNvPr id="47" name="Shape 45"/>
          <p:cNvSpPr/>
          <p:nvPr/>
        </p:nvSpPr>
        <p:spPr>
          <a:xfrm flipV="1">
            <a:off x="7421880" y="3631395"/>
            <a:ext cx="152400" cy="73873"/>
          </a:xfrm>
          <a:prstGeom prst="line">
            <a:avLst/>
          </a:prstGeom>
          <a:noFill/>
          <a:ln w="31750">
            <a:solidFill>
              <a:srgbClr val="0E7C86"/>
            </a:solidFill>
            <a:prstDash val="solid"/>
          </a:ln>
        </p:spPr>
      </p:sp>
      <p:sp>
        <p:nvSpPr>
          <p:cNvPr id="48" name="Shape 46"/>
          <p:cNvSpPr/>
          <p:nvPr/>
        </p:nvSpPr>
        <p:spPr>
          <a:xfrm flipV="1">
            <a:off x="7574280" y="3561857"/>
            <a:ext cx="152400" cy="69539"/>
          </a:xfrm>
          <a:prstGeom prst="line">
            <a:avLst/>
          </a:prstGeom>
          <a:noFill/>
          <a:ln w="31750">
            <a:solidFill>
              <a:srgbClr val="0E7C86"/>
            </a:solidFill>
            <a:prstDash val="solid"/>
          </a:ln>
        </p:spPr>
      </p:sp>
      <p:sp>
        <p:nvSpPr>
          <p:cNvPr id="49" name="Shape 47"/>
          <p:cNvSpPr/>
          <p:nvPr/>
        </p:nvSpPr>
        <p:spPr>
          <a:xfrm flipV="1">
            <a:off x="7726680" y="3495727"/>
            <a:ext cx="152400" cy="66129"/>
          </a:xfrm>
          <a:prstGeom prst="line">
            <a:avLst/>
          </a:prstGeom>
          <a:noFill/>
          <a:ln w="31750">
            <a:solidFill>
              <a:srgbClr val="0E7C86"/>
            </a:solidFill>
            <a:prstDash val="solid"/>
          </a:ln>
        </p:spPr>
      </p:sp>
      <p:sp>
        <p:nvSpPr>
          <p:cNvPr id="50" name="Shape 48"/>
          <p:cNvSpPr/>
          <p:nvPr/>
        </p:nvSpPr>
        <p:spPr>
          <a:xfrm flipV="1">
            <a:off x="7879080" y="3432383"/>
            <a:ext cx="152400" cy="63344"/>
          </a:xfrm>
          <a:prstGeom prst="line">
            <a:avLst/>
          </a:prstGeom>
          <a:noFill/>
          <a:ln w="31750">
            <a:solidFill>
              <a:srgbClr val="0E7C86"/>
            </a:solidFill>
            <a:prstDash val="solid"/>
          </a:ln>
        </p:spPr>
      </p:sp>
      <p:sp>
        <p:nvSpPr>
          <p:cNvPr id="51" name="Shape 49"/>
          <p:cNvSpPr/>
          <p:nvPr/>
        </p:nvSpPr>
        <p:spPr>
          <a:xfrm flipV="1">
            <a:off x="8031480" y="3371377"/>
            <a:ext cx="152400" cy="61006"/>
          </a:xfrm>
          <a:prstGeom prst="line">
            <a:avLst/>
          </a:prstGeom>
          <a:noFill/>
          <a:ln w="31750">
            <a:solidFill>
              <a:srgbClr val="0E7C86"/>
            </a:solidFill>
            <a:prstDash val="solid"/>
          </a:ln>
        </p:spPr>
      </p:sp>
      <p:sp>
        <p:nvSpPr>
          <p:cNvPr id="52" name="Shape 50"/>
          <p:cNvSpPr/>
          <p:nvPr/>
        </p:nvSpPr>
        <p:spPr>
          <a:xfrm flipV="1">
            <a:off x="8183880" y="3312375"/>
            <a:ext cx="152400" cy="59001"/>
          </a:xfrm>
          <a:prstGeom prst="line">
            <a:avLst/>
          </a:prstGeom>
          <a:noFill/>
          <a:ln w="31750">
            <a:solidFill>
              <a:srgbClr val="0E7C86"/>
            </a:solidFill>
            <a:prstDash val="solid"/>
          </a:ln>
        </p:spPr>
      </p:sp>
      <p:sp>
        <p:nvSpPr>
          <p:cNvPr id="53" name="Shape 51"/>
          <p:cNvSpPr/>
          <p:nvPr/>
        </p:nvSpPr>
        <p:spPr>
          <a:xfrm flipV="1">
            <a:off x="8336280" y="3255121"/>
            <a:ext cx="152400" cy="57254"/>
          </a:xfrm>
          <a:prstGeom prst="line">
            <a:avLst/>
          </a:prstGeom>
          <a:noFill/>
          <a:ln w="31750">
            <a:solidFill>
              <a:srgbClr val="0E7C86"/>
            </a:solidFill>
            <a:prstDash val="solid"/>
          </a:ln>
        </p:spPr>
      </p:sp>
      <p:sp>
        <p:nvSpPr>
          <p:cNvPr id="54" name="Shape 52"/>
          <p:cNvSpPr/>
          <p:nvPr/>
        </p:nvSpPr>
        <p:spPr>
          <a:xfrm flipV="1">
            <a:off x="8488680" y="3199409"/>
            <a:ext cx="152400" cy="55712"/>
          </a:xfrm>
          <a:prstGeom prst="line">
            <a:avLst/>
          </a:prstGeom>
          <a:noFill/>
          <a:ln w="31750">
            <a:solidFill>
              <a:srgbClr val="0E7C86"/>
            </a:solidFill>
            <a:prstDash val="solid"/>
          </a:ln>
        </p:spPr>
      </p:sp>
      <p:sp>
        <p:nvSpPr>
          <p:cNvPr id="55" name="Shape 53"/>
          <p:cNvSpPr/>
          <p:nvPr/>
        </p:nvSpPr>
        <p:spPr>
          <a:xfrm flipV="1">
            <a:off x="8641080" y="3145075"/>
            <a:ext cx="152400" cy="54334"/>
          </a:xfrm>
          <a:prstGeom prst="line">
            <a:avLst/>
          </a:prstGeom>
          <a:noFill/>
          <a:ln w="31750">
            <a:solidFill>
              <a:srgbClr val="0E7C86"/>
            </a:solidFill>
            <a:prstDash val="solid"/>
          </a:ln>
        </p:spPr>
      </p:sp>
      <p:sp>
        <p:nvSpPr>
          <p:cNvPr id="56" name="Shape 54"/>
          <p:cNvSpPr/>
          <p:nvPr/>
        </p:nvSpPr>
        <p:spPr>
          <a:xfrm flipV="1">
            <a:off x="8793480" y="3091982"/>
            <a:ext cx="152400" cy="53093"/>
          </a:xfrm>
          <a:prstGeom prst="line">
            <a:avLst/>
          </a:prstGeom>
          <a:noFill/>
          <a:ln w="31750">
            <a:solidFill>
              <a:srgbClr val="0E7C86"/>
            </a:solidFill>
            <a:prstDash val="solid"/>
          </a:ln>
        </p:spPr>
      </p:sp>
      <p:sp>
        <p:nvSpPr>
          <p:cNvPr id="57" name="Shape 55"/>
          <p:cNvSpPr/>
          <p:nvPr/>
        </p:nvSpPr>
        <p:spPr>
          <a:xfrm flipV="1">
            <a:off x="8945880" y="3040015"/>
            <a:ext cx="152400" cy="51967"/>
          </a:xfrm>
          <a:prstGeom prst="line">
            <a:avLst/>
          </a:prstGeom>
          <a:noFill/>
          <a:ln w="31750">
            <a:solidFill>
              <a:srgbClr val="0E7C86"/>
            </a:solidFill>
            <a:prstDash val="solid"/>
          </a:ln>
        </p:spPr>
      </p:sp>
      <p:sp>
        <p:nvSpPr>
          <p:cNvPr id="58" name="Shape 56"/>
          <p:cNvSpPr/>
          <p:nvPr/>
        </p:nvSpPr>
        <p:spPr>
          <a:xfrm flipV="1">
            <a:off x="9098280" y="2989078"/>
            <a:ext cx="152400" cy="50937"/>
          </a:xfrm>
          <a:prstGeom prst="line">
            <a:avLst/>
          </a:prstGeom>
          <a:noFill/>
          <a:ln w="31750">
            <a:solidFill>
              <a:srgbClr val="0E7C86"/>
            </a:solidFill>
            <a:prstDash val="solid"/>
          </a:ln>
        </p:spPr>
      </p:sp>
      <p:sp>
        <p:nvSpPr>
          <p:cNvPr id="59" name="Shape 57"/>
          <p:cNvSpPr/>
          <p:nvPr/>
        </p:nvSpPr>
        <p:spPr>
          <a:xfrm flipV="1">
            <a:off x="9250680" y="2939089"/>
            <a:ext cx="152400" cy="49990"/>
          </a:xfrm>
          <a:prstGeom prst="line">
            <a:avLst/>
          </a:prstGeom>
          <a:noFill/>
          <a:ln w="31750">
            <a:solidFill>
              <a:srgbClr val="0E7C86"/>
            </a:solidFill>
            <a:prstDash val="solid"/>
          </a:ln>
        </p:spPr>
      </p:sp>
      <p:sp>
        <p:nvSpPr>
          <p:cNvPr id="60" name="Shape 58"/>
          <p:cNvSpPr/>
          <p:nvPr/>
        </p:nvSpPr>
        <p:spPr>
          <a:xfrm flipV="1">
            <a:off x="9403080" y="2889974"/>
            <a:ext cx="152400" cy="49115"/>
          </a:xfrm>
          <a:prstGeom prst="line">
            <a:avLst/>
          </a:prstGeom>
          <a:noFill/>
          <a:ln w="31750">
            <a:solidFill>
              <a:srgbClr val="0E7C86"/>
            </a:solidFill>
            <a:prstDash val="solid"/>
          </a:ln>
        </p:spPr>
      </p:sp>
      <p:sp>
        <p:nvSpPr>
          <p:cNvPr id="61" name="Shape 59"/>
          <p:cNvSpPr/>
          <p:nvPr/>
        </p:nvSpPr>
        <p:spPr>
          <a:xfrm flipV="1">
            <a:off x="9555480" y="2841671"/>
            <a:ext cx="152400" cy="48303"/>
          </a:xfrm>
          <a:prstGeom prst="line">
            <a:avLst/>
          </a:prstGeom>
          <a:noFill/>
          <a:ln w="31750">
            <a:solidFill>
              <a:srgbClr val="0E7C86"/>
            </a:solidFill>
            <a:prstDash val="solid"/>
          </a:ln>
        </p:spPr>
      </p:sp>
      <p:sp>
        <p:nvSpPr>
          <p:cNvPr id="62" name="Shape 60"/>
          <p:cNvSpPr/>
          <p:nvPr/>
        </p:nvSpPr>
        <p:spPr>
          <a:xfrm flipV="1">
            <a:off x="9707880" y="2794126"/>
            <a:ext cx="152400" cy="47545"/>
          </a:xfrm>
          <a:prstGeom prst="line">
            <a:avLst/>
          </a:prstGeom>
          <a:noFill/>
          <a:ln w="31750">
            <a:solidFill>
              <a:srgbClr val="0E7C86"/>
            </a:solidFill>
            <a:prstDash val="solid"/>
          </a:ln>
        </p:spPr>
      </p:sp>
      <p:sp>
        <p:nvSpPr>
          <p:cNvPr id="63" name="Shape 61"/>
          <p:cNvSpPr/>
          <p:nvPr/>
        </p:nvSpPr>
        <p:spPr>
          <a:xfrm flipV="1">
            <a:off x="9860280" y="2747288"/>
            <a:ext cx="152400" cy="46837"/>
          </a:xfrm>
          <a:prstGeom prst="line">
            <a:avLst/>
          </a:prstGeom>
          <a:noFill/>
          <a:ln w="31750">
            <a:solidFill>
              <a:srgbClr val="0E7C86"/>
            </a:solidFill>
            <a:prstDash val="solid"/>
          </a:ln>
        </p:spPr>
      </p:sp>
      <p:sp>
        <p:nvSpPr>
          <p:cNvPr id="64" name="Shape 62"/>
          <p:cNvSpPr/>
          <p:nvPr/>
        </p:nvSpPr>
        <p:spPr>
          <a:xfrm flipV="1">
            <a:off x="10012680" y="2701116"/>
            <a:ext cx="152400" cy="46173"/>
          </a:xfrm>
          <a:prstGeom prst="line">
            <a:avLst/>
          </a:prstGeom>
          <a:noFill/>
          <a:ln w="31750">
            <a:solidFill>
              <a:srgbClr val="0E7C86"/>
            </a:solidFill>
            <a:prstDash val="solid"/>
          </a:ln>
        </p:spPr>
      </p:sp>
      <p:sp>
        <p:nvSpPr>
          <p:cNvPr id="65" name="Shape 63"/>
          <p:cNvSpPr/>
          <p:nvPr/>
        </p:nvSpPr>
        <p:spPr>
          <a:xfrm flipV="1">
            <a:off x="10165080" y="2655569"/>
            <a:ext cx="152400" cy="45547"/>
          </a:xfrm>
          <a:prstGeom prst="line">
            <a:avLst/>
          </a:prstGeom>
          <a:noFill/>
          <a:ln w="31750">
            <a:solidFill>
              <a:srgbClr val="0E7C86"/>
            </a:solidFill>
            <a:prstDash val="solid"/>
          </a:ln>
        </p:spPr>
      </p:sp>
      <p:sp>
        <p:nvSpPr>
          <p:cNvPr id="66" name="Shape 64"/>
          <p:cNvSpPr/>
          <p:nvPr/>
        </p:nvSpPr>
        <p:spPr>
          <a:xfrm flipV="1">
            <a:off x="10317480" y="2610612"/>
            <a:ext cx="152400" cy="44957"/>
          </a:xfrm>
          <a:prstGeom prst="line">
            <a:avLst/>
          </a:prstGeom>
          <a:noFill/>
          <a:ln w="31750">
            <a:solidFill>
              <a:srgbClr val="0E7C86"/>
            </a:solidFill>
            <a:prstDash val="solid"/>
          </a:ln>
        </p:spPr>
      </p:sp>
      <p:sp>
        <p:nvSpPr>
          <p:cNvPr id="67" name="Shape 65"/>
          <p:cNvSpPr/>
          <p:nvPr/>
        </p:nvSpPr>
        <p:spPr>
          <a:xfrm>
            <a:off x="8348472" y="3293715"/>
            <a:ext cx="914" cy="1461165"/>
          </a:xfrm>
          <a:prstGeom prst="line">
            <a:avLst/>
          </a:prstGeom>
          <a:noFill/>
          <a:ln w="12700">
            <a:solidFill>
              <a:srgbClr val="6B7784"/>
            </a:solidFill>
            <a:prstDash val="dash"/>
          </a:ln>
        </p:spPr>
      </p:sp>
      <p:sp>
        <p:nvSpPr>
          <p:cNvPr id="68" name="Text 66"/>
          <p:cNvSpPr/>
          <p:nvPr/>
        </p:nvSpPr>
        <p:spPr>
          <a:xfrm>
            <a:off x="8147304" y="4809744"/>
            <a:ext cx="457200" cy="219456"/>
          </a:xfrm>
          <a:prstGeom prst="rect">
            <a:avLst/>
          </a:prstGeom>
          <a:noFill/>
          <a:ln/>
        </p:spPr>
        <p:txBody>
          <a:bodyPr wrap="square" lIns="0" tIns="0" rIns="0" bIns="0" rtlCol="0" anchor="t"/>
          <a:lstStyle/>
          <a:p>
            <a:pPr algn="ctr" indent="0" marL="0">
              <a:buNone/>
            </a:pPr>
            <a:r>
              <a:rPr lang="en-US" sz="1100" i="1" dirty="0">
                <a:solidFill>
                  <a:srgbClr val="6B7784"/>
                </a:solidFill>
                <a:latin typeface="Calibri" pitchFamily="34" charset="0"/>
                <a:ea typeface="Calibri" pitchFamily="34" charset="-122"/>
                <a:cs typeface="Calibri" pitchFamily="34" charset="-120"/>
              </a:rPr>
              <a:t>n₀</a:t>
            </a:r>
            <a:endParaRPr lang="en-US" sz="1100" dirty="0"/>
          </a:p>
        </p:txBody>
      </p:sp>
      <p:sp>
        <p:nvSpPr>
          <p:cNvPr id="69" name="Text 67"/>
          <p:cNvSpPr/>
          <p:nvPr/>
        </p:nvSpPr>
        <p:spPr>
          <a:xfrm>
            <a:off x="10561320" y="1636776"/>
            <a:ext cx="1005840" cy="237744"/>
          </a:xfrm>
          <a:prstGeom prst="rect">
            <a:avLst/>
          </a:prstGeom>
          <a:noFill/>
          <a:ln/>
        </p:spPr>
        <p:txBody>
          <a:bodyPr wrap="square" lIns="0" tIns="0" rIns="0" bIns="0" rtlCol="0" anchor="t"/>
          <a:lstStyle/>
          <a:p>
            <a:pPr indent="0" marL="0">
              <a:buNone/>
            </a:pPr>
            <a:r>
              <a:rPr lang="en-US" sz="1200" b="1" dirty="0">
                <a:solidFill>
                  <a:srgbClr val="E8871E"/>
                </a:solidFill>
                <a:latin typeface="Calibri" pitchFamily="34" charset="0"/>
                <a:ea typeface="Calibri" pitchFamily="34" charset="-122"/>
                <a:cs typeface="Calibri" pitchFamily="34" charset="-120"/>
              </a:rPr>
              <a:t>c · g(n)</a:t>
            </a:r>
            <a:endParaRPr lang="en-US" sz="1200" dirty="0"/>
          </a:p>
        </p:txBody>
      </p:sp>
      <p:sp>
        <p:nvSpPr>
          <p:cNvPr id="70" name="Text 68"/>
          <p:cNvSpPr/>
          <p:nvPr/>
        </p:nvSpPr>
        <p:spPr>
          <a:xfrm>
            <a:off x="10561320" y="2491740"/>
            <a:ext cx="1005840" cy="237744"/>
          </a:xfrm>
          <a:prstGeom prst="rect">
            <a:avLst/>
          </a:prstGeom>
          <a:noFill/>
          <a:ln/>
        </p:spPr>
        <p:txBody>
          <a:bodyPr wrap="square" lIns="0" tIns="0" rIns="0" bIns="0" rtlCol="0" anchor="t"/>
          <a:lstStyle/>
          <a:p>
            <a:pPr indent="0" marL="0">
              <a:buNone/>
            </a:pPr>
            <a:r>
              <a:rPr lang="en-US" sz="1200" b="1" dirty="0">
                <a:solidFill>
                  <a:srgbClr val="0E7C86"/>
                </a:solidFill>
                <a:latin typeface="Calibri" pitchFamily="34" charset="0"/>
                <a:ea typeface="Calibri" pitchFamily="34" charset="-122"/>
                <a:cs typeface="Calibri" pitchFamily="34" charset="-120"/>
              </a:rPr>
              <a:t>f(n)</a:t>
            </a:r>
            <a:endParaRPr lang="en-US" sz="1200" dirty="0"/>
          </a:p>
        </p:txBody>
      </p:sp>
      <p:sp>
        <p:nvSpPr>
          <p:cNvPr id="71" name="Text 69"/>
          <p:cNvSpPr/>
          <p:nvPr/>
        </p:nvSpPr>
        <p:spPr>
          <a:xfrm>
            <a:off x="6812280" y="5029200"/>
            <a:ext cx="4389120" cy="365760"/>
          </a:xfrm>
          <a:prstGeom prst="rect">
            <a:avLst/>
          </a:prstGeom>
          <a:noFill/>
          <a:ln/>
        </p:spPr>
        <p:txBody>
          <a:bodyPr wrap="square" lIns="0" tIns="0" rIns="0" bIns="0" rtlCol="0" anchor="t"/>
          <a:lstStyle/>
          <a:p>
            <a:pPr indent="0" marL="0">
              <a:lnSpc>
                <a:spcPts val="1500"/>
              </a:lnSpc>
              <a:buNone/>
            </a:pPr>
            <a:r>
              <a:rPr lang="en-US" sz="1150" i="1" dirty="0">
                <a:solidFill>
                  <a:srgbClr val="6B7784"/>
                </a:solidFill>
                <a:latin typeface="Calibri" pitchFamily="34" charset="0"/>
                <a:ea typeface="Calibri" pitchFamily="34" charset="-122"/>
                <a:cs typeface="Calibri" pitchFamily="34" charset="-120"/>
              </a:rPr>
              <a:t>Beyond n₀ the amber curve stays on top: c·g(n) bounds f(n) from above.</a:t>
            </a:r>
            <a:endParaRPr lang="en-US" sz="1150" dirty="0"/>
          </a:p>
        </p:txBody>
      </p:sp>
      <p:sp>
        <p:nvSpPr>
          <p:cNvPr id="72" name="Text 70"/>
          <p:cNvSpPr/>
          <p:nvPr/>
        </p:nvSpPr>
        <p:spPr>
          <a:xfrm>
            <a:off x="640080" y="6382512"/>
            <a:ext cx="7315200" cy="256032"/>
          </a:xfrm>
          <a:prstGeom prst="rect">
            <a:avLst/>
          </a:prstGeom>
          <a:noFill/>
          <a:ln/>
        </p:spPr>
        <p:txBody>
          <a:bodyPr wrap="square" lIns="0" tIns="0" rIns="0" bIns="0" rtlCol="0" anchor="t"/>
          <a:lstStyle/>
          <a:p>
            <a:pPr indent="0" marL="0">
              <a:buNone/>
            </a:pPr>
            <a:r>
              <a:rPr lang="en-US" sz="1000" dirty="0">
                <a:solidFill>
                  <a:srgbClr val="6B7784"/>
                </a:solidFill>
                <a:latin typeface="Calibri" pitchFamily="34" charset="0"/>
                <a:ea typeface="Calibri" pitchFamily="34" charset="-122"/>
                <a:cs typeface="Calibri" pitchFamily="34" charset="-120"/>
              </a:rPr>
              <a:t>Formal definitions follow T-1 / R-1</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LOWER AND TIGHT BOUNDS</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Big-Ω and Big-Θ</a:t>
            </a:r>
            <a:endParaRPr lang="en-US" sz="3000" dirty="0"/>
          </a:p>
        </p:txBody>
      </p:sp>
      <p:sp>
        <p:nvSpPr>
          <p:cNvPr id="4" name="Shape 2"/>
          <p:cNvSpPr/>
          <p:nvPr/>
        </p:nvSpPr>
        <p:spPr>
          <a:xfrm>
            <a:off x="640080" y="1298448"/>
            <a:ext cx="5303520" cy="4434840"/>
          </a:xfrm>
          <a:prstGeom prst="roundRect">
            <a:avLst>
              <a:gd name="adj" fmla="val 1237"/>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5" name="Text 3"/>
          <p:cNvSpPr/>
          <p:nvPr/>
        </p:nvSpPr>
        <p:spPr>
          <a:xfrm>
            <a:off x="914400" y="1481328"/>
            <a:ext cx="4754880" cy="310896"/>
          </a:xfrm>
          <a:prstGeom prst="rect">
            <a:avLst/>
          </a:prstGeom>
          <a:noFill/>
          <a:ln/>
        </p:spPr>
        <p:txBody>
          <a:bodyPr wrap="square" lIns="0" tIns="0" rIns="0" bIns="0" rtlCol="0" anchor="t"/>
          <a:lstStyle/>
          <a:p>
            <a:pPr indent="0" marL="0">
              <a:buNone/>
            </a:pPr>
            <a:r>
              <a:rPr lang="en-US" sz="1700" b="1" dirty="0">
                <a:solidFill>
                  <a:srgbClr val="2E7D5B"/>
                </a:solidFill>
                <a:latin typeface="Cambria" pitchFamily="34" charset="0"/>
                <a:ea typeface="Cambria" pitchFamily="34" charset="-122"/>
                <a:cs typeface="Cambria" pitchFamily="34" charset="-120"/>
              </a:rPr>
              <a:t>Big-Ω — lower bound</a:t>
            </a:r>
            <a:endParaRPr lang="en-US" sz="1700" dirty="0"/>
          </a:p>
        </p:txBody>
      </p:sp>
      <p:sp>
        <p:nvSpPr>
          <p:cNvPr id="6" name="Shape 4"/>
          <p:cNvSpPr/>
          <p:nvPr/>
        </p:nvSpPr>
        <p:spPr>
          <a:xfrm>
            <a:off x="914400" y="1847088"/>
            <a:ext cx="4754880" cy="749808"/>
          </a:xfrm>
          <a:prstGeom prst="roundRect">
            <a:avLst>
              <a:gd name="adj" fmla="val 6098"/>
            </a:avLst>
          </a:prstGeom>
          <a:solidFill>
            <a:srgbClr val="171C24"/>
          </a:solidFill>
          <a:ln/>
        </p:spPr>
      </p:sp>
      <p:sp>
        <p:nvSpPr>
          <p:cNvPr id="7" name="Text 5"/>
          <p:cNvSpPr/>
          <p:nvPr/>
        </p:nvSpPr>
        <p:spPr>
          <a:xfrm>
            <a:off x="1078992" y="1847088"/>
            <a:ext cx="4480560" cy="749808"/>
          </a:xfrm>
          <a:prstGeom prst="rect">
            <a:avLst/>
          </a:prstGeom>
          <a:noFill/>
          <a:ln/>
        </p:spPr>
        <p:txBody>
          <a:bodyPr wrap="square" lIns="0" tIns="0" rIns="0" bIns="0" rtlCol="0" anchor="ctr"/>
          <a:lstStyle/>
          <a:p>
            <a:pPr indent="0" marL="0">
              <a:lnSpc>
                <a:spcPts val="1700"/>
              </a:lnSpc>
              <a:buNone/>
            </a:pPr>
            <a:r>
              <a:rPr lang="en-US" sz="1300" b="1" dirty="0">
                <a:solidFill>
                  <a:srgbClr val="E8871E"/>
                </a:solidFill>
                <a:latin typeface="Courier New" pitchFamily="34" charset="0"/>
                <a:ea typeface="Courier New" pitchFamily="34" charset="-122"/>
                <a:cs typeface="Courier New" pitchFamily="34" charset="-120"/>
              </a:rPr>
              <a:t>f(n) = Ω(g(n))</a:t>
            </a:r>
            <a:endParaRPr lang="en-US" sz="1300" dirty="0"/>
          </a:p>
          <a:p>
            <a:pPr indent="0" marL="0">
              <a:lnSpc>
                <a:spcPts val="1700"/>
              </a:lnSpc>
              <a:buNone/>
            </a:pPr>
            <a:r>
              <a:rPr lang="en-US" sz="1150" dirty="0">
                <a:solidFill>
                  <a:srgbClr val="E6EAF0"/>
                </a:solidFill>
                <a:latin typeface="Courier New" pitchFamily="34" charset="0"/>
                <a:ea typeface="Courier New" pitchFamily="34" charset="-122"/>
                <a:cs typeface="Courier New" pitchFamily="34" charset="-120"/>
              </a:rPr>
              <a:t>0 ≤ c · g(n) ≤ f(n)  for all n ≥ n₀</a:t>
            </a:r>
            <a:endParaRPr lang="en-US" sz="1300" dirty="0"/>
          </a:p>
        </p:txBody>
      </p:sp>
      <p:sp>
        <p:nvSpPr>
          <p:cNvPr id="8" name="Shape 6"/>
          <p:cNvSpPr/>
          <p:nvPr/>
        </p:nvSpPr>
        <p:spPr>
          <a:xfrm>
            <a:off x="1097280" y="2880360"/>
            <a:ext cx="914" cy="1874520"/>
          </a:xfrm>
          <a:prstGeom prst="line">
            <a:avLst/>
          </a:prstGeom>
          <a:noFill/>
          <a:ln w="15875">
            <a:solidFill>
              <a:srgbClr val="6B7784"/>
            </a:solidFill>
            <a:prstDash val="solid"/>
          </a:ln>
        </p:spPr>
      </p:sp>
      <p:sp>
        <p:nvSpPr>
          <p:cNvPr id="9" name="Shape 7"/>
          <p:cNvSpPr/>
          <p:nvPr/>
        </p:nvSpPr>
        <p:spPr>
          <a:xfrm>
            <a:off x="1097280" y="4754880"/>
            <a:ext cx="3794760" cy="914"/>
          </a:xfrm>
          <a:prstGeom prst="line">
            <a:avLst/>
          </a:prstGeom>
          <a:noFill/>
          <a:ln w="15875">
            <a:solidFill>
              <a:srgbClr val="6B7784"/>
            </a:solidFill>
            <a:prstDash val="solid"/>
          </a:ln>
        </p:spPr>
      </p:sp>
      <p:sp>
        <p:nvSpPr>
          <p:cNvPr id="10" name="Text 8"/>
          <p:cNvSpPr/>
          <p:nvPr/>
        </p:nvSpPr>
        <p:spPr>
          <a:xfrm>
            <a:off x="3794760" y="4846320"/>
            <a:ext cx="1188720" cy="228600"/>
          </a:xfrm>
          <a:prstGeom prst="rect">
            <a:avLst/>
          </a:prstGeom>
          <a:noFill/>
          <a:ln/>
        </p:spPr>
        <p:txBody>
          <a:bodyPr wrap="square" lIns="0" tIns="0" rIns="0" bIns="0" rtlCol="0" anchor="t"/>
          <a:lstStyle/>
          <a:p>
            <a:pPr algn="r" indent="0" marL="0">
              <a:buNone/>
            </a:pPr>
            <a:r>
              <a:rPr lang="en-US" sz="1100" i="1" dirty="0">
                <a:solidFill>
                  <a:srgbClr val="6B7784"/>
                </a:solidFill>
                <a:latin typeface="Calibri" pitchFamily="34" charset="0"/>
                <a:ea typeface="Calibri" pitchFamily="34" charset="-122"/>
                <a:cs typeface="Calibri" pitchFamily="34" charset="-120"/>
              </a:rPr>
              <a:t>n</a:t>
            </a:r>
            <a:endParaRPr lang="en-US" sz="1100" dirty="0"/>
          </a:p>
        </p:txBody>
      </p:sp>
      <p:sp>
        <p:nvSpPr>
          <p:cNvPr id="11" name="Text 9"/>
          <p:cNvSpPr/>
          <p:nvPr/>
        </p:nvSpPr>
        <p:spPr>
          <a:xfrm>
            <a:off x="1051560" y="2606040"/>
            <a:ext cx="1828800" cy="228600"/>
          </a:xfrm>
          <a:prstGeom prst="rect">
            <a:avLst/>
          </a:prstGeom>
          <a:noFill/>
          <a:ln/>
        </p:spPr>
        <p:txBody>
          <a:bodyPr wrap="square" lIns="0" tIns="0" rIns="0" bIns="0" rtlCol="0" anchor="t"/>
          <a:lstStyle/>
          <a:p>
            <a:pPr indent="0" marL="0">
              <a:buNone/>
            </a:pPr>
            <a:r>
              <a:rPr lang="en-US" sz="1100" i="1" dirty="0">
                <a:solidFill>
                  <a:srgbClr val="6B7784"/>
                </a:solidFill>
                <a:latin typeface="Calibri" pitchFamily="34" charset="0"/>
                <a:ea typeface="Calibri" pitchFamily="34" charset="-122"/>
                <a:cs typeface="Calibri" pitchFamily="34" charset="-120"/>
              </a:rPr>
              <a:t>cost</a:t>
            </a:r>
            <a:endParaRPr lang="en-US" sz="1100" dirty="0"/>
          </a:p>
        </p:txBody>
      </p:sp>
      <p:sp>
        <p:nvSpPr>
          <p:cNvPr id="12" name="Shape 10"/>
          <p:cNvSpPr/>
          <p:nvPr/>
        </p:nvSpPr>
        <p:spPr>
          <a:xfrm flipV="1">
            <a:off x="1097280" y="4477217"/>
            <a:ext cx="237173" cy="52721"/>
          </a:xfrm>
          <a:prstGeom prst="line">
            <a:avLst/>
          </a:prstGeom>
          <a:noFill/>
          <a:ln w="27940">
            <a:solidFill>
              <a:srgbClr val="2E7D5B"/>
            </a:solidFill>
            <a:prstDash val="solid"/>
          </a:ln>
        </p:spPr>
      </p:sp>
      <p:sp>
        <p:nvSpPr>
          <p:cNvPr id="13" name="Shape 11"/>
          <p:cNvSpPr/>
          <p:nvPr/>
        </p:nvSpPr>
        <p:spPr>
          <a:xfrm flipV="1">
            <a:off x="1334453" y="4424496"/>
            <a:ext cx="237172" cy="52721"/>
          </a:xfrm>
          <a:prstGeom prst="line">
            <a:avLst/>
          </a:prstGeom>
          <a:noFill/>
          <a:ln w="27940">
            <a:solidFill>
              <a:srgbClr val="2E7D5B"/>
            </a:solidFill>
            <a:prstDash val="solid"/>
          </a:ln>
        </p:spPr>
      </p:sp>
      <p:sp>
        <p:nvSpPr>
          <p:cNvPr id="14" name="Shape 12"/>
          <p:cNvSpPr/>
          <p:nvPr/>
        </p:nvSpPr>
        <p:spPr>
          <a:xfrm flipV="1">
            <a:off x="1571625" y="4371775"/>
            <a:ext cx="237172" cy="52721"/>
          </a:xfrm>
          <a:prstGeom prst="line">
            <a:avLst/>
          </a:prstGeom>
          <a:noFill/>
          <a:ln w="27940">
            <a:solidFill>
              <a:srgbClr val="2E7D5B"/>
            </a:solidFill>
            <a:prstDash val="solid"/>
          </a:ln>
        </p:spPr>
      </p:sp>
      <p:sp>
        <p:nvSpPr>
          <p:cNvPr id="15" name="Shape 13"/>
          <p:cNvSpPr/>
          <p:nvPr/>
        </p:nvSpPr>
        <p:spPr>
          <a:xfrm flipV="1">
            <a:off x="1808798" y="4319054"/>
            <a:ext cx="237172" cy="52721"/>
          </a:xfrm>
          <a:prstGeom prst="line">
            <a:avLst/>
          </a:prstGeom>
          <a:noFill/>
          <a:ln w="27940">
            <a:solidFill>
              <a:srgbClr val="2E7D5B"/>
            </a:solidFill>
            <a:prstDash val="solid"/>
          </a:ln>
        </p:spPr>
      </p:sp>
      <p:sp>
        <p:nvSpPr>
          <p:cNvPr id="16" name="Shape 14"/>
          <p:cNvSpPr/>
          <p:nvPr/>
        </p:nvSpPr>
        <p:spPr>
          <a:xfrm flipV="1">
            <a:off x="2045970" y="4266333"/>
            <a:ext cx="237173" cy="52721"/>
          </a:xfrm>
          <a:prstGeom prst="line">
            <a:avLst/>
          </a:prstGeom>
          <a:noFill/>
          <a:ln w="27940">
            <a:solidFill>
              <a:srgbClr val="2E7D5B"/>
            </a:solidFill>
            <a:prstDash val="solid"/>
          </a:ln>
        </p:spPr>
      </p:sp>
      <p:sp>
        <p:nvSpPr>
          <p:cNvPr id="17" name="Shape 15"/>
          <p:cNvSpPr/>
          <p:nvPr/>
        </p:nvSpPr>
        <p:spPr>
          <a:xfrm flipV="1">
            <a:off x="2283143" y="4213612"/>
            <a:ext cx="237172" cy="52721"/>
          </a:xfrm>
          <a:prstGeom prst="line">
            <a:avLst/>
          </a:prstGeom>
          <a:noFill/>
          <a:ln w="27940">
            <a:solidFill>
              <a:srgbClr val="2E7D5B"/>
            </a:solidFill>
            <a:prstDash val="solid"/>
          </a:ln>
        </p:spPr>
      </p:sp>
      <p:sp>
        <p:nvSpPr>
          <p:cNvPr id="18" name="Shape 16"/>
          <p:cNvSpPr/>
          <p:nvPr/>
        </p:nvSpPr>
        <p:spPr>
          <a:xfrm flipV="1">
            <a:off x="2520315" y="4160891"/>
            <a:ext cx="237172" cy="52721"/>
          </a:xfrm>
          <a:prstGeom prst="line">
            <a:avLst/>
          </a:prstGeom>
          <a:noFill/>
          <a:ln w="27940">
            <a:solidFill>
              <a:srgbClr val="2E7D5B"/>
            </a:solidFill>
            <a:prstDash val="solid"/>
          </a:ln>
        </p:spPr>
      </p:sp>
      <p:sp>
        <p:nvSpPr>
          <p:cNvPr id="19" name="Shape 17"/>
          <p:cNvSpPr/>
          <p:nvPr/>
        </p:nvSpPr>
        <p:spPr>
          <a:xfrm flipV="1">
            <a:off x="2757488" y="4108171"/>
            <a:ext cx="237173" cy="52721"/>
          </a:xfrm>
          <a:prstGeom prst="line">
            <a:avLst/>
          </a:prstGeom>
          <a:noFill/>
          <a:ln w="27940">
            <a:solidFill>
              <a:srgbClr val="2E7D5B"/>
            </a:solidFill>
            <a:prstDash val="solid"/>
          </a:ln>
        </p:spPr>
      </p:sp>
      <p:sp>
        <p:nvSpPr>
          <p:cNvPr id="20" name="Shape 18"/>
          <p:cNvSpPr/>
          <p:nvPr/>
        </p:nvSpPr>
        <p:spPr>
          <a:xfrm flipV="1">
            <a:off x="2994660" y="4055450"/>
            <a:ext cx="237172" cy="52721"/>
          </a:xfrm>
          <a:prstGeom prst="line">
            <a:avLst/>
          </a:prstGeom>
          <a:noFill/>
          <a:ln w="27940">
            <a:solidFill>
              <a:srgbClr val="2E7D5B"/>
            </a:solidFill>
            <a:prstDash val="solid"/>
          </a:ln>
        </p:spPr>
      </p:sp>
      <p:sp>
        <p:nvSpPr>
          <p:cNvPr id="21" name="Shape 19"/>
          <p:cNvSpPr/>
          <p:nvPr/>
        </p:nvSpPr>
        <p:spPr>
          <a:xfrm flipV="1">
            <a:off x="3231833" y="4002729"/>
            <a:ext cx="237173" cy="52721"/>
          </a:xfrm>
          <a:prstGeom prst="line">
            <a:avLst/>
          </a:prstGeom>
          <a:noFill/>
          <a:ln w="27940">
            <a:solidFill>
              <a:srgbClr val="2E7D5B"/>
            </a:solidFill>
            <a:prstDash val="solid"/>
          </a:ln>
        </p:spPr>
      </p:sp>
      <p:sp>
        <p:nvSpPr>
          <p:cNvPr id="22" name="Shape 20"/>
          <p:cNvSpPr/>
          <p:nvPr/>
        </p:nvSpPr>
        <p:spPr>
          <a:xfrm flipV="1">
            <a:off x="3469005" y="3950008"/>
            <a:ext cx="237173" cy="52721"/>
          </a:xfrm>
          <a:prstGeom prst="line">
            <a:avLst/>
          </a:prstGeom>
          <a:noFill/>
          <a:ln w="27940">
            <a:solidFill>
              <a:srgbClr val="2E7D5B"/>
            </a:solidFill>
            <a:prstDash val="solid"/>
          </a:ln>
        </p:spPr>
      </p:sp>
      <p:sp>
        <p:nvSpPr>
          <p:cNvPr id="23" name="Shape 21"/>
          <p:cNvSpPr/>
          <p:nvPr/>
        </p:nvSpPr>
        <p:spPr>
          <a:xfrm flipV="1">
            <a:off x="3706178" y="3897287"/>
            <a:ext cx="237172" cy="52721"/>
          </a:xfrm>
          <a:prstGeom prst="line">
            <a:avLst/>
          </a:prstGeom>
          <a:noFill/>
          <a:ln w="27940">
            <a:solidFill>
              <a:srgbClr val="2E7D5B"/>
            </a:solidFill>
            <a:prstDash val="solid"/>
          </a:ln>
        </p:spPr>
      </p:sp>
      <p:sp>
        <p:nvSpPr>
          <p:cNvPr id="24" name="Shape 22"/>
          <p:cNvSpPr/>
          <p:nvPr/>
        </p:nvSpPr>
        <p:spPr>
          <a:xfrm flipV="1">
            <a:off x="3943350" y="3844566"/>
            <a:ext cx="237173" cy="52721"/>
          </a:xfrm>
          <a:prstGeom prst="line">
            <a:avLst/>
          </a:prstGeom>
          <a:noFill/>
          <a:ln w="27940">
            <a:solidFill>
              <a:srgbClr val="2E7D5B"/>
            </a:solidFill>
            <a:prstDash val="solid"/>
          </a:ln>
        </p:spPr>
      </p:sp>
      <p:sp>
        <p:nvSpPr>
          <p:cNvPr id="25" name="Shape 23"/>
          <p:cNvSpPr/>
          <p:nvPr/>
        </p:nvSpPr>
        <p:spPr>
          <a:xfrm flipV="1">
            <a:off x="4180523" y="3791845"/>
            <a:ext cx="237173" cy="52721"/>
          </a:xfrm>
          <a:prstGeom prst="line">
            <a:avLst/>
          </a:prstGeom>
          <a:noFill/>
          <a:ln w="27940">
            <a:solidFill>
              <a:srgbClr val="2E7D5B"/>
            </a:solidFill>
            <a:prstDash val="solid"/>
          </a:ln>
        </p:spPr>
      </p:sp>
      <p:sp>
        <p:nvSpPr>
          <p:cNvPr id="26" name="Shape 24"/>
          <p:cNvSpPr/>
          <p:nvPr/>
        </p:nvSpPr>
        <p:spPr>
          <a:xfrm flipV="1">
            <a:off x="4417695" y="3739124"/>
            <a:ext cx="237172" cy="52721"/>
          </a:xfrm>
          <a:prstGeom prst="line">
            <a:avLst/>
          </a:prstGeom>
          <a:noFill/>
          <a:ln w="27940">
            <a:solidFill>
              <a:srgbClr val="2E7D5B"/>
            </a:solidFill>
            <a:prstDash val="solid"/>
          </a:ln>
        </p:spPr>
      </p:sp>
      <p:sp>
        <p:nvSpPr>
          <p:cNvPr id="27" name="Shape 25"/>
          <p:cNvSpPr/>
          <p:nvPr/>
        </p:nvSpPr>
        <p:spPr>
          <a:xfrm flipV="1">
            <a:off x="4654868" y="3686404"/>
            <a:ext cx="237173" cy="52721"/>
          </a:xfrm>
          <a:prstGeom prst="line">
            <a:avLst/>
          </a:prstGeom>
          <a:noFill/>
          <a:ln w="27940">
            <a:solidFill>
              <a:srgbClr val="2E7D5B"/>
            </a:solidFill>
            <a:prstDash val="solid"/>
          </a:ln>
        </p:spPr>
      </p:sp>
      <p:sp>
        <p:nvSpPr>
          <p:cNvPr id="28" name="Shape 26"/>
          <p:cNvSpPr/>
          <p:nvPr/>
        </p:nvSpPr>
        <p:spPr>
          <a:xfrm flipV="1">
            <a:off x="1097280" y="4614820"/>
            <a:ext cx="189738" cy="46334"/>
          </a:xfrm>
          <a:prstGeom prst="line">
            <a:avLst/>
          </a:prstGeom>
          <a:noFill/>
          <a:ln w="27940">
            <a:solidFill>
              <a:srgbClr val="3A4551"/>
            </a:solidFill>
            <a:prstDash val="solid"/>
          </a:ln>
        </p:spPr>
      </p:sp>
      <p:sp>
        <p:nvSpPr>
          <p:cNvPr id="29" name="Shape 27"/>
          <p:cNvSpPr/>
          <p:nvPr/>
        </p:nvSpPr>
        <p:spPr>
          <a:xfrm flipV="1">
            <a:off x="1287018" y="4554707"/>
            <a:ext cx="189738" cy="60113"/>
          </a:xfrm>
          <a:prstGeom prst="line">
            <a:avLst/>
          </a:prstGeom>
          <a:noFill/>
          <a:ln w="27940">
            <a:solidFill>
              <a:srgbClr val="3A4551"/>
            </a:solidFill>
            <a:prstDash val="solid"/>
          </a:ln>
        </p:spPr>
      </p:sp>
      <p:sp>
        <p:nvSpPr>
          <p:cNvPr id="30" name="Shape 28"/>
          <p:cNvSpPr/>
          <p:nvPr/>
        </p:nvSpPr>
        <p:spPr>
          <a:xfrm flipV="1">
            <a:off x="1476756" y="4487996"/>
            <a:ext cx="189738" cy="66711"/>
          </a:xfrm>
          <a:prstGeom prst="line">
            <a:avLst/>
          </a:prstGeom>
          <a:noFill/>
          <a:ln w="27940">
            <a:solidFill>
              <a:srgbClr val="3A4551"/>
            </a:solidFill>
            <a:prstDash val="solid"/>
          </a:ln>
        </p:spPr>
      </p:sp>
      <p:sp>
        <p:nvSpPr>
          <p:cNvPr id="31" name="Shape 29"/>
          <p:cNvSpPr/>
          <p:nvPr/>
        </p:nvSpPr>
        <p:spPr>
          <a:xfrm flipV="1">
            <a:off x="1666494" y="4416603"/>
            <a:ext cx="189738" cy="71393"/>
          </a:xfrm>
          <a:prstGeom prst="line">
            <a:avLst/>
          </a:prstGeom>
          <a:noFill/>
          <a:ln w="27940">
            <a:solidFill>
              <a:srgbClr val="3A4551"/>
            </a:solidFill>
            <a:prstDash val="solid"/>
          </a:ln>
        </p:spPr>
      </p:sp>
      <p:sp>
        <p:nvSpPr>
          <p:cNvPr id="32" name="Shape 30"/>
          <p:cNvSpPr/>
          <p:nvPr/>
        </p:nvSpPr>
        <p:spPr>
          <a:xfrm flipV="1">
            <a:off x="1856232" y="4341514"/>
            <a:ext cx="189738" cy="75089"/>
          </a:xfrm>
          <a:prstGeom prst="line">
            <a:avLst/>
          </a:prstGeom>
          <a:noFill/>
          <a:ln w="27940">
            <a:solidFill>
              <a:srgbClr val="3A4551"/>
            </a:solidFill>
            <a:prstDash val="solid"/>
          </a:ln>
        </p:spPr>
      </p:sp>
      <p:sp>
        <p:nvSpPr>
          <p:cNvPr id="33" name="Shape 31"/>
          <p:cNvSpPr/>
          <p:nvPr/>
        </p:nvSpPr>
        <p:spPr>
          <a:xfrm flipV="1">
            <a:off x="2045970" y="4263342"/>
            <a:ext cx="189738" cy="78173"/>
          </a:xfrm>
          <a:prstGeom prst="line">
            <a:avLst/>
          </a:prstGeom>
          <a:noFill/>
          <a:ln w="27940">
            <a:solidFill>
              <a:srgbClr val="3A4551"/>
            </a:solidFill>
            <a:prstDash val="solid"/>
          </a:ln>
        </p:spPr>
      </p:sp>
      <p:sp>
        <p:nvSpPr>
          <p:cNvPr id="34" name="Shape 32"/>
          <p:cNvSpPr/>
          <p:nvPr/>
        </p:nvSpPr>
        <p:spPr>
          <a:xfrm flipV="1">
            <a:off x="2235708" y="4182508"/>
            <a:ext cx="189738" cy="80834"/>
          </a:xfrm>
          <a:prstGeom prst="line">
            <a:avLst/>
          </a:prstGeom>
          <a:noFill/>
          <a:ln w="27940">
            <a:solidFill>
              <a:srgbClr val="3A4551"/>
            </a:solidFill>
            <a:prstDash val="solid"/>
          </a:ln>
        </p:spPr>
      </p:sp>
      <p:sp>
        <p:nvSpPr>
          <p:cNvPr id="35" name="Shape 33"/>
          <p:cNvSpPr/>
          <p:nvPr/>
        </p:nvSpPr>
        <p:spPr>
          <a:xfrm flipV="1">
            <a:off x="2425446" y="4099324"/>
            <a:ext cx="189738" cy="83184"/>
          </a:xfrm>
          <a:prstGeom prst="line">
            <a:avLst/>
          </a:prstGeom>
          <a:noFill/>
          <a:ln w="27940">
            <a:solidFill>
              <a:srgbClr val="3A4551"/>
            </a:solidFill>
            <a:prstDash val="solid"/>
          </a:ln>
        </p:spPr>
      </p:sp>
      <p:sp>
        <p:nvSpPr>
          <p:cNvPr id="36" name="Shape 34"/>
          <p:cNvSpPr/>
          <p:nvPr/>
        </p:nvSpPr>
        <p:spPr>
          <a:xfrm flipV="1">
            <a:off x="2615184" y="4014030"/>
            <a:ext cx="189738" cy="85295"/>
          </a:xfrm>
          <a:prstGeom prst="line">
            <a:avLst/>
          </a:prstGeom>
          <a:noFill/>
          <a:ln w="27940">
            <a:solidFill>
              <a:srgbClr val="3A4551"/>
            </a:solidFill>
            <a:prstDash val="solid"/>
          </a:ln>
        </p:spPr>
      </p:sp>
      <p:sp>
        <p:nvSpPr>
          <p:cNvPr id="37" name="Shape 35"/>
          <p:cNvSpPr/>
          <p:nvPr/>
        </p:nvSpPr>
        <p:spPr>
          <a:xfrm flipV="1">
            <a:off x="2804922" y="3926815"/>
            <a:ext cx="189738" cy="87215"/>
          </a:xfrm>
          <a:prstGeom prst="line">
            <a:avLst/>
          </a:prstGeom>
          <a:noFill/>
          <a:ln w="27940">
            <a:solidFill>
              <a:srgbClr val="3A4551"/>
            </a:solidFill>
            <a:prstDash val="solid"/>
          </a:ln>
        </p:spPr>
      </p:sp>
      <p:sp>
        <p:nvSpPr>
          <p:cNvPr id="38" name="Shape 36"/>
          <p:cNvSpPr/>
          <p:nvPr/>
        </p:nvSpPr>
        <p:spPr>
          <a:xfrm flipV="1">
            <a:off x="2994660" y="3837836"/>
            <a:ext cx="189738" cy="88979"/>
          </a:xfrm>
          <a:prstGeom prst="line">
            <a:avLst/>
          </a:prstGeom>
          <a:noFill/>
          <a:ln w="27940">
            <a:solidFill>
              <a:srgbClr val="3A4551"/>
            </a:solidFill>
            <a:prstDash val="solid"/>
          </a:ln>
        </p:spPr>
      </p:sp>
      <p:sp>
        <p:nvSpPr>
          <p:cNvPr id="39" name="Shape 37"/>
          <p:cNvSpPr/>
          <p:nvPr/>
        </p:nvSpPr>
        <p:spPr>
          <a:xfrm flipV="1">
            <a:off x="3184398" y="3747222"/>
            <a:ext cx="189738" cy="90614"/>
          </a:xfrm>
          <a:prstGeom prst="line">
            <a:avLst/>
          </a:prstGeom>
          <a:noFill/>
          <a:ln w="27940">
            <a:solidFill>
              <a:srgbClr val="3A4551"/>
            </a:solidFill>
            <a:prstDash val="solid"/>
          </a:ln>
        </p:spPr>
      </p:sp>
      <p:sp>
        <p:nvSpPr>
          <p:cNvPr id="40" name="Shape 38"/>
          <p:cNvSpPr/>
          <p:nvPr/>
        </p:nvSpPr>
        <p:spPr>
          <a:xfrm flipV="1">
            <a:off x="3374136" y="3655083"/>
            <a:ext cx="189738" cy="92139"/>
          </a:xfrm>
          <a:prstGeom prst="line">
            <a:avLst/>
          </a:prstGeom>
          <a:noFill/>
          <a:ln w="27940">
            <a:solidFill>
              <a:srgbClr val="3A4551"/>
            </a:solidFill>
            <a:prstDash val="solid"/>
          </a:ln>
        </p:spPr>
      </p:sp>
      <p:sp>
        <p:nvSpPr>
          <p:cNvPr id="41" name="Shape 39"/>
          <p:cNvSpPr/>
          <p:nvPr/>
        </p:nvSpPr>
        <p:spPr>
          <a:xfrm flipV="1">
            <a:off x="3563874" y="3561515"/>
            <a:ext cx="189738" cy="93568"/>
          </a:xfrm>
          <a:prstGeom prst="line">
            <a:avLst/>
          </a:prstGeom>
          <a:noFill/>
          <a:ln w="27940">
            <a:solidFill>
              <a:srgbClr val="3A4551"/>
            </a:solidFill>
            <a:prstDash val="solid"/>
          </a:ln>
        </p:spPr>
      </p:sp>
      <p:sp>
        <p:nvSpPr>
          <p:cNvPr id="42" name="Shape 40"/>
          <p:cNvSpPr/>
          <p:nvPr/>
        </p:nvSpPr>
        <p:spPr>
          <a:xfrm flipV="1">
            <a:off x="3753612" y="3466599"/>
            <a:ext cx="189738" cy="94916"/>
          </a:xfrm>
          <a:prstGeom prst="line">
            <a:avLst/>
          </a:prstGeom>
          <a:noFill/>
          <a:ln w="27940">
            <a:solidFill>
              <a:srgbClr val="3A4551"/>
            </a:solidFill>
            <a:prstDash val="solid"/>
          </a:ln>
        </p:spPr>
      </p:sp>
      <p:sp>
        <p:nvSpPr>
          <p:cNvPr id="43" name="Shape 41"/>
          <p:cNvSpPr/>
          <p:nvPr/>
        </p:nvSpPr>
        <p:spPr>
          <a:xfrm flipV="1">
            <a:off x="3943350" y="3370409"/>
            <a:ext cx="189738" cy="96190"/>
          </a:xfrm>
          <a:prstGeom prst="line">
            <a:avLst/>
          </a:prstGeom>
          <a:noFill/>
          <a:ln w="27940">
            <a:solidFill>
              <a:srgbClr val="3A4551"/>
            </a:solidFill>
            <a:prstDash val="solid"/>
          </a:ln>
        </p:spPr>
      </p:sp>
      <p:sp>
        <p:nvSpPr>
          <p:cNvPr id="44" name="Shape 42"/>
          <p:cNvSpPr/>
          <p:nvPr/>
        </p:nvSpPr>
        <p:spPr>
          <a:xfrm flipV="1">
            <a:off x="4133088" y="3273008"/>
            <a:ext cx="189738" cy="97401"/>
          </a:xfrm>
          <a:prstGeom prst="line">
            <a:avLst/>
          </a:prstGeom>
          <a:noFill/>
          <a:ln w="27940">
            <a:solidFill>
              <a:srgbClr val="3A4551"/>
            </a:solidFill>
            <a:prstDash val="solid"/>
          </a:ln>
        </p:spPr>
      </p:sp>
      <p:sp>
        <p:nvSpPr>
          <p:cNvPr id="45" name="Shape 43"/>
          <p:cNvSpPr/>
          <p:nvPr/>
        </p:nvSpPr>
        <p:spPr>
          <a:xfrm flipV="1">
            <a:off x="4322826" y="3174453"/>
            <a:ext cx="189738" cy="98554"/>
          </a:xfrm>
          <a:prstGeom prst="line">
            <a:avLst/>
          </a:prstGeom>
          <a:noFill/>
          <a:ln w="27940">
            <a:solidFill>
              <a:srgbClr val="3A4551"/>
            </a:solidFill>
            <a:prstDash val="solid"/>
          </a:ln>
        </p:spPr>
      </p:sp>
      <p:sp>
        <p:nvSpPr>
          <p:cNvPr id="46" name="Shape 44"/>
          <p:cNvSpPr/>
          <p:nvPr/>
        </p:nvSpPr>
        <p:spPr>
          <a:xfrm flipV="1">
            <a:off x="4512564" y="3074797"/>
            <a:ext cx="189738" cy="99656"/>
          </a:xfrm>
          <a:prstGeom prst="line">
            <a:avLst/>
          </a:prstGeom>
          <a:noFill/>
          <a:ln w="27940">
            <a:solidFill>
              <a:srgbClr val="3A4551"/>
            </a:solidFill>
            <a:prstDash val="solid"/>
          </a:ln>
        </p:spPr>
      </p:sp>
      <p:sp>
        <p:nvSpPr>
          <p:cNvPr id="47" name="Shape 45"/>
          <p:cNvSpPr/>
          <p:nvPr/>
        </p:nvSpPr>
        <p:spPr>
          <a:xfrm flipV="1">
            <a:off x="4702302" y="2974086"/>
            <a:ext cx="189738" cy="100711"/>
          </a:xfrm>
          <a:prstGeom prst="line">
            <a:avLst/>
          </a:prstGeom>
          <a:noFill/>
          <a:ln w="27940">
            <a:solidFill>
              <a:srgbClr val="3A4551"/>
            </a:solidFill>
            <a:prstDash val="solid"/>
          </a:ln>
        </p:spPr>
      </p:sp>
      <p:sp>
        <p:nvSpPr>
          <p:cNvPr id="48" name="Text 46"/>
          <p:cNvSpPr/>
          <p:nvPr/>
        </p:nvSpPr>
        <p:spPr>
          <a:xfrm>
            <a:off x="4965192" y="2798064"/>
            <a:ext cx="914400" cy="219456"/>
          </a:xfrm>
          <a:prstGeom prst="rect">
            <a:avLst/>
          </a:prstGeom>
          <a:noFill/>
          <a:ln/>
        </p:spPr>
        <p:txBody>
          <a:bodyPr wrap="square" lIns="0" tIns="0" rIns="0" bIns="0" rtlCol="0" anchor="t"/>
          <a:lstStyle/>
          <a:p>
            <a:pPr indent="0" marL="0">
              <a:buNone/>
            </a:pPr>
            <a:r>
              <a:rPr lang="en-US" sz="1100" b="1" dirty="0">
                <a:solidFill>
                  <a:srgbClr val="3A4551"/>
                </a:solidFill>
                <a:latin typeface="Calibri" pitchFamily="34" charset="0"/>
                <a:ea typeface="Calibri" pitchFamily="34" charset="-122"/>
                <a:cs typeface="Calibri" pitchFamily="34" charset="-120"/>
              </a:rPr>
              <a:t>f(n)</a:t>
            </a:r>
            <a:endParaRPr lang="en-US" sz="1100" dirty="0"/>
          </a:p>
        </p:txBody>
      </p:sp>
      <p:sp>
        <p:nvSpPr>
          <p:cNvPr id="49" name="Text 47"/>
          <p:cNvSpPr/>
          <p:nvPr/>
        </p:nvSpPr>
        <p:spPr>
          <a:xfrm>
            <a:off x="4965192" y="3576676"/>
            <a:ext cx="914400" cy="219456"/>
          </a:xfrm>
          <a:prstGeom prst="rect">
            <a:avLst/>
          </a:prstGeom>
          <a:noFill/>
          <a:ln/>
        </p:spPr>
        <p:txBody>
          <a:bodyPr wrap="square" lIns="0" tIns="0" rIns="0" bIns="0" rtlCol="0" anchor="t"/>
          <a:lstStyle/>
          <a:p>
            <a:pPr indent="0" marL="0">
              <a:buNone/>
            </a:pPr>
            <a:r>
              <a:rPr lang="en-US" sz="1100" b="1" dirty="0">
                <a:solidFill>
                  <a:srgbClr val="2E7D5B"/>
                </a:solidFill>
                <a:latin typeface="Calibri" pitchFamily="34" charset="0"/>
                <a:ea typeface="Calibri" pitchFamily="34" charset="-122"/>
                <a:cs typeface="Calibri" pitchFamily="34" charset="-120"/>
              </a:rPr>
              <a:t>c·g(n)</a:t>
            </a:r>
            <a:endParaRPr lang="en-US" sz="1100" dirty="0"/>
          </a:p>
        </p:txBody>
      </p:sp>
      <p:sp>
        <p:nvSpPr>
          <p:cNvPr id="50" name="Text 48"/>
          <p:cNvSpPr/>
          <p:nvPr/>
        </p:nvSpPr>
        <p:spPr>
          <a:xfrm>
            <a:off x="914400" y="5029200"/>
            <a:ext cx="4754880" cy="594360"/>
          </a:xfrm>
          <a:prstGeom prst="rect">
            <a:avLst/>
          </a:prstGeom>
          <a:noFill/>
          <a:ln/>
        </p:spPr>
        <p:txBody>
          <a:bodyPr wrap="square" lIns="0" tIns="0" rIns="0" bIns="0" rtlCol="0" anchor="t"/>
          <a:lstStyle/>
          <a:p>
            <a:pPr indent="0" marL="0">
              <a:lnSpc>
                <a:spcPts val="1550"/>
              </a:lnSpc>
              <a:buNone/>
            </a:pPr>
            <a:r>
              <a:rPr lang="en-US" sz="1200" dirty="0">
                <a:solidFill>
                  <a:srgbClr val="6B7784"/>
                </a:solidFill>
                <a:latin typeface="Calibri" pitchFamily="34" charset="0"/>
                <a:ea typeface="Calibri" pitchFamily="34" charset="-122"/>
                <a:cs typeface="Calibri" pitchFamily="34" charset="-120"/>
              </a:rPr>
              <a:t>“grows at least as fast as” — a floor. Often used for best case, and for proving that no algorithm can do better than some bound.</a:t>
            </a:r>
            <a:endParaRPr lang="en-US" sz="1200" dirty="0"/>
          </a:p>
        </p:txBody>
      </p:sp>
      <p:sp>
        <p:nvSpPr>
          <p:cNvPr id="51" name="Shape 49"/>
          <p:cNvSpPr/>
          <p:nvPr/>
        </p:nvSpPr>
        <p:spPr>
          <a:xfrm>
            <a:off x="6245352" y="1298448"/>
            <a:ext cx="5303520" cy="4434840"/>
          </a:xfrm>
          <a:prstGeom prst="roundRect">
            <a:avLst>
              <a:gd name="adj" fmla="val 1237"/>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52" name="Text 50"/>
          <p:cNvSpPr/>
          <p:nvPr/>
        </p:nvSpPr>
        <p:spPr>
          <a:xfrm>
            <a:off x="6519672" y="1481328"/>
            <a:ext cx="4754880" cy="310896"/>
          </a:xfrm>
          <a:prstGeom prst="rect">
            <a:avLst/>
          </a:prstGeom>
          <a:noFill/>
          <a:ln/>
        </p:spPr>
        <p:txBody>
          <a:bodyPr wrap="square" lIns="0" tIns="0" rIns="0" bIns="0" rtlCol="0" anchor="t"/>
          <a:lstStyle/>
          <a:p>
            <a:pPr indent="0" marL="0">
              <a:buNone/>
            </a:pPr>
            <a:r>
              <a:rPr lang="en-US" sz="1700" b="1" dirty="0">
                <a:solidFill>
                  <a:srgbClr val="0E7C86"/>
                </a:solidFill>
                <a:latin typeface="Cambria" pitchFamily="34" charset="0"/>
                <a:ea typeface="Cambria" pitchFamily="34" charset="-122"/>
                <a:cs typeface="Cambria" pitchFamily="34" charset="-120"/>
              </a:rPr>
              <a:t>Big-Θ — tight bound</a:t>
            </a:r>
            <a:endParaRPr lang="en-US" sz="1700" dirty="0"/>
          </a:p>
        </p:txBody>
      </p:sp>
      <p:sp>
        <p:nvSpPr>
          <p:cNvPr id="53" name="Shape 51"/>
          <p:cNvSpPr/>
          <p:nvPr/>
        </p:nvSpPr>
        <p:spPr>
          <a:xfrm>
            <a:off x="6519672" y="1847088"/>
            <a:ext cx="4754880" cy="749808"/>
          </a:xfrm>
          <a:prstGeom prst="roundRect">
            <a:avLst>
              <a:gd name="adj" fmla="val 6098"/>
            </a:avLst>
          </a:prstGeom>
          <a:solidFill>
            <a:srgbClr val="171C24"/>
          </a:solidFill>
          <a:ln/>
        </p:spPr>
      </p:sp>
      <p:sp>
        <p:nvSpPr>
          <p:cNvPr id="54" name="Text 52"/>
          <p:cNvSpPr/>
          <p:nvPr/>
        </p:nvSpPr>
        <p:spPr>
          <a:xfrm>
            <a:off x="6684264" y="1847088"/>
            <a:ext cx="4480560" cy="749808"/>
          </a:xfrm>
          <a:prstGeom prst="rect">
            <a:avLst/>
          </a:prstGeom>
          <a:noFill/>
          <a:ln/>
        </p:spPr>
        <p:txBody>
          <a:bodyPr wrap="square" lIns="0" tIns="0" rIns="0" bIns="0" rtlCol="0" anchor="ctr"/>
          <a:lstStyle/>
          <a:p>
            <a:pPr indent="0" marL="0">
              <a:lnSpc>
                <a:spcPts val="1700"/>
              </a:lnSpc>
              <a:buNone/>
            </a:pPr>
            <a:r>
              <a:rPr lang="en-US" sz="1300" b="1" dirty="0">
                <a:solidFill>
                  <a:srgbClr val="E8871E"/>
                </a:solidFill>
                <a:latin typeface="Courier New" pitchFamily="34" charset="0"/>
                <a:ea typeface="Courier New" pitchFamily="34" charset="-122"/>
                <a:cs typeface="Courier New" pitchFamily="34" charset="-120"/>
              </a:rPr>
              <a:t>f(n) = Θ(g(n))</a:t>
            </a:r>
            <a:endParaRPr lang="en-US" sz="1300" dirty="0"/>
          </a:p>
          <a:p>
            <a:pPr indent="0" marL="0">
              <a:lnSpc>
                <a:spcPts val="1700"/>
              </a:lnSpc>
              <a:buNone/>
            </a:pPr>
            <a:r>
              <a:rPr lang="en-US" sz="1150" dirty="0">
                <a:solidFill>
                  <a:srgbClr val="E6EAF0"/>
                </a:solidFill>
                <a:latin typeface="Courier New" pitchFamily="34" charset="0"/>
                <a:ea typeface="Courier New" pitchFamily="34" charset="-122"/>
                <a:cs typeface="Courier New" pitchFamily="34" charset="-120"/>
              </a:rPr>
              <a:t>c₁·g(n) ≤ f(n) ≤ c₂·g(n),  n ≥ n₀</a:t>
            </a:r>
            <a:endParaRPr lang="en-US" sz="1300" dirty="0"/>
          </a:p>
        </p:txBody>
      </p:sp>
      <p:sp>
        <p:nvSpPr>
          <p:cNvPr id="55" name="Shape 53"/>
          <p:cNvSpPr/>
          <p:nvPr/>
        </p:nvSpPr>
        <p:spPr>
          <a:xfrm>
            <a:off x="6702552" y="2880360"/>
            <a:ext cx="914" cy="1874520"/>
          </a:xfrm>
          <a:prstGeom prst="line">
            <a:avLst/>
          </a:prstGeom>
          <a:noFill/>
          <a:ln w="15875">
            <a:solidFill>
              <a:srgbClr val="6B7784"/>
            </a:solidFill>
            <a:prstDash val="solid"/>
          </a:ln>
        </p:spPr>
      </p:sp>
      <p:sp>
        <p:nvSpPr>
          <p:cNvPr id="56" name="Shape 54"/>
          <p:cNvSpPr/>
          <p:nvPr/>
        </p:nvSpPr>
        <p:spPr>
          <a:xfrm>
            <a:off x="6702552" y="4754880"/>
            <a:ext cx="3794760" cy="914"/>
          </a:xfrm>
          <a:prstGeom prst="line">
            <a:avLst/>
          </a:prstGeom>
          <a:noFill/>
          <a:ln w="15875">
            <a:solidFill>
              <a:srgbClr val="6B7784"/>
            </a:solidFill>
            <a:prstDash val="solid"/>
          </a:ln>
        </p:spPr>
      </p:sp>
      <p:sp>
        <p:nvSpPr>
          <p:cNvPr id="57" name="Text 55"/>
          <p:cNvSpPr/>
          <p:nvPr/>
        </p:nvSpPr>
        <p:spPr>
          <a:xfrm>
            <a:off x="9400032" y="4846320"/>
            <a:ext cx="1188720" cy="228600"/>
          </a:xfrm>
          <a:prstGeom prst="rect">
            <a:avLst/>
          </a:prstGeom>
          <a:noFill/>
          <a:ln/>
        </p:spPr>
        <p:txBody>
          <a:bodyPr wrap="square" lIns="0" tIns="0" rIns="0" bIns="0" rtlCol="0" anchor="t"/>
          <a:lstStyle/>
          <a:p>
            <a:pPr algn="r" indent="0" marL="0">
              <a:buNone/>
            </a:pPr>
            <a:r>
              <a:rPr lang="en-US" sz="1100" i="1" dirty="0">
                <a:solidFill>
                  <a:srgbClr val="6B7784"/>
                </a:solidFill>
                <a:latin typeface="Calibri" pitchFamily="34" charset="0"/>
                <a:ea typeface="Calibri" pitchFamily="34" charset="-122"/>
                <a:cs typeface="Calibri" pitchFamily="34" charset="-120"/>
              </a:rPr>
              <a:t>n</a:t>
            </a:r>
            <a:endParaRPr lang="en-US" sz="1100" dirty="0"/>
          </a:p>
        </p:txBody>
      </p:sp>
      <p:sp>
        <p:nvSpPr>
          <p:cNvPr id="58" name="Text 56"/>
          <p:cNvSpPr/>
          <p:nvPr/>
        </p:nvSpPr>
        <p:spPr>
          <a:xfrm>
            <a:off x="6656832" y="2606040"/>
            <a:ext cx="1828800" cy="228600"/>
          </a:xfrm>
          <a:prstGeom prst="rect">
            <a:avLst/>
          </a:prstGeom>
          <a:noFill/>
          <a:ln/>
        </p:spPr>
        <p:txBody>
          <a:bodyPr wrap="square" lIns="0" tIns="0" rIns="0" bIns="0" rtlCol="0" anchor="t"/>
          <a:lstStyle/>
          <a:p>
            <a:pPr indent="0" marL="0">
              <a:buNone/>
            </a:pPr>
            <a:r>
              <a:rPr lang="en-US" sz="1100" i="1" dirty="0">
                <a:solidFill>
                  <a:srgbClr val="6B7784"/>
                </a:solidFill>
                <a:latin typeface="Calibri" pitchFamily="34" charset="0"/>
                <a:ea typeface="Calibri" pitchFamily="34" charset="-122"/>
                <a:cs typeface="Calibri" pitchFamily="34" charset="-120"/>
              </a:rPr>
              <a:t>cost</a:t>
            </a:r>
            <a:endParaRPr lang="en-US" sz="1100" dirty="0"/>
          </a:p>
        </p:txBody>
      </p:sp>
      <p:sp>
        <p:nvSpPr>
          <p:cNvPr id="59" name="Shape 57"/>
          <p:cNvSpPr/>
          <p:nvPr/>
        </p:nvSpPr>
        <p:spPr>
          <a:xfrm flipV="1">
            <a:off x="6702552" y="4292108"/>
            <a:ext cx="237173" cy="87868"/>
          </a:xfrm>
          <a:prstGeom prst="line">
            <a:avLst/>
          </a:prstGeom>
          <a:noFill/>
          <a:ln w="27940">
            <a:solidFill>
              <a:srgbClr val="0E7C86"/>
            </a:solidFill>
            <a:prstDash val="solid"/>
          </a:ln>
        </p:spPr>
      </p:sp>
      <p:sp>
        <p:nvSpPr>
          <p:cNvPr id="60" name="Shape 58"/>
          <p:cNvSpPr/>
          <p:nvPr/>
        </p:nvSpPr>
        <p:spPr>
          <a:xfrm flipV="1">
            <a:off x="6939725" y="4204240"/>
            <a:ext cx="237172" cy="87868"/>
          </a:xfrm>
          <a:prstGeom prst="line">
            <a:avLst/>
          </a:prstGeom>
          <a:noFill/>
          <a:ln w="27940">
            <a:solidFill>
              <a:srgbClr val="0E7C86"/>
            </a:solidFill>
            <a:prstDash val="solid"/>
          </a:ln>
        </p:spPr>
      </p:sp>
      <p:sp>
        <p:nvSpPr>
          <p:cNvPr id="61" name="Shape 59"/>
          <p:cNvSpPr/>
          <p:nvPr/>
        </p:nvSpPr>
        <p:spPr>
          <a:xfrm flipV="1">
            <a:off x="7176897" y="4116372"/>
            <a:ext cx="237172" cy="87868"/>
          </a:xfrm>
          <a:prstGeom prst="line">
            <a:avLst/>
          </a:prstGeom>
          <a:noFill/>
          <a:ln w="27940">
            <a:solidFill>
              <a:srgbClr val="0E7C86"/>
            </a:solidFill>
            <a:prstDash val="solid"/>
          </a:ln>
        </p:spPr>
      </p:sp>
      <p:sp>
        <p:nvSpPr>
          <p:cNvPr id="62" name="Shape 60"/>
          <p:cNvSpPr/>
          <p:nvPr/>
        </p:nvSpPr>
        <p:spPr>
          <a:xfrm flipV="1">
            <a:off x="7414069" y="4028503"/>
            <a:ext cx="237173" cy="87868"/>
          </a:xfrm>
          <a:prstGeom prst="line">
            <a:avLst/>
          </a:prstGeom>
          <a:noFill/>
          <a:ln w="27940">
            <a:solidFill>
              <a:srgbClr val="0E7C86"/>
            </a:solidFill>
            <a:prstDash val="solid"/>
          </a:ln>
        </p:spPr>
      </p:sp>
      <p:sp>
        <p:nvSpPr>
          <p:cNvPr id="63" name="Shape 61"/>
          <p:cNvSpPr/>
          <p:nvPr/>
        </p:nvSpPr>
        <p:spPr>
          <a:xfrm flipV="1">
            <a:off x="7651242" y="3940635"/>
            <a:ext cx="237173" cy="87868"/>
          </a:xfrm>
          <a:prstGeom prst="line">
            <a:avLst/>
          </a:prstGeom>
          <a:noFill/>
          <a:ln w="27940">
            <a:solidFill>
              <a:srgbClr val="0E7C86"/>
            </a:solidFill>
            <a:prstDash val="solid"/>
          </a:ln>
        </p:spPr>
      </p:sp>
      <p:sp>
        <p:nvSpPr>
          <p:cNvPr id="64" name="Shape 62"/>
          <p:cNvSpPr/>
          <p:nvPr/>
        </p:nvSpPr>
        <p:spPr>
          <a:xfrm flipV="1">
            <a:off x="7888415" y="3852767"/>
            <a:ext cx="237173" cy="87868"/>
          </a:xfrm>
          <a:prstGeom prst="line">
            <a:avLst/>
          </a:prstGeom>
          <a:noFill/>
          <a:ln w="27940">
            <a:solidFill>
              <a:srgbClr val="0E7C86"/>
            </a:solidFill>
            <a:prstDash val="solid"/>
          </a:ln>
        </p:spPr>
      </p:sp>
      <p:sp>
        <p:nvSpPr>
          <p:cNvPr id="65" name="Shape 63"/>
          <p:cNvSpPr/>
          <p:nvPr/>
        </p:nvSpPr>
        <p:spPr>
          <a:xfrm flipV="1">
            <a:off x="8125587" y="3764899"/>
            <a:ext cx="237173" cy="87868"/>
          </a:xfrm>
          <a:prstGeom prst="line">
            <a:avLst/>
          </a:prstGeom>
          <a:noFill/>
          <a:ln w="27940">
            <a:solidFill>
              <a:srgbClr val="0E7C86"/>
            </a:solidFill>
            <a:prstDash val="solid"/>
          </a:ln>
        </p:spPr>
      </p:sp>
      <p:sp>
        <p:nvSpPr>
          <p:cNvPr id="66" name="Shape 64"/>
          <p:cNvSpPr/>
          <p:nvPr/>
        </p:nvSpPr>
        <p:spPr>
          <a:xfrm flipV="1">
            <a:off x="8362760" y="3677031"/>
            <a:ext cx="237173" cy="87868"/>
          </a:xfrm>
          <a:prstGeom prst="line">
            <a:avLst/>
          </a:prstGeom>
          <a:noFill/>
          <a:ln w="27940">
            <a:solidFill>
              <a:srgbClr val="0E7C86"/>
            </a:solidFill>
            <a:prstDash val="solid"/>
          </a:ln>
        </p:spPr>
      </p:sp>
      <p:sp>
        <p:nvSpPr>
          <p:cNvPr id="67" name="Shape 65"/>
          <p:cNvSpPr/>
          <p:nvPr/>
        </p:nvSpPr>
        <p:spPr>
          <a:xfrm flipV="1">
            <a:off x="8599932" y="3589163"/>
            <a:ext cx="237172" cy="87868"/>
          </a:xfrm>
          <a:prstGeom prst="line">
            <a:avLst/>
          </a:prstGeom>
          <a:noFill/>
          <a:ln w="27940">
            <a:solidFill>
              <a:srgbClr val="0E7C86"/>
            </a:solidFill>
            <a:prstDash val="solid"/>
          </a:ln>
        </p:spPr>
      </p:sp>
      <p:sp>
        <p:nvSpPr>
          <p:cNvPr id="68" name="Shape 66"/>
          <p:cNvSpPr/>
          <p:nvPr/>
        </p:nvSpPr>
        <p:spPr>
          <a:xfrm flipV="1">
            <a:off x="8837105" y="3501295"/>
            <a:ext cx="237173" cy="87868"/>
          </a:xfrm>
          <a:prstGeom prst="line">
            <a:avLst/>
          </a:prstGeom>
          <a:noFill/>
          <a:ln w="27940">
            <a:solidFill>
              <a:srgbClr val="0E7C86"/>
            </a:solidFill>
            <a:prstDash val="solid"/>
          </a:ln>
        </p:spPr>
      </p:sp>
      <p:sp>
        <p:nvSpPr>
          <p:cNvPr id="69" name="Shape 67"/>
          <p:cNvSpPr/>
          <p:nvPr/>
        </p:nvSpPr>
        <p:spPr>
          <a:xfrm flipV="1">
            <a:off x="9074277" y="3413427"/>
            <a:ext cx="237173" cy="87868"/>
          </a:xfrm>
          <a:prstGeom prst="line">
            <a:avLst/>
          </a:prstGeom>
          <a:noFill/>
          <a:ln w="27940">
            <a:solidFill>
              <a:srgbClr val="0E7C86"/>
            </a:solidFill>
            <a:prstDash val="solid"/>
          </a:ln>
        </p:spPr>
      </p:sp>
      <p:sp>
        <p:nvSpPr>
          <p:cNvPr id="70" name="Shape 68"/>
          <p:cNvSpPr/>
          <p:nvPr/>
        </p:nvSpPr>
        <p:spPr>
          <a:xfrm flipV="1">
            <a:off x="9311450" y="3325558"/>
            <a:ext cx="237173" cy="87868"/>
          </a:xfrm>
          <a:prstGeom prst="line">
            <a:avLst/>
          </a:prstGeom>
          <a:noFill/>
          <a:ln w="27940">
            <a:solidFill>
              <a:srgbClr val="0E7C86"/>
            </a:solidFill>
            <a:prstDash val="solid"/>
          </a:ln>
        </p:spPr>
      </p:sp>
      <p:sp>
        <p:nvSpPr>
          <p:cNvPr id="71" name="Shape 69"/>
          <p:cNvSpPr/>
          <p:nvPr/>
        </p:nvSpPr>
        <p:spPr>
          <a:xfrm flipV="1">
            <a:off x="9548622" y="3237690"/>
            <a:ext cx="237173" cy="87868"/>
          </a:xfrm>
          <a:prstGeom prst="line">
            <a:avLst/>
          </a:prstGeom>
          <a:noFill/>
          <a:ln w="27940">
            <a:solidFill>
              <a:srgbClr val="0E7C86"/>
            </a:solidFill>
            <a:prstDash val="solid"/>
          </a:ln>
        </p:spPr>
      </p:sp>
      <p:sp>
        <p:nvSpPr>
          <p:cNvPr id="72" name="Shape 70"/>
          <p:cNvSpPr/>
          <p:nvPr/>
        </p:nvSpPr>
        <p:spPr>
          <a:xfrm flipV="1">
            <a:off x="9785795" y="3149822"/>
            <a:ext cx="237172" cy="87868"/>
          </a:xfrm>
          <a:prstGeom prst="line">
            <a:avLst/>
          </a:prstGeom>
          <a:noFill/>
          <a:ln w="27940">
            <a:solidFill>
              <a:srgbClr val="0E7C86"/>
            </a:solidFill>
            <a:prstDash val="solid"/>
          </a:ln>
        </p:spPr>
      </p:sp>
      <p:sp>
        <p:nvSpPr>
          <p:cNvPr id="73" name="Shape 71"/>
          <p:cNvSpPr/>
          <p:nvPr/>
        </p:nvSpPr>
        <p:spPr>
          <a:xfrm flipV="1">
            <a:off x="10022967" y="3061954"/>
            <a:ext cx="237173" cy="87868"/>
          </a:xfrm>
          <a:prstGeom prst="line">
            <a:avLst/>
          </a:prstGeom>
          <a:noFill/>
          <a:ln w="27940">
            <a:solidFill>
              <a:srgbClr val="0E7C86"/>
            </a:solidFill>
            <a:prstDash val="solid"/>
          </a:ln>
        </p:spPr>
      </p:sp>
      <p:sp>
        <p:nvSpPr>
          <p:cNvPr id="74" name="Shape 72"/>
          <p:cNvSpPr/>
          <p:nvPr/>
        </p:nvSpPr>
        <p:spPr>
          <a:xfrm flipV="1">
            <a:off x="10260140" y="2974086"/>
            <a:ext cx="237173" cy="87868"/>
          </a:xfrm>
          <a:prstGeom prst="line">
            <a:avLst/>
          </a:prstGeom>
          <a:noFill/>
          <a:ln w="27940">
            <a:solidFill>
              <a:srgbClr val="0E7C86"/>
            </a:solidFill>
            <a:prstDash val="solid"/>
          </a:ln>
        </p:spPr>
      </p:sp>
      <p:sp>
        <p:nvSpPr>
          <p:cNvPr id="75" name="Shape 73"/>
          <p:cNvSpPr/>
          <p:nvPr/>
        </p:nvSpPr>
        <p:spPr>
          <a:xfrm flipV="1">
            <a:off x="6702552" y="4668183"/>
            <a:ext cx="237173" cy="49206"/>
          </a:xfrm>
          <a:prstGeom prst="line">
            <a:avLst/>
          </a:prstGeom>
          <a:noFill/>
          <a:ln w="27940">
            <a:solidFill>
              <a:srgbClr val="0E7C86"/>
            </a:solidFill>
            <a:prstDash val="solid"/>
          </a:ln>
        </p:spPr>
      </p:sp>
      <p:sp>
        <p:nvSpPr>
          <p:cNvPr id="76" name="Shape 74"/>
          <p:cNvSpPr/>
          <p:nvPr/>
        </p:nvSpPr>
        <p:spPr>
          <a:xfrm flipV="1">
            <a:off x="6939725" y="4618977"/>
            <a:ext cx="237172" cy="49206"/>
          </a:xfrm>
          <a:prstGeom prst="line">
            <a:avLst/>
          </a:prstGeom>
          <a:noFill/>
          <a:ln w="27940">
            <a:solidFill>
              <a:srgbClr val="0E7C86"/>
            </a:solidFill>
            <a:prstDash val="solid"/>
          </a:ln>
        </p:spPr>
      </p:sp>
      <p:sp>
        <p:nvSpPr>
          <p:cNvPr id="77" name="Shape 75"/>
          <p:cNvSpPr/>
          <p:nvPr/>
        </p:nvSpPr>
        <p:spPr>
          <a:xfrm flipV="1">
            <a:off x="7176897" y="4569771"/>
            <a:ext cx="237172" cy="49206"/>
          </a:xfrm>
          <a:prstGeom prst="line">
            <a:avLst/>
          </a:prstGeom>
          <a:noFill/>
          <a:ln w="27940">
            <a:solidFill>
              <a:srgbClr val="0E7C86"/>
            </a:solidFill>
            <a:prstDash val="solid"/>
          </a:ln>
        </p:spPr>
      </p:sp>
      <p:sp>
        <p:nvSpPr>
          <p:cNvPr id="78" name="Shape 76"/>
          <p:cNvSpPr/>
          <p:nvPr/>
        </p:nvSpPr>
        <p:spPr>
          <a:xfrm flipV="1">
            <a:off x="7414069" y="4520565"/>
            <a:ext cx="237173" cy="49206"/>
          </a:xfrm>
          <a:prstGeom prst="line">
            <a:avLst/>
          </a:prstGeom>
          <a:noFill/>
          <a:ln w="27940">
            <a:solidFill>
              <a:srgbClr val="0E7C86"/>
            </a:solidFill>
            <a:prstDash val="solid"/>
          </a:ln>
        </p:spPr>
      </p:sp>
      <p:sp>
        <p:nvSpPr>
          <p:cNvPr id="79" name="Shape 77"/>
          <p:cNvSpPr/>
          <p:nvPr/>
        </p:nvSpPr>
        <p:spPr>
          <a:xfrm flipV="1">
            <a:off x="7651242" y="4471359"/>
            <a:ext cx="237173" cy="49206"/>
          </a:xfrm>
          <a:prstGeom prst="line">
            <a:avLst/>
          </a:prstGeom>
          <a:noFill/>
          <a:ln w="27940">
            <a:solidFill>
              <a:srgbClr val="0E7C86"/>
            </a:solidFill>
            <a:prstDash val="solid"/>
          </a:ln>
        </p:spPr>
      </p:sp>
      <p:sp>
        <p:nvSpPr>
          <p:cNvPr id="80" name="Shape 78"/>
          <p:cNvSpPr/>
          <p:nvPr/>
        </p:nvSpPr>
        <p:spPr>
          <a:xfrm flipV="1">
            <a:off x="7888415" y="4422153"/>
            <a:ext cx="237173" cy="49206"/>
          </a:xfrm>
          <a:prstGeom prst="line">
            <a:avLst/>
          </a:prstGeom>
          <a:noFill/>
          <a:ln w="27940">
            <a:solidFill>
              <a:srgbClr val="0E7C86"/>
            </a:solidFill>
            <a:prstDash val="solid"/>
          </a:ln>
        </p:spPr>
      </p:sp>
      <p:sp>
        <p:nvSpPr>
          <p:cNvPr id="81" name="Shape 79"/>
          <p:cNvSpPr/>
          <p:nvPr/>
        </p:nvSpPr>
        <p:spPr>
          <a:xfrm flipV="1">
            <a:off x="8125587" y="4372947"/>
            <a:ext cx="237173" cy="49206"/>
          </a:xfrm>
          <a:prstGeom prst="line">
            <a:avLst/>
          </a:prstGeom>
          <a:noFill/>
          <a:ln w="27940">
            <a:solidFill>
              <a:srgbClr val="0E7C86"/>
            </a:solidFill>
            <a:prstDash val="solid"/>
          </a:ln>
        </p:spPr>
      </p:sp>
      <p:sp>
        <p:nvSpPr>
          <p:cNvPr id="82" name="Shape 80"/>
          <p:cNvSpPr/>
          <p:nvPr/>
        </p:nvSpPr>
        <p:spPr>
          <a:xfrm flipV="1">
            <a:off x="8362760" y="4323740"/>
            <a:ext cx="237173" cy="49206"/>
          </a:xfrm>
          <a:prstGeom prst="line">
            <a:avLst/>
          </a:prstGeom>
          <a:noFill/>
          <a:ln w="27940">
            <a:solidFill>
              <a:srgbClr val="0E7C86"/>
            </a:solidFill>
            <a:prstDash val="solid"/>
          </a:ln>
        </p:spPr>
      </p:sp>
      <p:sp>
        <p:nvSpPr>
          <p:cNvPr id="83" name="Shape 81"/>
          <p:cNvSpPr/>
          <p:nvPr/>
        </p:nvSpPr>
        <p:spPr>
          <a:xfrm flipV="1">
            <a:off x="8599932" y="4274534"/>
            <a:ext cx="237172" cy="49206"/>
          </a:xfrm>
          <a:prstGeom prst="line">
            <a:avLst/>
          </a:prstGeom>
          <a:noFill/>
          <a:ln w="27940">
            <a:solidFill>
              <a:srgbClr val="0E7C86"/>
            </a:solidFill>
            <a:prstDash val="solid"/>
          </a:ln>
        </p:spPr>
      </p:sp>
      <p:sp>
        <p:nvSpPr>
          <p:cNvPr id="84" name="Shape 82"/>
          <p:cNvSpPr/>
          <p:nvPr/>
        </p:nvSpPr>
        <p:spPr>
          <a:xfrm flipV="1">
            <a:off x="8837105" y="4225328"/>
            <a:ext cx="237173" cy="49206"/>
          </a:xfrm>
          <a:prstGeom prst="line">
            <a:avLst/>
          </a:prstGeom>
          <a:noFill/>
          <a:ln w="27940">
            <a:solidFill>
              <a:srgbClr val="0E7C86"/>
            </a:solidFill>
            <a:prstDash val="solid"/>
          </a:ln>
        </p:spPr>
      </p:sp>
      <p:sp>
        <p:nvSpPr>
          <p:cNvPr id="85" name="Shape 83"/>
          <p:cNvSpPr/>
          <p:nvPr/>
        </p:nvSpPr>
        <p:spPr>
          <a:xfrm flipV="1">
            <a:off x="9074277" y="4176122"/>
            <a:ext cx="237173" cy="49206"/>
          </a:xfrm>
          <a:prstGeom prst="line">
            <a:avLst/>
          </a:prstGeom>
          <a:noFill/>
          <a:ln w="27940">
            <a:solidFill>
              <a:srgbClr val="0E7C86"/>
            </a:solidFill>
            <a:prstDash val="solid"/>
          </a:ln>
        </p:spPr>
      </p:sp>
      <p:sp>
        <p:nvSpPr>
          <p:cNvPr id="86" name="Shape 84"/>
          <p:cNvSpPr/>
          <p:nvPr/>
        </p:nvSpPr>
        <p:spPr>
          <a:xfrm flipV="1">
            <a:off x="9311450" y="4126916"/>
            <a:ext cx="237173" cy="49206"/>
          </a:xfrm>
          <a:prstGeom prst="line">
            <a:avLst/>
          </a:prstGeom>
          <a:noFill/>
          <a:ln w="27940">
            <a:solidFill>
              <a:srgbClr val="0E7C86"/>
            </a:solidFill>
            <a:prstDash val="solid"/>
          </a:ln>
        </p:spPr>
      </p:sp>
      <p:sp>
        <p:nvSpPr>
          <p:cNvPr id="87" name="Shape 85"/>
          <p:cNvSpPr/>
          <p:nvPr/>
        </p:nvSpPr>
        <p:spPr>
          <a:xfrm flipV="1">
            <a:off x="9548622" y="4077710"/>
            <a:ext cx="237173" cy="49206"/>
          </a:xfrm>
          <a:prstGeom prst="line">
            <a:avLst/>
          </a:prstGeom>
          <a:noFill/>
          <a:ln w="27940">
            <a:solidFill>
              <a:srgbClr val="0E7C86"/>
            </a:solidFill>
            <a:prstDash val="solid"/>
          </a:ln>
        </p:spPr>
      </p:sp>
      <p:sp>
        <p:nvSpPr>
          <p:cNvPr id="88" name="Shape 86"/>
          <p:cNvSpPr/>
          <p:nvPr/>
        </p:nvSpPr>
        <p:spPr>
          <a:xfrm flipV="1">
            <a:off x="9785795" y="4028503"/>
            <a:ext cx="237172" cy="49206"/>
          </a:xfrm>
          <a:prstGeom prst="line">
            <a:avLst/>
          </a:prstGeom>
          <a:noFill/>
          <a:ln w="27940">
            <a:solidFill>
              <a:srgbClr val="0E7C86"/>
            </a:solidFill>
            <a:prstDash val="solid"/>
          </a:ln>
        </p:spPr>
      </p:sp>
      <p:sp>
        <p:nvSpPr>
          <p:cNvPr id="89" name="Shape 87"/>
          <p:cNvSpPr/>
          <p:nvPr/>
        </p:nvSpPr>
        <p:spPr>
          <a:xfrm flipV="1">
            <a:off x="10022967" y="3979297"/>
            <a:ext cx="237173" cy="49206"/>
          </a:xfrm>
          <a:prstGeom prst="line">
            <a:avLst/>
          </a:prstGeom>
          <a:noFill/>
          <a:ln w="27940">
            <a:solidFill>
              <a:srgbClr val="0E7C86"/>
            </a:solidFill>
            <a:prstDash val="solid"/>
          </a:ln>
        </p:spPr>
      </p:sp>
      <p:sp>
        <p:nvSpPr>
          <p:cNvPr id="90" name="Shape 88"/>
          <p:cNvSpPr/>
          <p:nvPr/>
        </p:nvSpPr>
        <p:spPr>
          <a:xfrm flipV="1">
            <a:off x="10260140" y="3930091"/>
            <a:ext cx="237173" cy="49206"/>
          </a:xfrm>
          <a:prstGeom prst="line">
            <a:avLst/>
          </a:prstGeom>
          <a:noFill/>
          <a:ln w="27940">
            <a:solidFill>
              <a:srgbClr val="0E7C86"/>
            </a:solidFill>
            <a:prstDash val="solid"/>
          </a:ln>
        </p:spPr>
      </p:sp>
      <p:sp>
        <p:nvSpPr>
          <p:cNvPr id="91" name="Shape 89"/>
          <p:cNvSpPr/>
          <p:nvPr/>
        </p:nvSpPr>
        <p:spPr>
          <a:xfrm flipV="1">
            <a:off x="6702552" y="4493812"/>
            <a:ext cx="145952" cy="73616"/>
          </a:xfrm>
          <a:prstGeom prst="line">
            <a:avLst/>
          </a:prstGeom>
          <a:noFill/>
          <a:ln w="27940">
            <a:solidFill>
              <a:srgbClr val="3A4551"/>
            </a:solidFill>
            <a:prstDash val="solid"/>
          </a:ln>
        </p:spPr>
      </p:sp>
      <p:sp>
        <p:nvSpPr>
          <p:cNvPr id="92" name="Shape 90"/>
          <p:cNvSpPr/>
          <p:nvPr/>
        </p:nvSpPr>
        <p:spPr>
          <a:xfrm flipV="1">
            <a:off x="6848504" y="4423969"/>
            <a:ext cx="145952" cy="69843"/>
          </a:xfrm>
          <a:prstGeom prst="line">
            <a:avLst/>
          </a:prstGeom>
          <a:noFill/>
          <a:ln w="27940">
            <a:solidFill>
              <a:srgbClr val="3A4551"/>
            </a:solidFill>
            <a:prstDash val="solid"/>
          </a:ln>
        </p:spPr>
      </p:sp>
      <p:sp>
        <p:nvSpPr>
          <p:cNvPr id="93" name="Shape 91"/>
          <p:cNvSpPr/>
          <p:nvPr/>
        </p:nvSpPr>
        <p:spPr>
          <a:xfrm flipV="1">
            <a:off x="6994457" y="4361223"/>
            <a:ext cx="145952" cy="62746"/>
          </a:xfrm>
          <a:prstGeom prst="line">
            <a:avLst/>
          </a:prstGeom>
          <a:noFill/>
          <a:ln w="27940">
            <a:solidFill>
              <a:srgbClr val="3A4551"/>
            </a:solidFill>
            <a:prstDash val="solid"/>
          </a:ln>
        </p:spPr>
      </p:sp>
      <p:sp>
        <p:nvSpPr>
          <p:cNvPr id="94" name="Shape 92"/>
          <p:cNvSpPr/>
          <p:nvPr/>
        </p:nvSpPr>
        <p:spPr>
          <a:xfrm flipV="1">
            <a:off x="7140409" y="4308057"/>
            <a:ext cx="145952" cy="53166"/>
          </a:xfrm>
          <a:prstGeom prst="line">
            <a:avLst/>
          </a:prstGeom>
          <a:noFill/>
          <a:ln w="27940">
            <a:solidFill>
              <a:srgbClr val="3A4551"/>
            </a:solidFill>
            <a:prstDash val="solid"/>
          </a:ln>
        </p:spPr>
      </p:sp>
      <p:sp>
        <p:nvSpPr>
          <p:cNvPr id="95" name="Shape 93"/>
          <p:cNvSpPr/>
          <p:nvPr/>
        </p:nvSpPr>
        <p:spPr>
          <a:xfrm flipV="1">
            <a:off x="7286361" y="4265818"/>
            <a:ext cx="145952" cy="42239"/>
          </a:xfrm>
          <a:prstGeom prst="line">
            <a:avLst/>
          </a:prstGeom>
          <a:noFill/>
          <a:ln w="27940">
            <a:solidFill>
              <a:srgbClr val="3A4551"/>
            </a:solidFill>
            <a:prstDash val="solid"/>
          </a:ln>
        </p:spPr>
      </p:sp>
      <p:sp>
        <p:nvSpPr>
          <p:cNvPr id="96" name="Shape 94"/>
          <p:cNvSpPr/>
          <p:nvPr/>
        </p:nvSpPr>
        <p:spPr>
          <a:xfrm flipV="1">
            <a:off x="7432314" y="4234555"/>
            <a:ext cx="145952" cy="31262"/>
          </a:xfrm>
          <a:prstGeom prst="line">
            <a:avLst/>
          </a:prstGeom>
          <a:noFill/>
          <a:ln w="27940">
            <a:solidFill>
              <a:srgbClr val="3A4551"/>
            </a:solidFill>
            <a:prstDash val="solid"/>
          </a:ln>
        </p:spPr>
      </p:sp>
      <p:sp>
        <p:nvSpPr>
          <p:cNvPr id="97" name="Shape 95"/>
          <p:cNvSpPr/>
          <p:nvPr/>
        </p:nvSpPr>
        <p:spPr>
          <a:xfrm flipV="1">
            <a:off x="7578266" y="4213018"/>
            <a:ext cx="145952" cy="21538"/>
          </a:xfrm>
          <a:prstGeom prst="line">
            <a:avLst/>
          </a:prstGeom>
          <a:noFill/>
          <a:ln w="27940">
            <a:solidFill>
              <a:srgbClr val="3A4551"/>
            </a:solidFill>
            <a:prstDash val="solid"/>
          </a:ln>
        </p:spPr>
      </p:sp>
      <p:sp>
        <p:nvSpPr>
          <p:cNvPr id="98" name="Shape 96"/>
          <p:cNvSpPr/>
          <p:nvPr/>
        </p:nvSpPr>
        <p:spPr>
          <a:xfrm flipV="1">
            <a:off x="7724218" y="4198799"/>
            <a:ext cx="145952" cy="14218"/>
          </a:xfrm>
          <a:prstGeom prst="line">
            <a:avLst/>
          </a:prstGeom>
          <a:noFill/>
          <a:ln w="27940">
            <a:solidFill>
              <a:srgbClr val="3A4551"/>
            </a:solidFill>
            <a:prstDash val="solid"/>
          </a:ln>
        </p:spPr>
      </p:sp>
      <p:sp>
        <p:nvSpPr>
          <p:cNvPr id="99" name="Shape 97"/>
          <p:cNvSpPr/>
          <p:nvPr/>
        </p:nvSpPr>
        <p:spPr>
          <a:xfrm flipV="1">
            <a:off x="7870170" y="4188626"/>
            <a:ext cx="145952" cy="10173"/>
          </a:xfrm>
          <a:prstGeom prst="line">
            <a:avLst/>
          </a:prstGeom>
          <a:noFill/>
          <a:ln w="27940">
            <a:solidFill>
              <a:srgbClr val="3A4551"/>
            </a:solidFill>
            <a:prstDash val="solid"/>
          </a:ln>
        </p:spPr>
      </p:sp>
      <p:sp>
        <p:nvSpPr>
          <p:cNvPr id="100" name="Shape 98"/>
          <p:cNvSpPr/>
          <p:nvPr/>
        </p:nvSpPr>
        <p:spPr>
          <a:xfrm flipV="1">
            <a:off x="8016123" y="4178744"/>
            <a:ext cx="145952" cy="9882"/>
          </a:xfrm>
          <a:prstGeom prst="line">
            <a:avLst/>
          </a:prstGeom>
          <a:noFill/>
          <a:ln w="27940">
            <a:solidFill>
              <a:srgbClr val="3A4551"/>
            </a:solidFill>
            <a:prstDash val="solid"/>
          </a:ln>
        </p:spPr>
      </p:sp>
      <p:sp>
        <p:nvSpPr>
          <p:cNvPr id="101" name="Shape 99"/>
          <p:cNvSpPr/>
          <p:nvPr/>
        </p:nvSpPr>
        <p:spPr>
          <a:xfrm flipV="1">
            <a:off x="8162075" y="4165365"/>
            <a:ext cx="145952" cy="13379"/>
          </a:xfrm>
          <a:prstGeom prst="line">
            <a:avLst/>
          </a:prstGeom>
          <a:noFill/>
          <a:ln w="27940">
            <a:solidFill>
              <a:srgbClr val="3A4551"/>
            </a:solidFill>
            <a:prstDash val="solid"/>
          </a:ln>
        </p:spPr>
      </p:sp>
      <p:sp>
        <p:nvSpPr>
          <p:cNvPr id="102" name="Shape 100"/>
          <p:cNvSpPr/>
          <p:nvPr/>
        </p:nvSpPr>
        <p:spPr>
          <a:xfrm flipV="1">
            <a:off x="8308027" y="4145116"/>
            <a:ext cx="145952" cy="20249"/>
          </a:xfrm>
          <a:prstGeom prst="line">
            <a:avLst/>
          </a:prstGeom>
          <a:noFill/>
          <a:ln w="27940">
            <a:solidFill>
              <a:srgbClr val="3A4551"/>
            </a:solidFill>
            <a:prstDash val="solid"/>
          </a:ln>
        </p:spPr>
      </p:sp>
      <p:sp>
        <p:nvSpPr>
          <p:cNvPr id="103" name="Shape 101"/>
          <p:cNvSpPr/>
          <p:nvPr/>
        </p:nvSpPr>
        <p:spPr>
          <a:xfrm flipV="1">
            <a:off x="8453980" y="4115437"/>
            <a:ext cx="145952" cy="29679"/>
          </a:xfrm>
          <a:prstGeom prst="line">
            <a:avLst/>
          </a:prstGeom>
          <a:noFill/>
          <a:ln w="27940">
            <a:solidFill>
              <a:srgbClr val="3A4551"/>
            </a:solidFill>
            <a:prstDash val="solid"/>
          </a:ln>
        </p:spPr>
      </p:sp>
      <p:sp>
        <p:nvSpPr>
          <p:cNvPr id="104" name="Shape 102"/>
          <p:cNvSpPr/>
          <p:nvPr/>
        </p:nvSpPr>
        <p:spPr>
          <a:xfrm flipV="1">
            <a:off x="8599932" y="4074890"/>
            <a:ext cx="145952" cy="40547"/>
          </a:xfrm>
          <a:prstGeom prst="line">
            <a:avLst/>
          </a:prstGeom>
          <a:noFill/>
          <a:ln w="27940">
            <a:solidFill>
              <a:srgbClr val="3A4551"/>
            </a:solidFill>
            <a:prstDash val="solid"/>
          </a:ln>
        </p:spPr>
      </p:sp>
      <p:sp>
        <p:nvSpPr>
          <p:cNvPr id="105" name="Shape 103"/>
          <p:cNvSpPr/>
          <p:nvPr/>
        </p:nvSpPr>
        <p:spPr>
          <a:xfrm flipV="1">
            <a:off x="8745884" y="4023323"/>
            <a:ext cx="145952" cy="51567"/>
          </a:xfrm>
          <a:prstGeom prst="line">
            <a:avLst/>
          </a:prstGeom>
          <a:noFill/>
          <a:ln w="27940">
            <a:solidFill>
              <a:srgbClr val="3A4551"/>
            </a:solidFill>
            <a:prstDash val="solid"/>
          </a:ln>
        </p:spPr>
      </p:sp>
      <p:sp>
        <p:nvSpPr>
          <p:cNvPr id="106" name="Shape 104"/>
          <p:cNvSpPr/>
          <p:nvPr/>
        </p:nvSpPr>
        <p:spPr>
          <a:xfrm flipV="1">
            <a:off x="8891837" y="3961893"/>
            <a:ext cx="145952" cy="61430"/>
          </a:xfrm>
          <a:prstGeom prst="line">
            <a:avLst/>
          </a:prstGeom>
          <a:noFill/>
          <a:ln w="27940">
            <a:solidFill>
              <a:srgbClr val="3A4551"/>
            </a:solidFill>
            <a:prstDash val="solid"/>
          </a:ln>
        </p:spPr>
      </p:sp>
      <p:sp>
        <p:nvSpPr>
          <p:cNvPr id="107" name="Shape 105"/>
          <p:cNvSpPr/>
          <p:nvPr/>
        </p:nvSpPr>
        <p:spPr>
          <a:xfrm flipV="1">
            <a:off x="9037789" y="3892927"/>
            <a:ext cx="145952" cy="68966"/>
          </a:xfrm>
          <a:prstGeom prst="line">
            <a:avLst/>
          </a:prstGeom>
          <a:noFill/>
          <a:ln w="27940">
            <a:solidFill>
              <a:srgbClr val="3A4551"/>
            </a:solidFill>
            <a:prstDash val="solid"/>
          </a:ln>
        </p:spPr>
      </p:sp>
      <p:sp>
        <p:nvSpPr>
          <p:cNvPr id="108" name="Shape 106"/>
          <p:cNvSpPr/>
          <p:nvPr/>
        </p:nvSpPr>
        <p:spPr>
          <a:xfrm flipV="1">
            <a:off x="9183741" y="3819647"/>
            <a:ext cx="145952" cy="73281"/>
          </a:xfrm>
          <a:prstGeom prst="line">
            <a:avLst/>
          </a:prstGeom>
          <a:noFill/>
          <a:ln w="27940">
            <a:solidFill>
              <a:srgbClr val="3A4551"/>
            </a:solidFill>
            <a:prstDash val="solid"/>
          </a:ln>
        </p:spPr>
      </p:sp>
      <p:sp>
        <p:nvSpPr>
          <p:cNvPr id="109" name="Shape 107"/>
          <p:cNvSpPr/>
          <p:nvPr/>
        </p:nvSpPr>
        <p:spPr>
          <a:xfrm flipV="1">
            <a:off x="9329694" y="3745783"/>
            <a:ext cx="145952" cy="73863"/>
          </a:xfrm>
          <a:prstGeom prst="line">
            <a:avLst/>
          </a:prstGeom>
          <a:noFill/>
          <a:ln w="27940">
            <a:solidFill>
              <a:srgbClr val="3A4551"/>
            </a:solidFill>
            <a:prstDash val="solid"/>
          </a:ln>
        </p:spPr>
      </p:sp>
      <p:sp>
        <p:nvSpPr>
          <p:cNvPr id="110" name="Shape 108"/>
          <p:cNvSpPr/>
          <p:nvPr/>
        </p:nvSpPr>
        <p:spPr>
          <a:xfrm flipV="1">
            <a:off x="9475646" y="3675139"/>
            <a:ext cx="145952" cy="70644"/>
          </a:xfrm>
          <a:prstGeom prst="line">
            <a:avLst/>
          </a:prstGeom>
          <a:noFill/>
          <a:ln w="27940">
            <a:solidFill>
              <a:srgbClr val="3A4551"/>
            </a:solidFill>
            <a:prstDash val="solid"/>
          </a:ln>
        </p:spPr>
      </p:sp>
      <p:sp>
        <p:nvSpPr>
          <p:cNvPr id="111" name="Shape 109"/>
          <p:cNvSpPr/>
          <p:nvPr/>
        </p:nvSpPr>
        <p:spPr>
          <a:xfrm flipV="1">
            <a:off x="9621598" y="3611134"/>
            <a:ext cx="145952" cy="64005"/>
          </a:xfrm>
          <a:prstGeom prst="line">
            <a:avLst/>
          </a:prstGeom>
          <a:noFill/>
          <a:ln w="27940">
            <a:solidFill>
              <a:srgbClr val="3A4551"/>
            </a:solidFill>
            <a:prstDash val="solid"/>
          </a:ln>
        </p:spPr>
      </p:sp>
      <p:sp>
        <p:nvSpPr>
          <p:cNvPr id="112" name="Shape 110"/>
          <p:cNvSpPr/>
          <p:nvPr/>
        </p:nvSpPr>
        <p:spPr>
          <a:xfrm flipV="1">
            <a:off x="9767550" y="3556400"/>
            <a:ext cx="145952" cy="54734"/>
          </a:xfrm>
          <a:prstGeom prst="line">
            <a:avLst/>
          </a:prstGeom>
          <a:noFill/>
          <a:ln w="27940">
            <a:solidFill>
              <a:srgbClr val="3A4551"/>
            </a:solidFill>
            <a:prstDash val="solid"/>
          </a:ln>
        </p:spPr>
      </p:sp>
      <p:sp>
        <p:nvSpPr>
          <p:cNvPr id="113" name="Shape 111"/>
          <p:cNvSpPr/>
          <p:nvPr/>
        </p:nvSpPr>
        <p:spPr>
          <a:xfrm flipV="1">
            <a:off x="9913503" y="3512471"/>
            <a:ext cx="145952" cy="43930"/>
          </a:xfrm>
          <a:prstGeom prst="line">
            <a:avLst/>
          </a:prstGeom>
          <a:noFill/>
          <a:ln w="27940">
            <a:solidFill>
              <a:srgbClr val="3A4551"/>
            </a:solidFill>
            <a:prstDash val="solid"/>
          </a:ln>
        </p:spPr>
      </p:sp>
      <p:sp>
        <p:nvSpPr>
          <p:cNvPr id="114" name="Shape 112"/>
          <p:cNvSpPr/>
          <p:nvPr/>
        </p:nvSpPr>
        <p:spPr>
          <a:xfrm flipV="1">
            <a:off x="10059455" y="3479595"/>
            <a:ext cx="145952" cy="32875"/>
          </a:xfrm>
          <a:prstGeom prst="line">
            <a:avLst/>
          </a:prstGeom>
          <a:noFill/>
          <a:ln w="27940">
            <a:solidFill>
              <a:srgbClr val="3A4551"/>
            </a:solidFill>
            <a:prstDash val="solid"/>
          </a:ln>
        </p:spPr>
      </p:sp>
      <p:sp>
        <p:nvSpPr>
          <p:cNvPr id="115" name="Shape 113"/>
          <p:cNvSpPr/>
          <p:nvPr/>
        </p:nvSpPr>
        <p:spPr>
          <a:xfrm flipV="1">
            <a:off x="10205407" y="3456714"/>
            <a:ext cx="145952" cy="22881"/>
          </a:xfrm>
          <a:prstGeom prst="line">
            <a:avLst/>
          </a:prstGeom>
          <a:noFill/>
          <a:ln w="27940">
            <a:solidFill>
              <a:srgbClr val="3A4551"/>
            </a:solidFill>
            <a:prstDash val="solid"/>
          </a:ln>
        </p:spPr>
      </p:sp>
      <p:sp>
        <p:nvSpPr>
          <p:cNvPr id="116" name="Shape 114"/>
          <p:cNvSpPr/>
          <p:nvPr/>
        </p:nvSpPr>
        <p:spPr>
          <a:xfrm flipV="1">
            <a:off x="10351360" y="3441580"/>
            <a:ext cx="145952" cy="15134"/>
          </a:xfrm>
          <a:prstGeom prst="line">
            <a:avLst/>
          </a:prstGeom>
          <a:noFill/>
          <a:ln w="27940">
            <a:solidFill>
              <a:srgbClr val="3A4551"/>
            </a:solidFill>
            <a:prstDash val="solid"/>
          </a:ln>
        </p:spPr>
      </p:sp>
      <p:sp>
        <p:nvSpPr>
          <p:cNvPr id="117" name="Text 115"/>
          <p:cNvSpPr/>
          <p:nvPr/>
        </p:nvSpPr>
        <p:spPr>
          <a:xfrm>
            <a:off x="10570464" y="2798064"/>
            <a:ext cx="960120" cy="219456"/>
          </a:xfrm>
          <a:prstGeom prst="rect">
            <a:avLst/>
          </a:prstGeom>
          <a:noFill/>
          <a:ln/>
        </p:spPr>
        <p:txBody>
          <a:bodyPr wrap="square" lIns="0" tIns="0" rIns="0" bIns="0" rtlCol="0" anchor="t"/>
          <a:lstStyle/>
          <a:p>
            <a:pPr indent="0" marL="0">
              <a:buNone/>
            </a:pPr>
            <a:r>
              <a:rPr lang="en-US" sz="1100" b="1" dirty="0">
                <a:solidFill>
                  <a:srgbClr val="0E7C86"/>
                </a:solidFill>
                <a:latin typeface="Calibri" pitchFamily="34" charset="0"/>
                <a:ea typeface="Calibri" pitchFamily="34" charset="-122"/>
                <a:cs typeface="Calibri" pitchFamily="34" charset="-120"/>
              </a:rPr>
              <a:t>c₂·g(n)</a:t>
            </a:r>
            <a:endParaRPr lang="en-US" sz="1100" dirty="0"/>
          </a:p>
        </p:txBody>
      </p:sp>
      <p:sp>
        <p:nvSpPr>
          <p:cNvPr id="118" name="Text 116"/>
          <p:cNvSpPr/>
          <p:nvPr/>
        </p:nvSpPr>
        <p:spPr>
          <a:xfrm>
            <a:off x="10570464" y="3332988"/>
            <a:ext cx="960120" cy="219456"/>
          </a:xfrm>
          <a:prstGeom prst="rect">
            <a:avLst/>
          </a:prstGeom>
          <a:noFill/>
          <a:ln/>
        </p:spPr>
        <p:txBody>
          <a:bodyPr wrap="square" lIns="0" tIns="0" rIns="0" bIns="0" rtlCol="0" anchor="t"/>
          <a:lstStyle/>
          <a:p>
            <a:pPr indent="0" marL="0">
              <a:buNone/>
            </a:pPr>
            <a:r>
              <a:rPr lang="en-US" sz="1100" b="1" dirty="0">
                <a:solidFill>
                  <a:srgbClr val="3A4551"/>
                </a:solidFill>
                <a:latin typeface="Calibri" pitchFamily="34" charset="0"/>
                <a:ea typeface="Calibri" pitchFamily="34" charset="-122"/>
                <a:cs typeface="Calibri" pitchFamily="34" charset="-120"/>
              </a:rPr>
              <a:t>f(n)</a:t>
            </a:r>
            <a:endParaRPr lang="en-US" sz="1100" dirty="0"/>
          </a:p>
        </p:txBody>
      </p:sp>
      <p:sp>
        <p:nvSpPr>
          <p:cNvPr id="119" name="Text 117"/>
          <p:cNvSpPr/>
          <p:nvPr/>
        </p:nvSpPr>
        <p:spPr>
          <a:xfrm>
            <a:off x="10570464" y="3820363"/>
            <a:ext cx="960120" cy="219456"/>
          </a:xfrm>
          <a:prstGeom prst="rect">
            <a:avLst/>
          </a:prstGeom>
          <a:noFill/>
          <a:ln/>
        </p:spPr>
        <p:txBody>
          <a:bodyPr wrap="square" lIns="0" tIns="0" rIns="0" bIns="0" rtlCol="0" anchor="t"/>
          <a:lstStyle/>
          <a:p>
            <a:pPr indent="0" marL="0">
              <a:buNone/>
            </a:pPr>
            <a:r>
              <a:rPr lang="en-US" sz="1100" b="1" dirty="0">
                <a:solidFill>
                  <a:srgbClr val="0E7C86"/>
                </a:solidFill>
                <a:latin typeface="Calibri" pitchFamily="34" charset="0"/>
                <a:ea typeface="Calibri" pitchFamily="34" charset="-122"/>
                <a:cs typeface="Calibri" pitchFamily="34" charset="-120"/>
              </a:rPr>
              <a:t>c₁·g(n)</a:t>
            </a:r>
            <a:endParaRPr lang="en-US" sz="1100" dirty="0"/>
          </a:p>
        </p:txBody>
      </p:sp>
      <p:sp>
        <p:nvSpPr>
          <p:cNvPr id="120" name="Text 118"/>
          <p:cNvSpPr/>
          <p:nvPr/>
        </p:nvSpPr>
        <p:spPr>
          <a:xfrm>
            <a:off x="6519672" y="5029200"/>
            <a:ext cx="4754880" cy="594360"/>
          </a:xfrm>
          <a:prstGeom prst="rect">
            <a:avLst/>
          </a:prstGeom>
          <a:noFill/>
          <a:ln/>
        </p:spPr>
        <p:txBody>
          <a:bodyPr wrap="square" lIns="0" tIns="0" rIns="0" bIns="0" rtlCol="0" anchor="t"/>
          <a:lstStyle/>
          <a:p>
            <a:pPr indent="0" marL="0">
              <a:lnSpc>
                <a:spcPts val="1550"/>
              </a:lnSpc>
              <a:buNone/>
            </a:pPr>
            <a:r>
              <a:rPr lang="en-US" sz="1200" dirty="0">
                <a:solidFill>
                  <a:srgbClr val="6B7784"/>
                </a:solidFill>
                <a:latin typeface="Calibri" pitchFamily="34" charset="0"/>
                <a:ea typeface="Calibri" pitchFamily="34" charset="-122"/>
                <a:cs typeface="Calibri" pitchFamily="34" charset="-120"/>
              </a:rPr>
              <a:t>“grows exactly as fast as” — both a floor and a ceiling. f = Θ(g) precisely when f = O(g) and f = Ω(g).</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REFERENCE</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The five notations at a glance</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0080" y="1298448"/>
          <a:ext cx="10908792" cy="914400"/>
        </p:xfrm>
        <a:graphic>
          <a:graphicData uri="http://schemas.openxmlformats.org/drawingml/2006/table">
            <a:tbl>
              <a:tblPr/>
              <a:tblGrid>
                <a:gridCol w="1188720"/>
                <a:gridCol w="2331720"/>
                <a:gridCol w="1783080"/>
                <a:gridCol w="2834640"/>
                <a:gridCol w="2770632"/>
              </a:tblGrid>
              <a:tr h="50292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Notation</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Reads as</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Relational analogy</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Formal condition</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Typical use</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r>
              <a:tr h="502920">
                <a:tc>
                  <a:txBody>
                    <a:bodyPr/>
                    <a:lstStyle/>
                    <a:p>
                      <a:pPr algn="l" indent="0" marL="0">
                        <a:buNone/>
                      </a:pPr>
                      <a:r>
                        <a:rPr lang="en-US" sz="1250" b="1" dirty="0">
                          <a:solidFill>
                            <a:srgbClr val="A85F0C"/>
                          </a:solidFill>
                          <a:latin typeface="Courier New" pitchFamily="34" charset="0"/>
                          <a:ea typeface="Courier New" pitchFamily="34" charset="-122"/>
                          <a:cs typeface="Courier New" pitchFamily="34" charset="-120"/>
                        </a:rPr>
                        <a:t>O(g)</a:t>
                      </a:r>
                      <a:endParaRPr lang="en-US" sz="1250" dirty="0">
                        <a:latin typeface="Courier New" charset="0"/>
                        <a:ea typeface="Courier New" charset="0"/>
                        <a:cs typeface="Courier New"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grows no faster than</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f ≤ g</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f(n) ≤ c·g(n),  n ≥ n₀</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Upper bound; worst case</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502920">
                <a:tc>
                  <a:txBody>
                    <a:bodyPr/>
                    <a:lstStyle/>
                    <a:p>
                      <a:pPr algn="l" indent="0" marL="0">
                        <a:buNone/>
                      </a:pPr>
                      <a:r>
                        <a:rPr lang="en-US" sz="1250" b="1" dirty="0">
                          <a:solidFill>
                            <a:srgbClr val="2E7D5B"/>
                          </a:solidFill>
                          <a:latin typeface="Courier New" pitchFamily="34" charset="0"/>
                          <a:ea typeface="Courier New" pitchFamily="34" charset="-122"/>
                          <a:cs typeface="Courier New" pitchFamily="34" charset="-120"/>
                        </a:rPr>
                        <a:t>Ω(g)</a:t>
                      </a:r>
                      <a:endParaRPr lang="en-US" sz="1250" dirty="0">
                        <a:latin typeface="Courier New" charset="0"/>
                        <a:ea typeface="Courier New" charset="0"/>
                        <a:cs typeface="Courier New"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grows at least as fast as</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f ≥ g</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f(n) ≥ c·g(n),  n ≥ n₀</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Lower bound; problem limits</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502920">
                <a:tc>
                  <a:txBody>
                    <a:bodyPr/>
                    <a:lstStyle/>
                    <a:p>
                      <a:pPr algn="l" indent="0" marL="0">
                        <a:buNone/>
                      </a:pPr>
                      <a:r>
                        <a:rPr lang="en-US" sz="1250" b="1" dirty="0">
                          <a:solidFill>
                            <a:srgbClr val="0E7C86"/>
                          </a:solidFill>
                          <a:latin typeface="Courier New" pitchFamily="34" charset="0"/>
                          <a:ea typeface="Courier New" pitchFamily="34" charset="-122"/>
                          <a:cs typeface="Courier New" pitchFamily="34" charset="-120"/>
                        </a:rPr>
                        <a:t>Θ(g)</a:t>
                      </a:r>
                      <a:endParaRPr lang="en-US" sz="1250" dirty="0">
                        <a:latin typeface="Courier New" charset="0"/>
                        <a:ea typeface="Courier New" charset="0"/>
                        <a:cs typeface="Courier New"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grows exactly as fast as</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f = g</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c₁g(n) ≤ f(n) ≤ c₂g(n)</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Tight bound — state it when you can</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502920">
                <a:tc>
                  <a:txBody>
                    <a:bodyPr/>
                    <a:lstStyle/>
                    <a:p>
                      <a:pPr algn="l" indent="0" marL="0">
                        <a:buNone/>
                      </a:pPr>
                      <a:r>
                        <a:rPr lang="en-US" sz="1250" b="1" dirty="0">
                          <a:solidFill>
                            <a:srgbClr val="6B7784"/>
                          </a:solidFill>
                          <a:latin typeface="Courier New" pitchFamily="34" charset="0"/>
                          <a:ea typeface="Courier New" pitchFamily="34" charset="-122"/>
                          <a:cs typeface="Courier New" pitchFamily="34" charset="-120"/>
                        </a:rPr>
                        <a:t>o(g)</a:t>
                      </a:r>
                      <a:endParaRPr lang="en-US" sz="1250" dirty="0">
                        <a:latin typeface="Courier New" charset="0"/>
                        <a:ea typeface="Courier New" charset="0"/>
                        <a:cs typeface="Courier New"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grows strictly slower than</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f &lt; g</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f(n) &lt; c·g(n) for every c &gt; 0</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Strictly loose upper bound</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502920">
                <a:tc>
                  <a:txBody>
                    <a:bodyPr/>
                    <a:lstStyle/>
                    <a:p>
                      <a:pPr algn="l" indent="0" marL="0">
                        <a:buNone/>
                      </a:pPr>
                      <a:r>
                        <a:rPr lang="en-US" sz="1250" b="1" dirty="0">
                          <a:solidFill>
                            <a:srgbClr val="6B7784"/>
                          </a:solidFill>
                          <a:latin typeface="Courier New" pitchFamily="34" charset="0"/>
                          <a:ea typeface="Courier New" pitchFamily="34" charset="-122"/>
                          <a:cs typeface="Courier New" pitchFamily="34" charset="-120"/>
                        </a:rPr>
                        <a:t>ω(g)</a:t>
                      </a:r>
                      <a:endParaRPr lang="en-US" sz="1250" dirty="0">
                        <a:latin typeface="Courier New" charset="0"/>
                        <a:ea typeface="Courier New" charset="0"/>
                        <a:cs typeface="Courier New"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grows strictly faster than</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f &gt; g</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f(n) &gt; c·g(n) for every c &gt; 0</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Strictly loose lower bound</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4480560"/>
            <a:ext cx="5303520" cy="1280160"/>
          </a:xfrm>
          <a:prstGeom prst="roundRect">
            <a:avLst>
              <a:gd name="adj" fmla="val 4286"/>
            </a:avLst>
          </a:prstGeom>
          <a:solidFill>
            <a:srgbClr val="FDF0E0"/>
          </a:solidFill>
          <a:ln w="12700">
            <a:solidFill>
              <a:srgbClr val="FDF0E0"/>
            </a:solidFill>
            <a:prstDash val="solid"/>
          </a:ln>
          <a:effectLst>
            <a:outerShdw sx="100000" sy="100000" kx="0" ky="0" algn="bl" rotWithShape="0" blurRad="127000" dist="25400" dir="5400000">
              <a:srgbClr val="9AA6B2">
                <a:alpha val="22000"/>
              </a:srgbClr>
            </a:outerShdw>
          </a:effectLst>
        </p:spPr>
      </p:sp>
      <p:sp>
        <p:nvSpPr>
          <p:cNvPr id="6" name="Text 3"/>
          <p:cNvSpPr/>
          <p:nvPr/>
        </p:nvSpPr>
        <p:spPr>
          <a:xfrm>
            <a:off x="914400" y="4617720"/>
            <a:ext cx="4754880" cy="274320"/>
          </a:xfrm>
          <a:prstGeom prst="rect">
            <a:avLst/>
          </a:prstGeom>
          <a:noFill/>
          <a:ln/>
        </p:spPr>
        <p:txBody>
          <a:bodyPr wrap="square" lIns="0" tIns="0" rIns="0" bIns="0" rtlCol="0" anchor="t"/>
          <a:lstStyle/>
          <a:p>
            <a:pPr indent="0" marL="0">
              <a:buNone/>
            </a:pPr>
            <a:r>
              <a:rPr lang="en-US" sz="1250" b="1" dirty="0">
                <a:solidFill>
                  <a:srgbClr val="A85F0C"/>
                </a:solidFill>
                <a:latin typeface="Calibri" pitchFamily="34" charset="0"/>
                <a:ea typeface="Calibri" pitchFamily="34" charset="-122"/>
                <a:cs typeface="Calibri" pitchFamily="34" charset="-120"/>
              </a:rPr>
              <a:t>The analogy is a memory aid, not a theorem</a:t>
            </a:r>
            <a:endParaRPr lang="en-US" sz="1250" dirty="0"/>
          </a:p>
        </p:txBody>
      </p:sp>
      <p:sp>
        <p:nvSpPr>
          <p:cNvPr id="7" name="Text 4"/>
          <p:cNvSpPr/>
          <p:nvPr/>
        </p:nvSpPr>
        <p:spPr>
          <a:xfrm>
            <a:off x="914400" y="4919472"/>
            <a:ext cx="4800600" cy="685800"/>
          </a:xfrm>
          <a:prstGeom prst="rect">
            <a:avLst/>
          </a:prstGeom>
          <a:noFill/>
          <a:ln/>
        </p:spPr>
        <p:txBody>
          <a:bodyPr wrap="square" lIns="0" tIns="0" rIns="0" bIns="0" rtlCol="0" anchor="t"/>
          <a:lstStyle/>
          <a:p>
            <a:pPr indent="0" marL="0">
              <a:lnSpc>
                <a:spcPts val="1600"/>
              </a:lnSpc>
              <a:buNone/>
            </a:pPr>
            <a:r>
              <a:rPr lang="en-US" sz="1200" dirty="0">
                <a:solidFill>
                  <a:srgbClr val="3A4551"/>
                </a:solidFill>
                <a:latin typeface="Calibri" pitchFamily="34" charset="0"/>
                <a:ea typeface="Calibri" pitchFamily="34" charset="-122"/>
                <a:cs typeface="Calibri" pitchFamily="34" charset="-120"/>
              </a:rPr>
              <a:t>Unlike numbers, two functions need not be comparable at all — n and n^(1+sin n) stand in none of these relations.</a:t>
            </a:r>
            <a:endParaRPr lang="en-US" sz="1200" dirty="0"/>
          </a:p>
        </p:txBody>
      </p:sp>
      <p:sp>
        <p:nvSpPr>
          <p:cNvPr id="8" name="Shape 5"/>
          <p:cNvSpPr/>
          <p:nvPr/>
        </p:nvSpPr>
        <p:spPr>
          <a:xfrm>
            <a:off x="6245352" y="4480560"/>
            <a:ext cx="5303520" cy="1280160"/>
          </a:xfrm>
          <a:prstGeom prst="roundRect">
            <a:avLst>
              <a:gd name="adj" fmla="val 4286"/>
            </a:avLst>
          </a:prstGeom>
          <a:solidFill>
            <a:srgbClr val="1B2129"/>
          </a:solidFill>
          <a:ln/>
          <a:effectLst>
            <a:outerShdw sx="100000" sy="100000" kx="0" ky="0" algn="bl" rotWithShape="0" blurRad="127000" dist="25400" dir="5400000">
              <a:srgbClr val="9AA6B2">
                <a:alpha val="22000"/>
              </a:srgbClr>
            </a:outerShdw>
          </a:effectLst>
        </p:spPr>
      </p:sp>
      <p:sp>
        <p:nvSpPr>
          <p:cNvPr id="9" name="Text 6"/>
          <p:cNvSpPr/>
          <p:nvPr/>
        </p:nvSpPr>
        <p:spPr>
          <a:xfrm>
            <a:off x="6519672" y="4617720"/>
            <a:ext cx="4754880" cy="274320"/>
          </a:xfrm>
          <a:prstGeom prst="rect">
            <a:avLst/>
          </a:prstGeom>
          <a:noFill/>
          <a:ln/>
        </p:spPr>
        <p:txBody>
          <a:bodyPr wrap="square" lIns="0" tIns="0" rIns="0" bIns="0" rtlCol="0" anchor="t"/>
          <a:lstStyle/>
          <a:p>
            <a:pPr indent="0" marL="0">
              <a:buNone/>
            </a:pPr>
            <a:r>
              <a:rPr lang="en-US" sz="1250" b="1" dirty="0">
                <a:solidFill>
                  <a:srgbClr val="E8871E"/>
                </a:solidFill>
                <a:latin typeface="Calibri" pitchFamily="34" charset="0"/>
                <a:ea typeface="Calibri" pitchFamily="34" charset="-122"/>
                <a:cs typeface="Calibri" pitchFamily="34" charset="-120"/>
              </a:rPr>
              <a:t>Notation health warning</a:t>
            </a:r>
            <a:endParaRPr lang="en-US" sz="1250" dirty="0"/>
          </a:p>
        </p:txBody>
      </p:sp>
      <p:sp>
        <p:nvSpPr>
          <p:cNvPr id="10" name="Text 7"/>
          <p:cNvSpPr/>
          <p:nvPr/>
        </p:nvSpPr>
        <p:spPr>
          <a:xfrm>
            <a:off x="6519672" y="4919472"/>
            <a:ext cx="4800600" cy="685800"/>
          </a:xfrm>
          <a:prstGeom prst="rect">
            <a:avLst/>
          </a:prstGeom>
          <a:noFill/>
          <a:ln/>
        </p:spPr>
        <p:txBody>
          <a:bodyPr wrap="square" lIns="0" tIns="0" rIns="0" bIns="0" rtlCol="0" anchor="t"/>
          <a:lstStyle/>
          <a:p>
            <a:pPr indent="0" marL="0">
              <a:lnSpc>
                <a:spcPts val="1600"/>
              </a:lnSpc>
              <a:buNone/>
            </a:pPr>
            <a:r>
              <a:rPr lang="en-US" sz="1200" dirty="0">
                <a:solidFill>
                  <a:srgbClr val="C9D2DC"/>
                </a:solidFill>
                <a:latin typeface="Calibri" pitchFamily="34" charset="0"/>
                <a:ea typeface="Calibri" pitchFamily="34" charset="-122"/>
                <a:cs typeface="Calibri" pitchFamily="34" charset="-120"/>
              </a:rPr>
              <a:t>“f(n) = O(g(n))” is traditional but the “=” is one-directional: never write O(g(n)) = f(n). Read it as “f belongs to the class O(g)”.</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WORKED EXAMPLE</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Prove that f(n) = 3n + 2 is Θ(n)</a:t>
            </a:r>
            <a:endParaRPr lang="en-US" sz="3000" dirty="0"/>
          </a:p>
        </p:txBody>
      </p:sp>
      <p:sp>
        <p:nvSpPr>
          <p:cNvPr id="4" name="Shape 2"/>
          <p:cNvSpPr/>
          <p:nvPr/>
        </p:nvSpPr>
        <p:spPr>
          <a:xfrm>
            <a:off x="640080" y="1298448"/>
            <a:ext cx="3456432" cy="2331720"/>
          </a:xfrm>
          <a:prstGeom prst="roundRect">
            <a:avLst>
              <a:gd name="adj" fmla="val 2353"/>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5" name="Text 3"/>
          <p:cNvSpPr/>
          <p:nvPr/>
        </p:nvSpPr>
        <p:spPr>
          <a:xfrm>
            <a:off x="896112" y="1463040"/>
            <a:ext cx="2926080" cy="237744"/>
          </a:xfrm>
          <a:prstGeom prst="rect">
            <a:avLst/>
          </a:prstGeom>
          <a:noFill/>
          <a:ln/>
        </p:spPr>
        <p:txBody>
          <a:bodyPr wrap="square" lIns="0" tIns="0" rIns="0" bIns="0" rtlCol="0" anchor="t"/>
          <a:lstStyle/>
          <a:p>
            <a:pPr indent="0" marL="0">
              <a:buNone/>
            </a:pPr>
            <a:r>
              <a:rPr lang="en-US" sz="1100" b="1" spc="120" kern="0" dirty="0">
                <a:solidFill>
                  <a:srgbClr val="A85F0C"/>
                </a:solidFill>
                <a:latin typeface="Calibri" pitchFamily="34" charset="0"/>
                <a:ea typeface="Calibri" pitchFamily="34" charset="-122"/>
                <a:cs typeface="Calibri" pitchFamily="34" charset="-120"/>
              </a:rPr>
              <a:t>Step 1</a:t>
            </a:r>
            <a:endParaRPr lang="en-US" sz="1100" dirty="0"/>
          </a:p>
        </p:txBody>
      </p:sp>
      <p:sp>
        <p:nvSpPr>
          <p:cNvPr id="6" name="Text 4"/>
          <p:cNvSpPr/>
          <p:nvPr/>
        </p:nvSpPr>
        <p:spPr>
          <a:xfrm>
            <a:off x="896112" y="1719072"/>
            <a:ext cx="2926080" cy="292608"/>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Show f(n) = O(n)</a:t>
            </a:r>
            <a:endParaRPr lang="en-US" sz="1600" dirty="0"/>
          </a:p>
        </p:txBody>
      </p:sp>
      <p:sp>
        <p:nvSpPr>
          <p:cNvPr id="7" name="Text 5"/>
          <p:cNvSpPr/>
          <p:nvPr/>
        </p:nvSpPr>
        <p:spPr>
          <a:xfrm>
            <a:off x="896112" y="2148840"/>
            <a:ext cx="2971800" cy="1280160"/>
          </a:xfrm>
          <a:prstGeom prst="rect">
            <a:avLst/>
          </a:prstGeom>
          <a:noFill/>
          <a:ln/>
        </p:spPr>
        <p:txBody>
          <a:bodyPr wrap="square" lIns="0" tIns="0" rIns="0" bIns="0" rtlCol="0" anchor="ctr"/>
          <a:lstStyle/>
          <a:p>
            <a:pPr indent="0" marL="0">
              <a:lnSpc>
                <a:spcPts val="2000"/>
              </a:lnSpc>
              <a:buNone/>
            </a:pPr>
            <a:r>
              <a:rPr lang="en-US" sz="1150" dirty="0">
                <a:solidFill>
                  <a:srgbClr val="3A4551"/>
                </a:solidFill>
                <a:latin typeface="Courier New" pitchFamily="34" charset="0"/>
                <a:ea typeface="Courier New" pitchFamily="34" charset="-122"/>
                <a:cs typeface="Courier New" pitchFamily="34" charset="-120"/>
              </a:rPr>
              <a:t>3n + 2 ≤ 3n + 2n = 5n,  n ≥ 1</a:t>
            </a:r>
            <a:endParaRPr lang="en-US" sz="1150" dirty="0"/>
          </a:p>
          <a:p>
            <a:pPr indent="0" marL="0">
              <a:lnSpc>
                <a:spcPts val="2000"/>
              </a:lnSpc>
              <a:buNone/>
            </a:pPr>
            <a:r>
              <a:rPr lang="en-US" sz="1150" dirty="0">
                <a:solidFill>
                  <a:srgbClr val="3A4551"/>
                </a:solidFill>
                <a:latin typeface="Courier New" pitchFamily="34" charset="0"/>
                <a:ea typeface="Courier New" pitchFamily="34" charset="-122"/>
                <a:cs typeface="Courier New" pitchFamily="34" charset="-120"/>
              </a:rPr>
              <a:t>Choose c = 5 and n₀ = 1</a:t>
            </a:r>
            <a:endParaRPr lang="en-US" sz="1150" dirty="0"/>
          </a:p>
          <a:p>
            <a:pPr indent="0" marL="0">
              <a:lnSpc>
                <a:spcPts val="2000"/>
              </a:lnSpc>
              <a:buNone/>
            </a:pPr>
            <a:r>
              <a:rPr lang="en-US" sz="1150" b="1" dirty="0">
                <a:solidFill>
                  <a:srgbClr val="A85F0C"/>
                </a:solidFill>
                <a:latin typeface="Courier New" pitchFamily="34" charset="0"/>
                <a:ea typeface="Courier New" pitchFamily="34" charset="-122"/>
                <a:cs typeface="Courier New" pitchFamily="34" charset="-120"/>
              </a:rPr>
              <a:t>⇒  3n + 2 = O(n)</a:t>
            </a:r>
            <a:endParaRPr lang="en-US" sz="1150" dirty="0"/>
          </a:p>
        </p:txBody>
      </p:sp>
      <p:sp>
        <p:nvSpPr>
          <p:cNvPr id="8" name="Shape 6"/>
          <p:cNvSpPr/>
          <p:nvPr/>
        </p:nvSpPr>
        <p:spPr>
          <a:xfrm>
            <a:off x="4370832" y="1298448"/>
            <a:ext cx="3456432" cy="2331720"/>
          </a:xfrm>
          <a:prstGeom prst="roundRect">
            <a:avLst>
              <a:gd name="adj" fmla="val 2353"/>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9" name="Text 7"/>
          <p:cNvSpPr/>
          <p:nvPr/>
        </p:nvSpPr>
        <p:spPr>
          <a:xfrm>
            <a:off x="4626864" y="1463040"/>
            <a:ext cx="2926080" cy="237744"/>
          </a:xfrm>
          <a:prstGeom prst="rect">
            <a:avLst/>
          </a:prstGeom>
          <a:noFill/>
          <a:ln/>
        </p:spPr>
        <p:txBody>
          <a:bodyPr wrap="square" lIns="0" tIns="0" rIns="0" bIns="0" rtlCol="0" anchor="t"/>
          <a:lstStyle/>
          <a:p>
            <a:pPr indent="0" marL="0">
              <a:buNone/>
            </a:pPr>
            <a:r>
              <a:rPr lang="en-US" sz="1100" b="1" spc="120" kern="0" dirty="0">
                <a:solidFill>
                  <a:srgbClr val="2E7D5B"/>
                </a:solidFill>
                <a:latin typeface="Calibri" pitchFamily="34" charset="0"/>
                <a:ea typeface="Calibri" pitchFamily="34" charset="-122"/>
                <a:cs typeface="Calibri" pitchFamily="34" charset="-120"/>
              </a:rPr>
              <a:t>Step 2</a:t>
            </a:r>
            <a:endParaRPr lang="en-US" sz="1100" dirty="0"/>
          </a:p>
        </p:txBody>
      </p:sp>
      <p:sp>
        <p:nvSpPr>
          <p:cNvPr id="10" name="Text 8"/>
          <p:cNvSpPr/>
          <p:nvPr/>
        </p:nvSpPr>
        <p:spPr>
          <a:xfrm>
            <a:off x="4626864" y="1719072"/>
            <a:ext cx="2926080" cy="292608"/>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Show f(n) = Ω(n)</a:t>
            </a:r>
            <a:endParaRPr lang="en-US" sz="1600" dirty="0"/>
          </a:p>
        </p:txBody>
      </p:sp>
      <p:sp>
        <p:nvSpPr>
          <p:cNvPr id="11" name="Text 9"/>
          <p:cNvSpPr/>
          <p:nvPr/>
        </p:nvSpPr>
        <p:spPr>
          <a:xfrm>
            <a:off x="4626864" y="2148840"/>
            <a:ext cx="2971800" cy="1280160"/>
          </a:xfrm>
          <a:prstGeom prst="rect">
            <a:avLst/>
          </a:prstGeom>
          <a:noFill/>
          <a:ln/>
        </p:spPr>
        <p:txBody>
          <a:bodyPr wrap="square" lIns="0" tIns="0" rIns="0" bIns="0" rtlCol="0" anchor="ctr"/>
          <a:lstStyle/>
          <a:p>
            <a:pPr indent="0" marL="0">
              <a:lnSpc>
                <a:spcPts val="2000"/>
              </a:lnSpc>
              <a:buNone/>
            </a:pPr>
            <a:r>
              <a:rPr lang="en-US" sz="1150" dirty="0">
                <a:solidFill>
                  <a:srgbClr val="3A4551"/>
                </a:solidFill>
                <a:latin typeface="Courier New" pitchFamily="34" charset="0"/>
                <a:ea typeface="Courier New" pitchFamily="34" charset="-122"/>
                <a:cs typeface="Courier New" pitchFamily="34" charset="-120"/>
              </a:rPr>
              <a:t>3n + 2 ≥ 3n,  for all n ≥ 1</a:t>
            </a:r>
            <a:endParaRPr lang="en-US" sz="1150" dirty="0"/>
          </a:p>
          <a:p>
            <a:pPr indent="0" marL="0">
              <a:lnSpc>
                <a:spcPts val="2000"/>
              </a:lnSpc>
              <a:buNone/>
            </a:pPr>
            <a:r>
              <a:rPr lang="en-US" sz="1150" dirty="0">
                <a:solidFill>
                  <a:srgbClr val="3A4551"/>
                </a:solidFill>
                <a:latin typeface="Courier New" pitchFamily="34" charset="0"/>
                <a:ea typeface="Courier New" pitchFamily="34" charset="-122"/>
                <a:cs typeface="Courier New" pitchFamily="34" charset="-120"/>
              </a:rPr>
              <a:t>Choose c = 3 and n₀ = 1</a:t>
            </a:r>
            <a:endParaRPr lang="en-US" sz="1150" dirty="0"/>
          </a:p>
          <a:p>
            <a:pPr indent="0" marL="0">
              <a:lnSpc>
                <a:spcPts val="2000"/>
              </a:lnSpc>
              <a:buNone/>
            </a:pPr>
            <a:r>
              <a:rPr lang="en-US" sz="1150" b="1" dirty="0">
                <a:solidFill>
                  <a:srgbClr val="2E7D5B"/>
                </a:solidFill>
                <a:latin typeface="Courier New" pitchFamily="34" charset="0"/>
                <a:ea typeface="Courier New" pitchFamily="34" charset="-122"/>
                <a:cs typeface="Courier New" pitchFamily="34" charset="-120"/>
              </a:rPr>
              <a:t>⇒  3n + 2 = Ω(n)</a:t>
            </a:r>
            <a:endParaRPr lang="en-US" sz="1150" dirty="0"/>
          </a:p>
        </p:txBody>
      </p:sp>
      <p:sp>
        <p:nvSpPr>
          <p:cNvPr id="12" name="Shape 10"/>
          <p:cNvSpPr/>
          <p:nvPr/>
        </p:nvSpPr>
        <p:spPr>
          <a:xfrm>
            <a:off x="8101584" y="1298448"/>
            <a:ext cx="3456432" cy="2331720"/>
          </a:xfrm>
          <a:prstGeom prst="roundRect">
            <a:avLst>
              <a:gd name="adj" fmla="val 2353"/>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13" name="Text 11"/>
          <p:cNvSpPr/>
          <p:nvPr/>
        </p:nvSpPr>
        <p:spPr>
          <a:xfrm>
            <a:off x="8357616" y="1463040"/>
            <a:ext cx="2926080" cy="237744"/>
          </a:xfrm>
          <a:prstGeom prst="rect">
            <a:avLst/>
          </a:prstGeom>
          <a:noFill/>
          <a:ln/>
        </p:spPr>
        <p:txBody>
          <a:bodyPr wrap="square" lIns="0" tIns="0" rIns="0" bIns="0" rtlCol="0" anchor="t"/>
          <a:lstStyle/>
          <a:p>
            <a:pPr indent="0" marL="0">
              <a:buNone/>
            </a:pPr>
            <a:r>
              <a:rPr lang="en-US" sz="1100" b="1" spc="120" kern="0" dirty="0">
                <a:solidFill>
                  <a:srgbClr val="0E7C86"/>
                </a:solidFill>
                <a:latin typeface="Calibri" pitchFamily="34" charset="0"/>
                <a:ea typeface="Calibri" pitchFamily="34" charset="-122"/>
                <a:cs typeface="Calibri" pitchFamily="34" charset="-120"/>
              </a:rPr>
              <a:t>Step 3</a:t>
            </a:r>
            <a:endParaRPr lang="en-US" sz="1100" dirty="0"/>
          </a:p>
        </p:txBody>
      </p:sp>
      <p:sp>
        <p:nvSpPr>
          <p:cNvPr id="14" name="Text 12"/>
          <p:cNvSpPr/>
          <p:nvPr/>
        </p:nvSpPr>
        <p:spPr>
          <a:xfrm>
            <a:off x="8357616" y="1719072"/>
            <a:ext cx="2926080" cy="292608"/>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Combine</a:t>
            </a:r>
            <a:endParaRPr lang="en-US" sz="1600" dirty="0"/>
          </a:p>
        </p:txBody>
      </p:sp>
      <p:sp>
        <p:nvSpPr>
          <p:cNvPr id="15" name="Text 13"/>
          <p:cNvSpPr/>
          <p:nvPr/>
        </p:nvSpPr>
        <p:spPr>
          <a:xfrm>
            <a:off x="8357616" y="2148840"/>
            <a:ext cx="2971800" cy="1280160"/>
          </a:xfrm>
          <a:prstGeom prst="rect">
            <a:avLst/>
          </a:prstGeom>
          <a:noFill/>
          <a:ln/>
        </p:spPr>
        <p:txBody>
          <a:bodyPr wrap="square" lIns="0" tIns="0" rIns="0" bIns="0" rtlCol="0" anchor="ctr"/>
          <a:lstStyle/>
          <a:p>
            <a:pPr indent="0" marL="0">
              <a:lnSpc>
                <a:spcPts val="2000"/>
              </a:lnSpc>
              <a:buNone/>
            </a:pPr>
            <a:r>
              <a:rPr lang="en-US" sz="1150" dirty="0">
                <a:solidFill>
                  <a:srgbClr val="3A4551"/>
                </a:solidFill>
                <a:latin typeface="Courier New" pitchFamily="34" charset="0"/>
                <a:ea typeface="Courier New" pitchFamily="34" charset="-122"/>
                <a:cs typeface="Courier New" pitchFamily="34" charset="-120"/>
              </a:rPr>
              <a:t>3n ≤ 3n + 2 ≤ 5n,  n ≥ 1</a:t>
            </a:r>
            <a:endParaRPr lang="en-US" sz="1150" dirty="0"/>
          </a:p>
          <a:p>
            <a:pPr indent="0" marL="0">
              <a:lnSpc>
                <a:spcPts val="2000"/>
              </a:lnSpc>
              <a:buNone/>
            </a:pPr>
            <a:r>
              <a:rPr lang="en-US" sz="1150" dirty="0">
                <a:solidFill>
                  <a:srgbClr val="3A4551"/>
                </a:solidFill>
                <a:latin typeface="Courier New" pitchFamily="34" charset="0"/>
                <a:ea typeface="Courier New" pitchFamily="34" charset="-122"/>
                <a:cs typeface="Courier New" pitchFamily="34" charset="-120"/>
              </a:rPr>
              <a:t>c₁ = 3, c₂ = 5, n₀ = 1</a:t>
            </a:r>
            <a:endParaRPr lang="en-US" sz="1150" dirty="0"/>
          </a:p>
          <a:p>
            <a:pPr indent="0" marL="0">
              <a:lnSpc>
                <a:spcPts val="2000"/>
              </a:lnSpc>
              <a:buNone/>
            </a:pPr>
            <a:r>
              <a:rPr lang="en-US" sz="1150" b="1" dirty="0">
                <a:solidFill>
                  <a:srgbClr val="0E7C86"/>
                </a:solidFill>
                <a:latin typeface="Courier New" pitchFamily="34" charset="0"/>
                <a:ea typeface="Courier New" pitchFamily="34" charset="-122"/>
                <a:cs typeface="Courier New" pitchFamily="34" charset="-120"/>
              </a:rPr>
              <a:t>⇒  3n + 2 = Θ(n)</a:t>
            </a:r>
            <a:endParaRPr lang="en-US" sz="1150" dirty="0"/>
          </a:p>
        </p:txBody>
      </p:sp>
      <p:sp>
        <p:nvSpPr>
          <p:cNvPr id="16" name="Shape 14"/>
          <p:cNvSpPr/>
          <p:nvPr/>
        </p:nvSpPr>
        <p:spPr>
          <a:xfrm>
            <a:off x="640080" y="3794760"/>
            <a:ext cx="5303520" cy="1920240"/>
          </a:xfrm>
          <a:prstGeom prst="roundRect">
            <a:avLst>
              <a:gd name="adj" fmla="val 2857"/>
            </a:avLst>
          </a:prstGeom>
          <a:solidFill>
            <a:srgbClr val="1B2129"/>
          </a:solidFill>
          <a:ln/>
          <a:effectLst>
            <a:outerShdw sx="100000" sy="100000" kx="0" ky="0" algn="bl" rotWithShape="0" blurRad="127000" dist="25400" dir="5400000">
              <a:srgbClr val="9AA6B2">
                <a:alpha val="22000"/>
              </a:srgbClr>
            </a:outerShdw>
          </a:effectLst>
        </p:spPr>
      </p:sp>
      <p:sp>
        <p:nvSpPr>
          <p:cNvPr id="17" name="Text 15"/>
          <p:cNvSpPr/>
          <p:nvPr/>
        </p:nvSpPr>
        <p:spPr>
          <a:xfrm>
            <a:off x="914400" y="3950208"/>
            <a:ext cx="4754880" cy="274320"/>
          </a:xfrm>
          <a:prstGeom prst="rect">
            <a:avLst/>
          </a:prstGeom>
          <a:noFill/>
          <a:ln/>
        </p:spPr>
        <p:txBody>
          <a:bodyPr wrap="square" lIns="0" tIns="0" rIns="0" bIns="0" rtlCol="0" anchor="t"/>
          <a:lstStyle/>
          <a:p>
            <a:pPr indent="0" marL="0">
              <a:buNone/>
            </a:pPr>
            <a:r>
              <a:rPr lang="en-US" sz="1300" b="1" dirty="0">
                <a:solidFill>
                  <a:srgbClr val="E8871E"/>
                </a:solidFill>
                <a:latin typeface="Calibri" pitchFamily="34" charset="0"/>
                <a:ea typeface="Calibri" pitchFamily="34" charset="-122"/>
                <a:cs typeface="Calibri" pitchFamily="34" charset="-120"/>
              </a:rPr>
              <a:t>Exam technique</a:t>
            </a:r>
            <a:endParaRPr lang="en-US" sz="1300" dirty="0"/>
          </a:p>
        </p:txBody>
      </p:sp>
      <p:sp>
        <p:nvSpPr>
          <p:cNvPr id="18" name="Text 16"/>
          <p:cNvSpPr/>
          <p:nvPr/>
        </p:nvSpPr>
        <p:spPr>
          <a:xfrm>
            <a:off x="914400" y="4279392"/>
            <a:ext cx="4800600" cy="1325880"/>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200" dirty="0">
                <a:solidFill>
                  <a:srgbClr val="C9D2DC"/>
                </a:solidFill>
                <a:latin typeface="Calibri" pitchFamily="34" charset="0"/>
                <a:ea typeface="Calibri" pitchFamily="34" charset="-122"/>
                <a:cs typeface="Calibri" pitchFamily="34" charset="-120"/>
              </a:rPr>
              <a:t>Always exhibit the constants c and n₀ — the claim is not proved without them</a:t>
            </a:r>
            <a:endParaRPr lang="en-US" sz="1200" dirty="0"/>
          </a:p>
          <a:p>
            <a:pPr marL="342900" indent="-342900">
              <a:lnSpc>
                <a:spcPts val="1600"/>
              </a:lnSpc>
              <a:spcAft>
                <a:spcPts val="800"/>
              </a:spcAft>
              <a:buSzPct val="100000"/>
              <a:buChar char="•"/>
            </a:pPr>
            <a:r>
              <a:rPr lang="en-US" sz="1200" dirty="0">
                <a:solidFill>
                  <a:srgbClr val="C9D2DC"/>
                </a:solidFill>
                <a:latin typeface="Calibri" pitchFamily="34" charset="0"/>
                <a:ea typeface="Calibri" pitchFamily="34" charset="-122"/>
                <a:cs typeface="Calibri" pitchFamily="34" charset="-120"/>
              </a:rPr>
              <a:t>Any valid pair works; c = 4, n₀ = 2 is equally correct</a:t>
            </a:r>
            <a:endParaRPr lang="en-US" sz="1200" dirty="0"/>
          </a:p>
          <a:p>
            <a:pPr marL="342900" indent="-342900">
              <a:lnSpc>
                <a:spcPts val="1600"/>
              </a:lnSpc>
              <a:spcAft>
                <a:spcPts val="800"/>
              </a:spcAft>
              <a:buSzPct val="100000"/>
              <a:buChar char="•"/>
            </a:pPr>
            <a:r>
              <a:rPr lang="en-US" sz="1200" dirty="0">
                <a:solidFill>
                  <a:srgbClr val="C9D2DC"/>
                </a:solidFill>
                <a:latin typeface="Calibri" pitchFamily="34" charset="0"/>
                <a:ea typeface="Calibri" pitchFamily="34" charset="-122"/>
                <a:cs typeface="Calibri" pitchFamily="34" charset="-120"/>
              </a:rPr>
              <a:t>A bound with the lower-order term absorbed into the leading one is the neat trick</a:t>
            </a:r>
            <a:endParaRPr lang="en-US" sz="1200" dirty="0"/>
          </a:p>
        </p:txBody>
      </p:sp>
      <p:sp>
        <p:nvSpPr>
          <p:cNvPr id="19" name="Shape 17"/>
          <p:cNvSpPr/>
          <p:nvPr/>
        </p:nvSpPr>
        <p:spPr>
          <a:xfrm>
            <a:off x="6245352" y="3794760"/>
            <a:ext cx="5303520" cy="1920240"/>
          </a:xfrm>
          <a:prstGeom prst="roundRect">
            <a:avLst>
              <a:gd name="adj" fmla="val 2857"/>
            </a:avLst>
          </a:prstGeom>
          <a:solidFill>
            <a:srgbClr val="FDF0E0"/>
          </a:solidFill>
          <a:ln w="12700">
            <a:solidFill>
              <a:srgbClr val="FDF0E0"/>
            </a:solidFill>
            <a:prstDash val="solid"/>
          </a:ln>
          <a:effectLst>
            <a:outerShdw sx="100000" sy="100000" kx="0" ky="0" algn="bl" rotWithShape="0" blurRad="127000" dist="25400" dir="5400000">
              <a:srgbClr val="9AA6B2">
                <a:alpha val="22000"/>
              </a:srgbClr>
            </a:outerShdw>
          </a:effectLst>
        </p:spPr>
      </p:sp>
      <p:sp>
        <p:nvSpPr>
          <p:cNvPr id="20" name="Text 18"/>
          <p:cNvSpPr/>
          <p:nvPr/>
        </p:nvSpPr>
        <p:spPr>
          <a:xfrm>
            <a:off x="6519672" y="3950208"/>
            <a:ext cx="4754880" cy="274320"/>
          </a:xfrm>
          <a:prstGeom prst="rect">
            <a:avLst/>
          </a:prstGeom>
          <a:noFill/>
          <a:ln/>
        </p:spPr>
        <p:txBody>
          <a:bodyPr wrap="square" lIns="0" tIns="0" rIns="0" bIns="0" rtlCol="0" anchor="t"/>
          <a:lstStyle/>
          <a:p>
            <a:pPr indent="0" marL="0">
              <a:buNone/>
            </a:pPr>
            <a:r>
              <a:rPr lang="en-US" sz="1300" b="1" dirty="0">
                <a:solidFill>
                  <a:srgbClr val="A85F0C"/>
                </a:solidFill>
                <a:latin typeface="Calibri" pitchFamily="34" charset="0"/>
                <a:ea typeface="Calibri" pitchFamily="34" charset="-122"/>
                <a:cs typeface="Calibri" pitchFamily="34" charset="-120"/>
              </a:rPr>
              <a:t>Try these on paper (2 minutes)</a:t>
            </a:r>
            <a:endParaRPr lang="en-US" sz="1300" dirty="0"/>
          </a:p>
        </p:txBody>
      </p:sp>
      <p:sp>
        <p:nvSpPr>
          <p:cNvPr id="21" name="Text 19"/>
          <p:cNvSpPr/>
          <p:nvPr/>
        </p:nvSpPr>
        <p:spPr>
          <a:xfrm>
            <a:off x="6519672" y="4279392"/>
            <a:ext cx="4800600" cy="1325880"/>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200" dirty="0">
                <a:solidFill>
                  <a:srgbClr val="3A4551"/>
                </a:solidFill>
                <a:latin typeface="Calibri" pitchFamily="34" charset="0"/>
                <a:ea typeface="Calibri" pitchFamily="34" charset="-122"/>
                <a:cs typeface="Calibri" pitchFamily="34" charset="-120"/>
              </a:rPr>
              <a:t>Show 5n² + 3n + 1 = O(n²). Find c and n₀.</a:t>
            </a:r>
            <a:endParaRPr lang="en-US" sz="1200" dirty="0"/>
          </a:p>
          <a:p>
            <a:pPr marL="342900" indent="-342900">
              <a:lnSpc>
                <a:spcPts val="1600"/>
              </a:lnSpc>
              <a:spcAft>
                <a:spcPts val="800"/>
              </a:spcAft>
              <a:buSzPct val="100000"/>
              <a:buChar char="•"/>
            </a:pPr>
            <a:r>
              <a:rPr lang="en-US" sz="1200" dirty="0">
                <a:solidFill>
                  <a:srgbClr val="3A4551"/>
                </a:solidFill>
                <a:latin typeface="Calibri" pitchFamily="34" charset="0"/>
                <a:ea typeface="Calibri" pitchFamily="34" charset="-122"/>
                <a:cs typeface="Calibri" pitchFamily="34" charset="-120"/>
              </a:rPr>
              <a:t>Is 2n + 5 = O(n²)? Is it Θ(n²)?</a:t>
            </a:r>
            <a:endParaRPr lang="en-US" sz="1200" dirty="0"/>
          </a:p>
          <a:p>
            <a:pPr marL="342900" indent="-342900">
              <a:lnSpc>
                <a:spcPts val="1600"/>
              </a:lnSpc>
              <a:spcAft>
                <a:spcPts val="800"/>
              </a:spcAft>
              <a:buSzPct val="100000"/>
              <a:buChar char="•"/>
            </a:pPr>
            <a:r>
              <a:rPr lang="en-US" sz="1200" dirty="0">
                <a:solidFill>
                  <a:srgbClr val="3A4551"/>
                </a:solidFill>
                <a:latin typeface="Calibri" pitchFamily="34" charset="0"/>
                <a:ea typeface="Calibri" pitchFamily="34" charset="-122"/>
                <a:cs typeface="Calibri" pitchFamily="34" charset="-120"/>
              </a:rPr>
              <a:t>Show n! is not O(2ⁿ).</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REFERENCE</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The common complexity classes, fastest to slowest</a:t>
            </a:r>
            <a:endParaRPr lang="en-US" sz="3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40080" y="1298448"/>
          <a:ext cx="10908792" cy="914400"/>
        </p:xfrm>
        <a:graphic>
          <a:graphicData uri="http://schemas.openxmlformats.org/drawingml/2006/table">
            <a:tbl>
              <a:tblPr/>
              <a:tblGrid>
                <a:gridCol w="1417320"/>
                <a:gridCol w="1874520"/>
                <a:gridCol w="3108960"/>
                <a:gridCol w="4507992"/>
              </a:tblGrid>
              <a:tr h="4572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Order</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Name</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Behaviour as n doubles</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Typical example</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r>
              <a:tr h="457200">
                <a:tc>
                  <a:txBody>
                    <a:bodyPr/>
                    <a:lstStyle/>
                    <a:p>
                      <a:pPr algn="l" indent="0" marL="0">
                        <a:buNone/>
                      </a:pPr>
                      <a:r>
                        <a:rPr lang="en-US" sz="1250" b="1" dirty="0">
                          <a:solidFill>
                            <a:srgbClr val="2E7D5B"/>
                          </a:solidFill>
                          <a:latin typeface="Courier New" pitchFamily="34" charset="0"/>
                          <a:ea typeface="Courier New" pitchFamily="34" charset="-122"/>
                          <a:cs typeface="Courier New" pitchFamily="34" charset="-120"/>
                        </a:rPr>
                        <a:t>O(1)</a:t>
                      </a:r>
                      <a:endParaRPr lang="en-US" sz="1250" dirty="0">
                        <a:latin typeface="Courier New" charset="0"/>
                        <a:ea typeface="Courier New" charset="0"/>
                        <a:cs typeface="Courier New"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Constant</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Unchanged</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Array index access, hash-table lookup, stack push</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2E7D5B"/>
                          </a:solidFill>
                          <a:latin typeface="Courier New" pitchFamily="34" charset="0"/>
                          <a:ea typeface="Courier New" pitchFamily="34" charset="-122"/>
                          <a:cs typeface="Courier New" pitchFamily="34" charset="-120"/>
                        </a:rPr>
                        <a:t>O(log n)</a:t>
                      </a:r>
                      <a:endParaRPr lang="en-US" sz="1250" dirty="0">
                        <a:latin typeface="Courier New" charset="0"/>
                        <a:ea typeface="Courier New" charset="0"/>
                        <a:cs typeface="Courier New"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Logarithmic</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Grows by one step</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Binary search, balanced BST lookup</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0E7C86"/>
                          </a:solidFill>
                          <a:latin typeface="Courier New" pitchFamily="34" charset="0"/>
                          <a:ea typeface="Courier New" pitchFamily="34" charset="-122"/>
                          <a:cs typeface="Courier New" pitchFamily="34" charset="-120"/>
                        </a:rPr>
                        <a:t>O(n)</a:t>
                      </a:r>
                      <a:endParaRPr lang="en-US" sz="1250" dirty="0">
                        <a:latin typeface="Courier New" charset="0"/>
                        <a:ea typeface="Courier New" charset="0"/>
                        <a:cs typeface="Courier New"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Linear</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Doubles</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Linear search, finding max, single traversal</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0E7C86"/>
                          </a:solidFill>
                          <a:latin typeface="Courier New" pitchFamily="34" charset="0"/>
                          <a:ea typeface="Courier New" pitchFamily="34" charset="-122"/>
                          <a:cs typeface="Courier New" pitchFamily="34" charset="-120"/>
                        </a:rPr>
                        <a:t>O(n log n)</a:t>
                      </a:r>
                      <a:endParaRPr lang="en-US" sz="1250" dirty="0">
                        <a:latin typeface="Courier New" charset="0"/>
                        <a:ea typeface="Courier New" charset="0"/>
                        <a:cs typeface="Courier New"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Linearithmic</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Slightly more than doubles</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Merge sort, heap sort, FFT</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A85F0C"/>
                          </a:solidFill>
                          <a:latin typeface="Courier New" pitchFamily="34" charset="0"/>
                          <a:ea typeface="Courier New" pitchFamily="34" charset="-122"/>
                          <a:cs typeface="Courier New" pitchFamily="34" charset="-120"/>
                        </a:rPr>
                        <a:t>O(n²)</a:t>
                      </a:r>
                      <a:endParaRPr lang="en-US" sz="1250" dirty="0">
                        <a:latin typeface="Courier New" charset="0"/>
                        <a:ea typeface="Courier New" charset="0"/>
                        <a:cs typeface="Courier New"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Quadratic</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Quadruples</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Bubble, selection and insertion sort</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A85F0C"/>
                          </a:solidFill>
                          <a:latin typeface="Courier New" pitchFamily="34" charset="0"/>
                          <a:ea typeface="Courier New" pitchFamily="34" charset="-122"/>
                          <a:cs typeface="Courier New" pitchFamily="34" charset="-120"/>
                        </a:rPr>
                        <a:t>O(n³)</a:t>
                      </a:r>
                      <a:endParaRPr lang="en-US" sz="1250" dirty="0">
                        <a:latin typeface="Courier New" charset="0"/>
                        <a:ea typeface="Courier New" charset="0"/>
                        <a:cs typeface="Courier New"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Cubic</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Multiplies by 8</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Naive matrix multiplication, Floyd–Warshall</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B3261E"/>
                          </a:solidFill>
                          <a:latin typeface="Courier New" pitchFamily="34" charset="0"/>
                          <a:ea typeface="Courier New" pitchFamily="34" charset="-122"/>
                          <a:cs typeface="Courier New" pitchFamily="34" charset="-120"/>
                        </a:rPr>
                        <a:t>O(2ⁿ)</a:t>
                      </a:r>
                      <a:endParaRPr lang="en-US" sz="1250" dirty="0">
                        <a:latin typeface="Courier New" charset="0"/>
                        <a:ea typeface="Courier New" charset="0"/>
                        <a:cs typeface="Courier New"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Exponential</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Squares</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Enumerating all subsets, naive TSP</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B3261E"/>
                          </a:solidFill>
                          <a:latin typeface="Courier New" pitchFamily="34" charset="0"/>
                          <a:ea typeface="Courier New" pitchFamily="34" charset="-122"/>
                          <a:cs typeface="Courier New" pitchFamily="34" charset="-120"/>
                        </a:rPr>
                        <a:t>O(n!)</a:t>
                      </a:r>
                      <a:endParaRPr lang="en-US" sz="1250" dirty="0">
                        <a:latin typeface="Courier New" charset="0"/>
                        <a:ea typeface="Courier New" charset="0"/>
                        <a:cs typeface="Courier New"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Factorial</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Beyond hope</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Generating all permutations</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5486400"/>
            <a:ext cx="10908792" cy="566928"/>
          </a:xfrm>
          <a:prstGeom prst="roundRect">
            <a:avLst>
              <a:gd name="adj" fmla="val 9677"/>
            </a:avLst>
          </a:prstGeom>
          <a:solidFill>
            <a:srgbClr val="DFEEF0"/>
          </a:solidFill>
          <a:ln w="12700">
            <a:solidFill>
              <a:srgbClr val="DFEEF0"/>
            </a:solidFill>
            <a:prstDash val="solid"/>
          </a:ln>
          <a:effectLst>
            <a:outerShdw sx="100000" sy="100000" kx="0" ky="0" algn="bl" rotWithShape="0" blurRad="127000" dist="25400" dir="5400000">
              <a:srgbClr val="9AA6B2">
                <a:alpha val="22000"/>
              </a:srgbClr>
            </a:outerShdw>
          </a:effectLst>
        </p:spPr>
      </p:sp>
      <p:sp>
        <p:nvSpPr>
          <p:cNvPr id="6" name="Text 3"/>
          <p:cNvSpPr/>
          <p:nvPr/>
        </p:nvSpPr>
        <p:spPr>
          <a:xfrm>
            <a:off x="914400" y="5486400"/>
            <a:ext cx="10332720" cy="566928"/>
          </a:xfrm>
          <a:prstGeom prst="rect">
            <a:avLst/>
          </a:prstGeom>
          <a:noFill/>
          <a:ln/>
        </p:spPr>
        <p:txBody>
          <a:bodyPr wrap="square" lIns="0" tIns="0" rIns="0" bIns="0" rtlCol="0" anchor="ctr"/>
          <a:lstStyle/>
          <a:p>
            <a:pPr indent="0" marL="0">
              <a:buNone/>
            </a:pPr>
            <a:r>
              <a:rPr lang="en-US" sz="1250" b="1" dirty="0">
                <a:solidFill>
                  <a:srgbClr val="0E7C86"/>
                </a:solidFill>
                <a:latin typeface="Calibri" pitchFamily="34" charset="0"/>
                <a:ea typeface="Calibri" pitchFamily="34" charset="-122"/>
                <a:cs typeface="Calibri" pitchFamily="34" charset="-120"/>
              </a:rPr>
              <a:t>The first four are called tractable; the last two are intractable — usable only for very small n or with approximation.</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NUMERICAL ILLUSTRATION</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What the growth rates mean in practice</a:t>
            </a:r>
            <a:endParaRPr lang="en-US" sz="3000" dirty="0"/>
          </a:p>
        </p:txBody>
      </p:sp>
      <p:sp>
        <p:nvSpPr>
          <p:cNvPr id="4" name="Text 2"/>
          <p:cNvSpPr/>
          <p:nvPr/>
        </p:nvSpPr>
        <p:spPr>
          <a:xfrm>
            <a:off x="640080" y="1188720"/>
            <a:ext cx="7315200" cy="274320"/>
          </a:xfrm>
          <a:prstGeom prst="rect">
            <a:avLst/>
          </a:prstGeom>
          <a:noFill/>
          <a:ln/>
        </p:spPr>
        <p:txBody>
          <a:bodyPr wrap="square" lIns="0" tIns="0" rIns="0" bIns="0" rtlCol="0" anchor="t"/>
          <a:lstStyle/>
          <a:p>
            <a:pPr indent="0" marL="0">
              <a:buNone/>
            </a:pPr>
            <a:r>
              <a:rPr lang="en-US" sz="1250" i="1" dirty="0">
                <a:solidFill>
                  <a:srgbClr val="6B7784"/>
                </a:solidFill>
                <a:latin typeface="Calibri" pitchFamily="34" charset="0"/>
                <a:ea typeface="Calibri" pitchFamily="34" charset="-122"/>
                <a:cs typeface="Calibri" pitchFamily="34" charset="-120"/>
              </a:rPr>
              <a:t>Number of basic operations performed, for each input size</a:t>
            </a:r>
            <a:endParaRPr lang="en-US" sz="12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40080" y="1572768"/>
          <a:ext cx="10908792" cy="914400"/>
        </p:xfrm>
        <a:graphic>
          <a:graphicData uri="http://schemas.openxmlformats.org/drawingml/2006/table">
            <a:tbl>
              <a:tblPr/>
              <a:tblGrid>
                <a:gridCol w="1920240"/>
                <a:gridCol w="1554480"/>
                <a:gridCol w="1920240"/>
                <a:gridCol w="1920240"/>
                <a:gridCol w="1920240"/>
                <a:gridCol w="1673352"/>
              </a:tblGrid>
              <a:tr h="47548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log₂ n</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n log₂ n</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n²</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2ⁿ</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r>
              <a:tr h="475488">
                <a:tc>
                  <a:txBody>
                    <a:bodyPr/>
                    <a:lstStyle/>
                    <a:p>
                      <a:pPr algn="l" indent="0" marL="0">
                        <a:buNone/>
                      </a:pPr>
                      <a:r>
                        <a:rPr lang="en-US" sz="1300" dirty="0">
                          <a:solidFill>
                            <a:srgbClr val="3A4551"/>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A4551"/>
                          </a:solidFill>
                          <a:latin typeface="Calibri" pitchFamily="34" charset="0"/>
                          <a:ea typeface="Calibri" pitchFamily="34" charset="-122"/>
                          <a:cs typeface="Calibri" pitchFamily="34" charset="-120"/>
                        </a:rPr>
                        <a:t>3.3</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A4551"/>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A4551"/>
                          </a:solidFill>
                          <a:latin typeface="Calibri" pitchFamily="34" charset="0"/>
                          <a:ea typeface="Calibri" pitchFamily="34" charset="-122"/>
                          <a:cs typeface="Calibri" pitchFamily="34" charset="-120"/>
                        </a:rPr>
                        <a:t>33</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A4551"/>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A4551"/>
                          </a:solidFill>
                          <a:latin typeface="Calibri" pitchFamily="34" charset="0"/>
                          <a:ea typeface="Calibri" pitchFamily="34" charset="-122"/>
                          <a:cs typeface="Calibri" pitchFamily="34" charset="-120"/>
                        </a:rPr>
                        <a:t>1,024</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3A4551"/>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A4551"/>
                          </a:solidFill>
                          <a:latin typeface="Calibri" pitchFamily="34" charset="0"/>
                          <a:ea typeface="Calibri" pitchFamily="34" charset="-122"/>
                          <a:cs typeface="Calibri" pitchFamily="34" charset="-120"/>
                        </a:rPr>
                        <a:t>6.6</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A4551"/>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A4551"/>
                          </a:solidFill>
                          <a:latin typeface="Calibri" pitchFamily="34" charset="0"/>
                          <a:ea typeface="Calibri" pitchFamily="34" charset="-122"/>
                          <a:cs typeface="Calibri" pitchFamily="34" charset="-120"/>
                        </a:rPr>
                        <a:t>664</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A4551"/>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A4551"/>
                          </a:solidFill>
                          <a:latin typeface="Calibri" pitchFamily="34" charset="0"/>
                          <a:ea typeface="Calibri" pitchFamily="34" charset="-122"/>
                          <a:cs typeface="Calibri" pitchFamily="34" charset="-120"/>
                        </a:rPr>
                        <a:t>≈ 1.3 × 10³⁰</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3A4551"/>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A4551"/>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A4551"/>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A4551"/>
                          </a:solidFill>
                          <a:latin typeface="Calibri" pitchFamily="34" charset="0"/>
                          <a:ea typeface="Calibri" pitchFamily="34" charset="-122"/>
                          <a:cs typeface="Calibri" pitchFamily="34" charset="-120"/>
                        </a:rPr>
                        <a:t>9,966</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A4551"/>
                          </a:solidFill>
                          <a:latin typeface="Calibri" pitchFamily="34" charset="0"/>
                          <a:ea typeface="Calibri" pitchFamily="34" charset="-122"/>
                          <a:cs typeface="Calibri" pitchFamily="34" charset="-120"/>
                        </a:rPr>
                        <a:t>1,000,000</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A4551"/>
                          </a:solidFill>
                          <a:latin typeface="Calibri" pitchFamily="34" charset="0"/>
                          <a:ea typeface="Calibri" pitchFamily="34" charset="-122"/>
                          <a:cs typeface="Calibri" pitchFamily="34" charset="-120"/>
                        </a:rPr>
                        <a:t>astronomical</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3A4551"/>
                          </a:solidFill>
                          <a:latin typeface="Calibri" pitchFamily="34" charset="0"/>
                          <a:ea typeface="Calibri" pitchFamily="34" charset="-122"/>
                          <a:cs typeface="Calibri" pitchFamily="34" charset="-120"/>
                        </a:rPr>
                        <a:t>1,000,000</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A4551"/>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A4551"/>
                          </a:solidFill>
                          <a:latin typeface="Calibri" pitchFamily="34" charset="0"/>
                          <a:ea typeface="Calibri" pitchFamily="34" charset="-122"/>
                          <a:cs typeface="Calibri" pitchFamily="34" charset="-120"/>
                        </a:rPr>
                        <a:t>1,000,000</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A4551"/>
                          </a:solidFill>
                          <a:latin typeface="Calibri" pitchFamily="34" charset="0"/>
                          <a:ea typeface="Calibri" pitchFamily="34" charset="-122"/>
                          <a:cs typeface="Calibri" pitchFamily="34" charset="-120"/>
                        </a:rPr>
                        <a:t>≈ 2 × 10⁷</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A4551"/>
                          </a:solidFill>
                          <a:latin typeface="Calibri" pitchFamily="34" charset="0"/>
                          <a:ea typeface="Calibri" pitchFamily="34" charset="-122"/>
                          <a:cs typeface="Calibri" pitchFamily="34" charset="-120"/>
                        </a:rPr>
                        <a:t>10¹²</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A4551"/>
                          </a:solidFill>
                          <a:latin typeface="Calibri" pitchFamily="34" charset="0"/>
                          <a:ea typeface="Calibri" pitchFamily="34" charset="-122"/>
                          <a:cs typeface="Calibri" pitchFamily="34" charset="-120"/>
                        </a:rPr>
                        <a:t>impossible</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bl>
          </a:graphicData>
        </a:graphic>
      </p:graphicFrame>
      <p:sp>
        <p:nvSpPr>
          <p:cNvPr id="6" name="Shape 3"/>
          <p:cNvSpPr/>
          <p:nvPr/>
        </p:nvSpPr>
        <p:spPr>
          <a:xfrm>
            <a:off x="640080" y="4297680"/>
            <a:ext cx="3456432" cy="1417320"/>
          </a:xfrm>
          <a:prstGeom prst="roundRect">
            <a:avLst>
              <a:gd name="adj" fmla="val 3871"/>
            </a:avLst>
          </a:prstGeom>
          <a:solidFill>
            <a:srgbClr val="1B2129"/>
          </a:solidFill>
          <a:ln/>
          <a:effectLst>
            <a:outerShdw sx="100000" sy="100000" kx="0" ky="0" algn="bl" rotWithShape="0" blurRad="127000" dist="25400" dir="5400000">
              <a:srgbClr val="9AA6B2">
                <a:alpha val="22000"/>
              </a:srgbClr>
            </a:outerShdw>
          </a:effectLst>
        </p:spPr>
      </p:sp>
      <p:sp>
        <p:nvSpPr>
          <p:cNvPr id="7" name="Text 4"/>
          <p:cNvSpPr/>
          <p:nvPr/>
        </p:nvSpPr>
        <p:spPr>
          <a:xfrm>
            <a:off x="896112" y="4434840"/>
            <a:ext cx="2926080" cy="502920"/>
          </a:xfrm>
          <a:prstGeom prst="rect">
            <a:avLst/>
          </a:prstGeom>
          <a:noFill/>
          <a:ln/>
        </p:spPr>
        <p:txBody>
          <a:bodyPr wrap="square" lIns="0" tIns="0" rIns="0" bIns="0" rtlCol="0" anchor="t"/>
          <a:lstStyle/>
          <a:p>
            <a:pPr indent="0" marL="0">
              <a:buNone/>
            </a:pPr>
            <a:r>
              <a:rPr lang="en-US" sz="2800" b="1" dirty="0">
                <a:solidFill>
                  <a:srgbClr val="2E7D5B"/>
                </a:solidFill>
                <a:latin typeface="Cambria" pitchFamily="34" charset="0"/>
                <a:ea typeface="Cambria" pitchFamily="34" charset="-122"/>
                <a:cs typeface="Cambria" pitchFamily="34" charset="-120"/>
              </a:rPr>
              <a:t>20</a:t>
            </a:r>
            <a:endParaRPr lang="en-US" sz="2800" dirty="0"/>
          </a:p>
        </p:txBody>
      </p:sp>
      <p:sp>
        <p:nvSpPr>
          <p:cNvPr id="8" name="Text 5"/>
          <p:cNvSpPr/>
          <p:nvPr/>
        </p:nvSpPr>
        <p:spPr>
          <a:xfrm>
            <a:off x="896112" y="4983480"/>
            <a:ext cx="2971800" cy="640080"/>
          </a:xfrm>
          <a:prstGeom prst="rect">
            <a:avLst/>
          </a:prstGeom>
          <a:noFill/>
          <a:ln/>
        </p:spPr>
        <p:txBody>
          <a:bodyPr wrap="square" lIns="0" tIns="0" rIns="0" bIns="0" rtlCol="0" anchor="t"/>
          <a:lstStyle/>
          <a:p>
            <a:pPr indent="0" marL="0">
              <a:lnSpc>
                <a:spcPts val="1500"/>
              </a:lnSpc>
              <a:buNone/>
            </a:pPr>
            <a:r>
              <a:rPr lang="en-US" sz="1150" dirty="0">
                <a:solidFill>
                  <a:srgbClr val="C9D2DC"/>
                </a:solidFill>
                <a:latin typeface="Calibri" pitchFamily="34" charset="0"/>
                <a:ea typeface="Calibri" pitchFamily="34" charset="-122"/>
                <a:cs typeface="Calibri" pitchFamily="34" charset="-120"/>
              </a:rPr>
              <a:t>comparisons are enough for binary search on a million items</a:t>
            </a:r>
            <a:endParaRPr lang="en-US" sz="1150" dirty="0"/>
          </a:p>
        </p:txBody>
      </p:sp>
      <p:sp>
        <p:nvSpPr>
          <p:cNvPr id="9" name="Shape 6"/>
          <p:cNvSpPr/>
          <p:nvPr/>
        </p:nvSpPr>
        <p:spPr>
          <a:xfrm>
            <a:off x="4370832" y="4297680"/>
            <a:ext cx="3456432" cy="1417320"/>
          </a:xfrm>
          <a:prstGeom prst="roundRect">
            <a:avLst>
              <a:gd name="adj" fmla="val 3871"/>
            </a:avLst>
          </a:prstGeom>
          <a:solidFill>
            <a:srgbClr val="1B2129"/>
          </a:solidFill>
          <a:ln/>
          <a:effectLst>
            <a:outerShdw sx="100000" sy="100000" kx="0" ky="0" algn="bl" rotWithShape="0" blurRad="127000" dist="25400" dir="5400000">
              <a:srgbClr val="9AA6B2">
                <a:alpha val="22000"/>
              </a:srgbClr>
            </a:outerShdw>
          </a:effectLst>
        </p:spPr>
      </p:sp>
      <p:sp>
        <p:nvSpPr>
          <p:cNvPr id="10" name="Text 7"/>
          <p:cNvSpPr/>
          <p:nvPr/>
        </p:nvSpPr>
        <p:spPr>
          <a:xfrm>
            <a:off x="4626864" y="4434840"/>
            <a:ext cx="2926080" cy="502920"/>
          </a:xfrm>
          <a:prstGeom prst="rect">
            <a:avLst/>
          </a:prstGeom>
          <a:noFill/>
          <a:ln/>
        </p:spPr>
        <p:txBody>
          <a:bodyPr wrap="square" lIns="0" tIns="0" rIns="0" bIns="0" rtlCol="0" anchor="t"/>
          <a:lstStyle/>
          <a:p>
            <a:pPr indent="0" marL="0">
              <a:buNone/>
            </a:pPr>
            <a:r>
              <a:rPr lang="en-US" sz="2800" b="1" dirty="0">
                <a:solidFill>
                  <a:srgbClr val="B3261E"/>
                </a:solidFill>
                <a:latin typeface="Cambria" pitchFamily="34" charset="0"/>
                <a:ea typeface="Cambria" pitchFamily="34" charset="-122"/>
                <a:cs typeface="Cambria" pitchFamily="34" charset="-120"/>
              </a:rPr>
              <a:t>10¹²</a:t>
            </a:r>
            <a:endParaRPr lang="en-US" sz="2800" dirty="0"/>
          </a:p>
        </p:txBody>
      </p:sp>
      <p:sp>
        <p:nvSpPr>
          <p:cNvPr id="11" name="Text 8"/>
          <p:cNvSpPr/>
          <p:nvPr/>
        </p:nvSpPr>
        <p:spPr>
          <a:xfrm>
            <a:off x="4626864" y="4983480"/>
            <a:ext cx="2971800" cy="640080"/>
          </a:xfrm>
          <a:prstGeom prst="rect">
            <a:avLst/>
          </a:prstGeom>
          <a:noFill/>
          <a:ln/>
        </p:spPr>
        <p:txBody>
          <a:bodyPr wrap="square" lIns="0" tIns="0" rIns="0" bIns="0" rtlCol="0" anchor="t"/>
          <a:lstStyle/>
          <a:p>
            <a:pPr indent="0" marL="0">
              <a:lnSpc>
                <a:spcPts val="1500"/>
              </a:lnSpc>
              <a:buNone/>
            </a:pPr>
            <a:r>
              <a:rPr lang="en-US" sz="1150" dirty="0">
                <a:solidFill>
                  <a:srgbClr val="C9D2DC"/>
                </a:solidFill>
                <a:latin typeface="Calibri" pitchFamily="34" charset="0"/>
                <a:ea typeface="Calibri" pitchFamily="34" charset="-122"/>
                <a:cs typeface="Calibri" pitchFamily="34" charset="-120"/>
              </a:rPr>
              <a:t>operations for an O(n²) algorithm on the same input</a:t>
            </a:r>
            <a:endParaRPr lang="en-US" sz="1150" dirty="0"/>
          </a:p>
        </p:txBody>
      </p:sp>
      <p:sp>
        <p:nvSpPr>
          <p:cNvPr id="12" name="Shape 9"/>
          <p:cNvSpPr/>
          <p:nvPr/>
        </p:nvSpPr>
        <p:spPr>
          <a:xfrm>
            <a:off x="8101584" y="4297680"/>
            <a:ext cx="3456432" cy="1417320"/>
          </a:xfrm>
          <a:prstGeom prst="roundRect">
            <a:avLst>
              <a:gd name="adj" fmla="val 3871"/>
            </a:avLst>
          </a:prstGeom>
          <a:solidFill>
            <a:srgbClr val="1B2129"/>
          </a:solidFill>
          <a:ln/>
          <a:effectLst>
            <a:outerShdw sx="100000" sy="100000" kx="0" ky="0" algn="bl" rotWithShape="0" blurRad="127000" dist="25400" dir="5400000">
              <a:srgbClr val="9AA6B2">
                <a:alpha val="22000"/>
              </a:srgbClr>
            </a:outerShdw>
          </a:effectLst>
        </p:spPr>
      </p:sp>
      <p:sp>
        <p:nvSpPr>
          <p:cNvPr id="13" name="Text 10"/>
          <p:cNvSpPr/>
          <p:nvPr/>
        </p:nvSpPr>
        <p:spPr>
          <a:xfrm>
            <a:off x="8357616" y="4434840"/>
            <a:ext cx="2926080" cy="502920"/>
          </a:xfrm>
          <a:prstGeom prst="rect">
            <a:avLst/>
          </a:prstGeom>
          <a:noFill/>
          <a:ln/>
        </p:spPr>
        <p:txBody>
          <a:bodyPr wrap="square" lIns="0" tIns="0" rIns="0" bIns="0" rtlCol="0" anchor="t"/>
          <a:lstStyle/>
          <a:p>
            <a:pPr indent="0" marL="0">
              <a:buNone/>
            </a:pPr>
            <a:r>
              <a:rPr lang="en-US" sz="2800" b="1" dirty="0">
                <a:solidFill>
                  <a:srgbClr val="E8871E"/>
                </a:solidFill>
                <a:latin typeface="Cambria" pitchFamily="34" charset="0"/>
                <a:ea typeface="Cambria" pitchFamily="34" charset="-122"/>
                <a:cs typeface="Cambria" pitchFamily="34" charset="-120"/>
              </a:rPr>
              <a:t>5 × 10¹⁰</a:t>
            </a:r>
            <a:endParaRPr lang="en-US" sz="2800" dirty="0"/>
          </a:p>
        </p:txBody>
      </p:sp>
      <p:sp>
        <p:nvSpPr>
          <p:cNvPr id="14" name="Text 11"/>
          <p:cNvSpPr/>
          <p:nvPr/>
        </p:nvSpPr>
        <p:spPr>
          <a:xfrm>
            <a:off x="8357616" y="4983480"/>
            <a:ext cx="2971800" cy="640080"/>
          </a:xfrm>
          <a:prstGeom prst="rect">
            <a:avLst/>
          </a:prstGeom>
          <a:noFill/>
          <a:ln/>
        </p:spPr>
        <p:txBody>
          <a:bodyPr wrap="square" lIns="0" tIns="0" rIns="0" bIns="0" rtlCol="0" anchor="t"/>
          <a:lstStyle/>
          <a:p>
            <a:pPr indent="0" marL="0">
              <a:lnSpc>
                <a:spcPts val="1500"/>
              </a:lnSpc>
              <a:buNone/>
            </a:pPr>
            <a:r>
              <a:rPr lang="en-US" sz="1150" dirty="0">
                <a:solidFill>
                  <a:srgbClr val="C9D2DC"/>
                </a:solidFill>
                <a:latin typeface="Calibri" pitchFamily="34" charset="0"/>
                <a:ea typeface="Calibri" pitchFamily="34" charset="-122"/>
                <a:cs typeface="Calibri" pitchFamily="34" charset="-120"/>
              </a:rPr>
              <a:t>times more work — a design decision, not a hardware one</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TECHNIQUE</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Rules for computing the complexity of a program</a:t>
            </a:r>
            <a:endParaRPr lang="en-US" sz="3000" dirty="0"/>
          </a:p>
        </p:txBody>
      </p:sp>
      <p:sp>
        <p:nvSpPr>
          <p:cNvPr id="4" name="Shape 2"/>
          <p:cNvSpPr/>
          <p:nvPr/>
        </p:nvSpPr>
        <p:spPr>
          <a:xfrm>
            <a:off x="640080" y="1298448"/>
            <a:ext cx="5303520" cy="1298448"/>
          </a:xfrm>
          <a:prstGeom prst="roundRect">
            <a:avLst>
              <a:gd name="adj" fmla="val 4225"/>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5" name="Shape 3"/>
          <p:cNvSpPr/>
          <p:nvPr/>
        </p:nvSpPr>
        <p:spPr>
          <a:xfrm>
            <a:off x="896112" y="1554480"/>
            <a:ext cx="420624" cy="420624"/>
          </a:xfrm>
          <a:prstGeom prst="ellipse">
            <a:avLst/>
          </a:prstGeom>
          <a:solidFill>
            <a:srgbClr val="0E7C86"/>
          </a:solidFill>
          <a:ln/>
        </p:spPr>
      </p:sp>
      <p:sp>
        <p:nvSpPr>
          <p:cNvPr id="6" name="Text 4"/>
          <p:cNvSpPr/>
          <p:nvPr/>
        </p:nvSpPr>
        <p:spPr>
          <a:xfrm>
            <a:off x="896112" y="15544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444752" y="1481328"/>
            <a:ext cx="4297680" cy="274320"/>
          </a:xfrm>
          <a:prstGeom prst="rect">
            <a:avLst/>
          </a:prstGeom>
          <a:noFill/>
          <a:ln/>
        </p:spPr>
        <p:txBody>
          <a:bodyPr wrap="square" lIns="0" tIns="0" rIns="0" bIns="0" rtlCol="0" anchor="t"/>
          <a:lstStyle/>
          <a:p>
            <a:pPr indent="0" marL="0">
              <a:buNone/>
            </a:pPr>
            <a:r>
              <a:rPr lang="en-US" sz="1550" b="1" dirty="0">
                <a:solidFill>
                  <a:srgbClr val="12161C"/>
                </a:solidFill>
                <a:latin typeface="Cambria" pitchFamily="34" charset="0"/>
                <a:ea typeface="Cambria" pitchFamily="34" charset="-122"/>
                <a:cs typeface="Cambria" pitchFamily="34" charset="-120"/>
              </a:rPr>
              <a:t>Drop constant factors</a:t>
            </a:r>
            <a:endParaRPr lang="en-US" sz="1550" dirty="0"/>
          </a:p>
        </p:txBody>
      </p:sp>
      <p:sp>
        <p:nvSpPr>
          <p:cNvPr id="8" name="Text 6"/>
          <p:cNvSpPr/>
          <p:nvPr/>
        </p:nvSpPr>
        <p:spPr>
          <a:xfrm>
            <a:off x="1444752" y="1792224"/>
            <a:ext cx="4297680" cy="256032"/>
          </a:xfrm>
          <a:prstGeom prst="rect">
            <a:avLst/>
          </a:prstGeom>
          <a:noFill/>
          <a:ln/>
        </p:spPr>
        <p:txBody>
          <a:bodyPr wrap="square" lIns="0" tIns="0" rIns="0" bIns="0" rtlCol="0" anchor="t"/>
          <a:lstStyle/>
          <a:p>
            <a:pPr indent="0" marL="0">
              <a:buNone/>
            </a:pPr>
            <a:r>
              <a:rPr lang="en-US" sz="1200" b="1" dirty="0">
                <a:solidFill>
                  <a:srgbClr val="A85F0C"/>
                </a:solidFill>
                <a:latin typeface="Courier New" pitchFamily="34" charset="0"/>
                <a:ea typeface="Courier New" pitchFamily="34" charset="-122"/>
                <a:cs typeface="Courier New" pitchFamily="34" charset="-120"/>
              </a:rPr>
              <a:t>5n → O(n)   ·   n/2 → O(n)</a:t>
            </a:r>
            <a:endParaRPr lang="en-US" sz="1200" dirty="0"/>
          </a:p>
        </p:txBody>
      </p:sp>
      <p:sp>
        <p:nvSpPr>
          <p:cNvPr id="9" name="Text 7"/>
          <p:cNvSpPr/>
          <p:nvPr/>
        </p:nvSpPr>
        <p:spPr>
          <a:xfrm>
            <a:off x="1444752" y="2084832"/>
            <a:ext cx="4343400" cy="411480"/>
          </a:xfrm>
          <a:prstGeom prst="rect">
            <a:avLst/>
          </a:prstGeom>
          <a:noFill/>
          <a:ln/>
        </p:spPr>
        <p:txBody>
          <a:bodyPr wrap="square" lIns="0" tIns="0" rIns="0" bIns="0" rtlCol="0" anchor="t"/>
          <a:lstStyle/>
          <a:p>
            <a:pPr indent="0" marL="0">
              <a:lnSpc>
                <a:spcPts val="1500"/>
              </a:lnSpc>
              <a:buNone/>
            </a:pPr>
            <a:r>
              <a:rPr lang="en-US" sz="1150" dirty="0">
                <a:solidFill>
                  <a:srgbClr val="6B7784"/>
                </a:solidFill>
                <a:latin typeface="Calibri" pitchFamily="34" charset="0"/>
                <a:ea typeface="Calibri" pitchFamily="34" charset="-122"/>
                <a:cs typeface="Calibri" pitchFamily="34" charset="-120"/>
              </a:rPr>
              <a:t>Constants depend on the machine, not the algorithm.</a:t>
            </a:r>
            <a:endParaRPr lang="en-US" sz="1150" dirty="0"/>
          </a:p>
        </p:txBody>
      </p:sp>
      <p:sp>
        <p:nvSpPr>
          <p:cNvPr id="10" name="Shape 8"/>
          <p:cNvSpPr/>
          <p:nvPr/>
        </p:nvSpPr>
        <p:spPr>
          <a:xfrm>
            <a:off x="6245352" y="1298448"/>
            <a:ext cx="5303520" cy="1298448"/>
          </a:xfrm>
          <a:prstGeom prst="roundRect">
            <a:avLst>
              <a:gd name="adj" fmla="val 4225"/>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11" name="Shape 9"/>
          <p:cNvSpPr/>
          <p:nvPr/>
        </p:nvSpPr>
        <p:spPr>
          <a:xfrm>
            <a:off x="6501384" y="1554480"/>
            <a:ext cx="420624" cy="420624"/>
          </a:xfrm>
          <a:prstGeom prst="ellipse">
            <a:avLst/>
          </a:prstGeom>
          <a:solidFill>
            <a:srgbClr val="0E7C86"/>
          </a:solidFill>
          <a:ln/>
        </p:spPr>
      </p:sp>
      <p:sp>
        <p:nvSpPr>
          <p:cNvPr id="12" name="Text 10"/>
          <p:cNvSpPr/>
          <p:nvPr/>
        </p:nvSpPr>
        <p:spPr>
          <a:xfrm>
            <a:off x="6501384" y="15544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7050024" y="1481328"/>
            <a:ext cx="4297680" cy="274320"/>
          </a:xfrm>
          <a:prstGeom prst="rect">
            <a:avLst/>
          </a:prstGeom>
          <a:noFill/>
          <a:ln/>
        </p:spPr>
        <p:txBody>
          <a:bodyPr wrap="square" lIns="0" tIns="0" rIns="0" bIns="0" rtlCol="0" anchor="t"/>
          <a:lstStyle/>
          <a:p>
            <a:pPr indent="0" marL="0">
              <a:buNone/>
            </a:pPr>
            <a:r>
              <a:rPr lang="en-US" sz="1550" b="1" dirty="0">
                <a:solidFill>
                  <a:srgbClr val="12161C"/>
                </a:solidFill>
                <a:latin typeface="Cambria" pitchFamily="34" charset="0"/>
                <a:ea typeface="Cambria" pitchFamily="34" charset="-122"/>
                <a:cs typeface="Cambria" pitchFamily="34" charset="-120"/>
              </a:rPr>
              <a:t>Keep only the dominant term</a:t>
            </a:r>
            <a:endParaRPr lang="en-US" sz="1550" dirty="0"/>
          </a:p>
        </p:txBody>
      </p:sp>
      <p:sp>
        <p:nvSpPr>
          <p:cNvPr id="14" name="Text 12"/>
          <p:cNvSpPr/>
          <p:nvPr/>
        </p:nvSpPr>
        <p:spPr>
          <a:xfrm>
            <a:off x="7050024" y="1792224"/>
            <a:ext cx="4297680" cy="256032"/>
          </a:xfrm>
          <a:prstGeom prst="rect">
            <a:avLst/>
          </a:prstGeom>
          <a:noFill/>
          <a:ln/>
        </p:spPr>
        <p:txBody>
          <a:bodyPr wrap="square" lIns="0" tIns="0" rIns="0" bIns="0" rtlCol="0" anchor="t"/>
          <a:lstStyle/>
          <a:p>
            <a:pPr indent="0" marL="0">
              <a:buNone/>
            </a:pPr>
            <a:r>
              <a:rPr lang="en-US" sz="1200" b="1" dirty="0">
                <a:solidFill>
                  <a:srgbClr val="A85F0C"/>
                </a:solidFill>
                <a:latin typeface="Courier New" pitchFamily="34" charset="0"/>
                <a:ea typeface="Courier New" pitchFamily="34" charset="-122"/>
                <a:cs typeface="Courier New" pitchFamily="34" charset="-120"/>
              </a:rPr>
              <a:t>3n² + 7n + 9 → O(n²)</a:t>
            </a:r>
            <a:endParaRPr lang="en-US" sz="1200" dirty="0"/>
          </a:p>
        </p:txBody>
      </p:sp>
      <p:sp>
        <p:nvSpPr>
          <p:cNvPr id="15" name="Text 13"/>
          <p:cNvSpPr/>
          <p:nvPr/>
        </p:nvSpPr>
        <p:spPr>
          <a:xfrm>
            <a:off x="7050024" y="2084832"/>
            <a:ext cx="4343400" cy="411480"/>
          </a:xfrm>
          <a:prstGeom prst="rect">
            <a:avLst/>
          </a:prstGeom>
          <a:noFill/>
          <a:ln/>
        </p:spPr>
        <p:txBody>
          <a:bodyPr wrap="square" lIns="0" tIns="0" rIns="0" bIns="0" rtlCol="0" anchor="t"/>
          <a:lstStyle/>
          <a:p>
            <a:pPr indent="0" marL="0">
              <a:lnSpc>
                <a:spcPts val="1500"/>
              </a:lnSpc>
              <a:buNone/>
            </a:pPr>
            <a:r>
              <a:rPr lang="en-US" sz="1150" dirty="0">
                <a:solidFill>
                  <a:srgbClr val="6B7784"/>
                </a:solidFill>
                <a:latin typeface="Calibri" pitchFamily="34" charset="0"/>
                <a:ea typeface="Calibri" pitchFamily="34" charset="-122"/>
                <a:cs typeface="Calibri" pitchFamily="34" charset="-120"/>
              </a:rPr>
              <a:t>Lower-order terms vanish in the limit.</a:t>
            </a:r>
            <a:endParaRPr lang="en-US" sz="1150" dirty="0"/>
          </a:p>
        </p:txBody>
      </p:sp>
      <p:sp>
        <p:nvSpPr>
          <p:cNvPr id="16" name="Shape 14"/>
          <p:cNvSpPr/>
          <p:nvPr/>
        </p:nvSpPr>
        <p:spPr>
          <a:xfrm>
            <a:off x="640080" y="2779776"/>
            <a:ext cx="5303520" cy="1298448"/>
          </a:xfrm>
          <a:prstGeom prst="roundRect">
            <a:avLst>
              <a:gd name="adj" fmla="val 4225"/>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17" name="Shape 15"/>
          <p:cNvSpPr/>
          <p:nvPr/>
        </p:nvSpPr>
        <p:spPr>
          <a:xfrm>
            <a:off x="896112" y="3035808"/>
            <a:ext cx="420624" cy="420624"/>
          </a:xfrm>
          <a:prstGeom prst="ellipse">
            <a:avLst/>
          </a:prstGeom>
          <a:solidFill>
            <a:srgbClr val="0E7C86"/>
          </a:solidFill>
          <a:ln/>
        </p:spPr>
      </p:sp>
      <p:sp>
        <p:nvSpPr>
          <p:cNvPr id="18" name="Text 16"/>
          <p:cNvSpPr/>
          <p:nvPr/>
        </p:nvSpPr>
        <p:spPr>
          <a:xfrm>
            <a:off x="896112" y="303580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1444752" y="2962656"/>
            <a:ext cx="4297680" cy="274320"/>
          </a:xfrm>
          <a:prstGeom prst="rect">
            <a:avLst/>
          </a:prstGeom>
          <a:noFill/>
          <a:ln/>
        </p:spPr>
        <p:txBody>
          <a:bodyPr wrap="square" lIns="0" tIns="0" rIns="0" bIns="0" rtlCol="0" anchor="t"/>
          <a:lstStyle/>
          <a:p>
            <a:pPr indent="0" marL="0">
              <a:buNone/>
            </a:pPr>
            <a:r>
              <a:rPr lang="en-US" sz="1550" b="1" dirty="0">
                <a:solidFill>
                  <a:srgbClr val="12161C"/>
                </a:solidFill>
                <a:latin typeface="Cambria" pitchFamily="34" charset="0"/>
                <a:ea typeface="Cambria" pitchFamily="34" charset="-122"/>
                <a:cs typeface="Cambria" pitchFamily="34" charset="-120"/>
              </a:rPr>
              <a:t>Sum rule — sequential blocks</a:t>
            </a:r>
            <a:endParaRPr lang="en-US" sz="1550" dirty="0"/>
          </a:p>
        </p:txBody>
      </p:sp>
      <p:sp>
        <p:nvSpPr>
          <p:cNvPr id="20" name="Text 18"/>
          <p:cNvSpPr/>
          <p:nvPr/>
        </p:nvSpPr>
        <p:spPr>
          <a:xfrm>
            <a:off x="1444752" y="3273552"/>
            <a:ext cx="4297680" cy="256032"/>
          </a:xfrm>
          <a:prstGeom prst="rect">
            <a:avLst/>
          </a:prstGeom>
          <a:noFill/>
          <a:ln/>
        </p:spPr>
        <p:txBody>
          <a:bodyPr wrap="square" lIns="0" tIns="0" rIns="0" bIns="0" rtlCol="0" anchor="t"/>
          <a:lstStyle/>
          <a:p>
            <a:pPr indent="0" marL="0">
              <a:buNone/>
            </a:pPr>
            <a:r>
              <a:rPr lang="en-US" sz="1200" b="1" dirty="0">
                <a:solidFill>
                  <a:srgbClr val="A85F0C"/>
                </a:solidFill>
                <a:latin typeface="Courier New" pitchFamily="34" charset="0"/>
                <a:ea typeface="Courier New" pitchFamily="34" charset="-122"/>
                <a:cs typeface="Courier New" pitchFamily="34" charset="-120"/>
              </a:rPr>
              <a:t>O(f) + O(g) = O(max(f, g))</a:t>
            </a:r>
            <a:endParaRPr lang="en-US" sz="1200" dirty="0"/>
          </a:p>
        </p:txBody>
      </p:sp>
      <p:sp>
        <p:nvSpPr>
          <p:cNvPr id="21" name="Text 19"/>
          <p:cNvSpPr/>
          <p:nvPr/>
        </p:nvSpPr>
        <p:spPr>
          <a:xfrm>
            <a:off x="1444752" y="3566160"/>
            <a:ext cx="4343400" cy="411480"/>
          </a:xfrm>
          <a:prstGeom prst="rect">
            <a:avLst/>
          </a:prstGeom>
          <a:noFill/>
          <a:ln/>
        </p:spPr>
        <p:txBody>
          <a:bodyPr wrap="square" lIns="0" tIns="0" rIns="0" bIns="0" rtlCol="0" anchor="t"/>
          <a:lstStyle/>
          <a:p>
            <a:pPr indent="0" marL="0">
              <a:lnSpc>
                <a:spcPts val="1500"/>
              </a:lnSpc>
              <a:buNone/>
            </a:pPr>
            <a:r>
              <a:rPr lang="en-US" sz="1150" dirty="0">
                <a:solidFill>
                  <a:srgbClr val="6B7784"/>
                </a:solidFill>
                <a:latin typeface="Calibri" pitchFamily="34" charset="0"/>
                <a:ea typeface="Calibri" pitchFamily="34" charset="-122"/>
                <a:cs typeface="Calibri" pitchFamily="34" charset="-120"/>
              </a:rPr>
              <a:t>A loop of n after a loop of n² is still O(n²).</a:t>
            </a:r>
            <a:endParaRPr lang="en-US" sz="1150" dirty="0"/>
          </a:p>
        </p:txBody>
      </p:sp>
      <p:sp>
        <p:nvSpPr>
          <p:cNvPr id="22" name="Shape 20"/>
          <p:cNvSpPr/>
          <p:nvPr/>
        </p:nvSpPr>
        <p:spPr>
          <a:xfrm>
            <a:off x="6245352" y="2779776"/>
            <a:ext cx="5303520" cy="1298448"/>
          </a:xfrm>
          <a:prstGeom prst="roundRect">
            <a:avLst>
              <a:gd name="adj" fmla="val 4225"/>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23" name="Shape 21"/>
          <p:cNvSpPr/>
          <p:nvPr/>
        </p:nvSpPr>
        <p:spPr>
          <a:xfrm>
            <a:off x="6501384" y="3035808"/>
            <a:ext cx="420624" cy="420624"/>
          </a:xfrm>
          <a:prstGeom prst="ellipse">
            <a:avLst/>
          </a:prstGeom>
          <a:solidFill>
            <a:srgbClr val="0E7C86"/>
          </a:solidFill>
          <a:ln/>
        </p:spPr>
      </p:sp>
      <p:sp>
        <p:nvSpPr>
          <p:cNvPr id="24" name="Text 22"/>
          <p:cNvSpPr/>
          <p:nvPr/>
        </p:nvSpPr>
        <p:spPr>
          <a:xfrm>
            <a:off x="6501384" y="303580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7050024" y="2962656"/>
            <a:ext cx="4297680" cy="274320"/>
          </a:xfrm>
          <a:prstGeom prst="rect">
            <a:avLst/>
          </a:prstGeom>
          <a:noFill/>
          <a:ln/>
        </p:spPr>
        <p:txBody>
          <a:bodyPr wrap="square" lIns="0" tIns="0" rIns="0" bIns="0" rtlCol="0" anchor="t"/>
          <a:lstStyle/>
          <a:p>
            <a:pPr indent="0" marL="0">
              <a:buNone/>
            </a:pPr>
            <a:r>
              <a:rPr lang="en-US" sz="1550" b="1" dirty="0">
                <a:solidFill>
                  <a:srgbClr val="12161C"/>
                </a:solidFill>
                <a:latin typeface="Cambria" pitchFamily="34" charset="0"/>
                <a:ea typeface="Cambria" pitchFamily="34" charset="-122"/>
                <a:cs typeface="Cambria" pitchFamily="34" charset="-120"/>
              </a:rPr>
              <a:t>Product rule — nested loops</a:t>
            </a:r>
            <a:endParaRPr lang="en-US" sz="1550" dirty="0"/>
          </a:p>
        </p:txBody>
      </p:sp>
      <p:sp>
        <p:nvSpPr>
          <p:cNvPr id="26" name="Text 24"/>
          <p:cNvSpPr/>
          <p:nvPr/>
        </p:nvSpPr>
        <p:spPr>
          <a:xfrm>
            <a:off x="7050024" y="3273552"/>
            <a:ext cx="4297680" cy="256032"/>
          </a:xfrm>
          <a:prstGeom prst="rect">
            <a:avLst/>
          </a:prstGeom>
          <a:noFill/>
          <a:ln/>
        </p:spPr>
        <p:txBody>
          <a:bodyPr wrap="square" lIns="0" tIns="0" rIns="0" bIns="0" rtlCol="0" anchor="t"/>
          <a:lstStyle/>
          <a:p>
            <a:pPr indent="0" marL="0">
              <a:buNone/>
            </a:pPr>
            <a:r>
              <a:rPr lang="en-US" sz="1200" b="1" dirty="0">
                <a:solidFill>
                  <a:srgbClr val="A85F0C"/>
                </a:solidFill>
                <a:latin typeface="Courier New" pitchFamily="34" charset="0"/>
                <a:ea typeface="Courier New" pitchFamily="34" charset="-122"/>
                <a:cs typeface="Courier New" pitchFamily="34" charset="-120"/>
              </a:rPr>
              <a:t>O(f) × O(g)</a:t>
            </a:r>
            <a:endParaRPr lang="en-US" sz="1200" dirty="0"/>
          </a:p>
        </p:txBody>
      </p:sp>
      <p:sp>
        <p:nvSpPr>
          <p:cNvPr id="27" name="Text 25"/>
          <p:cNvSpPr/>
          <p:nvPr/>
        </p:nvSpPr>
        <p:spPr>
          <a:xfrm>
            <a:off x="7050024" y="3566160"/>
            <a:ext cx="4343400" cy="411480"/>
          </a:xfrm>
          <a:prstGeom prst="rect">
            <a:avLst/>
          </a:prstGeom>
          <a:noFill/>
          <a:ln/>
        </p:spPr>
        <p:txBody>
          <a:bodyPr wrap="square" lIns="0" tIns="0" rIns="0" bIns="0" rtlCol="0" anchor="t"/>
          <a:lstStyle/>
          <a:p>
            <a:pPr indent="0" marL="0">
              <a:lnSpc>
                <a:spcPts val="1500"/>
              </a:lnSpc>
              <a:buNone/>
            </a:pPr>
            <a:r>
              <a:rPr lang="en-US" sz="1150" dirty="0">
                <a:solidFill>
                  <a:srgbClr val="6B7784"/>
                </a:solidFill>
                <a:latin typeface="Calibri" pitchFamily="34" charset="0"/>
                <a:ea typeface="Calibri" pitchFamily="34" charset="-122"/>
                <a:cs typeface="Calibri" pitchFamily="34" charset="-120"/>
              </a:rPr>
              <a:t>Inner loop runs fully for each outer iteration.</a:t>
            </a:r>
            <a:endParaRPr lang="en-US" sz="1150" dirty="0"/>
          </a:p>
        </p:txBody>
      </p:sp>
      <p:sp>
        <p:nvSpPr>
          <p:cNvPr id="28" name="Shape 26"/>
          <p:cNvSpPr/>
          <p:nvPr/>
        </p:nvSpPr>
        <p:spPr>
          <a:xfrm>
            <a:off x="640080" y="4261104"/>
            <a:ext cx="5303520" cy="1298448"/>
          </a:xfrm>
          <a:prstGeom prst="roundRect">
            <a:avLst>
              <a:gd name="adj" fmla="val 4225"/>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29" name="Shape 27"/>
          <p:cNvSpPr/>
          <p:nvPr/>
        </p:nvSpPr>
        <p:spPr>
          <a:xfrm>
            <a:off x="896112" y="4517136"/>
            <a:ext cx="420624" cy="420624"/>
          </a:xfrm>
          <a:prstGeom prst="ellipse">
            <a:avLst/>
          </a:prstGeom>
          <a:solidFill>
            <a:srgbClr val="0E7C86"/>
          </a:solidFill>
          <a:ln/>
        </p:spPr>
      </p:sp>
      <p:sp>
        <p:nvSpPr>
          <p:cNvPr id="30" name="Text 28"/>
          <p:cNvSpPr/>
          <p:nvPr/>
        </p:nvSpPr>
        <p:spPr>
          <a:xfrm>
            <a:off x="896112" y="451713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1" name="Text 29"/>
          <p:cNvSpPr/>
          <p:nvPr/>
        </p:nvSpPr>
        <p:spPr>
          <a:xfrm>
            <a:off x="1444752" y="4443984"/>
            <a:ext cx="4297680" cy="274320"/>
          </a:xfrm>
          <a:prstGeom prst="rect">
            <a:avLst/>
          </a:prstGeom>
          <a:noFill/>
          <a:ln/>
        </p:spPr>
        <p:txBody>
          <a:bodyPr wrap="square" lIns="0" tIns="0" rIns="0" bIns="0" rtlCol="0" anchor="t"/>
          <a:lstStyle/>
          <a:p>
            <a:pPr indent="0" marL="0">
              <a:buNone/>
            </a:pPr>
            <a:r>
              <a:rPr lang="en-US" sz="1550" b="1" dirty="0">
                <a:solidFill>
                  <a:srgbClr val="12161C"/>
                </a:solidFill>
                <a:latin typeface="Cambria" pitchFamily="34" charset="0"/>
                <a:ea typeface="Cambria" pitchFamily="34" charset="-122"/>
                <a:cs typeface="Cambria" pitchFamily="34" charset="-120"/>
              </a:rPr>
              <a:t>Conditionals</a:t>
            </a:r>
            <a:endParaRPr lang="en-US" sz="1550" dirty="0"/>
          </a:p>
        </p:txBody>
      </p:sp>
      <p:sp>
        <p:nvSpPr>
          <p:cNvPr id="32" name="Text 30"/>
          <p:cNvSpPr/>
          <p:nvPr/>
        </p:nvSpPr>
        <p:spPr>
          <a:xfrm>
            <a:off x="1444752" y="4754880"/>
            <a:ext cx="4297680" cy="256032"/>
          </a:xfrm>
          <a:prstGeom prst="rect">
            <a:avLst/>
          </a:prstGeom>
          <a:noFill/>
          <a:ln/>
        </p:spPr>
        <p:txBody>
          <a:bodyPr wrap="square" lIns="0" tIns="0" rIns="0" bIns="0" rtlCol="0" anchor="t"/>
          <a:lstStyle/>
          <a:p>
            <a:pPr indent="0" marL="0">
              <a:buNone/>
            </a:pPr>
            <a:r>
              <a:rPr lang="en-US" sz="1200" b="1" dirty="0">
                <a:solidFill>
                  <a:srgbClr val="A85F0C"/>
                </a:solidFill>
                <a:latin typeface="Courier New" pitchFamily="34" charset="0"/>
                <a:ea typeface="Courier New" pitchFamily="34" charset="-122"/>
                <a:cs typeface="Courier New" pitchFamily="34" charset="-120"/>
              </a:rPr>
              <a:t>max(then-branch, else-branch)</a:t>
            </a:r>
            <a:endParaRPr lang="en-US" sz="1200" dirty="0"/>
          </a:p>
        </p:txBody>
      </p:sp>
      <p:sp>
        <p:nvSpPr>
          <p:cNvPr id="33" name="Text 31"/>
          <p:cNvSpPr/>
          <p:nvPr/>
        </p:nvSpPr>
        <p:spPr>
          <a:xfrm>
            <a:off x="1444752" y="5047488"/>
            <a:ext cx="4343400" cy="411480"/>
          </a:xfrm>
          <a:prstGeom prst="rect">
            <a:avLst/>
          </a:prstGeom>
          <a:noFill/>
          <a:ln/>
        </p:spPr>
        <p:txBody>
          <a:bodyPr wrap="square" lIns="0" tIns="0" rIns="0" bIns="0" rtlCol="0" anchor="t"/>
          <a:lstStyle/>
          <a:p>
            <a:pPr indent="0" marL="0">
              <a:lnSpc>
                <a:spcPts val="1500"/>
              </a:lnSpc>
              <a:buNone/>
            </a:pPr>
            <a:r>
              <a:rPr lang="en-US" sz="1150" dirty="0">
                <a:solidFill>
                  <a:srgbClr val="6B7784"/>
                </a:solidFill>
                <a:latin typeface="Calibri" pitchFamily="34" charset="0"/>
                <a:ea typeface="Calibri" pitchFamily="34" charset="-122"/>
                <a:cs typeface="Calibri" pitchFamily="34" charset="-120"/>
              </a:rPr>
              <a:t>Worst case assumes the costlier branch.</a:t>
            </a:r>
            <a:endParaRPr lang="en-US" sz="1150" dirty="0"/>
          </a:p>
        </p:txBody>
      </p:sp>
      <p:sp>
        <p:nvSpPr>
          <p:cNvPr id="34" name="Shape 32"/>
          <p:cNvSpPr/>
          <p:nvPr/>
        </p:nvSpPr>
        <p:spPr>
          <a:xfrm>
            <a:off x="6245352" y="4261104"/>
            <a:ext cx="5303520" cy="1298448"/>
          </a:xfrm>
          <a:prstGeom prst="roundRect">
            <a:avLst>
              <a:gd name="adj" fmla="val 4225"/>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35" name="Shape 33"/>
          <p:cNvSpPr/>
          <p:nvPr/>
        </p:nvSpPr>
        <p:spPr>
          <a:xfrm>
            <a:off x="6501384" y="4517136"/>
            <a:ext cx="420624" cy="420624"/>
          </a:xfrm>
          <a:prstGeom prst="ellipse">
            <a:avLst/>
          </a:prstGeom>
          <a:solidFill>
            <a:srgbClr val="0E7C86"/>
          </a:solidFill>
          <a:ln/>
        </p:spPr>
      </p:sp>
      <p:sp>
        <p:nvSpPr>
          <p:cNvPr id="36" name="Text 34"/>
          <p:cNvSpPr/>
          <p:nvPr/>
        </p:nvSpPr>
        <p:spPr>
          <a:xfrm>
            <a:off x="6501384" y="451713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7" name="Text 35"/>
          <p:cNvSpPr/>
          <p:nvPr/>
        </p:nvSpPr>
        <p:spPr>
          <a:xfrm>
            <a:off x="7050024" y="4443984"/>
            <a:ext cx="4297680" cy="274320"/>
          </a:xfrm>
          <a:prstGeom prst="rect">
            <a:avLst/>
          </a:prstGeom>
          <a:noFill/>
          <a:ln/>
        </p:spPr>
        <p:txBody>
          <a:bodyPr wrap="square" lIns="0" tIns="0" rIns="0" bIns="0" rtlCol="0" anchor="t"/>
          <a:lstStyle/>
          <a:p>
            <a:pPr indent="0" marL="0">
              <a:buNone/>
            </a:pPr>
            <a:r>
              <a:rPr lang="en-US" sz="1550" b="1" dirty="0">
                <a:solidFill>
                  <a:srgbClr val="12161C"/>
                </a:solidFill>
                <a:latin typeface="Cambria" pitchFamily="34" charset="0"/>
                <a:ea typeface="Cambria" pitchFamily="34" charset="-122"/>
                <a:cs typeface="Cambria" pitchFamily="34" charset="-120"/>
              </a:rPr>
              <a:t>Halving loops</a:t>
            </a:r>
            <a:endParaRPr lang="en-US" sz="1550" dirty="0"/>
          </a:p>
        </p:txBody>
      </p:sp>
      <p:sp>
        <p:nvSpPr>
          <p:cNvPr id="38" name="Text 36"/>
          <p:cNvSpPr/>
          <p:nvPr/>
        </p:nvSpPr>
        <p:spPr>
          <a:xfrm>
            <a:off x="7050024" y="4754880"/>
            <a:ext cx="4297680" cy="256032"/>
          </a:xfrm>
          <a:prstGeom prst="rect">
            <a:avLst/>
          </a:prstGeom>
          <a:noFill/>
          <a:ln/>
        </p:spPr>
        <p:txBody>
          <a:bodyPr wrap="square" lIns="0" tIns="0" rIns="0" bIns="0" rtlCol="0" anchor="t"/>
          <a:lstStyle/>
          <a:p>
            <a:pPr indent="0" marL="0">
              <a:buNone/>
            </a:pPr>
            <a:r>
              <a:rPr lang="en-US" sz="1200" b="1" dirty="0">
                <a:solidFill>
                  <a:srgbClr val="A85F0C"/>
                </a:solidFill>
                <a:latin typeface="Courier New" pitchFamily="34" charset="0"/>
                <a:ea typeface="Courier New" pitchFamily="34" charset="-122"/>
                <a:cs typeface="Courier New" pitchFamily="34" charset="-120"/>
              </a:rPr>
              <a:t>i := i × 2 → O(log n)</a:t>
            </a:r>
            <a:endParaRPr lang="en-US" sz="1200" dirty="0"/>
          </a:p>
        </p:txBody>
      </p:sp>
      <p:sp>
        <p:nvSpPr>
          <p:cNvPr id="39" name="Text 37"/>
          <p:cNvSpPr/>
          <p:nvPr/>
        </p:nvSpPr>
        <p:spPr>
          <a:xfrm>
            <a:off x="7050024" y="5047488"/>
            <a:ext cx="4343400" cy="411480"/>
          </a:xfrm>
          <a:prstGeom prst="rect">
            <a:avLst/>
          </a:prstGeom>
          <a:noFill/>
          <a:ln/>
        </p:spPr>
        <p:txBody>
          <a:bodyPr wrap="square" lIns="0" tIns="0" rIns="0" bIns="0" rtlCol="0" anchor="t"/>
          <a:lstStyle/>
          <a:p>
            <a:pPr indent="0" marL="0">
              <a:lnSpc>
                <a:spcPts val="1500"/>
              </a:lnSpc>
              <a:buNone/>
            </a:pPr>
            <a:r>
              <a:rPr lang="en-US" sz="1150" dirty="0">
                <a:solidFill>
                  <a:srgbClr val="6B7784"/>
                </a:solidFill>
                <a:latin typeface="Calibri" pitchFamily="34" charset="0"/>
                <a:ea typeface="Calibri" pitchFamily="34" charset="-122"/>
                <a:cs typeface="Calibri" pitchFamily="34" charset="-120"/>
              </a:rPr>
              <a:t>The counter reaches n after log₂ n doublings.</a:t>
            </a:r>
            <a:endParaRPr lang="en-US" sz="1150" dirty="0"/>
          </a:p>
        </p:txBody>
      </p:sp>
      <p:sp>
        <p:nvSpPr>
          <p:cNvPr id="40" name="Text 38"/>
          <p:cNvSpPr/>
          <p:nvPr/>
        </p:nvSpPr>
        <p:spPr>
          <a:xfrm>
            <a:off x="640080" y="5806440"/>
            <a:ext cx="10881360" cy="274320"/>
          </a:xfrm>
          <a:prstGeom prst="rect">
            <a:avLst/>
          </a:prstGeom>
          <a:noFill/>
          <a:ln/>
        </p:spPr>
        <p:txBody>
          <a:bodyPr wrap="square" lIns="0" tIns="0" rIns="0" bIns="0" rtlCol="0" anchor="t"/>
          <a:lstStyle/>
          <a:p>
            <a:pPr indent="0" marL="0">
              <a:buNone/>
            </a:pPr>
            <a:r>
              <a:rPr lang="en-US" sz="1200" i="1" dirty="0">
                <a:solidFill>
                  <a:srgbClr val="6B7784"/>
                </a:solidFill>
                <a:latin typeface="Calibri" pitchFamily="34" charset="0"/>
                <a:ea typeface="Calibri" pitchFamily="34" charset="-122"/>
                <a:cs typeface="Calibri" pitchFamily="34" charset="-120"/>
              </a:rPr>
              <a:t>Apply them in order: count the innermost statement, multiply through the nesting, add the blocks, then simplify.</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APPLYING IT</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Four small programs, four complexity classes</a:t>
            </a:r>
            <a:endParaRPr lang="en-US" sz="3000" dirty="0"/>
          </a:p>
        </p:txBody>
      </p:sp>
      <p:sp>
        <p:nvSpPr>
          <p:cNvPr id="4" name="Shape 2"/>
          <p:cNvSpPr/>
          <p:nvPr/>
        </p:nvSpPr>
        <p:spPr>
          <a:xfrm>
            <a:off x="640080" y="1298448"/>
            <a:ext cx="5303520" cy="2084832"/>
          </a:xfrm>
          <a:prstGeom prst="roundRect">
            <a:avLst>
              <a:gd name="adj" fmla="val 2632"/>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5" name="Text 3"/>
          <p:cNvSpPr/>
          <p:nvPr/>
        </p:nvSpPr>
        <p:spPr>
          <a:xfrm>
            <a:off x="914400" y="1463040"/>
            <a:ext cx="2743200" cy="274320"/>
          </a:xfrm>
          <a:prstGeom prst="rect">
            <a:avLst/>
          </a:prstGeom>
          <a:noFill/>
          <a:ln/>
        </p:spPr>
        <p:txBody>
          <a:bodyPr wrap="square" lIns="0" tIns="0" rIns="0" bIns="0" rtlCol="0" anchor="t"/>
          <a:lstStyle/>
          <a:p>
            <a:pPr indent="0" marL="0">
              <a:buNone/>
            </a:pPr>
            <a:r>
              <a:rPr lang="en-US" sz="1550" b="1" dirty="0">
                <a:solidFill>
                  <a:srgbClr val="2E7D5B"/>
                </a:solidFill>
                <a:latin typeface="Cambria" pitchFamily="34" charset="0"/>
                <a:ea typeface="Cambria" pitchFamily="34" charset="-122"/>
                <a:cs typeface="Cambria" pitchFamily="34" charset="-120"/>
              </a:rPr>
              <a:t>O(1) — constant</a:t>
            </a:r>
            <a:endParaRPr lang="en-US" sz="1550" dirty="0"/>
          </a:p>
        </p:txBody>
      </p:sp>
      <p:sp>
        <p:nvSpPr>
          <p:cNvPr id="6" name="Shape 4"/>
          <p:cNvSpPr/>
          <p:nvPr/>
        </p:nvSpPr>
        <p:spPr>
          <a:xfrm>
            <a:off x="3639312" y="1463040"/>
            <a:ext cx="2121408" cy="1024128"/>
          </a:xfrm>
          <a:prstGeom prst="roundRect">
            <a:avLst>
              <a:gd name="adj" fmla="val 4464"/>
            </a:avLst>
          </a:prstGeom>
          <a:solidFill>
            <a:srgbClr val="171C24"/>
          </a:solidFill>
          <a:ln/>
          <a:effectLst>
            <a:outerShdw sx="100000" sy="100000" kx="0" ky="0" algn="bl" rotWithShape="0" blurRad="101600" dist="25400" dir="5400000">
              <a:srgbClr val="9AA6B2">
                <a:alpha val="30000"/>
              </a:srgbClr>
            </a:outerShdw>
          </a:effectLst>
        </p:spPr>
      </p:sp>
      <p:sp>
        <p:nvSpPr>
          <p:cNvPr id="7" name="Text 5"/>
          <p:cNvSpPr/>
          <p:nvPr/>
        </p:nvSpPr>
        <p:spPr>
          <a:xfrm>
            <a:off x="3803904" y="1591056"/>
            <a:ext cx="1792224" cy="768096"/>
          </a:xfrm>
          <a:prstGeom prst="rect">
            <a:avLst/>
          </a:prstGeom>
          <a:noFill/>
          <a:ln/>
        </p:spPr>
        <p:txBody>
          <a:bodyPr wrap="square" lIns="0" tIns="0" rIns="0" bIns="0" rtlCol="0" anchor="t"/>
          <a:lstStyle/>
          <a:p>
            <a:pPr indent="0" marL="0">
              <a:lnSpc>
                <a:spcPts val="1206"/>
              </a:lnSpc>
              <a:buNone/>
            </a:pPr>
            <a:r>
              <a:rPr lang="en-US" sz="900" b="1" dirty="0">
                <a:solidFill>
                  <a:srgbClr val="E8871E"/>
                </a:solidFill>
                <a:latin typeface="Courier New" pitchFamily="34" charset="0"/>
                <a:ea typeface="Courier New" pitchFamily="34" charset="-122"/>
                <a:cs typeface="Courier New" pitchFamily="34" charset="-120"/>
              </a:rPr>
              <a:t>Algorithm</a:t>
            </a:r>
            <a:pPr indent="0" marL="0">
              <a:lnSpc>
                <a:spcPts val="1206"/>
              </a:lnSpc>
              <a:buNone/>
            </a:pPr>
            <a:r>
              <a:rPr lang="en-US" sz="900" dirty="0">
                <a:solidFill>
                  <a:srgbClr val="E6EAF0"/>
                </a:solidFill>
                <a:latin typeface="Courier New" pitchFamily="34" charset="0"/>
                <a:ea typeface="Courier New" pitchFamily="34" charset="-122"/>
                <a:cs typeface="Courier New" pitchFamily="34" charset="-120"/>
              </a:rPr>
              <a:t> First(a, n)</a:t>
            </a:r>
            <a:endParaRPr lang="en-US" sz="900" dirty="0"/>
          </a:p>
          <a:p>
            <a:pPr indent="0" marL="0">
              <a:lnSpc>
                <a:spcPts val="1206"/>
              </a:lnSpc>
              <a:buNone/>
            </a:pPr>
            <a:r>
              <a:rPr lang="en-US" sz="900" dirty="0">
                <a:solidFill>
                  <a:srgbClr val="E6EAF0"/>
                </a:solidFill>
                <a:latin typeface="Courier New" pitchFamily="34" charset="0"/>
                <a:ea typeface="Courier New" pitchFamily="34" charset="-122"/>
                <a:cs typeface="Courier New" pitchFamily="34" charset="-120"/>
              </a:rPr>
              <a:t>{</a:t>
            </a:r>
            <a:endParaRPr lang="en-US" sz="900" dirty="0"/>
          </a:p>
          <a:p>
            <a:pPr indent="0" marL="0">
              <a:lnSpc>
                <a:spcPts val="1206"/>
              </a:lnSpc>
              <a:buNone/>
            </a:pPr>
            <a:r>
              <a:rPr lang="en-US" sz="900" dirty="0">
                <a:solidFill>
                  <a:srgbClr val="E6EAF0"/>
                </a:solidFill>
                <a:latin typeface="Courier New" pitchFamily="34" charset="0"/>
                <a:ea typeface="Courier New" pitchFamily="34" charset="-122"/>
                <a:cs typeface="Courier New" pitchFamily="34" charset="-120"/>
              </a:rPr>
              <a:t>   </a:t>
            </a:r>
            <a:pPr indent="0" marL="0">
              <a:lnSpc>
                <a:spcPts val="1206"/>
              </a:lnSpc>
              <a:buNone/>
            </a:pPr>
            <a:r>
              <a:rPr lang="en-US" sz="900" b="1" dirty="0">
                <a:solidFill>
                  <a:srgbClr val="E8871E"/>
                </a:solidFill>
                <a:latin typeface="Courier New" pitchFamily="34" charset="0"/>
                <a:ea typeface="Courier New" pitchFamily="34" charset="-122"/>
                <a:cs typeface="Courier New" pitchFamily="34" charset="-120"/>
              </a:rPr>
              <a:t>return</a:t>
            </a:r>
            <a:pPr indent="0" marL="0">
              <a:lnSpc>
                <a:spcPts val="1206"/>
              </a:lnSpc>
              <a:buNone/>
            </a:pPr>
            <a:r>
              <a:rPr lang="en-US" sz="900" dirty="0">
                <a:solidFill>
                  <a:srgbClr val="E6EAF0"/>
                </a:solidFill>
                <a:latin typeface="Courier New" pitchFamily="34" charset="0"/>
                <a:ea typeface="Courier New" pitchFamily="34" charset="-122"/>
                <a:cs typeface="Courier New" pitchFamily="34" charset="-120"/>
              </a:rPr>
              <a:t> a[1];</a:t>
            </a:r>
            <a:endParaRPr lang="en-US" sz="900" dirty="0"/>
          </a:p>
          <a:p>
            <a:pPr indent="0" marL="0">
              <a:lnSpc>
                <a:spcPts val="1206"/>
              </a:lnSpc>
              <a:buNone/>
            </a:pPr>
            <a:r>
              <a:rPr lang="en-US" sz="900" dirty="0">
                <a:solidFill>
                  <a:srgbClr val="E6EAF0"/>
                </a:solidFill>
                <a:latin typeface="Courier New" pitchFamily="34" charset="0"/>
                <a:ea typeface="Courier New" pitchFamily="34" charset="-122"/>
                <a:cs typeface="Courier New" pitchFamily="34" charset="-120"/>
              </a:rPr>
              <a:t>}</a:t>
            </a:r>
            <a:endParaRPr lang="en-US" sz="900" dirty="0"/>
          </a:p>
        </p:txBody>
      </p:sp>
      <p:sp>
        <p:nvSpPr>
          <p:cNvPr id="8" name="Text 6"/>
          <p:cNvSpPr/>
          <p:nvPr/>
        </p:nvSpPr>
        <p:spPr>
          <a:xfrm>
            <a:off x="914400" y="1865376"/>
            <a:ext cx="2697480" cy="914400"/>
          </a:xfrm>
          <a:prstGeom prst="rect">
            <a:avLst/>
          </a:prstGeom>
          <a:noFill/>
          <a:ln/>
        </p:spPr>
        <p:txBody>
          <a:bodyPr wrap="square" lIns="0" tIns="0" rIns="0" bIns="0" rtlCol="0" anchor="t"/>
          <a:lstStyle/>
          <a:p>
            <a:pPr indent="0" marL="0">
              <a:lnSpc>
                <a:spcPts val="1600"/>
              </a:lnSpc>
              <a:buNone/>
            </a:pPr>
            <a:r>
              <a:rPr lang="en-US" sz="1200" dirty="0">
                <a:solidFill>
                  <a:srgbClr val="6B7784"/>
                </a:solidFill>
                <a:latin typeface="Calibri" pitchFamily="34" charset="0"/>
                <a:ea typeface="Calibri" pitchFamily="34" charset="-122"/>
                <a:cs typeface="Calibri" pitchFamily="34" charset="-120"/>
              </a:rPr>
              <a:t>No loop. One access, whatever n is.</a:t>
            </a:r>
            <a:endParaRPr lang="en-US" sz="1200" dirty="0"/>
          </a:p>
        </p:txBody>
      </p:sp>
      <p:sp>
        <p:nvSpPr>
          <p:cNvPr id="9" name="Shape 7"/>
          <p:cNvSpPr/>
          <p:nvPr/>
        </p:nvSpPr>
        <p:spPr>
          <a:xfrm>
            <a:off x="914400" y="2779776"/>
            <a:ext cx="4754880" cy="438912"/>
          </a:xfrm>
          <a:prstGeom prst="roundRect">
            <a:avLst>
              <a:gd name="adj" fmla="val 10417"/>
            </a:avLst>
          </a:prstGeom>
          <a:solidFill>
            <a:srgbClr val="F4F6F8"/>
          </a:solidFill>
          <a:ln/>
        </p:spPr>
      </p:sp>
      <p:sp>
        <p:nvSpPr>
          <p:cNvPr id="10" name="Text 8"/>
          <p:cNvSpPr/>
          <p:nvPr/>
        </p:nvSpPr>
        <p:spPr>
          <a:xfrm>
            <a:off x="1060704" y="2779776"/>
            <a:ext cx="4480560" cy="438912"/>
          </a:xfrm>
          <a:prstGeom prst="rect">
            <a:avLst/>
          </a:prstGeom>
          <a:noFill/>
          <a:ln/>
        </p:spPr>
        <p:txBody>
          <a:bodyPr wrap="square" lIns="0" tIns="0" rIns="0" bIns="0" rtlCol="0" anchor="ctr"/>
          <a:lstStyle/>
          <a:p>
            <a:pPr indent="0" marL="0">
              <a:buNone/>
            </a:pPr>
            <a:r>
              <a:rPr lang="en-US" sz="1150" dirty="0">
                <a:solidFill>
                  <a:srgbClr val="3A4551"/>
                </a:solidFill>
                <a:latin typeface="Calibri" pitchFamily="34" charset="0"/>
                <a:ea typeface="Calibri" pitchFamily="34" charset="-122"/>
                <a:cs typeface="Calibri" pitchFamily="34" charset="-120"/>
              </a:rPr>
              <a:t>Statement executed most often: 1 time</a:t>
            </a:r>
            <a:endParaRPr lang="en-US" sz="1150" dirty="0"/>
          </a:p>
        </p:txBody>
      </p:sp>
      <p:sp>
        <p:nvSpPr>
          <p:cNvPr id="11" name="Shape 9"/>
          <p:cNvSpPr/>
          <p:nvPr/>
        </p:nvSpPr>
        <p:spPr>
          <a:xfrm>
            <a:off x="6245352" y="1298448"/>
            <a:ext cx="5303520" cy="2084832"/>
          </a:xfrm>
          <a:prstGeom prst="roundRect">
            <a:avLst>
              <a:gd name="adj" fmla="val 2632"/>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12" name="Text 10"/>
          <p:cNvSpPr/>
          <p:nvPr/>
        </p:nvSpPr>
        <p:spPr>
          <a:xfrm>
            <a:off x="6519672" y="1463040"/>
            <a:ext cx="2743200" cy="274320"/>
          </a:xfrm>
          <a:prstGeom prst="rect">
            <a:avLst/>
          </a:prstGeom>
          <a:noFill/>
          <a:ln/>
        </p:spPr>
        <p:txBody>
          <a:bodyPr wrap="square" lIns="0" tIns="0" rIns="0" bIns="0" rtlCol="0" anchor="t"/>
          <a:lstStyle/>
          <a:p>
            <a:pPr indent="0" marL="0">
              <a:buNone/>
            </a:pPr>
            <a:r>
              <a:rPr lang="en-US" sz="1550" b="1" dirty="0">
                <a:solidFill>
                  <a:srgbClr val="0E7C86"/>
                </a:solidFill>
                <a:latin typeface="Cambria" pitchFamily="34" charset="0"/>
                <a:ea typeface="Cambria" pitchFamily="34" charset="-122"/>
                <a:cs typeface="Cambria" pitchFamily="34" charset="-120"/>
              </a:rPr>
              <a:t>O(log n) — logarithmic</a:t>
            </a:r>
            <a:endParaRPr lang="en-US" sz="1550" dirty="0"/>
          </a:p>
        </p:txBody>
      </p:sp>
      <p:sp>
        <p:nvSpPr>
          <p:cNvPr id="13" name="Shape 11"/>
          <p:cNvSpPr/>
          <p:nvPr/>
        </p:nvSpPr>
        <p:spPr>
          <a:xfrm>
            <a:off x="9244584" y="1463040"/>
            <a:ext cx="2121408" cy="1024128"/>
          </a:xfrm>
          <a:prstGeom prst="roundRect">
            <a:avLst>
              <a:gd name="adj" fmla="val 4464"/>
            </a:avLst>
          </a:prstGeom>
          <a:solidFill>
            <a:srgbClr val="171C24"/>
          </a:solidFill>
          <a:ln/>
          <a:effectLst>
            <a:outerShdw sx="100000" sy="100000" kx="0" ky="0" algn="bl" rotWithShape="0" blurRad="101600" dist="25400" dir="5400000">
              <a:srgbClr val="9AA6B2">
                <a:alpha val="30000"/>
              </a:srgbClr>
            </a:outerShdw>
          </a:effectLst>
        </p:spPr>
      </p:sp>
      <p:sp>
        <p:nvSpPr>
          <p:cNvPr id="14" name="Text 12"/>
          <p:cNvSpPr/>
          <p:nvPr/>
        </p:nvSpPr>
        <p:spPr>
          <a:xfrm>
            <a:off x="9409176" y="1591056"/>
            <a:ext cx="1792224" cy="768096"/>
          </a:xfrm>
          <a:prstGeom prst="rect">
            <a:avLst/>
          </a:prstGeom>
          <a:noFill/>
          <a:ln/>
        </p:spPr>
        <p:txBody>
          <a:bodyPr wrap="square" lIns="0" tIns="0" rIns="0" bIns="0" rtlCol="0" anchor="t"/>
          <a:lstStyle/>
          <a:p>
            <a:pPr indent="0" marL="0">
              <a:lnSpc>
                <a:spcPts val="1206"/>
              </a:lnSpc>
              <a:buNone/>
            </a:pPr>
            <a:r>
              <a:rPr lang="en-US" sz="900" dirty="0">
                <a:solidFill>
                  <a:srgbClr val="E6EAF0"/>
                </a:solidFill>
                <a:latin typeface="Courier New" pitchFamily="34" charset="0"/>
                <a:ea typeface="Courier New" pitchFamily="34" charset="-122"/>
                <a:cs typeface="Courier New" pitchFamily="34" charset="-120"/>
              </a:rPr>
              <a:t>i := 1;</a:t>
            </a:r>
            <a:endParaRPr lang="en-US" sz="900" dirty="0"/>
          </a:p>
          <a:p>
            <a:pPr indent="0" marL="0">
              <a:lnSpc>
                <a:spcPts val="1206"/>
              </a:lnSpc>
              <a:buNone/>
            </a:pPr>
            <a:r>
              <a:rPr lang="en-US" sz="900" b="1" dirty="0">
                <a:solidFill>
                  <a:srgbClr val="E8871E"/>
                </a:solidFill>
                <a:latin typeface="Courier New" pitchFamily="34" charset="0"/>
                <a:ea typeface="Courier New" pitchFamily="34" charset="-122"/>
                <a:cs typeface="Courier New" pitchFamily="34" charset="-120"/>
              </a:rPr>
              <a:t>while</a:t>
            </a:r>
            <a:pPr indent="0" marL="0">
              <a:lnSpc>
                <a:spcPts val="1206"/>
              </a:lnSpc>
              <a:buNone/>
            </a:pPr>
            <a:r>
              <a:rPr lang="en-US" sz="900" dirty="0">
                <a:solidFill>
                  <a:srgbClr val="E6EAF0"/>
                </a:solidFill>
                <a:latin typeface="Courier New" pitchFamily="34" charset="0"/>
                <a:ea typeface="Courier New" pitchFamily="34" charset="-122"/>
                <a:cs typeface="Courier New" pitchFamily="34" charset="-120"/>
              </a:rPr>
              <a:t> i &lt; n </a:t>
            </a:r>
            <a:pPr indent="0" marL="0">
              <a:lnSpc>
                <a:spcPts val="1206"/>
              </a:lnSpc>
              <a:buNone/>
            </a:pPr>
            <a:r>
              <a:rPr lang="en-US" sz="900" b="1" dirty="0">
                <a:solidFill>
                  <a:srgbClr val="E8871E"/>
                </a:solidFill>
                <a:latin typeface="Courier New" pitchFamily="34" charset="0"/>
                <a:ea typeface="Courier New" pitchFamily="34" charset="-122"/>
                <a:cs typeface="Courier New" pitchFamily="34" charset="-120"/>
              </a:rPr>
              <a:t>do</a:t>
            </a:r>
            <a:endParaRPr lang="en-US" sz="900" dirty="0"/>
          </a:p>
          <a:p>
            <a:pPr indent="0" marL="0">
              <a:lnSpc>
                <a:spcPts val="1206"/>
              </a:lnSpc>
              <a:buNone/>
            </a:pPr>
            <a:r>
              <a:rPr lang="en-US" sz="900" dirty="0">
                <a:solidFill>
                  <a:srgbClr val="E6EAF0"/>
                </a:solidFill>
                <a:latin typeface="Courier New" pitchFamily="34" charset="0"/>
                <a:ea typeface="Courier New" pitchFamily="34" charset="-122"/>
                <a:cs typeface="Courier New" pitchFamily="34" charset="-120"/>
              </a:rPr>
              <a:t>   i := i × 2;</a:t>
            </a:r>
            <a:endParaRPr lang="en-US" sz="900" dirty="0"/>
          </a:p>
          <a:p>
            <a:pPr indent="0" marL="0">
              <a:lnSpc>
                <a:spcPts val="1206"/>
              </a:lnSpc>
              <a:buNone/>
            </a:pPr>
            <a:r>
              <a:rPr lang="en-US" sz="900" i="1" dirty="0">
                <a:solidFill>
                  <a:srgbClr val="7C8798"/>
                </a:solidFill>
                <a:latin typeface="Courier New" pitchFamily="34" charset="0"/>
                <a:ea typeface="Courier New" pitchFamily="34" charset="-122"/>
                <a:cs typeface="Courier New" pitchFamily="34" charset="-120"/>
              </a:rPr>
              <a:t>// i: 1, 2, 4, 8, …, n</a:t>
            </a:r>
            <a:endParaRPr lang="en-US" sz="900" dirty="0"/>
          </a:p>
        </p:txBody>
      </p:sp>
      <p:sp>
        <p:nvSpPr>
          <p:cNvPr id="15" name="Text 13"/>
          <p:cNvSpPr/>
          <p:nvPr/>
        </p:nvSpPr>
        <p:spPr>
          <a:xfrm>
            <a:off x="6519672" y="1865376"/>
            <a:ext cx="2697480" cy="914400"/>
          </a:xfrm>
          <a:prstGeom prst="rect">
            <a:avLst/>
          </a:prstGeom>
          <a:noFill/>
          <a:ln/>
        </p:spPr>
        <p:txBody>
          <a:bodyPr wrap="square" lIns="0" tIns="0" rIns="0" bIns="0" rtlCol="0" anchor="t"/>
          <a:lstStyle/>
          <a:p>
            <a:pPr indent="0" marL="0">
              <a:lnSpc>
                <a:spcPts val="1600"/>
              </a:lnSpc>
              <a:buNone/>
            </a:pPr>
            <a:r>
              <a:rPr lang="en-US" sz="1200" dirty="0">
                <a:solidFill>
                  <a:srgbClr val="6B7784"/>
                </a:solidFill>
                <a:latin typeface="Calibri" pitchFamily="34" charset="0"/>
                <a:ea typeface="Calibri" pitchFamily="34" charset="-122"/>
                <a:cs typeface="Calibri" pitchFamily="34" charset="-120"/>
              </a:rPr>
              <a:t>The counter doubles, so it reaches n in log₂ n steps.</a:t>
            </a:r>
            <a:endParaRPr lang="en-US" sz="1200" dirty="0"/>
          </a:p>
        </p:txBody>
      </p:sp>
      <p:sp>
        <p:nvSpPr>
          <p:cNvPr id="16" name="Shape 14"/>
          <p:cNvSpPr/>
          <p:nvPr/>
        </p:nvSpPr>
        <p:spPr>
          <a:xfrm>
            <a:off x="6519672" y="2779776"/>
            <a:ext cx="4754880" cy="438912"/>
          </a:xfrm>
          <a:prstGeom prst="roundRect">
            <a:avLst>
              <a:gd name="adj" fmla="val 10417"/>
            </a:avLst>
          </a:prstGeom>
          <a:solidFill>
            <a:srgbClr val="F4F6F8"/>
          </a:solidFill>
          <a:ln/>
        </p:spPr>
      </p:sp>
      <p:sp>
        <p:nvSpPr>
          <p:cNvPr id="17" name="Text 15"/>
          <p:cNvSpPr/>
          <p:nvPr/>
        </p:nvSpPr>
        <p:spPr>
          <a:xfrm>
            <a:off x="6665976" y="2779776"/>
            <a:ext cx="4480560" cy="438912"/>
          </a:xfrm>
          <a:prstGeom prst="rect">
            <a:avLst/>
          </a:prstGeom>
          <a:noFill/>
          <a:ln/>
        </p:spPr>
        <p:txBody>
          <a:bodyPr wrap="square" lIns="0" tIns="0" rIns="0" bIns="0" rtlCol="0" anchor="ctr"/>
          <a:lstStyle/>
          <a:p>
            <a:pPr indent="0" marL="0">
              <a:buNone/>
            </a:pPr>
            <a:r>
              <a:rPr lang="en-US" sz="1150" dirty="0">
                <a:solidFill>
                  <a:srgbClr val="3A4551"/>
                </a:solidFill>
                <a:latin typeface="Calibri" pitchFamily="34" charset="0"/>
                <a:ea typeface="Calibri" pitchFamily="34" charset="-122"/>
                <a:cs typeface="Calibri" pitchFamily="34" charset="-120"/>
              </a:rPr>
              <a:t>Statement executed most often: log₂ n times</a:t>
            </a:r>
            <a:endParaRPr lang="en-US" sz="1150" dirty="0"/>
          </a:p>
        </p:txBody>
      </p:sp>
      <p:sp>
        <p:nvSpPr>
          <p:cNvPr id="18" name="Shape 16"/>
          <p:cNvSpPr/>
          <p:nvPr/>
        </p:nvSpPr>
        <p:spPr>
          <a:xfrm>
            <a:off x="640080" y="3584448"/>
            <a:ext cx="5303520" cy="2084832"/>
          </a:xfrm>
          <a:prstGeom prst="roundRect">
            <a:avLst>
              <a:gd name="adj" fmla="val 2632"/>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19" name="Text 17"/>
          <p:cNvSpPr/>
          <p:nvPr/>
        </p:nvSpPr>
        <p:spPr>
          <a:xfrm>
            <a:off x="914400" y="3749040"/>
            <a:ext cx="2743200" cy="274320"/>
          </a:xfrm>
          <a:prstGeom prst="rect">
            <a:avLst/>
          </a:prstGeom>
          <a:noFill/>
          <a:ln/>
        </p:spPr>
        <p:txBody>
          <a:bodyPr wrap="square" lIns="0" tIns="0" rIns="0" bIns="0" rtlCol="0" anchor="t"/>
          <a:lstStyle/>
          <a:p>
            <a:pPr indent="0" marL="0">
              <a:buNone/>
            </a:pPr>
            <a:r>
              <a:rPr lang="en-US" sz="1550" b="1" dirty="0">
                <a:solidFill>
                  <a:srgbClr val="A85F0C"/>
                </a:solidFill>
                <a:latin typeface="Cambria" pitchFamily="34" charset="0"/>
                <a:ea typeface="Cambria" pitchFamily="34" charset="-122"/>
                <a:cs typeface="Cambria" pitchFamily="34" charset="-120"/>
              </a:rPr>
              <a:t>O(n) — linear</a:t>
            </a:r>
            <a:endParaRPr lang="en-US" sz="1550" dirty="0"/>
          </a:p>
        </p:txBody>
      </p:sp>
      <p:sp>
        <p:nvSpPr>
          <p:cNvPr id="20" name="Shape 18"/>
          <p:cNvSpPr/>
          <p:nvPr/>
        </p:nvSpPr>
        <p:spPr>
          <a:xfrm>
            <a:off x="3639312" y="3749040"/>
            <a:ext cx="2121408" cy="1024128"/>
          </a:xfrm>
          <a:prstGeom prst="roundRect">
            <a:avLst>
              <a:gd name="adj" fmla="val 4464"/>
            </a:avLst>
          </a:prstGeom>
          <a:solidFill>
            <a:srgbClr val="171C24"/>
          </a:solidFill>
          <a:ln/>
          <a:effectLst>
            <a:outerShdw sx="100000" sy="100000" kx="0" ky="0" algn="bl" rotWithShape="0" blurRad="101600" dist="25400" dir="5400000">
              <a:srgbClr val="9AA6B2">
                <a:alpha val="30000"/>
              </a:srgbClr>
            </a:outerShdw>
          </a:effectLst>
        </p:spPr>
      </p:sp>
      <p:sp>
        <p:nvSpPr>
          <p:cNvPr id="21" name="Text 19"/>
          <p:cNvSpPr/>
          <p:nvPr/>
        </p:nvSpPr>
        <p:spPr>
          <a:xfrm>
            <a:off x="3803904" y="3877056"/>
            <a:ext cx="1792224" cy="768096"/>
          </a:xfrm>
          <a:prstGeom prst="rect">
            <a:avLst/>
          </a:prstGeom>
          <a:noFill/>
          <a:ln/>
        </p:spPr>
        <p:txBody>
          <a:bodyPr wrap="square" lIns="0" tIns="0" rIns="0" bIns="0" rtlCol="0" anchor="t"/>
          <a:lstStyle/>
          <a:p>
            <a:pPr indent="0" marL="0">
              <a:lnSpc>
                <a:spcPts val="1206"/>
              </a:lnSpc>
              <a:buNone/>
            </a:pPr>
            <a:r>
              <a:rPr lang="en-US" sz="900" dirty="0">
                <a:solidFill>
                  <a:srgbClr val="E6EAF0"/>
                </a:solidFill>
                <a:latin typeface="Courier New" pitchFamily="34" charset="0"/>
                <a:ea typeface="Courier New" pitchFamily="34" charset="-122"/>
                <a:cs typeface="Courier New" pitchFamily="34" charset="-120"/>
              </a:rPr>
              <a:t>max := a[1];</a:t>
            </a:r>
            <a:endParaRPr lang="en-US" sz="900" dirty="0"/>
          </a:p>
          <a:p>
            <a:pPr indent="0" marL="0">
              <a:lnSpc>
                <a:spcPts val="1206"/>
              </a:lnSpc>
              <a:buNone/>
            </a:pPr>
            <a:r>
              <a:rPr lang="en-US" sz="900" b="1" dirty="0">
                <a:solidFill>
                  <a:srgbClr val="E8871E"/>
                </a:solidFill>
                <a:latin typeface="Courier New" pitchFamily="34" charset="0"/>
                <a:ea typeface="Courier New" pitchFamily="34" charset="-122"/>
                <a:cs typeface="Courier New" pitchFamily="34" charset="-120"/>
              </a:rPr>
              <a:t>for</a:t>
            </a:r>
            <a:pPr indent="0" marL="0">
              <a:lnSpc>
                <a:spcPts val="1206"/>
              </a:lnSpc>
              <a:buNone/>
            </a:pPr>
            <a:r>
              <a:rPr lang="en-US" sz="900" dirty="0">
                <a:solidFill>
                  <a:srgbClr val="E6EAF0"/>
                </a:solidFill>
                <a:latin typeface="Courier New" pitchFamily="34" charset="0"/>
                <a:ea typeface="Courier New" pitchFamily="34" charset="-122"/>
                <a:cs typeface="Courier New" pitchFamily="34" charset="-120"/>
              </a:rPr>
              <a:t> i := 2 to n </a:t>
            </a:r>
            <a:pPr indent="0" marL="0">
              <a:lnSpc>
                <a:spcPts val="1206"/>
              </a:lnSpc>
              <a:buNone/>
            </a:pPr>
            <a:r>
              <a:rPr lang="en-US" sz="900" b="1" dirty="0">
                <a:solidFill>
                  <a:srgbClr val="E8871E"/>
                </a:solidFill>
                <a:latin typeface="Courier New" pitchFamily="34" charset="0"/>
                <a:ea typeface="Courier New" pitchFamily="34" charset="-122"/>
                <a:cs typeface="Courier New" pitchFamily="34" charset="-120"/>
              </a:rPr>
              <a:t>do</a:t>
            </a:r>
            <a:endParaRPr lang="en-US" sz="900" dirty="0"/>
          </a:p>
          <a:p>
            <a:pPr indent="0" marL="0">
              <a:lnSpc>
                <a:spcPts val="1206"/>
              </a:lnSpc>
              <a:buNone/>
            </a:pPr>
            <a:r>
              <a:rPr lang="en-US" sz="900" dirty="0">
                <a:solidFill>
                  <a:srgbClr val="E6EAF0"/>
                </a:solidFill>
                <a:latin typeface="Courier New" pitchFamily="34" charset="0"/>
                <a:ea typeface="Courier New" pitchFamily="34" charset="-122"/>
                <a:cs typeface="Courier New" pitchFamily="34" charset="-120"/>
              </a:rPr>
              <a:t>  </a:t>
            </a:r>
            <a:pPr indent="0" marL="0">
              <a:lnSpc>
                <a:spcPts val="1206"/>
              </a:lnSpc>
              <a:buNone/>
            </a:pPr>
            <a:r>
              <a:rPr lang="en-US" sz="900" b="1" dirty="0">
                <a:solidFill>
                  <a:srgbClr val="E8871E"/>
                </a:solidFill>
                <a:latin typeface="Courier New" pitchFamily="34" charset="0"/>
                <a:ea typeface="Courier New" pitchFamily="34" charset="-122"/>
                <a:cs typeface="Courier New" pitchFamily="34" charset="-120"/>
              </a:rPr>
              <a:t>if</a:t>
            </a:r>
            <a:pPr indent="0" marL="0">
              <a:lnSpc>
                <a:spcPts val="1206"/>
              </a:lnSpc>
              <a:buNone/>
            </a:pPr>
            <a:r>
              <a:rPr lang="en-US" sz="900" dirty="0">
                <a:solidFill>
                  <a:srgbClr val="E6EAF0"/>
                </a:solidFill>
                <a:latin typeface="Courier New" pitchFamily="34" charset="0"/>
                <a:ea typeface="Courier New" pitchFamily="34" charset="-122"/>
                <a:cs typeface="Courier New" pitchFamily="34" charset="-120"/>
              </a:rPr>
              <a:t> a[i] &gt; max </a:t>
            </a:r>
            <a:pPr indent="0" marL="0">
              <a:lnSpc>
                <a:spcPts val="1206"/>
              </a:lnSpc>
              <a:buNone/>
            </a:pPr>
            <a:r>
              <a:rPr lang="en-US" sz="900" b="1" dirty="0">
                <a:solidFill>
                  <a:srgbClr val="E8871E"/>
                </a:solidFill>
                <a:latin typeface="Courier New" pitchFamily="34" charset="0"/>
                <a:ea typeface="Courier New" pitchFamily="34" charset="-122"/>
                <a:cs typeface="Courier New" pitchFamily="34" charset="-120"/>
              </a:rPr>
              <a:t>then</a:t>
            </a:r>
            <a:endParaRPr lang="en-US" sz="900" dirty="0"/>
          </a:p>
          <a:p>
            <a:pPr indent="0" marL="0">
              <a:lnSpc>
                <a:spcPts val="1206"/>
              </a:lnSpc>
              <a:buNone/>
            </a:pPr>
            <a:r>
              <a:rPr lang="en-US" sz="900" dirty="0">
                <a:solidFill>
                  <a:srgbClr val="E6EAF0"/>
                </a:solidFill>
                <a:latin typeface="Courier New" pitchFamily="34" charset="0"/>
                <a:ea typeface="Courier New" pitchFamily="34" charset="-122"/>
                <a:cs typeface="Courier New" pitchFamily="34" charset="-120"/>
              </a:rPr>
              <a:t>    max := a[i];</a:t>
            </a:r>
            <a:endParaRPr lang="en-US" sz="900" dirty="0"/>
          </a:p>
        </p:txBody>
      </p:sp>
      <p:sp>
        <p:nvSpPr>
          <p:cNvPr id="22" name="Text 20"/>
          <p:cNvSpPr/>
          <p:nvPr/>
        </p:nvSpPr>
        <p:spPr>
          <a:xfrm>
            <a:off x="914400" y="4151376"/>
            <a:ext cx="2697480" cy="914400"/>
          </a:xfrm>
          <a:prstGeom prst="rect">
            <a:avLst/>
          </a:prstGeom>
          <a:noFill/>
          <a:ln/>
        </p:spPr>
        <p:txBody>
          <a:bodyPr wrap="square" lIns="0" tIns="0" rIns="0" bIns="0" rtlCol="0" anchor="t"/>
          <a:lstStyle/>
          <a:p>
            <a:pPr indent="0" marL="0">
              <a:lnSpc>
                <a:spcPts val="1600"/>
              </a:lnSpc>
              <a:buNone/>
            </a:pPr>
            <a:r>
              <a:rPr lang="en-US" sz="1200" dirty="0">
                <a:solidFill>
                  <a:srgbClr val="6B7784"/>
                </a:solidFill>
                <a:latin typeface="Calibri" pitchFamily="34" charset="0"/>
                <a:ea typeface="Calibri" pitchFamily="34" charset="-122"/>
                <a:cs typeface="Calibri" pitchFamily="34" charset="-120"/>
              </a:rPr>
              <a:t>One pass over n elements: n–1 comparisons.</a:t>
            </a:r>
            <a:endParaRPr lang="en-US" sz="1200" dirty="0"/>
          </a:p>
        </p:txBody>
      </p:sp>
      <p:sp>
        <p:nvSpPr>
          <p:cNvPr id="23" name="Shape 21"/>
          <p:cNvSpPr/>
          <p:nvPr/>
        </p:nvSpPr>
        <p:spPr>
          <a:xfrm>
            <a:off x="914400" y="5065776"/>
            <a:ext cx="4754880" cy="438912"/>
          </a:xfrm>
          <a:prstGeom prst="roundRect">
            <a:avLst>
              <a:gd name="adj" fmla="val 10417"/>
            </a:avLst>
          </a:prstGeom>
          <a:solidFill>
            <a:srgbClr val="F4F6F8"/>
          </a:solidFill>
          <a:ln/>
        </p:spPr>
      </p:sp>
      <p:sp>
        <p:nvSpPr>
          <p:cNvPr id="24" name="Text 22"/>
          <p:cNvSpPr/>
          <p:nvPr/>
        </p:nvSpPr>
        <p:spPr>
          <a:xfrm>
            <a:off x="1060704" y="5065776"/>
            <a:ext cx="4480560" cy="438912"/>
          </a:xfrm>
          <a:prstGeom prst="rect">
            <a:avLst/>
          </a:prstGeom>
          <a:noFill/>
          <a:ln/>
        </p:spPr>
        <p:txBody>
          <a:bodyPr wrap="square" lIns="0" tIns="0" rIns="0" bIns="0" rtlCol="0" anchor="ctr"/>
          <a:lstStyle/>
          <a:p>
            <a:pPr indent="0" marL="0">
              <a:buNone/>
            </a:pPr>
            <a:r>
              <a:rPr lang="en-US" sz="1150" dirty="0">
                <a:solidFill>
                  <a:srgbClr val="3A4551"/>
                </a:solidFill>
                <a:latin typeface="Calibri" pitchFamily="34" charset="0"/>
                <a:ea typeface="Calibri" pitchFamily="34" charset="-122"/>
                <a:cs typeface="Calibri" pitchFamily="34" charset="-120"/>
              </a:rPr>
              <a:t>Statement executed most often: n – 1 times</a:t>
            </a:r>
            <a:endParaRPr lang="en-US" sz="1150" dirty="0"/>
          </a:p>
        </p:txBody>
      </p:sp>
      <p:sp>
        <p:nvSpPr>
          <p:cNvPr id="25" name="Shape 23"/>
          <p:cNvSpPr/>
          <p:nvPr/>
        </p:nvSpPr>
        <p:spPr>
          <a:xfrm>
            <a:off x="6245352" y="3584448"/>
            <a:ext cx="5303520" cy="2084832"/>
          </a:xfrm>
          <a:prstGeom prst="roundRect">
            <a:avLst>
              <a:gd name="adj" fmla="val 2632"/>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26" name="Text 24"/>
          <p:cNvSpPr/>
          <p:nvPr/>
        </p:nvSpPr>
        <p:spPr>
          <a:xfrm>
            <a:off x="6519672" y="3749040"/>
            <a:ext cx="2743200" cy="274320"/>
          </a:xfrm>
          <a:prstGeom prst="rect">
            <a:avLst/>
          </a:prstGeom>
          <a:noFill/>
          <a:ln/>
        </p:spPr>
        <p:txBody>
          <a:bodyPr wrap="square" lIns="0" tIns="0" rIns="0" bIns="0" rtlCol="0" anchor="t"/>
          <a:lstStyle/>
          <a:p>
            <a:pPr indent="0" marL="0">
              <a:buNone/>
            </a:pPr>
            <a:r>
              <a:rPr lang="en-US" sz="1550" b="1" dirty="0">
                <a:solidFill>
                  <a:srgbClr val="B3261E"/>
                </a:solidFill>
                <a:latin typeface="Cambria" pitchFamily="34" charset="0"/>
                <a:ea typeface="Cambria" pitchFamily="34" charset="-122"/>
                <a:cs typeface="Cambria" pitchFamily="34" charset="-120"/>
              </a:rPr>
              <a:t>O(n²) — quadratic</a:t>
            </a:r>
            <a:endParaRPr lang="en-US" sz="1550" dirty="0"/>
          </a:p>
        </p:txBody>
      </p:sp>
      <p:sp>
        <p:nvSpPr>
          <p:cNvPr id="27" name="Shape 25"/>
          <p:cNvSpPr/>
          <p:nvPr/>
        </p:nvSpPr>
        <p:spPr>
          <a:xfrm>
            <a:off x="9244584" y="3749040"/>
            <a:ext cx="2121408" cy="1024128"/>
          </a:xfrm>
          <a:prstGeom prst="roundRect">
            <a:avLst>
              <a:gd name="adj" fmla="val 4464"/>
            </a:avLst>
          </a:prstGeom>
          <a:solidFill>
            <a:srgbClr val="171C24"/>
          </a:solidFill>
          <a:ln/>
          <a:effectLst>
            <a:outerShdw sx="100000" sy="100000" kx="0" ky="0" algn="bl" rotWithShape="0" blurRad="101600" dist="25400" dir="5400000">
              <a:srgbClr val="9AA6B2">
                <a:alpha val="30000"/>
              </a:srgbClr>
            </a:outerShdw>
          </a:effectLst>
        </p:spPr>
      </p:sp>
      <p:sp>
        <p:nvSpPr>
          <p:cNvPr id="28" name="Text 26"/>
          <p:cNvSpPr/>
          <p:nvPr/>
        </p:nvSpPr>
        <p:spPr>
          <a:xfrm>
            <a:off x="9409176" y="3877056"/>
            <a:ext cx="1792224" cy="768096"/>
          </a:xfrm>
          <a:prstGeom prst="rect">
            <a:avLst/>
          </a:prstGeom>
          <a:noFill/>
          <a:ln/>
        </p:spPr>
        <p:txBody>
          <a:bodyPr wrap="square" lIns="0" tIns="0" rIns="0" bIns="0" rtlCol="0" anchor="t"/>
          <a:lstStyle/>
          <a:p>
            <a:pPr indent="0" marL="0">
              <a:lnSpc>
                <a:spcPts val="1206"/>
              </a:lnSpc>
              <a:buNone/>
            </a:pPr>
            <a:r>
              <a:rPr lang="en-US" sz="900" b="1" dirty="0">
                <a:solidFill>
                  <a:srgbClr val="E8871E"/>
                </a:solidFill>
                <a:latin typeface="Courier New" pitchFamily="34" charset="0"/>
                <a:ea typeface="Courier New" pitchFamily="34" charset="-122"/>
                <a:cs typeface="Courier New" pitchFamily="34" charset="-120"/>
              </a:rPr>
              <a:t>for</a:t>
            </a:r>
            <a:pPr indent="0" marL="0">
              <a:lnSpc>
                <a:spcPts val="1206"/>
              </a:lnSpc>
              <a:buNone/>
            </a:pPr>
            <a:r>
              <a:rPr lang="en-US" sz="900" dirty="0">
                <a:solidFill>
                  <a:srgbClr val="E6EAF0"/>
                </a:solidFill>
                <a:latin typeface="Courier New" pitchFamily="34" charset="0"/>
                <a:ea typeface="Courier New" pitchFamily="34" charset="-122"/>
                <a:cs typeface="Courier New" pitchFamily="34" charset="-120"/>
              </a:rPr>
              <a:t> i := 1 to n </a:t>
            </a:r>
            <a:pPr indent="0" marL="0">
              <a:lnSpc>
                <a:spcPts val="1206"/>
              </a:lnSpc>
              <a:buNone/>
            </a:pPr>
            <a:r>
              <a:rPr lang="en-US" sz="900" b="1" dirty="0">
                <a:solidFill>
                  <a:srgbClr val="E8871E"/>
                </a:solidFill>
                <a:latin typeface="Courier New" pitchFamily="34" charset="0"/>
                <a:ea typeface="Courier New" pitchFamily="34" charset="-122"/>
                <a:cs typeface="Courier New" pitchFamily="34" charset="-120"/>
              </a:rPr>
              <a:t>do</a:t>
            </a:r>
            <a:endParaRPr lang="en-US" sz="900" dirty="0"/>
          </a:p>
          <a:p>
            <a:pPr indent="0" marL="0">
              <a:lnSpc>
                <a:spcPts val="1206"/>
              </a:lnSpc>
              <a:buNone/>
            </a:pPr>
            <a:r>
              <a:rPr lang="en-US" sz="900" dirty="0">
                <a:solidFill>
                  <a:srgbClr val="E6EAF0"/>
                </a:solidFill>
                <a:latin typeface="Courier New" pitchFamily="34" charset="0"/>
                <a:ea typeface="Courier New" pitchFamily="34" charset="-122"/>
                <a:cs typeface="Courier New" pitchFamily="34" charset="-120"/>
              </a:rPr>
              <a:t>  </a:t>
            </a:r>
            <a:pPr indent="0" marL="0">
              <a:lnSpc>
                <a:spcPts val="1206"/>
              </a:lnSpc>
              <a:buNone/>
            </a:pPr>
            <a:r>
              <a:rPr lang="en-US" sz="900" b="1" dirty="0">
                <a:solidFill>
                  <a:srgbClr val="E8871E"/>
                </a:solidFill>
                <a:latin typeface="Courier New" pitchFamily="34" charset="0"/>
                <a:ea typeface="Courier New" pitchFamily="34" charset="-122"/>
                <a:cs typeface="Courier New" pitchFamily="34" charset="-120"/>
              </a:rPr>
              <a:t>for</a:t>
            </a:r>
            <a:pPr indent="0" marL="0">
              <a:lnSpc>
                <a:spcPts val="1206"/>
              </a:lnSpc>
              <a:buNone/>
            </a:pPr>
            <a:r>
              <a:rPr lang="en-US" sz="900" dirty="0">
                <a:solidFill>
                  <a:srgbClr val="E6EAF0"/>
                </a:solidFill>
                <a:latin typeface="Courier New" pitchFamily="34" charset="0"/>
                <a:ea typeface="Courier New" pitchFamily="34" charset="-122"/>
                <a:cs typeface="Courier New" pitchFamily="34" charset="-120"/>
              </a:rPr>
              <a:t> j := 1 to n </a:t>
            </a:r>
            <a:pPr indent="0" marL="0">
              <a:lnSpc>
                <a:spcPts val="1206"/>
              </a:lnSpc>
              <a:buNone/>
            </a:pPr>
            <a:r>
              <a:rPr lang="en-US" sz="900" b="1" dirty="0">
                <a:solidFill>
                  <a:srgbClr val="E8871E"/>
                </a:solidFill>
                <a:latin typeface="Courier New" pitchFamily="34" charset="0"/>
                <a:ea typeface="Courier New" pitchFamily="34" charset="-122"/>
                <a:cs typeface="Courier New" pitchFamily="34" charset="-120"/>
              </a:rPr>
              <a:t>do</a:t>
            </a:r>
            <a:endParaRPr lang="en-US" sz="900" dirty="0"/>
          </a:p>
          <a:p>
            <a:pPr indent="0" marL="0">
              <a:lnSpc>
                <a:spcPts val="1206"/>
              </a:lnSpc>
              <a:buNone/>
            </a:pPr>
            <a:r>
              <a:rPr lang="en-US" sz="900" dirty="0">
                <a:solidFill>
                  <a:srgbClr val="E6EAF0"/>
                </a:solidFill>
                <a:latin typeface="Courier New" pitchFamily="34" charset="0"/>
                <a:ea typeface="Courier New" pitchFamily="34" charset="-122"/>
                <a:cs typeface="Courier New" pitchFamily="34" charset="-120"/>
              </a:rPr>
              <a:t>    </a:t>
            </a:r>
            <a:pPr indent="0" marL="0">
              <a:lnSpc>
                <a:spcPts val="1206"/>
              </a:lnSpc>
              <a:buNone/>
            </a:pPr>
            <a:r>
              <a:rPr lang="en-US" sz="900" b="1" dirty="0">
                <a:solidFill>
                  <a:srgbClr val="E8871E"/>
                </a:solidFill>
                <a:latin typeface="Courier New" pitchFamily="34" charset="0"/>
                <a:ea typeface="Courier New" pitchFamily="34" charset="-122"/>
                <a:cs typeface="Courier New" pitchFamily="34" charset="-120"/>
              </a:rPr>
              <a:t>if</a:t>
            </a:r>
            <a:pPr indent="0" marL="0">
              <a:lnSpc>
                <a:spcPts val="1206"/>
              </a:lnSpc>
              <a:buNone/>
            </a:pPr>
            <a:r>
              <a:rPr lang="en-US" sz="900" dirty="0">
                <a:solidFill>
                  <a:srgbClr val="E6EAF0"/>
                </a:solidFill>
                <a:latin typeface="Courier New" pitchFamily="34" charset="0"/>
                <a:ea typeface="Courier New" pitchFamily="34" charset="-122"/>
                <a:cs typeface="Courier New" pitchFamily="34" charset="-120"/>
              </a:rPr>
              <a:t> a[i]&gt;a[j] </a:t>
            </a:r>
            <a:pPr indent="0" marL="0">
              <a:lnSpc>
                <a:spcPts val="1206"/>
              </a:lnSpc>
              <a:buNone/>
            </a:pPr>
            <a:r>
              <a:rPr lang="en-US" sz="900" b="1" dirty="0">
                <a:solidFill>
                  <a:srgbClr val="E8871E"/>
                </a:solidFill>
                <a:latin typeface="Courier New" pitchFamily="34" charset="0"/>
                <a:ea typeface="Courier New" pitchFamily="34" charset="-122"/>
                <a:cs typeface="Courier New" pitchFamily="34" charset="-120"/>
              </a:rPr>
              <a:t>then</a:t>
            </a:r>
            <a:endParaRPr lang="en-US" sz="900" dirty="0"/>
          </a:p>
          <a:p>
            <a:pPr indent="0" marL="0">
              <a:lnSpc>
                <a:spcPts val="1206"/>
              </a:lnSpc>
              <a:buNone/>
            </a:pPr>
            <a:r>
              <a:rPr lang="en-US" sz="900" dirty="0">
                <a:solidFill>
                  <a:srgbClr val="E6EAF0"/>
                </a:solidFill>
                <a:latin typeface="Courier New" pitchFamily="34" charset="0"/>
                <a:ea typeface="Courier New" pitchFamily="34" charset="-122"/>
                <a:cs typeface="Courier New" pitchFamily="34" charset="-120"/>
              </a:rPr>
              <a:t>      </a:t>
            </a:r>
            <a:pPr indent="0" marL="0">
              <a:lnSpc>
                <a:spcPts val="1206"/>
              </a:lnSpc>
              <a:buNone/>
            </a:pPr>
            <a:r>
              <a:rPr lang="en-US" sz="900" b="1" dirty="0">
                <a:solidFill>
                  <a:srgbClr val="E8871E"/>
                </a:solidFill>
                <a:latin typeface="Courier New" pitchFamily="34" charset="0"/>
                <a:ea typeface="Courier New" pitchFamily="34" charset="-122"/>
                <a:cs typeface="Courier New" pitchFamily="34" charset="-120"/>
              </a:rPr>
              <a:t>swap</a:t>
            </a:r>
            <a:pPr indent="0" marL="0">
              <a:lnSpc>
                <a:spcPts val="1206"/>
              </a:lnSpc>
              <a:buNone/>
            </a:pPr>
            <a:r>
              <a:rPr lang="en-US" sz="900" dirty="0">
                <a:solidFill>
                  <a:srgbClr val="E6EAF0"/>
                </a:solidFill>
                <a:latin typeface="Courier New" pitchFamily="34" charset="0"/>
                <a:ea typeface="Courier New" pitchFamily="34" charset="-122"/>
                <a:cs typeface="Courier New" pitchFamily="34" charset="-120"/>
              </a:rPr>
              <a:t>(a[i],a[j]);</a:t>
            </a:r>
            <a:endParaRPr lang="en-US" sz="900" dirty="0"/>
          </a:p>
        </p:txBody>
      </p:sp>
      <p:sp>
        <p:nvSpPr>
          <p:cNvPr id="29" name="Text 27"/>
          <p:cNvSpPr/>
          <p:nvPr/>
        </p:nvSpPr>
        <p:spPr>
          <a:xfrm>
            <a:off x="6519672" y="4151376"/>
            <a:ext cx="2697480" cy="914400"/>
          </a:xfrm>
          <a:prstGeom prst="rect">
            <a:avLst/>
          </a:prstGeom>
          <a:noFill/>
          <a:ln/>
        </p:spPr>
        <p:txBody>
          <a:bodyPr wrap="square" lIns="0" tIns="0" rIns="0" bIns="0" rtlCol="0" anchor="t"/>
          <a:lstStyle/>
          <a:p>
            <a:pPr indent="0" marL="0">
              <a:lnSpc>
                <a:spcPts val="1600"/>
              </a:lnSpc>
              <a:buNone/>
            </a:pPr>
            <a:r>
              <a:rPr lang="en-US" sz="1200" dirty="0">
                <a:solidFill>
                  <a:srgbClr val="6B7784"/>
                </a:solidFill>
                <a:latin typeface="Calibri" pitchFamily="34" charset="0"/>
                <a:ea typeface="Calibri" pitchFamily="34" charset="-122"/>
                <a:cs typeface="Calibri" pitchFamily="34" charset="-120"/>
              </a:rPr>
              <a:t>n outer × n inner = n² executions of the test.</a:t>
            </a:r>
            <a:endParaRPr lang="en-US" sz="1200" dirty="0"/>
          </a:p>
        </p:txBody>
      </p:sp>
      <p:sp>
        <p:nvSpPr>
          <p:cNvPr id="30" name="Shape 28"/>
          <p:cNvSpPr/>
          <p:nvPr/>
        </p:nvSpPr>
        <p:spPr>
          <a:xfrm>
            <a:off x="6519672" y="5065776"/>
            <a:ext cx="4754880" cy="438912"/>
          </a:xfrm>
          <a:prstGeom prst="roundRect">
            <a:avLst>
              <a:gd name="adj" fmla="val 10417"/>
            </a:avLst>
          </a:prstGeom>
          <a:solidFill>
            <a:srgbClr val="F4F6F8"/>
          </a:solidFill>
          <a:ln/>
        </p:spPr>
      </p:sp>
      <p:sp>
        <p:nvSpPr>
          <p:cNvPr id="31" name="Text 29"/>
          <p:cNvSpPr/>
          <p:nvPr/>
        </p:nvSpPr>
        <p:spPr>
          <a:xfrm>
            <a:off x="6665976" y="5065776"/>
            <a:ext cx="4480560" cy="438912"/>
          </a:xfrm>
          <a:prstGeom prst="rect">
            <a:avLst/>
          </a:prstGeom>
          <a:noFill/>
          <a:ln/>
        </p:spPr>
        <p:txBody>
          <a:bodyPr wrap="square" lIns="0" tIns="0" rIns="0" bIns="0" rtlCol="0" anchor="ctr"/>
          <a:lstStyle/>
          <a:p>
            <a:pPr indent="0" marL="0">
              <a:buNone/>
            </a:pPr>
            <a:r>
              <a:rPr lang="en-US" sz="1150" dirty="0">
                <a:solidFill>
                  <a:srgbClr val="3A4551"/>
                </a:solidFill>
                <a:latin typeface="Calibri" pitchFamily="34" charset="0"/>
                <a:ea typeface="Calibri" pitchFamily="34" charset="-122"/>
                <a:cs typeface="Calibri" pitchFamily="34" charset="-120"/>
              </a:rPr>
              <a:t>Statement executed most often: n² times</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CASE STUDY</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Linear Search — the straightforward scan</a:t>
            </a:r>
            <a:endParaRPr lang="en-US" sz="3000" dirty="0"/>
          </a:p>
        </p:txBody>
      </p:sp>
      <p:sp>
        <p:nvSpPr>
          <p:cNvPr id="4" name="Shape 2"/>
          <p:cNvSpPr/>
          <p:nvPr/>
        </p:nvSpPr>
        <p:spPr>
          <a:xfrm>
            <a:off x="640080" y="1298448"/>
            <a:ext cx="5303520" cy="1944624"/>
          </a:xfrm>
          <a:prstGeom prst="roundRect">
            <a:avLst>
              <a:gd name="adj" fmla="val 2351"/>
            </a:avLst>
          </a:prstGeom>
          <a:solidFill>
            <a:srgbClr val="171C24"/>
          </a:solidFill>
          <a:ln/>
          <a:effectLst>
            <a:outerShdw sx="100000" sy="100000" kx="0" ky="0" algn="bl" rotWithShape="0" blurRad="101600" dist="25400" dir="5400000">
              <a:srgbClr val="9AA6B2">
                <a:alpha val="30000"/>
              </a:srgbClr>
            </a:outerShdw>
          </a:effectLst>
        </p:spPr>
      </p:sp>
      <p:sp>
        <p:nvSpPr>
          <p:cNvPr id="5" name="Text 3"/>
          <p:cNvSpPr/>
          <p:nvPr/>
        </p:nvSpPr>
        <p:spPr>
          <a:xfrm>
            <a:off x="804672" y="1426464"/>
            <a:ext cx="4974336" cy="1688592"/>
          </a:xfrm>
          <a:prstGeom prst="rect">
            <a:avLst/>
          </a:prstGeom>
          <a:noFill/>
          <a:ln/>
        </p:spPr>
        <p:txBody>
          <a:bodyPr wrap="square" lIns="0" tIns="0" rIns="0" bIns="0" rtlCol="0" anchor="t"/>
          <a:lstStyle/>
          <a:p>
            <a:pPr indent="0" marL="0">
              <a:lnSpc>
                <a:spcPts val="1608"/>
              </a:lnSpc>
              <a:buNone/>
            </a:pPr>
            <a:r>
              <a:rPr lang="en-US" sz="1200" b="1" dirty="0">
                <a:solidFill>
                  <a:srgbClr val="E8871E"/>
                </a:solidFill>
                <a:latin typeface="Courier New" pitchFamily="34" charset="0"/>
                <a:ea typeface="Courier New" pitchFamily="34" charset="-122"/>
                <a:cs typeface="Courier New" pitchFamily="34" charset="-120"/>
              </a:rPr>
              <a:t>Algorithm</a:t>
            </a:r>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 LinearSearch(a, n, key)</a:t>
            </a:r>
            <a:endParaRPr lang="en-US" sz="1200" dirty="0"/>
          </a:p>
          <a:p>
            <a:pPr indent="0" marL="0">
              <a:lnSpc>
                <a:spcPts val="1608"/>
              </a:lnSpc>
              <a:buNone/>
            </a:pPr>
            <a:r>
              <a:rPr lang="en-US" sz="1200" i="1" dirty="0">
                <a:solidFill>
                  <a:srgbClr val="7C8798"/>
                </a:solidFill>
                <a:latin typeface="Courier New" pitchFamily="34" charset="0"/>
                <a:ea typeface="Courier New" pitchFamily="34" charset="-122"/>
                <a:cs typeface="Courier New" pitchFamily="34" charset="-120"/>
              </a:rPr>
              <a:t>// a[1..n] need NOT be sorted</a:t>
            </a:r>
            <a:endParaRPr lang="en-US" sz="1200" dirty="0"/>
          </a:p>
          <a:p>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a:t>
            </a:r>
            <a:endParaRPr lang="en-US" sz="1200" dirty="0"/>
          </a:p>
          <a:p>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   </a:t>
            </a:r>
            <a:pPr indent="0" marL="0">
              <a:lnSpc>
                <a:spcPts val="1608"/>
              </a:lnSpc>
              <a:buNone/>
            </a:pPr>
            <a:r>
              <a:rPr lang="en-US" sz="1200" b="1" dirty="0">
                <a:solidFill>
                  <a:srgbClr val="E8871E"/>
                </a:solidFill>
                <a:latin typeface="Courier New" pitchFamily="34" charset="0"/>
                <a:ea typeface="Courier New" pitchFamily="34" charset="-122"/>
                <a:cs typeface="Courier New" pitchFamily="34" charset="-120"/>
              </a:rPr>
              <a:t>for</a:t>
            </a:r>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 i := 1 to n </a:t>
            </a:r>
            <a:pPr indent="0" marL="0">
              <a:lnSpc>
                <a:spcPts val="1608"/>
              </a:lnSpc>
              <a:buNone/>
            </a:pPr>
            <a:r>
              <a:rPr lang="en-US" sz="1200" b="1" dirty="0">
                <a:solidFill>
                  <a:srgbClr val="E8871E"/>
                </a:solidFill>
                <a:latin typeface="Courier New" pitchFamily="34" charset="0"/>
                <a:ea typeface="Courier New" pitchFamily="34" charset="-122"/>
                <a:cs typeface="Courier New" pitchFamily="34" charset="-120"/>
              </a:rPr>
              <a:t>do</a:t>
            </a:r>
            <a:endParaRPr lang="en-US" sz="1200" dirty="0"/>
          </a:p>
          <a:p>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      </a:t>
            </a:r>
            <a:pPr indent="0" marL="0">
              <a:lnSpc>
                <a:spcPts val="1608"/>
              </a:lnSpc>
              <a:buNone/>
            </a:pPr>
            <a:r>
              <a:rPr lang="en-US" sz="1200" b="1" dirty="0">
                <a:solidFill>
                  <a:srgbClr val="E8871E"/>
                </a:solidFill>
                <a:latin typeface="Courier New" pitchFamily="34" charset="0"/>
                <a:ea typeface="Courier New" pitchFamily="34" charset="-122"/>
                <a:cs typeface="Courier New" pitchFamily="34" charset="-120"/>
              </a:rPr>
              <a:t>if</a:t>
            </a:r>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 a[i] = key </a:t>
            </a:r>
            <a:pPr indent="0" marL="0">
              <a:lnSpc>
                <a:spcPts val="1608"/>
              </a:lnSpc>
              <a:buNone/>
            </a:pPr>
            <a:r>
              <a:rPr lang="en-US" sz="1200" b="1" dirty="0">
                <a:solidFill>
                  <a:srgbClr val="E8871E"/>
                </a:solidFill>
                <a:latin typeface="Courier New" pitchFamily="34" charset="0"/>
                <a:ea typeface="Courier New" pitchFamily="34" charset="-122"/>
                <a:cs typeface="Courier New" pitchFamily="34" charset="-120"/>
              </a:rPr>
              <a:t>then</a:t>
            </a:r>
            <a:endParaRPr lang="en-US" sz="1200" dirty="0"/>
          </a:p>
          <a:p>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         </a:t>
            </a:r>
            <a:pPr indent="0" marL="0">
              <a:lnSpc>
                <a:spcPts val="1608"/>
              </a:lnSpc>
              <a:buNone/>
            </a:pPr>
            <a:r>
              <a:rPr lang="en-US" sz="1200" b="1" dirty="0">
                <a:solidFill>
                  <a:srgbClr val="E8871E"/>
                </a:solidFill>
                <a:latin typeface="Courier New" pitchFamily="34" charset="0"/>
                <a:ea typeface="Courier New" pitchFamily="34" charset="-122"/>
                <a:cs typeface="Courier New" pitchFamily="34" charset="-120"/>
              </a:rPr>
              <a:t>return</a:t>
            </a:r>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 i;        </a:t>
            </a:r>
            <a:pPr indent="0" marL="0">
              <a:lnSpc>
                <a:spcPts val="1608"/>
              </a:lnSpc>
              <a:buNone/>
            </a:pPr>
            <a:r>
              <a:rPr lang="en-US" sz="1200" i="1" dirty="0">
                <a:solidFill>
                  <a:srgbClr val="7C8798"/>
                </a:solidFill>
                <a:latin typeface="Courier New" pitchFamily="34" charset="0"/>
                <a:ea typeface="Courier New" pitchFamily="34" charset="-122"/>
                <a:cs typeface="Courier New" pitchFamily="34" charset="-120"/>
              </a:rPr>
              <a:t>// found</a:t>
            </a:r>
            <a:endParaRPr lang="en-US" sz="1200" dirty="0"/>
          </a:p>
          <a:p>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   </a:t>
            </a:r>
            <a:pPr indent="0" marL="0">
              <a:lnSpc>
                <a:spcPts val="1608"/>
              </a:lnSpc>
              <a:buNone/>
            </a:pPr>
            <a:r>
              <a:rPr lang="en-US" sz="1200" b="1" dirty="0">
                <a:solidFill>
                  <a:srgbClr val="E8871E"/>
                </a:solidFill>
                <a:latin typeface="Courier New" pitchFamily="34" charset="0"/>
                <a:ea typeface="Courier New" pitchFamily="34" charset="-122"/>
                <a:cs typeface="Courier New" pitchFamily="34" charset="-120"/>
              </a:rPr>
              <a:t>return</a:t>
            </a:r>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 -1;             </a:t>
            </a:r>
            <a:pPr indent="0" marL="0">
              <a:lnSpc>
                <a:spcPts val="1608"/>
              </a:lnSpc>
              <a:buNone/>
            </a:pPr>
            <a:r>
              <a:rPr lang="en-US" sz="1200" i="1" dirty="0">
                <a:solidFill>
                  <a:srgbClr val="7C8798"/>
                </a:solidFill>
                <a:latin typeface="Courier New" pitchFamily="34" charset="0"/>
                <a:ea typeface="Courier New" pitchFamily="34" charset="-122"/>
                <a:cs typeface="Courier New" pitchFamily="34" charset="-120"/>
              </a:rPr>
              <a:t>// absent</a:t>
            </a:r>
            <a:endParaRPr lang="en-US" sz="1200" dirty="0"/>
          </a:p>
          <a:p>
            <a:pPr indent="0" marL="0">
              <a:lnSpc>
                <a:spcPts val="1608"/>
              </a:lnSpc>
              <a:buNone/>
            </a:pPr>
            <a:r>
              <a:rPr lang="en-US" sz="1200" dirty="0">
                <a:solidFill>
                  <a:srgbClr val="E6EAF0"/>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640080" y="3337560"/>
            <a:ext cx="5303520" cy="457200"/>
          </a:xfrm>
          <a:prstGeom prst="rect">
            <a:avLst/>
          </a:prstGeom>
          <a:noFill/>
          <a:ln/>
        </p:spPr>
        <p:txBody>
          <a:bodyPr wrap="square" lIns="0" tIns="0" rIns="0" bIns="0" rtlCol="0" anchor="t"/>
          <a:lstStyle/>
          <a:p>
            <a:pPr indent="0" marL="0">
              <a:lnSpc>
                <a:spcPts val="1600"/>
              </a:lnSpc>
              <a:buNone/>
            </a:pPr>
            <a:r>
              <a:rPr lang="en-US" sz="1200" i="1" dirty="0">
                <a:solidFill>
                  <a:srgbClr val="6B7784"/>
                </a:solidFill>
                <a:latin typeface="Calibri" pitchFamily="34" charset="0"/>
                <a:ea typeface="Calibri" pitchFamily="34" charset="-122"/>
                <a:cs typeface="Calibri" pitchFamily="34" charset="-120"/>
              </a:rPr>
              <a:t>Searching for 15 in { 12, 4, 9, 7, 15 } — checks 12, 4, 9, 7, 15: five comparisons.</a:t>
            </a:r>
            <a:endParaRPr lang="en-US" sz="1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245352" y="1298448"/>
          <a:ext cx="5303520" cy="914400"/>
        </p:xfrm>
        <a:graphic>
          <a:graphicData uri="http://schemas.openxmlformats.org/drawingml/2006/table">
            <a:tbl>
              <a:tblPr/>
              <a:tblGrid>
                <a:gridCol w="1965960"/>
                <a:gridCol w="3337560"/>
              </a:tblGrid>
              <a:tr h="41148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Aspect</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Result</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r>
              <a:tr h="411480">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Prerequisite</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None — works on unsorted data</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11480">
                <a:tc>
                  <a:txBody>
                    <a:bodyPr/>
                    <a:lstStyle/>
                    <a:p>
                      <a:pPr algn="l" indent="0" marL="0">
                        <a:buNone/>
                      </a:pPr>
                      <a:r>
                        <a:rPr lang="en-US" sz="1250" b="1" dirty="0">
                          <a:solidFill>
                            <a:srgbClr val="2E7D5B"/>
                          </a:solidFill>
                          <a:latin typeface="Calibri" pitchFamily="34" charset="0"/>
                          <a:ea typeface="Calibri" pitchFamily="34" charset="-122"/>
                          <a:cs typeface="Calibri" pitchFamily="34" charset="-120"/>
                        </a:rPr>
                        <a:t>Best case</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1 comparison — Ω(1)</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11480">
                <a:tc>
                  <a:txBody>
                    <a:bodyPr/>
                    <a:lstStyle/>
                    <a:p>
                      <a:pPr algn="l" indent="0" marL="0">
                        <a:buNone/>
                      </a:pPr>
                      <a:r>
                        <a:rPr lang="en-US" sz="1250" b="1" dirty="0">
                          <a:solidFill>
                            <a:srgbClr val="A85F0C"/>
                          </a:solidFill>
                          <a:latin typeface="Calibri" pitchFamily="34" charset="0"/>
                          <a:ea typeface="Calibri" pitchFamily="34" charset="-122"/>
                          <a:cs typeface="Calibri" pitchFamily="34" charset="-120"/>
                        </a:rPr>
                        <a:t>Average case</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(n + 1)/2 — Θ(n)</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11480">
                <a:tc>
                  <a:txBody>
                    <a:bodyPr/>
                    <a:lstStyle/>
                    <a:p>
                      <a:pPr algn="l" indent="0" marL="0">
                        <a:buNone/>
                      </a:pPr>
                      <a:r>
                        <a:rPr lang="en-US" sz="1250" b="1" dirty="0">
                          <a:solidFill>
                            <a:srgbClr val="B3261E"/>
                          </a:solidFill>
                          <a:latin typeface="Calibri" pitchFamily="34" charset="0"/>
                          <a:ea typeface="Calibri" pitchFamily="34" charset="-122"/>
                          <a:cs typeface="Calibri" pitchFamily="34" charset="-120"/>
                        </a:rPr>
                        <a:t>Worst case</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n comparisons — O(n)</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11480">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Auxiliary space</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O(1)</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bl>
          </a:graphicData>
        </a:graphic>
      </p:graphicFrame>
      <p:sp>
        <p:nvSpPr>
          <p:cNvPr id="8" name="Shape 5"/>
          <p:cNvSpPr/>
          <p:nvPr/>
        </p:nvSpPr>
        <p:spPr>
          <a:xfrm>
            <a:off x="640080" y="4069080"/>
            <a:ext cx="10908792" cy="1783080"/>
          </a:xfrm>
          <a:prstGeom prst="roundRect">
            <a:avLst>
              <a:gd name="adj" fmla="val 3077"/>
            </a:avLst>
          </a:prstGeom>
          <a:solidFill>
            <a:srgbClr val="1B2129"/>
          </a:solidFill>
          <a:ln/>
          <a:effectLst>
            <a:outerShdw sx="100000" sy="100000" kx="0" ky="0" algn="bl" rotWithShape="0" blurRad="127000" dist="25400" dir="5400000">
              <a:srgbClr val="9AA6B2">
                <a:alpha val="22000"/>
              </a:srgbClr>
            </a:outerShdw>
          </a:effectLst>
        </p:spPr>
      </p:sp>
      <p:sp>
        <p:nvSpPr>
          <p:cNvPr id="9" name="Text 6"/>
          <p:cNvSpPr/>
          <p:nvPr/>
        </p:nvSpPr>
        <p:spPr>
          <a:xfrm>
            <a:off x="914400" y="4251960"/>
            <a:ext cx="5486400" cy="274320"/>
          </a:xfrm>
          <a:prstGeom prst="rect">
            <a:avLst/>
          </a:prstGeom>
          <a:noFill/>
          <a:ln/>
        </p:spPr>
        <p:txBody>
          <a:bodyPr wrap="square" lIns="0" tIns="0" rIns="0" bIns="0" rtlCol="0" anchor="t"/>
          <a:lstStyle/>
          <a:p>
            <a:pPr indent="0" marL="0">
              <a:buNone/>
            </a:pPr>
            <a:r>
              <a:rPr lang="en-US" sz="1300" b="1" dirty="0">
                <a:solidFill>
                  <a:srgbClr val="E8871E"/>
                </a:solidFill>
                <a:latin typeface="Calibri" pitchFamily="34" charset="0"/>
                <a:ea typeface="Calibri" pitchFamily="34" charset="-122"/>
                <a:cs typeface="Calibri" pitchFamily="34" charset="-120"/>
              </a:rPr>
              <a:t>When linear search is the right choice</a:t>
            </a:r>
            <a:endParaRPr lang="en-US" sz="1300" dirty="0"/>
          </a:p>
        </p:txBody>
      </p:sp>
      <p:sp>
        <p:nvSpPr>
          <p:cNvPr id="10" name="Text 7"/>
          <p:cNvSpPr/>
          <p:nvPr/>
        </p:nvSpPr>
        <p:spPr>
          <a:xfrm>
            <a:off x="914400" y="4599432"/>
            <a:ext cx="2468880" cy="256032"/>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Small n</a:t>
            </a:r>
            <a:endParaRPr lang="en-US" sz="1250" dirty="0"/>
          </a:p>
        </p:txBody>
      </p:sp>
      <p:sp>
        <p:nvSpPr>
          <p:cNvPr id="11" name="Text 8"/>
          <p:cNvSpPr/>
          <p:nvPr/>
        </p:nvSpPr>
        <p:spPr>
          <a:xfrm>
            <a:off x="914400" y="4892040"/>
            <a:ext cx="2514600" cy="822960"/>
          </a:xfrm>
          <a:prstGeom prst="rect">
            <a:avLst/>
          </a:prstGeom>
          <a:noFill/>
          <a:ln/>
        </p:spPr>
        <p:txBody>
          <a:bodyPr wrap="square" lIns="0" tIns="0" rIns="0" bIns="0" rtlCol="0" anchor="t"/>
          <a:lstStyle/>
          <a:p>
            <a:pPr indent="0" marL="0">
              <a:lnSpc>
                <a:spcPts val="1500"/>
              </a:lnSpc>
              <a:buNone/>
            </a:pPr>
            <a:r>
              <a:rPr lang="en-US" sz="1150" dirty="0">
                <a:solidFill>
                  <a:srgbClr val="9AA6B4"/>
                </a:solidFill>
                <a:latin typeface="Calibri" pitchFamily="34" charset="0"/>
                <a:ea typeface="Calibri" pitchFamily="34" charset="-122"/>
                <a:cs typeface="Calibri" pitchFamily="34" charset="-120"/>
              </a:rPr>
              <a:t>For a handful of elements the simplicity wins.</a:t>
            </a:r>
            <a:endParaRPr lang="en-US" sz="1150" dirty="0"/>
          </a:p>
        </p:txBody>
      </p:sp>
      <p:sp>
        <p:nvSpPr>
          <p:cNvPr id="12" name="Text 9"/>
          <p:cNvSpPr/>
          <p:nvPr/>
        </p:nvSpPr>
        <p:spPr>
          <a:xfrm>
            <a:off x="3584448" y="4599432"/>
            <a:ext cx="2468880" cy="256032"/>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Unsorted data</a:t>
            </a:r>
            <a:endParaRPr lang="en-US" sz="1250" dirty="0"/>
          </a:p>
        </p:txBody>
      </p:sp>
      <p:sp>
        <p:nvSpPr>
          <p:cNvPr id="13" name="Text 10"/>
          <p:cNvSpPr/>
          <p:nvPr/>
        </p:nvSpPr>
        <p:spPr>
          <a:xfrm>
            <a:off x="3584448" y="4892040"/>
            <a:ext cx="2514600" cy="822960"/>
          </a:xfrm>
          <a:prstGeom prst="rect">
            <a:avLst/>
          </a:prstGeom>
          <a:noFill/>
          <a:ln/>
        </p:spPr>
        <p:txBody>
          <a:bodyPr wrap="square" lIns="0" tIns="0" rIns="0" bIns="0" rtlCol="0" anchor="t"/>
          <a:lstStyle/>
          <a:p>
            <a:pPr indent="0" marL="0">
              <a:lnSpc>
                <a:spcPts val="1500"/>
              </a:lnSpc>
              <a:buNone/>
            </a:pPr>
            <a:r>
              <a:rPr lang="en-US" sz="1150" dirty="0">
                <a:solidFill>
                  <a:srgbClr val="9AA6B4"/>
                </a:solidFill>
                <a:latin typeface="Calibri" pitchFamily="34" charset="0"/>
                <a:ea typeface="Calibri" pitchFamily="34" charset="-122"/>
                <a:cs typeface="Calibri" pitchFamily="34" charset="-120"/>
              </a:rPr>
              <a:t>No sorting cost is paid up front.</a:t>
            </a:r>
            <a:endParaRPr lang="en-US" sz="1150" dirty="0"/>
          </a:p>
        </p:txBody>
      </p:sp>
      <p:sp>
        <p:nvSpPr>
          <p:cNvPr id="14" name="Text 11"/>
          <p:cNvSpPr/>
          <p:nvPr/>
        </p:nvSpPr>
        <p:spPr>
          <a:xfrm>
            <a:off x="6254496" y="4599432"/>
            <a:ext cx="2468880" cy="256032"/>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Single search</a:t>
            </a:r>
            <a:endParaRPr lang="en-US" sz="1250" dirty="0"/>
          </a:p>
        </p:txBody>
      </p:sp>
      <p:sp>
        <p:nvSpPr>
          <p:cNvPr id="15" name="Text 12"/>
          <p:cNvSpPr/>
          <p:nvPr/>
        </p:nvSpPr>
        <p:spPr>
          <a:xfrm>
            <a:off x="6254496" y="4892040"/>
            <a:ext cx="2514600" cy="822960"/>
          </a:xfrm>
          <a:prstGeom prst="rect">
            <a:avLst/>
          </a:prstGeom>
          <a:noFill/>
          <a:ln/>
        </p:spPr>
        <p:txBody>
          <a:bodyPr wrap="square" lIns="0" tIns="0" rIns="0" bIns="0" rtlCol="0" anchor="t"/>
          <a:lstStyle/>
          <a:p>
            <a:pPr indent="0" marL="0">
              <a:lnSpc>
                <a:spcPts val="1500"/>
              </a:lnSpc>
              <a:buNone/>
            </a:pPr>
            <a:r>
              <a:rPr lang="en-US" sz="1150" dirty="0">
                <a:solidFill>
                  <a:srgbClr val="9AA6B4"/>
                </a:solidFill>
                <a:latin typeface="Calibri" pitchFamily="34" charset="0"/>
                <a:ea typeface="Calibri" pitchFamily="34" charset="-122"/>
                <a:cs typeface="Calibri" pitchFamily="34" charset="-120"/>
              </a:rPr>
              <a:t>Sorting to enable binary search costs O(n log n) — not worth it for one query.</a:t>
            </a:r>
            <a:endParaRPr lang="en-US" sz="1150" dirty="0"/>
          </a:p>
        </p:txBody>
      </p:sp>
      <p:sp>
        <p:nvSpPr>
          <p:cNvPr id="16" name="Text 13"/>
          <p:cNvSpPr/>
          <p:nvPr/>
        </p:nvSpPr>
        <p:spPr>
          <a:xfrm>
            <a:off x="8924544" y="4599432"/>
            <a:ext cx="2468880" cy="256032"/>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Linked lists</a:t>
            </a:r>
            <a:endParaRPr lang="en-US" sz="1250" dirty="0"/>
          </a:p>
        </p:txBody>
      </p:sp>
      <p:sp>
        <p:nvSpPr>
          <p:cNvPr id="17" name="Text 14"/>
          <p:cNvSpPr/>
          <p:nvPr/>
        </p:nvSpPr>
        <p:spPr>
          <a:xfrm>
            <a:off x="8924544" y="4892040"/>
            <a:ext cx="2514600" cy="822960"/>
          </a:xfrm>
          <a:prstGeom prst="rect">
            <a:avLst/>
          </a:prstGeom>
          <a:noFill/>
          <a:ln/>
        </p:spPr>
        <p:txBody>
          <a:bodyPr wrap="square" lIns="0" tIns="0" rIns="0" bIns="0" rtlCol="0" anchor="t"/>
          <a:lstStyle/>
          <a:p>
            <a:pPr indent="0" marL="0">
              <a:lnSpc>
                <a:spcPts val="1500"/>
              </a:lnSpc>
              <a:buNone/>
            </a:pPr>
            <a:r>
              <a:rPr lang="en-US" sz="1150" dirty="0">
                <a:solidFill>
                  <a:srgbClr val="9AA6B4"/>
                </a:solidFill>
                <a:latin typeface="Calibri" pitchFamily="34" charset="0"/>
                <a:ea typeface="Calibri" pitchFamily="34" charset="-122"/>
                <a:cs typeface="Calibri" pitchFamily="34" charset="-120"/>
              </a:rPr>
              <a:t>No random access, so binary search is not even available.</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CASE STUDY</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Binary Search — halve the problem each time</a:t>
            </a:r>
            <a:endParaRPr lang="en-US" sz="3000" dirty="0"/>
          </a:p>
        </p:txBody>
      </p:sp>
      <p:sp>
        <p:nvSpPr>
          <p:cNvPr id="4" name="Shape 2"/>
          <p:cNvSpPr/>
          <p:nvPr/>
        </p:nvSpPr>
        <p:spPr>
          <a:xfrm>
            <a:off x="640080" y="1298448"/>
            <a:ext cx="5303520" cy="2931668"/>
          </a:xfrm>
          <a:prstGeom prst="roundRect">
            <a:avLst>
              <a:gd name="adj" fmla="val 1560"/>
            </a:avLst>
          </a:prstGeom>
          <a:solidFill>
            <a:srgbClr val="171C24"/>
          </a:solidFill>
          <a:ln/>
          <a:effectLst>
            <a:outerShdw sx="100000" sy="100000" kx="0" ky="0" algn="bl" rotWithShape="0" blurRad="101600" dist="25400" dir="5400000">
              <a:srgbClr val="9AA6B2">
                <a:alpha val="30000"/>
              </a:srgbClr>
            </a:outerShdw>
          </a:effectLst>
        </p:spPr>
      </p:sp>
      <p:sp>
        <p:nvSpPr>
          <p:cNvPr id="5" name="Text 3"/>
          <p:cNvSpPr/>
          <p:nvPr/>
        </p:nvSpPr>
        <p:spPr>
          <a:xfrm>
            <a:off x="804672" y="1426464"/>
            <a:ext cx="4974336" cy="2675636"/>
          </a:xfrm>
          <a:prstGeom prst="rect">
            <a:avLst/>
          </a:prstGeom>
          <a:noFill/>
          <a:ln/>
        </p:spPr>
        <p:txBody>
          <a:bodyPr wrap="square" lIns="0" tIns="0" rIns="0" bIns="0" rtlCol="0" anchor="t"/>
          <a:lstStyle/>
          <a:p>
            <a:pPr indent="0" marL="0">
              <a:lnSpc>
                <a:spcPts val="1474"/>
              </a:lnSpc>
              <a:buNone/>
            </a:pPr>
            <a:r>
              <a:rPr lang="en-US" sz="1100" b="1" dirty="0">
                <a:solidFill>
                  <a:srgbClr val="E8871E"/>
                </a:solidFill>
                <a:latin typeface="Courier New" pitchFamily="34" charset="0"/>
                <a:ea typeface="Courier New" pitchFamily="34" charset="-122"/>
                <a:cs typeface="Courier New" pitchFamily="34" charset="-120"/>
              </a:rPr>
              <a:t>Algorithm</a:t>
            </a:r>
            <a:pPr indent="0" marL="0">
              <a:lnSpc>
                <a:spcPts val="1474"/>
              </a:lnSpc>
              <a:buNone/>
            </a:pPr>
            <a:r>
              <a:rPr lang="en-US" sz="1100" dirty="0">
                <a:solidFill>
                  <a:srgbClr val="E6EAF0"/>
                </a:solidFill>
                <a:latin typeface="Courier New" pitchFamily="34" charset="0"/>
                <a:ea typeface="Courier New" pitchFamily="34" charset="-122"/>
                <a:cs typeface="Courier New" pitchFamily="34" charset="-120"/>
              </a:rPr>
              <a:t> BinarySearch(a, n, key)</a:t>
            </a:r>
            <a:endParaRPr lang="en-US" sz="1100" dirty="0"/>
          </a:p>
          <a:p>
            <a:pPr indent="0" marL="0">
              <a:lnSpc>
                <a:spcPts val="1474"/>
              </a:lnSpc>
              <a:buNone/>
            </a:pPr>
            <a:r>
              <a:rPr lang="en-US" sz="1100" i="1" dirty="0">
                <a:solidFill>
                  <a:srgbClr val="7C8798"/>
                </a:solidFill>
                <a:latin typeface="Courier New" pitchFamily="34" charset="0"/>
                <a:ea typeface="Courier New" pitchFamily="34" charset="-122"/>
                <a:cs typeface="Courier New" pitchFamily="34" charset="-120"/>
              </a:rPr>
              <a:t>// a[1..n] MUST be sorted</a:t>
            </a:r>
            <a:endParaRPr lang="en-US" sz="1100" dirty="0"/>
          </a:p>
          <a:p>
            <a:pPr indent="0" marL="0">
              <a:lnSpc>
                <a:spcPts val="1474"/>
              </a:lnSpc>
              <a:buNone/>
            </a:pPr>
            <a:r>
              <a:rPr lang="en-US" sz="1100" dirty="0">
                <a:solidFill>
                  <a:srgbClr val="E6EAF0"/>
                </a:solidFill>
                <a:latin typeface="Courier New" pitchFamily="34" charset="0"/>
                <a:ea typeface="Courier New" pitchFamily="34" charset="-122"/>
                <a:cs typeface="Courier New" pitchFamily="34" charset="-120"/>
              </a:rPr>
              <a:t>{</a:t>
            </a:r>
            <a:endParaRPr lang="en-US" sz="1100" dirty="0"/>
          </a:p>
          <a:p>
            <a:pPr indent="0" marL="0">
              <a:lnSpc>
                <a:spcPts val="1474"/>
              </a:lnSpc>
              <a:buNone/>
            </a:pPr>
            <a:r>
              <a:rPr lang="en-US" sz="1100" dirty="0">
                <a:solidFill>
                  <a:srgbClr val="E6EAF0"/>
                </a:solidFill>
                <a:latin typeface="Courier New" pitchFamily="34" charset="0"/>
                <a:ea typeface="Courier New" pitchFamily="34" charset="-122"/>
                <a:cs typeface="Courier New" pitchFamily="34" charset="-120"/>
              </a:rPr>
              <a:t>   low := 1;  high := n;</a:t>
            </a:r>
            <a:endParaRPr lang="en-US" sz="1100" dirty="0"/>
          </a:p>
          <a:p>
            <a:pPr indent="0" marL="0">
              <a:lnSpc>
                <a:spcPts val="1474"/>
              </a:lnSpc>
              <a:buNone/>
            </a:pPr>
            <a:r>
              <a:rPr lang="en-US" sz="1100" dirty="0">
                <a:solidFill>
                  <a:srgbClr val="E6EAF0"/>
                </a:solidFill>
                <a:latin typeface="Courier New" pitchFamily="34" charset="0"/>
                <a:ea typeface="Courier New" pitchFamily="34" charset="-122"/>
                <a:cs typeface="Courier New" pitchFamily="34" charset="-120"/>
              </a:rPr>
              <a:t>   </a:t>
            </a:r>
            <a:pPr indent="0" marL="0">
              <a:lnSpc>
                <a:spcPts val="1474"/>
              </a:lnSpc>
              <a:buNone/>
            </a:pPr>
            <a:r>
              <a:rPr lang="en-US" sz="1100" b="1" dirty="0">
                <a:solidFill>
                  <a:srgbClr val="E8871E"/>
                </a:solidFill>
                <a:latin typeface="Courier New" pitchFamily="34" charset="0"/>
                <a:ea typeface="Courier New" pitchFamily="34" charset="-122"/>
                <a:cs typeface="Courier New" pitchFamily="34" charset="-120"/>
              </a:rPr>
              <a:t>while</a:t>
            </a:r>
            <a:pPr indent="0" marL="0">
              <a:lnSpc>
                <a:spcPts val="1474"/>
              </a:lnSpc>
              <a:buNone/>
            </a:pPr>
            <a:r>
              <a:rPr lang="en-US" sz="1100" dirty="0">
                <a:solidFill>
                  <a:srgbClr val="E6EAF0"/>
                </a:solidFill>
                <a:latin typeface="Courier New" pitchFamily="34" charset="0"/>
                <a:ea typeface="Courier New" pitchFamily="34" charset="-122"/>
                <a:cs typeface="Courier New" pitchFamily="34" charset="-120"/>
              </a:rPr>
              <a:t> low ≤ high </a:t>
            </a:r>
            <a:pPr indent="0" marL="0">
              <a:lnSpc>
                <a:spcPts val="1474"/>
              </a:lnSpc>
              <a:buNone/>
            </a:pPr>
            <a:r>
              <a:rPr lang="en-US" sz="1100" b="1" dirty="0">
                <a:solidFill>
                  <a:srgbClr val="E8871E"/>
                </a:solidFill>
                <a:latin typeface="Courier New" pitchFamily="34" charset="0"/>
                <a:ea typeface="Courier New" pitchFamily="34" charset="-122"/>
                <a:cs typeface="Courier New" pitchFamily="34" charset="-120"/>
              </a:rPr>
              <a:t>do</a:t>
            </a:r>
            <a:endParaRPr lang="en-US" sz="1100" dirty="0"/>
          </a:p>
          <a:p>
            <a:pPr indent="0" marL="0">
              <a:lnSpc>
                <a:spcPts val="1474"/>
              </a:lnSpc>
              <a:buNone/>
            </a:pPr>
            <a:r>
              <a:rPr lang="en-US" sz="1100" dirty="0">
                <a:solidFill>
                  <a:srgbClr val="E6EAF0"/>
                </a:solidFill>
                <a:latin typeface="Courier New" pitchFamily="34" charset="0"/>
                <a:ea typeface="Courier New" pitchFamily="34" charset="-122"/>
                <a:cs typeface="Courier New" pitchFamily="34" charset="-120"/>
              </a:rPr>
              <a:t>   {</a:t>
            </a:r>
            <a:endParaRPr lang="en-US" sz="1100" dirty="0"/>
          </a:p>
          <a:p>
            <a:pPr indent="0" marL="0">
              <a:lnSpc>
                <a:spcPts val="1474"/>
              </a:lnSpc>
              <a:buNone/>
            </a:pPr>
            <a:r>
              <a:rPr lang="en-US" sz="1100" dirty="0">
                <a:solidFill>
                  <a:srgbClr val="E6EAF0"/>
                </a:solidFill>
                <a:latin typeface="Courier New" pitchFamily="34" charset="0"/>
                <a:ea typeface="Courier New" pitchFamily="34" charset="-122"/>
                <a:cs typeface="Courier New" pitchFamily="34" charset="-120"/>
              </a:rPr>
              <a:t>      mid := (low + high) / 2;</a:t>
            </a:r>
            <a:endParaRPr lang="en-US" sz="1100" dirty="0"/>
          </a:p>
          <a:p>
            <a:pPr indent="0" marL="0">
              <a:lnSpc>
                <a:spcPts val="1474"/>
              </a:lnSpc>
              <a:buNone/>
            </a:pPr>
            <a:r>
              <a:rPr lang="en-US" sz="1100" dirty="0">
                <a:solidFill>
                  <a:srgbClr val="E6EAF0"/>
                </a:solidFill>
                <a:latin typeface="Courier New" pitchFamily="34" charset="0"/>
                <a:ea typeface="Courier New" pitchFamily="34" charset="-122"/>
                <a:cs typeface="Courier New" pitchFamily="34" charset="-120"/>
              </a:rPr>
              <a:t>      </a:t>
            </a:r>
            <a:pPr indent="0" marL="0">
              <a:lnSpc>
                <a:spcPts val="1474"/>
              </a:lnSpc>
              <a:buNone/>
            </a:pPr>
            <a:r>
              <a:rPr lang="en-US" sz="1100" b="1" dirty="0">
                <a:solidFill>
                  <a:srgbClr val="E8871E"/>
                </a:solidFill>
                <a:latin typeface="Courier New" pitchFamily="34" charset="0"/>
                <a:ea typeface="Courier New" pitchFamily="34" charset="-122"/>
                <a:cs typeface="Courier New" pitchFamily="34" charset="-120"/>
              </a:rPr>
              <a:t>if</a:t>
            </a:r>
            <a:pPr indent="0" marL="0">
              <a:lnSpc>
                <a:spcPts val="1474"/>
              </a:lnSpc>
              <a:buNone/>
            </a:pPr>
            <a:r>
              <a:rPr lang="en-US" sz="1100" dirty="0">
                <a:solidFill>
                  <a:srgbClr val="E6EAF0"/>
                </a:solidFill>
                <a:latin typeface="Courier New" pitchFamily="34" charset="0"/>
                <a:ea typeface="Courier New" pitchFamily="34" charset="-122"/>
                <a:cs typeface="Courier New" pitchFamily="34" charset="-120"/>
              </a:rPr>
              <a:t> a[mid] = key </a:t>
            </a:r>
            <a:pPr indent="0" marL="0">
              <a:lnSpc>
                <a:spcPts val="1474"/>
              </a:lnSpc>
              <a:buNone/>
            </a:pPr>
            <a:r>
              <a:rPr lang="en-US" sz="1100" b="1" dirty="0">
                <a:solidFill>
                  <a:srgbClr val="E8871E"/>
                </a:solidFill>
                <a:latin typeface="Courier New" pitchFamily="34" charset="0"/>
                <a:ea typeface="Courier New" pitchFamily="34" charset="-122"/>
                <a:cs typeface="Courier New" pitchFamily="34" charset="-120"/>
              </a:rPr>
              <a:t>then</a:t>
            </a:r>
            <a:pPr indent="0" marL="0">
              <a:lnSpc>
                <a:spcPts val="1474"/>
              </a:lnSpc>
              <a:buNone/>
            </a:pPr>
            <a:r>
              <a:rPr lang="en-US" sz="1100" dirty="0">
                <a:solidFill>
                  <a:srgbClr val="E6EAF0"/>
                </a:solidFill>
                <a:latin typeface="Courier New" pitchFamily="34" charset="0"/>
                <a:ea typeface="Courier New" pitchFamily="34" charset="-122"/>
                <a:cs typeface="Courier New" pitchFamily="34" charset="-120"/>
              </a:rPr>
              <a:t> </a:t>
            </a:r>
            <a:pPr indent="0" marL="0">
              <a:lnSpc>
                <a:spcPts val="1474"/>
              </a:lnSpc>
              <a:buNone/>
            </a:pPr>
            <a:r>
              <a:rPr lang="en-US" sz="1100" b="1" dirty="0">
                <a:solidFill>
                  <a:srgbClr val="E8871E"/>
                </a:solidFill>
                <a:latin typeface="Courier New" pitchFamily="34" charset="0"/>
                <a:ea typeface="Courier New" pitchFamily="34" charset="-122"/>
                <a:cs typeface="Courier New" pitchFamily="34" charset="-120"/>
              </a:rPr>
              <a:t>return</a:t>
            </a:r>
            <a:pPr indent="0" marL="0">
              <a:lnSpc>
                <a:spcPts val="1474"/>
              </a:lnSpc>
              <a:buNone/>
            </a:pPr>
            <a:r>
              <a:rPr lang="en-US" sz="1100" dirty="0">
                <a:solidFill>
                  <a:srgbClr val="E6EAF0"/>
                </a:solidFill>
                <a:latin typeface="Courier New" pitchFamily="34" charset="0"/>
                <a:ea typeface="Courier New" pitchFamily="34" charset="-122"/>
                <a:cs typeface="Courier New" pitchFamily="34" charset="-120"/>
              </a:rPr>
              <a:t> mid;</a:t>
            </a:r>
            <a:endParaRPr lang="en-US" sz="1100" dirty="0"/>
          </a:p>
          <a:p>
            <a:pPr indent="0" marL="0">
              <a:lnSpc>
                <a:spcPts val="1474"/>
              </a:lnSpc>
              <a:buNone/>
            </a:pPr>
            <a:r>
              <a:rPr lang="en-US" sz="1100" dirty="0">
                <a:solidFill>
                  <a:srgbClr val="E6EAF0"/>
                </a:solidFill>
                <a:latin typeface="Courier New" pitchFamily="34" charset="0"/>
                <a:ea typeface="Courier New" pitchFamily="34" charset="-122"/>
                <a:cs typeface="Courier New" pitchFamily="34" charset="-120"/>
              </a:rPr>
              <a:t>      </a:t>
            </a:r>
            <a:pPr indent="0" marL="0">
              <a:lnSpc>
                <a:spcPts val="1474"/>
              </a:lnSpc>
              <a:buNone/>
            </a:pPr>
            <a:r>
              <a:rPr lang="en-US" sz="1100" b="1" dirty="0">
                <a:solidFill>
                  <a:srgbClr val="E8871E"/>
                </a:solidFill>
                <a:latin typeface="Courier New" pitchFamily="34" charset="0"/>
                <a:ea typeface="Courier New" pitchFamily="34" charset="-122"/>
                <a:cs typeface="Courier New" pitchFamily="34" charset="-120"/>
              </a:rPr>
              <a:t>else</a:t>
            </a:r>
            <a:pPr indent="0" marL="0">
              <a:lnSpc>
                <a:spcPts val="1474"/>
              </a:lnSpc>
              <a:buNone/>
            </a:pPr>
            <a:r>
              <a:rPr lang="en-US" sz="1100" dirty="0">
                <a:solidFill>
                  <a:srgbClr val="E6EAF0"/>
                </a:solidFill>
                <a:latin typeface="Courier New" pitchFamily="34" charset="0"/>
                <a:ea typeface="Courier New" pitchFamily="34" charset="-122"/>
                <a:cs typeface="Courier New" pitchFamily="34" charset="-120"/>
              </a:rPr>
              <a:t> </a:t>
            </a:r>
            <a:pPr indent="0" marL="0">
              <a:lnSpc>
                <a:spcPts val="1474"/>
              </a:lnSpc>
              <a:buNone/>
            </a:pPr>
            <a:r>
              <a:rPr lang="en-US" sz="1100" b="1" dirty="0">
                <a:solidFill>
                  <a:srgbClr val="E8871E"/>
                </a:solidFill>
                <a:latin typeface="Courier New" pitchFamily="34" charset="0"/>
                <a:ea typeface="Courier New" pitchFamily="34" charset="-122"/>
                <a:cs typeface="Courier New" pitchFamily="34" charset="-120"/>
              </a:rPr>
              <a:t>if</a:t>
            </a:r>
            <a:pPr indent="0" marL="0">
              <a:lnSpc>
                <a:spcPts val="1474"/>
              </a:lnSpc>
              <a:buNone/>
            </a:pPr>
            <a:r>
              <a:rPr lang="en-US" sz="1100" dirty="0">
                <a:solidFill>
                  <a:srgbClr val="E6EAF0"/>
                </a:solidFill>
                <a:latin typeface="Courier New" pitchFamily="34" charset="0"/>
                <a:ea typeface="Courier New" pitchFamily="34" charset="-122"/>
                <a:cs typeface="Courier New" pitchFamily="34" charset="-120"/>
              </a:rPr>
              <a:t> a[mid] &lt; key </a:t>
            </a:r>
            <a:pPr indent="0" marL="0">
              <a:lnSpc>
                <a:spcPts val="1474"/>
              </a:lnSpc>
              <a:buNone/>
            </a:pPr>
            <a:r>
              <a:rPr lang="en-US" sz="1100" b="1" dirty="0">
                <a:solidFill>
                  <a:srgbClr val="E8871E"/>
                </a:solidFill>
                <a:latin typeface="Courier New" pitchFamily="34" charset="0"/>
                <a:ea typeface="Courier New" pitchFamily="34" charset="-122"/>
                <a:cs typeface="Courier New" pitchFamily="34" charset="-120"/>
              </a:rPr>
              <a:t>then</a:t>
            </a:r>
            <a:endParaRPr lang="en-US" sz="1100" dirty="0"/>
          </a:p>
          <a:p>
            <a:pPr indent="0" marL="0">
              <a:lnSpc>
                <a:spcPts val="1474"/>
              </a:lnSpc>
              <a:buNone/>
            </a:pPr>
            <a:r>
              <a:rPr lang="en-US" sz="1100" dirty="0">
                <a:solidFill>
                  <a:srgbClr val="E6EAF0"/>
                </a:solidFill>
                <a:latin typeface="Courier New" pitchFamily="34" charset="0"/>
                <a:ea typeface="Courier New" pitchFamily="34" charset="-122"/>
                <a:cs typeface="Courier New" pitchFamily="34" charset="-120"/>
              </a:rPr>
              <a:t>         low := mid + 1;   </a:t>
            </a:r>
            <a:pPr indent="0" marL="0">
              <a:lnSpc>
                <a:spcPts val="1474"/>
              </a:lnSpc>
              <a:buNone/>
            </a:pPr>
            <a:r>
              <a:rPr lang="en-US" sz="1100" i="1" dirty="0">
                <a:solidFill>
                  <a:srgbClr val="7C8798"/>
                </a:solidFill>
                <a:latin typeface="Courier New" pitchFamily="34" charset="0"/>
                <a:ea typeface="Courier New" pitchFamily="34" charset="-122"/>
                <a:cs typeface="Courier New" pitchFamily="34" charset="-120"/>
              </a:rPr>
              <a:t>// right half</a:t>
            </a:r>
            <a:endParaRPr lang="en-US" sz="1100" dirty="0"/>
          </a:p>
          <a:p>
            <a:pPr indent="0" marL="0">
              <a:lnSpc>
                <a:spcPts val="1474"/>
              </a:lnSpc>
              <a:buNone/>
            </a:pPr>
            <a:r>
              <a:rPr lang="en-US" sz="1100" dirty="0">
                <a:solidFill>
                  <a:srgbClr val="E6EAF0"/>
                </a:solidFill>
                <a:latin typeface="Courier New" pitchFamily="34" charset="0"/>
                <a:ea typeface="Courier New" pitchFamily="34" charset="-122"/>
                <a:cs typeface="Courier New" pitchFamily="34" charset="-120"/>
              </a:rPr>
              <a:t>      </a:t>
            </a:r>
            <a:pPr indent="0" marL="0">
              <a:lnSpc>
                <a:spcPts val="1474"/>
              </a:lnSpc>
              <a:buNone/>
            </a:pPr>
            <a:r>
              <a:rPr lang="en-US" sz="1100" b="1" dirty="0">
                <a:solidFill>
                  <a:srgbClr val="E8871E"/>
                </a:solidFill>
                <a:latin typeface="Courier New" pitchFamily="34" charset="0"/>
                <a:ea typeface="Courier New" pitchFamily="34" charset="-122"/>
                <a:cs typeface="Courier New" pitchFamily="34" charset="-120"/>
              </a:rPr>
              <a:t>else</a:t>
            </a:r>
            <a:pPr indent="0" marL="0">
              <a:lnSpc>
                <a:spcPts val="1474"/>
              </a:lnSpc>
              <a:buNone/>
            </a:pPr>
            <a:r>
              <a:rPr lang="en-US" sz="1100" dirty="0">
                <a:solidFill>
                  <a:srgbClr val="E6EAF0"/>
                </a:solidFill>
                <a:latin typeface="Courier New" pitchFamily="34" charset="0"/>
                <a:ea typeface="Courier New" pitchFamily="34" charset="-122"/>
                <a:cs typeface="Courier New" pitchFamily="34" charset="-120"/>
              </a:rPr>
              <a:t> high := mid – 1; </a:t>
            </a:r>
            <a:pPr indent="0" marL="0">
              <a:lnSpc>
                <a:spcPts val="1474"/>
              </a:lnSpc>
              <a:buNone/>
            </a:pPr>
            <a:r>
              <a:rPr lang="en-US" sz="1100" i="1" dirty="0">
                <a:solidFill>
                  <a:srgbClr val="7C8798"/>
                </a:solidFill>
                <a:latin typeface="Courier New" pitchFamily="34" charset="0"/>
                <a:ea typeface="Courier New" pitchFamily="34" charset="-122"/>
                <a:cs typeface="Courier New" pitchFamily="34" charset="-120"/>
              </a:rPr>
              <a:t>// left half</a:t>
            </a:r>
            <a:endParaRPr lang="en-US" sz="1100" dirty="0"/>
          </a:p>
          <a:p>
            <a:pPr indent="0" marL="0">
              <a:lnSpc>
                <a:spcPts val="1474"/>
              </a:lnSpc>
              <a:buNone/>
            </a:pPr>
            <a:r>
              <a:rPr lang="en-US" sz="1100" dirty="0">
                <a:solidFill>
                  <a:srgbClr val="E6EAF0"/>
                </a:solidFill>
                <a:latin typeface="Courier New" pitchFamily="34" charset="0"/>
                <a:ea typeface="Courier New" pitchFamily="34" charset="-122"/>
                <a:cs typeface="Courier New" pitchFamily="34" charset="-120"/>
              </a:rPr>
              <a:t>   }</a:t>
            </a:r>
            <a:endParaRPr lang="en-US" sz="1100" dirty="0"/>
          </a:p>
          <a:p>
            <a:pPr indent="0" marL="0">
              <a:lnSpc>
                <a:spcPts val="1474"/>
              </a:lnSpc>
              <a:buNone/>
            </a:pPr>
            <a:r>
              <a:rPr lang="en-US" sz="1100" dirty="0">
                <a:solidFill>
                  <a:srgbClr val="E6EAF0"/>
                </a:solidFill>
                <a:latin typeface="Courier New" pitchFamily="34" charset="0"/>
                <a:ea typeface="Courier New" pitchFamily="34" charset="-122"/>
                <a:cs typeface="Courier New" pitchFamily="34" charset="-120"/>
              </a:rPr>
              <a:t>   </a:t>
            </a:r>
            <a:pPr indent="0" marL="0">
              <a:lnSpc>
                <a:spcPts val="1474"/>
              </a:lnSpc>
              <a:buNone/>
            </a:pPr>
            <a:r>
              <a:rPr lang="en-US" sz="1100" b="1" dirty="0">
                <a:solidFill>
                  <a:srgbClr val="E8871E"/>
                </a:solidFill>
                <a:latin typeface="Courier New" pitchFamily="34" charset="0"/>
                <a:ea typeface="Courier New" pitchFamily="34" charset="-122"/>
                <a:cs typeface="Courier New" pitchFamily="34" charset="-120"/>
              </a:rPr>
              <a:t>return</a:t>
            </a:r>
            <a:pPr indent="0" marL="0">
              <a:lnSpc>
                <a:spcPts val="1474"/>
              </a:lnSpc>
              <a:buNone/>
            </a:pPr>
            <a:r>
              <a:rPr lang="en-US" sz="1100" dirty="0">
                <a:solidFill>
                  <a:srgbClr val="E6EAF0"/>
                </a:solidFill>
                <a:latin typeface="Courier New" pitchFamily="34" charset="0"/>
                <a:ea typeface="Courier New" pitchFamily="34" charset="-122"/>
                <a:cs typeface="Courier New" pitchFamily="34" charset="-120"/>
              </a:rPr>
              <a:t> -1;</a:t>
            </a:r>
            <a:endParaRPr lang="en-US" sz="1100" dirty="0"/>
          </a:p>
          <a:p>
            <a:pPr indent="0" marL="0">
              <a:lnSpc>
                <a:spcPts val="1474"/>
              </a:lnSpc>
              <a:buNone/>
            </a:pPr>
            <a:r>
              <a:rPr lang="en-US" sz="1100" dirty="0">
                <a:solidFill>
                  <a:srgbClr val="E6EAF0"/>
                </a:solidFill>
                <a:latin typeface="Courier New" pitchFamily="34" charset="0"/>
                <a:ea typeface="Courier New" pitchFamily="34" charset="-122"/>
                <a:cs typeface="Courier New" pitchFamily="34" charset="-120"/>
              </a:rPr>
              <a:t>}</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245352" y="1298448"/>
          <a:ext cx="5303520" cy="914400"/>
        </p:xfrm>
        <a:graphic>
          <a:graphicData uri="http://schemas.openxmlformats.org/drawingml/2006/table">
            <a:tbl>
              <a:tblPr/>
              <a:tblGrid>
                <a:gridCol w="1965960"/>
                <a:gridCol w="3337560"/>
              </a:tblGrid>
              <a:tr h="41148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Aspect</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Result</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r>
              <a:tr h="411480">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Prerequisite</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Array must be sorted</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11480">
                <a:tc>
                  <a:txBody>
                    <a:bodyPr/>
                    <a:lstStyle/>
                    <a:p>
                      <a:pPr algn="l" indent="0" marL="0">
                        <a:buNone/>
                      </a:pPr>
                      <a:r>
                        <a:rPr lang="en-US" sz="1250" b="1" dirty="0">
                          <a:solidFill>
                            <a:srgbClr val="2E7D5B"/>
                          </a:solidFill>
                          <a:latin typeface="Calibri" pitchFamily="34" charset="0"/>
                          <a:ea typeface="Calibri" pitchFamily="34" charset="-122"/>
                          <a:cs typeface="Calibri" pitchFamily="34" charset="-120"/>
                        </a:rPr>
                        <a:t>Best case</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1 comparison — key at mid</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11480">
                <a:tc>
                  <a:txBody>
                    <a:bodyPr/>
                    <a:lstStyle/>
                    <a:p>
                      <a:pPr algn="l" indent="0" marL="0">
                        <a:buNone/>
                      </a:pPr>
                      <a:r>
                        <a:rPr lang="en-US" sz="1250" b="1" dirty="0">
                          <a:solidFill>
                            <a:srgbClr val="A85F0C"/>
                          </a:solidFill>
                          <a:latin typeface="Calibri" pitchFamily="34" charset="0"/>
                          <a:ea typeface="Calibri" pitchFamily="34" charset="-122"/>
                          <a:cs typeface="Calibri" pitchFamily="34" charset="-120"/>
                        </a:rPr>
                        <a:t>Average case</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 log₂ n – 1 — Θ(log n)</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11480">
                <a:tc>
                  <a:txBody>
                    <a:bodyPr/>
                    <a:lstStyle/>
                    <a:p>
                      <a:pPr algn="l" indent="0" marL="0">
                        <a:buNone/>
                      </a:pPr>
                      <a:r>
                        <a:rPr lang="en-US" sz="1250" b="1" dirty="0">
                          <a:solidFill>
                            <a:srgbClr val="B3261E"/>
                          </a:solidFill>
                          <a:latin typeface="Calibri" pitchFamily="34" charset="0"/>
                          <a:ea typeface="Calibri" pitchFamily="34" charset="-122"/>
                          <a:cs typeface="Calibri" pitchFamily="34" charset="-120"/>
                        </a:rPr>
                        <a:t>Worst case</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⌊log₂ n⌋ + 1 — O(log n)</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11480">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Auxiliary space</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O(1) iterative, O(log n) recursive</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11480">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Recurrence</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551"/>
                          </a:solidFill>
                          <a:latin typeface="Calibri" pitchFamily="34" charset="0"/>
                          <a:ea typeface="Calibri" pitchFamily="34" charset="-122"/>
                          <a:cs typeface="Calibri" pitchFamily="34" charset="-120"/>
                        </a:rPr>
                        <a:t>T(n) = T(n/2) + 1,  T(1) = 1</a:t>
                      </a:r>
                      <a:endParaRPr lang="en-US" sz="125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bl>
          </a:graphicData>
        </a:graphic>
      </p:graphicFrame>
      <p:sp>
        <p:nvSpPr>
          <p:cNvPr id="7" name="Shape 4"/>
          <p:cNvSpPr/>
          <p:nvPr/>
        </p:nvSpPr>
        <p:spPr>
          <a:xfrm>
            <a:off x="640080" y="4343400"/>
            <a:ext cx="5303520" cy="1645920"/>
          </a:xfrm>
          <a:prstGeom prst="roundRect">
            <a:avLst>
              <a:gd name="adj" fmla="val 3333"/>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8" name="Text 5"/>
          <p:cNvSpPr/>
          <p:nvPr/>
        </p:nvSpPr>
        <p:spPr>
          <a:xfrm>
            <a:off x="914400" y="4498848"/>
            <a:ext cx="4846320" cy="274320"/>
          </a:xfrm>
          <a:prstGeom prst="rect">
            <a:avLst/>
          </a:prstGeom>
          <a:noFill/>
          <a:ln/>
        </p:spPr>
        <p:txBody>
          <a:bodyPr wrap="square" lIns="0" tIns="0" rIns="0" bIns="0" rtlCol="0" anchor="t"/>
          <a:lstStyle/>
          <a:p>
            <a:pPr indent="0" marL="0">
              <a:buNone/>
            </a:pPr>
            <a:r>
              <a:rPr lang="en-US" sz="1500" b="1" dirty="0">
                <a:solidFill>
                  <a:srgbClr val="12161C"/>
                </a:solidFill>
                <a:latin typeface="Cambria" pitchFamily="34" charset="0"/>
                <a:ea typeface="Cambria" pitchFamily="34" charset="-122"/>
                <a:cs typeface="Cambria" pitchFamily="34" charset="-120"/>
              </a:rPr>
              <a:t>Trace: searching for 15 in { 4, 7, 9, 12, 15 }</a:t>
            </a:r>
            <a:endParaRPr lang="en-US" sz="1500" dirty="0"/>
          </a:p>
        </p:txBody>
      </p:sp>
      <p:sp>
        <p:nvSpPr>
          <p:cNvPr id="9" name="Text 6"/>
          <p:cNvSpPr/>
          <p:nvPr/>
        </p:nvSpPr>
        <p:spPr>
          <a:xfrm>
            <a:off x="914400" y="4864608"/>
            <a:ext cx="4846320" cy="731520"/>
          </a:xfrm>
          <a:prstGeom prst="rect">
            <a:avLst/>
          </a:prstGeom>
          <a:noFill/>
          <a:ln/>
        </p:spPr>
        <p:txBody>
          <a:bodyPr wrap="square" lIns="0" tIns="0" rIns="0" bIns="0" rtlCol="0" anchor="ctr"/>
          <a:lstStyle/>
          <a:p>
            <a:pPr indent="0" marL="0">
              <a:lnSpc>
                <a:spcPts val="1700"/>
              </a:lnSpc>
              <a:buNone/>
            </a:pPr>
            <a:r>
              <a:rPr lang="en-US" sz="1050" dirty="0">
                <a:solidFill>
                  <a:srgbClr val="3A4551"/>
                </a:solidFill>
                <a:latin typeface="Courier New" pitchFamily="34" charset="0"/>
                <a:ea typeface="Courier New" pitchFamily="34" charset="-122"/>
                <a:cs typeface="Courier New" pitchFamily="34" charset="-120"/>
              </a:rPr>
              <a:t>low=1 high=5  mid=3  a[3]=9  &lt; 15  → low=4</a:t>
            </a:r>
            <a:endParaRPr lang="en-US" sz="1050" dirty="0"/>
          </a:p>
          <a:p>
            <a:pPr indent="0" marL="0">
              <a:lnSpc>
                <a:spcPts val="1700"/>
              </a:lnSpc>
              <a:buNone/>
            </a:pPr>
            <a:r>
              <a:rPr lang="en-US" sz="1050" dirty="0">
                <a:solidFill>
                  <a:srgbClr val="3A4551"/>
                </a:solidFill>
                <a:latin typeface="Courier New" pitchFamily="34" charset="0"/>
                <a:ea typeface="Courier New" pitchFamily="34" charset="-122"/>
                <a:cs typeface="Courier New" pitchFamily="34" charset="-120"/>
              </a:rPr>
              <a:t>low=4 high=5  mid=4  a[4]=12 &lt; 15  → low=5</a:t>
            </a:r>
            <a:endParaRPr lang="en-US" sz="1050" dirty="0"/>
          </a:p>
          <a:p>
            <a:pPr indent="0" marL="0">
              <a:lnSpc>
                <a:spcPts val="1700"/>
              </a:lnSpc>
              <a:buNone/>
            </a:pPr>
            <a:r>
              <a:rPr lang="en-US" sz="1050" b="1" dirty="0">
                <a:solidFill>
                  <a:srgbClr val="2E7D5B"/>
                </a:solidFill>
                <a:latin typeface="Courier New" pitchFamily="34" charset="0"/>
                <a:ea typeface="Courier New" pitchFamily="34" charset="-122"/>
                <a:cs typeface="Courier New" pitchFamily="34" charset="-120"/>
              </a:rPr>
              <a:t>low=5 high=5  mid=5  a[5]=15 = 15  → found</a:t>
            </a:r>
            <a:endParaRPr lang="en-US" sz="1050" dirty="0"/>
          </a:p>
        </p:txBody>
      </p:sp>
      <p:sp>
        <p:nvSpPr>
          <p:cNvPr id="10" name="Text 7"/>
          <p:cNvSpPr/>
          <p:nvPr/>
        </p:nvSpPr>
        <p:spPr>
          <a:xfrm>
            <a:off x="914400" y="5559552"/>
            <a:ext cx="4846320" cy="365760"/>
          </a:xfrm>
          <a:prstGeom prst="rect">
            <a:avLst/>
          </a:prstGeom>
          <a:noFill/>
          <a:ln/>
        </p:spPr>
        <p:txBody>
          <a:bodyPr wrap="square" lIns="0" tIns="0" rIns="0" bIns="0" rtlCol="0" anchor="t"/>
          <a:lstStyle/>
          <a:p>
            <a:pPr indent="0" marL="0">
              <a:lnSpc>
                <a:spcPts val="1500"/>
              </a:lnSpc>
              <a:buNone/>
            </a:pPr>
            <a:r>
              <a:rPr lang="en-US" sz="1150" i="1" dirty="0">
                <a:solidFill>
                  <a:srgbClr val="6B7784"/>
                </a:solidFill>
                <a:latin typeface="Calibri" pitchFamily="34" charset="0"/>
                <a:ea typeface="Calibri" pitchFamily="34" charset="-122"/>
                <a:cs typeface="Calibri" pitchFamily="34" charset="-120"/>
              </a:rPr>
              <a:t>3 comparisons, against 5 for linear search — and the gap widens fast with n.</a:t>
            </a:r>
            <a:endParaRPr lang="en-US" sz="1150" dirty="0"/>
          </a:p>
        </p:txBody>
      </p:sp>
      <p:sp>
        <p:nvSpPr>
          <p:cNvPr id="11" name="Shape 8"/>
          <p:cNvSpPr/>
          <p:nvPr/>
        </p:nvSpPr>
        <p:spPr>
          <a:xfrm>
            <a:off x="6245352" y="4206240"/>
            <a:ext cx="5303520" cy="1508760"/>
          </a:xfrm>
          <a:prstGeom prst="roundRect">
            <a:avLst>
              <a:gd name="adj" fmla="val 3636"/>
            </a:avLst>
          </a:prstGeom>
          <a:solidFill>
            <a:srgbClr val="FDF0E0"/>
          </a:solidFill>
          <a:ln w="12700">
            <a:solidFill>
              <a:srgbClr val="FDF0E0"/>
            </a:solidFill>
            <a:prstDash val="solid"/>
          </a:ln>
          <a:effectLst>
            <a:outerShdw sx="100000" sy="100000" kx="0" ky="0" algn="bl" rotWithShape="0" blurRad="127000" dist="25400" dir="5400000">
              <a:srgbClr val="9AA6B2">
                <a:alpha val="22000"/>
              </a:srgbClr>
            </a:outerShdw>
          </a:effectLst>
        </p:spPr>
      </p:sp>
      <p:sp>
        <p:nvSpPr>
          <p:cNvPr id="12" name="Text 9"/>
          <p:cNvSpPr/>
          <p:nvPr/>
        </p:nvSpPr>
        <p:spPr>
          <a:xfrm>
            <a:off x="6519672" y="4343400"/>
            <a:ext cx="4754880" cy="274320"/>
          </a:xfrm>
          <a:prstGeom prst="rect">
            <a:avLst/>
          </a:prstGeom>
          <a:noFill/>
          <a:ln/>
        </p:spPr>
        <p:txBody>
          <a:bodyPr wrap="square" lIns="0" tIns="0" rIns="0" bIns="0" rtlCol="0" anchor="t"/>
          <a:lstStyle/>
          <a:p>
            <a:pPr indent="0" marL="0">
              <a:buNone/>
            </a:pPr>
            <a:r>
              <a:rPr lang="en-US" sz="1300" b="1" dirty="0">
                <a:solidFill>
                  <a:srgbClr val="A85F0C"/>
                </a:solidFill>
                <a:latin typeface="Calibri" pitchFamily="34" charset="0"/>
                <a:ea typeface="Calibri" pitchFamily="34" charset="-122"/>
                <a:cs typeface="Calibri" pitchFamily="34" charset="-120"/>
              </a:rPr>
              <a:t>Why log₂ n?</a:t>
            </a:r>
            <a:endParaRPr lang="en-US" sz="1300" dirty="0"/>
          </a:p>
        </p:txBody>
      </p:sp>
      <p:sp>
        <p:nvSpPr>
          <p:cNvPr id="13" name="Text 10"/>
          <p:cNvSpPr/>
          <p:nvPr/>
        </p:nvSpPr>
        <p:spPr>
          <a:xfrm>
            <a:off x="6519672" y="4663440"/>
            <a:ext cx="4800600" cy="960120"/>
          </a:xfrm>
          <a:prstGeom prst="rect">
            <a:avLst/>
          </a:prstGeom>
          <a:noFill/>
          <a:ln/>
        </p:spPr>
        <p:txBody>
          <a:bodyPr wrap="square" lIns="0" tIns="0" rIns="0" bIns="0" rtlCol="0" anchor="ctr"/>
          <a:lstStyle/>
          <a:p>
            <a:pPr indent="0" marL="0">
              <a:lnSpc>
                <a:spcPts val="1800"/>
              </a:lnSpc>
              <a:buNone/>
            </a:pPr>
            <a:r>
              <a:rPr lang="en-US" sz="1250" dirty="0">
                <a:solidFill>
                  <a:srgbClr val="3A4551"/>
                </a:solidFill>
                <a:latin typeface="Calibri" pitchFamily="34" charset="0"/>
                <a:ea typeface="Calibri" pitchFamily="34" charset="-122"/>
                <a:cs typeface="Calibri" pitchFamily="34" charset="-120"/>
              </a:rPr>
              <a:t>After k halvings the search space is n / 2ᵏ.</a:t>
            </a:r>
            <a:endParaRPr lang="en-US" sz="1250" dirty="0"/>
          </a:p>
          <a:p>
            <a:pPr indent="0" marL="0">
              <a:lnSpc>
                <a:spcPts val="1800"/>
              </a:lnSpc>
              <a:buNone/>
            </a:pPr>
            <a:r>
              <a:rPr lang="en-US" sz="1250" dirty="0">
                <a:solidFill>
                  <a:srgbClr val="3A4551"/>
                </a:solidFill>
                <a:latin typeface="Calibri" pitchFamily="34" charset="0"/>
                <a:ea typeface="Calibri" pitchFamily="34" charset="-122"/>
                <a:cs typeface="Calibri" pitchFamily="34" charset="-120"/>
              </a:rPr>
              <a:t>It ends when n / 2ᵏ = 1, i.e. 2ᵏ = n,</a:t>
            </a:r>
            <a:endParaRPr lang="en-US" sz="1250" dirty="0"/>
          </a:p>
          <a:p>
            <a:pPr indent="0" marL="0">
              <a:lnSpc>
                <a:spcPts val="1800"/>
              </a:lnSpc>
              <a:buNone/>
            </a:pPr>
            <a:r>
              <a:rPr lang="en-US" sz="1250" b="1" dirty="0">
                <a:solidFill>
                  <a:srgbClr val="A85F0C"/>
                </a:solidFill>
                <a:latin typeface="Calibri" pitchFamily="34" charset="0"/>
                <a:ea typeface="Calibri" pitchFamily="34" charset="-122"/>
                <a:cs typeface="Calibri" pitchFamily="34" charset="-120"/>
              </a:rPr>
              <a:t>so k = log₂ n comparisons at most.</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COMPARISON</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Linear Search vs Binary Search</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40080" y="1298448"/>
          <a:ext cx="6035040" cy="914400"/>
        </p:xfrm>
        <a:graphic>
          <a:graphicData uri="http://schemas.openxmlformats.org/drawingml/2006/table">
            <a:tbl>
              <a:tblPr/>
              <a:tblGrid>
                <a:gridCol w="1783080"/>
                <a:gridCol w="2148840"/>
                <a:gridCol w="2103120"/>
              </a:tblGrid>
              <a:tr h="42976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Criterion</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Linear Search</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Binary Search</a:t>
                      </a:r>
                      <a:endParaRPr lang="en-US" sz="13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B2129"/>
                    </a:solidFill>
                  </a:tcPr>
                </a:tc>
              </a:tr>
              <a:tr h="429768">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Data required</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Unsorted is fine</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Must be sorted</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29768">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Strategy</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Sequential scan</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Divide and conquer</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29768">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Best case</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Ω(1)</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Ω(1)</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29768">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Average case</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Θ(n)</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Θ(log n)</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29768">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Worst case</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O(n)</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O(log n)</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29768">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Space (iterative)</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O(1)</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O(1)</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29768">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n = 1,000,000</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1,000,000 checks</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20 checks</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r h="429768">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Best used when</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n small, or one-off search</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4551"/>
                          </a:solidFill>
                          <a:latin typeface="Calibri" pitchFamily="34" charset="0"/>
                          <a:ea typeface="Calibri" pitchFamily="34" charset="-122"/>
                          <a:cs typeface="Calibri" pitchFamily="34" charset="-120"/>
                        </a:rPr>
                        <a:t>n large, many repeated searches</a:t>
                      </a:r>
                      <a:endParaRPr lang="en-US" sz="1200" dirty="0">
                        <a:latin typeface="Calibri" charset="0"/>
                        <a:ea typeface="Calibri" charset="0"/>
                        <a:cs typeface="Calibri" charset="0"/>
                      </a:endParaRPr>
                    </a:p>
                  </a:txBody>
                  <a:tcPr marL="101600" marR="101600" marT="50800" marB="5080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FFFFFF"/>
                    </a:solidFill>
                  </a:tcPr>
                </a:tc>
              </a:tr>
            </a:tbl>
          </a:graphicData>
        </a:graphic>
      </p:graphicFrame>
      <p:graphicFrame>
        <p:nvGraphicFramePr>
          <p:cNvPr id="5" name="Chart 0" descr=""/>
          <p:cNvGraphicFramePr/>
          <p:nvPr/>
        </p:nvGraphicFramePr>
        <p:xfrm>
          <a:off x="6949440" y="1298448"/>
          <a:ext cx="4599432" cy="3200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949440" y="4645152"/>
            <a:ext cx="4599432" cy="1097280"/>
          </a:xfrm>
          <a:prstGeom prst="roundRect">
            <a:avLst>
              <a:gd name="adj" fmla="val 5000"/>
            </a:avLst>
          </a:prstGeom>
          <a:solidFill>
            <a:srgbClr val="1B2129"/>
          </a:solidFill>
          <a:ln/>
          <a:effectLst>
            <a:outerShdw sx="100000" sy="100000" kx="0" ky="0" algn="bl" rotWithShape="0" blurRad="127000" dist="25400" dir="5400000">
              <a:srgbClr val="9AA6B2">
                <a:alpha val="22000"/>
              </a:srgbClr>
            </a:outerShdw>
          </a:effectLst>
        </p:spPr>
      </p:sp>
      <p:sp>
        <p:nvSpPr>
          <p:cNvPr id="7" name="Text 3"/>
          <p:cNvSpPr/>
          <p:nvPr/>
        </p:nvSpPr>
        <p:spPr>
          <a:xfrm>
            <a:off x="7223760" y="4773168"/>
            <a:ext cx="4114800" cy="256032"/>
          </a:xfrm>
          <a:prstGeom prst="rect">
            <a:avLst/>
          </a:prstGeom>
          <a:noFill/>
          <a:ln/>
        </p:spPr>
        <p:txBody>
          <a:bodyPr wrap="square" lIns="0" tIns="0" rIns="0" bIns="0" rtlCol="0" anchor="t"/>
          <a:lstStyle/>
          <a:p>
            <a:pPr indent="0" marL="0">
              <a:buNone/>
            </a:pPr>
            <a:r>
              <a:rPr lang="en-US" sz="1250" b="1" dirty="0">
                <a:solidFill>
                  <a:srgbClr val="E8871E"/>
                </a:solidFill>
                <a:latin typeface="Calibri" pitchFamily="34" charset="0"/>
                <a:ea typeface="Calibri" pitchFamily="34" charset="-122"/>
                <a:cs typeface="Calibri" pitchFamily="34" charset="-120"/>
              </a:rPr>
              <a:t>The break-even question</a:t>
            </a:r>
            <a:endParaRPr lang="en-US" sz="1250" dirty="0"/>
          </a:p>
        </p:txBody>
      </p:sp>
      <p:sp>
        <p:nvSpPr>
          <p:cNvPr id="8" name="Text 4"/>
          <p:cNvSpPr/>
          <p:nvPr/>
        </p:nvSpPr>
        <p:spPr>
          <a:xfrm>
            <a:off x="7223760" y="5056632"/>
            <a:ext cx="4069080" cy="640080"/>
          </a:xfrm>
          <a:prstGeom prst="rect">
            <a:avLst/>
          </a:prstGeom>
          <a:noFill/>
          <a:ln/>
        </p:spPr>
        <p:txBody>
          <a:bodyPr wrap="square" lIns="0" tIns="0" rIns="0" bIns="0" rtlCol="0" anchor="t"/>
          <a:lstStyle/>
          <a:p>
            <a:pPr indent="0" marL="0">
              <a:lnSpc>
                <a:spcPts val="1500"/>
              </a:lnSpc>
              <a:buNone/>
            </a:pPr>
            <a:r>
              <a:rPr lang="en-US" sz="1150" dirty="0">
                <a:solidFill>
                  <a:srgbClr val="C9D2DC"/>
                </a:solidFill>
                <a:latin typeface="Calibri" pitchFamily="34" charset="0"/>
                <a:ea typeface="Calibri" pitchFamily="34" charset="-122"/>
                <a:cs typeface="Calibri" pitchFamily="34" charset="-120"/>
              </a:rPr>
              <a:t>Sorting costs O(n log n). For a single search, linear wins. For k searches, sorting pays off once k · n exceeds n log n + k log n.</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PROBLEM-SOLVING SESSION</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Your turn — work these on paper</a:t>
            </a:r>
            <a:endParaRPr lang="en-US" sz="3000" dirty="0"/>
          </a:p>
        </p:txBody>
      </p:sp>
      <p:sp>
        <p:nvSpPr>
          <p:cNvPr id="4" name="Shape 2"/>
          <p:cNvSpPr/>
          <p:nvPr/>
        </p:nvSpPr>
        <p:spPr>
          <a:xfrm>
            <a:off x="640080" y="1298448"/>
            <a:ext cx="5303520" cy="1325880"/>
          </a:xfrm>
          <a:prstGeom prst="roundRect">
            <a:avLst>
              <a:gd name="adj" fmla="val 4138"/>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5" name="Shape 3"/>
          <p:cNvSpPr/>
          <p:nvPr/>
        </p:nvSpPr>
        <p:spPr>
          <a:xfrm>
            <a:off x="896112" y="1536192"/>
            <a:ext cx="420624" cy="420624"/>
          </a:xfrm>
          <a:prstGeom prst="ellipse">
            <a:avLst/>
          </a:prstGeom>
          <a:solidFill>
            <a:srgbClr val="1B2129"/>
          </a:solidFill>
          <a:ln/>
        </p:spPr>
      </p:sp>
      <p:sp>
        <p:nvSpPr>
          <p:cNvPr id="6" name="Text 4"/>
          <p:cNvSpPr/>
          <p:nvPr/>
        </p:nvSpPr>
        <p:spPr>
          <a:xfrm>
            <a:off x="896112" y="1536192"/>
            <a:ext cx="420624" cy="420624"/>
          </a:xfrm>
          <a:prstGeom prst="rect">
            <a:avLst/>
          </a:prstGeom>
          <a:noFill/>
          <a:ln/>
        </p:spPr>
        <p:txBody>
          <a:bodyPr wrap="square" lIns="0" tIns="0" rIns="0" bIns="0" rtlCol="0" anchor="ctr"/>
          <a:lstStyle/>
          <a:p>
            <a:pPr algn="ctr" indent="0" marL="0">
              <a:buNone/>
            </a:pPr>
            <a:r>
              <a:rPr lang="en-US" sz="1200" b="1" dirty="0">
                <a:solidFill>
                  <a:srgbClr val="E8871E"/>
                </a:solidFill>
                <a:latin typeface="Calibri" pitchFamily="34" charset="0"/>
                <a:ea typeface="Calibri" pitchFamily="34" charset="-122"/>
                <a:cs typeface="Calibri" pitchFamily="34" charset="-120"/>
              </a:rPr>
              <a:t>Q1</a:t>
            </a:r>
            <a:endParaRPr lang="en-US" sz="1200" dirty="0"/>
          </a:p>
        </p:txBody>
      </p:sp>
      <p:sp>
        <p:nvSpPr>
          <p:cNvPr id="7" name="Text 5"/>
          <p:cNvSpPr/>
          <p:nvPr/>
        </p:nvSpPr>
        <p:spPr>
          <a:xfrm>
            <a:off x="1444752" y="1481328"/>
            <a:ext cx="4297680" cy="749808"/>
          </a:xfrm>
          <a:prstGeom prst="rect">
            <a:avLst/>
          </a:prstGeom>
          <a:noFill/>
          <a:ln/>
        </p:spPr>
        <p:txBody>
          <a:bodyPr wrap="square" lIns="0" tIns="0" rIns="0" bIns="0" rtlCol="0" anchor="t"/>
          <a:lstStyle/>
          <a:p>
            <a:pPr indent="0" marL="0">
              <a:lnSpc>
                <a:spcPts val="1550"/>
              </a:lnSpc>
              <a:buNone/>
            </a:pPr>
            <a:r>
              <a:rPr lang="en-US" sz="1200" dirty="0">
                <a:solidFill>
                  <a:srgbClr val="12161C"/>
                </a:solidFill>
                <a:latin typeface="Calibri" pitchFamily="34" charset="0"/>
                <a:ea typeface="Calibri" pitchFamily="34" charset="-122"/>
                <a:cs typeface="Calibri" pitchFamily="34" charset="-120"/>
              </a:rPr>
              <a:t>Find the frequency count and complexity of:</a:t>
            </a:r>
            <a:endParaRPr lang="en-US" sz="1200" dirty="0"/>
          </a:p>
          <a:p>
            <a:pPr indent="0" marL="0">
              <a:lnSpc>
                <a:spcPts val="1550"/>
              </a:lnSpc>
              <a:buNone/>
            </a:pPr>
            <a:r>
              <a:rPr lang="en-US" sz="1200" dirty="0">
                <a:solidFill>
                  <a:srgbClr val="12161C"/>
                </a:solidFill>
                <a:latin typeface="Calibri" pitchFamily="34" charset="0"/>
                <a:ea typeface="Calibri" pitchFamily="34" charset="-122"/>
                <a:cs typeface="Calibri" pitchFamily="34" charset="-120"/>
              </a:rPr>
              <a:t>for i:=1 to n do  for j:=1 to i do  x := x + 1;</a:t>
            </a:r>
            <a:endParaRPr lang="en-US" sz="1200" dirty="0"/>
          </a:p>
        </p:txBody>
      </p:sp>
      <p:sp>
        <p:nvSpPr>
          <p:cNvPr id="8" name="Text 6"/>
          <p:cNvSpPr/>
          <p:nvPr/>
        </p:nvSpPr>
        <p:spPr>
          <a:xfrm>
            <a:off x="1444752" y="2267712"/>
            <a:ext cx="4297680" cy="256032"/>
          </a:xfrm>
          <a:prstGeom prst="rect">
            <a:avLst/>
          </a:prstGeom>
          <a:noFill/>
          <a:ln/>
        </p:spPr>
        <p:txBody>
          <a:bodyPr wrap="square" lIns="0" tIns="0" rIns="0" bIns="0" rtlCol="0" anchor="t"/>
          <a:lstStyle/>
          <a:p>
            <a:pPr indent="0" marL="0">
              <a:buNone/>
            </a:pPr>
            <a:r>
              <a:rPr lang="en-US" sz="1050" i="1" dirty="0">
                <a:solidFill>
                  <a:srgbClr val="0E7C86"/>
                </a:solidFill>
                <a:latin typeface="Calibri" pitchFamily="34" charset="0"/>
                <a:ea typeface="Calibri" pitchFamily="34" charset="-122"/>
                <a:cs typeface="Calibri" pitchFamily="34" charset="-120"/>
              </a:rPr>
              <a:t>Hint: 1+2+…+n</a:t>
            </a:r>
            <a:endParaRPr lang="en-US" sz="1050" dirty="0"/>
          </a:p>
        </p:txBody>
      </p:sp>
      <p:sp>
        <p:nvSpPr>
          <p:cNvPr id="9" name="Shape 7"/>
          <p:cNvSpPr/>
          <p:nvPr/>
        </p:nvSpPr>
        <p:spPr>
          <a:xfrm>
            <a:off x="6245352" y="1298448"/>
            <a:ext cx="5303520" cy="1325880"/>
          </a:xfrm>
          <a:prstGeom prst="roundRect">
            <a:avLst>
              <a:gd name="adj" fmla="val 4138"/>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10" name="Shape 8"/>
          <p:cNvSpPr/>
          <p:nvPr/>
        </p:nvSpPr>
        <p:spPr>
          <a:xfrm>
            <a:off x="6501384" y="1536192"/>
            <a:ext cx="420624" cy="420624"/>
          </a:xfrm>
          <a:prstGeom prst="ellipse">
            <a:avLst/>
          </a:prstGeom>
          <a:solidFill>
            <a:srgbClr val="1B2129"/>
          </a:solidFill>
          <a:ln/>
        </p:spPr>
      </p:sp>
      <p:sp>
        <p:nvSpPr>
          <p:cNvPr id="11" name="Text 9"/>
          <p:cNvSpPr/>
          <p:nvPr/>
        </p:nvSpPr>
        <p:spPr>
          <a:xfrm>
            <a:off x="6501384" y="1536192"/>
            <a:ext cx="420624" cy="420624"/>
          </a:xfrm>
          <a:prstGeom prst="rect">
            <a:avLst/>
          </a:prstGeom>
          <a:noFill/>
          <a:ln/>
        </p:spPr>
        <p:txBody>
          <a:bodyPr wrap="square" lIns="0" tIns="0" rIns="0" bIns="0" rtlCol="0" anchor="ctr"/>
          <a:lstStyle/>
          <a:p>
            <a:pPr algn="ctr" indent="0" marL="0">
              <a:buNone/>
            </a:pPr>
            <a:r>
              <a:rPr lang="en-US" sz="1200" b="1" dirty="0">
                <a:solidFill>
                  <a:srgbClr val="E8871E"/>
                </a:solidFill>
                <a:latin typeface="Calibri" pitchFamily="34" charset="0"/>
                <a:ea typeface="Calibri" pitchFamily="34" charset="-122"/>
                <a:cs typeface="Calibri" pitchFamily="34" charset="-120"/>
              </a:rPr>
              <a:t>Q2</a:t>
            </a:r>
            <a:endParaRPr lang="en-US" sz="1200" dirty="0"/>
          </a:p>
        </p:txBody>
      </p:sp>
      <p:sp>
        <p:nvSpPr>
          <p:cNvPr id="12" name="Text 10"/>
          <p:cNvSpPr/>
          <p:nvPr/>
        </p:nvSpPr>
        <p:spPr>
          <a:xfrm>
            <a:off x="7050024" y="1481328"/>
            <a:ext cx="4297680" cy="749808"/>
          </a:xfrm>
          <a:prstGeom prst="rect">
            <a:avLst/>
          </a:prstGeom>
          <a:noFill/>
          <a:ln/>
        </p:spPr>
        <p:txBody>
          <a:bodyPr wrap="square" lIns="0" tIns="0" rIns="0" bIns="0" rtlCol="0" anchor="t"/>
          <a:lstStyle/>
          <a:p>
            <a:pPr indent="0" marL="0">
              <a:lnSpc>
                <a:spcPts val="1550"/>
              </a:lnSpc>
              <a:buNone/>
            </a:pPr>
            <a:r>
              <a:rPr lang="en-US" sz="1200" dirty="0">
                <a:solidFill>
                  <a:srgbClr val="12161C"/>
                </a:solidFill>
                <a:latin typeface="Calibri" pitchFamily="34" charset="0"/>
                <a:ea typeface="Calibri" pitchFamily="34" charset="-122"/>
                <a:cs typeface="Calibri" pitchFamily="34" charset="-120"/>
              </a:rPr>
              <a:t>Prove 4n² + 5n + 3 = O(n²). State c and n₀.</a:t>
            </a:r>
            <a:endParaRPr lang="en-US" sz="1200" dirty="0"/>
          </a:p>
        </p:txBody>
      </p:sp>
      <p:sp>
        <p:nvSpPr>
          <p:cNvPr id="13" name="Text 11"/>
          <p:cNvSpPr/>
          <p:nvPr/>
        </p:nvSpPr>
        <p:spPr>
          <a:xfrm>
            <a:off x="7050024" y="2267712"/>
            <a:ext cx="4297680" cy="256032"/>
          </a:xfrm>
          <a:prstGeom prst="rect">
            <a:avLst/>
          </a:prstGeom>
          <a:noFill/>
          <a:ln/>
        </p:spPr>
        <p:txBody>
          <a:bodyPr wrap="square" lIns="0" tIns="0" rIns="0" bIns="0" rtlCol="0" anchor="t"/>
          <a:lstStyle/>
          <a:p>
            <a:pPr indent="0" marL="0">
              <a:buNone/>
            </a:pPr>
            <a:r>
              <a:rPr lang="en-US" sz="1050" i="1" dirty="0">
                <a:solidFill>
                  <a:srgbClr val="0E7C86"/>
                </a:solidFill>
                <a:latin typeface="Calibri" pitchFamily="34" charset="0"/>
                <a:ea typeface="Calibri" pitchFamily="34" charset="-122"/>
                <a:cs typeface="Calibri" pitchFamily="34" charset="-120"/>
              </a:rPr>
              <a:t>Hint: absorb the lower terms</a:t>
            </a:r>
            <a:endParaRPr lang="en-US" sz="1050" dirty="0"/>
          </a:p>
        </p:txBody>
      </p:sp>
      <p:sp>
        <p:nvSpPr>
          <p:cNvPr id="14" name="Shape 12"/>
          <p:cNvSpPr/>
          <p:nvPr/>
        </p:nvSpPr>
        <p:spPr>
          <a:xfrm>
            <a:off x="640080" y="2788920"/>
            <a:ext cx="5303520" cy="1325880"/>
          </a:xfrm>
          <a:prstGeom prst="roundRect">
            <a:avLst>
              <a:gd name="adj" fmla="val 4138"/>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15" name="Shape 13"/>
          <p:cNvSpPr/>
          <p:nvPr/>
        </p:nvSpPr>
        <p:spPr>
          <a:xfrm>
            <a:off x="896112" y="3026664"/>
            <a:ext cx="420624" cy="420624"/>
          </a:xfrm>
          <a:prstGeom prst="ellipse">
            <a:avLst/>
          </a:prstGeom>
          <a:solidFill>
            <a:srgbClr val="1B2129"/>
          </a:solidFill>
          <a:ln/>
        </p:spPr>
      </p:sp>
      <p:sp>
        <p:nvSpPr>
          <p:cNvPr id="16" name="Text 14"/>
          <p:cNvSpPr/>
          <p:nvPr/>
        </p:nvSpPr>
        <p:spPr>
          <a:xfrm>
            <a:off x="896112" y="3026664"/>
            <a:ext cx="420624" cy="420624"/>
          </a:xfrm>
          <a:prstGeom prst="rect">
            <a:avLst/>
          </a:prstGeom>
          <a:noFill/>
          <a:ln/>
        </p:spPr>
        <p:txBody>
          <a:bodyPr wrap="square" lIns="0" tIns="0" rIns="0" bIns="0" rtlCol="0" anchor="ctr"/>
          <a:lstStyle/>
          <a:p>
            <a:pPr algn="ctr" indent="0" marL="0">
              <a:buNone/>
            </a:pPr>
            <a:r>
              <a:rPr lang="en-US" sz="1200" b="1" dirty="0">
                <a:solidFill>
                  <a:srgbClr val="E8871E"/>
                </a:solidFill>
                <a:latin typeface="Calibri" pitchFamily="34" charset="0"/>
                <a:ea typeface="Calibri" pitchFamily="34" charset="-122"/>
                <a:cs typeface="Calibri" pitchFamily="34" charset="-120"/>
              </a:rPr>
              <a:t>Q3</a:t>
            </a:r>
            <a:endParaRPr lang="en-US" sz="1200" dirty="0"/>
          </a:p>
        </p:txBody>
      </p:sp>
      <p:sp>
        <p:nvSpPr>
          <p:cNvPr id="17" name="Text 15"/>
          <p:cNvSpPr/>
          <p:nvPr/>
        </p:nvSpPr>
        <p:spPr>
          <a:xfrm>
            <a:off x="1444752" y="2971800"/>
            <a:ext cx="4297680" cy="749808"/>
          </a:xfrm>
          <a:prstGeom prst="rect">
            <a:avLst/>
          </a:prstGeom>
          <a:noFill/>
          <a:ln/>
        </p:spPr>
        <p:txBody>
          <a:bodyPr wrap="square" lIns="0" tIns="0" rIns="0" bIns="0" rtlCol="0" anchor="t"/>
          <a:lstStyle/>
          <a:p>
            <a:pPr indent="0" marL="0">
              <a:lnSpc>
                <a:spcPts val="1550"/>
              </a:lnSpc>
              <a:buNone/>
            </a:pPr>
            <a:r>
              <a:rPr lang="en-US" sz="1200" dirty="0">
                <a:solidFill>
                  <a:srgbClr val="12161C"/>
                </a:solidFill>
                <a:latin typeface="Calibri" pitchFamily="34" charset="0"/>
                <a:ea typeface="Calibri" pitchFamily="34" charset="-122"/>
                <a:cs typeface="Calibri" pitchFamily="34" charset="-120"/>
              </a:rPr>
              <a:t>An array has 1024 sorted elements. What is the maximum number of comparisons for binary search? For linear search?</a:t>
            </a:r>
            <a:endParaRPr lang="en-US" sz="1200" dirty="0"/>
          </a:p>
        </p:txBody>
      </p:sp>
      <p:sp>
        <p:nvSpPr>
          <p:cNvPr id="18" name="Text 16"/>
          <p:cNvSpPr/>
          <p:nvPr/>
        </p:nvSpPr>
        <p:spPr>
          <a:xfrm>
            <a:off x="1444752" y="3758184"/>
            <a:ext cx="4297680" cy="256032"/>
          </a:xfrm>
          <a:prstGeom prst="rect">
            <a:avLst/>
          </a:prstGeom>
          <a:noFill/>
          <a:ln/>
        </p:spPr>
        <p:txBody>
          <a:bodyPr wrap="square" lIns="0" tIns="0" rIns="0" bIns="0" rtlCol="0" anchor="t"/>
          <a:lstStyle/>
          <a:p>
            <a:pPr indent="0" marL="0">
              <a:buNone/>
            </a:pPr>
            <a:r>
              <a:rPr lang="en-US" sz="1050" i="1" dirty="0">
                <a:solidFill>
                  <a:srgbClr val="0E7C86"/>
                </a:solidFill>
                <a:latin typeface="Calibri" pitchFamily="34" charset="0"/>
                <a:ea typeface="Calibri" pitchFamily="34" charset="-122"/>
                <a:cs typeface="Calibri" pitchFamily="34" charset="-120"/>
              </a:rPr>
              <a:t>Hint: 2¹⁰ = 1024</a:t>
            </a:r>
            <a:endParaRPr lang="en-US" sz="1050" dirty="0"/>
          </a:p>
        </p:txBody>
      </p:sp>
      <p:sp>
        <p:nvSpPr>
          <p:cNvPr id="19" name="Shape 17"/>
          <p:cNvSpPr/>
          <p:nvPr/>
        </p:nvSpPr>
        <p:spPr>
          <a:xfrm>
            <a:off x="6245352" y="2788920"/>
            <a:ext cx="5303520" cy="1325880"/>
          </a:xfrm>
          <a:prstGeom prst="roundRect">
            <a:avLst>
              <a:gd name="adj" fmla="val 4138"/>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20" name="Shape 18"/>
          <p:cNvSpPr/>
          <p:nvPr/>
        </p:nvSpPr>
        <p:spPr>
          <a:xfrm>
            <a:off x="6501384" y="3026664"/>
            <a:ext cx="420624" cy="420624"/>
          </a:xfrm>
          <a:prstGeom prst="ellipse">
            <a:avLst/>
          </a:prstGeom>
          <a:solidFill>
            <a:srgbClr val="1B2129"/>
          </a:solidFill>
          <a:ln/>
        </p:spPr>
      </p:sp>
      <p:sp>
        <p:nvSpPr>
          <p:cNvPr id="21" name="Text 19"/>
          <p:cNvSpPr/>
          <p:nvPr/>
        </p:nvSpPr>
        <p:spPr>
          <a:xfrm>
            <a:off x="6501384" y="3026664"/>
            <a:ext cx="420624" cy="420624"/>
          </a:xfrm>
          <a:prstGeom prst="rect">
            <a:avLst/>
          </a:prstGeom>
          <a:noFill/>
          <a:ln/>
        </p:spPr>
        <p:txBody>
          <a:bodyPr wrap="square" lIns="0" tIns="0" rIns="0" bIns="0" rtlCol="0" anchor="ctr"/>
          <a:lstStyle/>
          <a:p>
            <a:pPr algn="ctr" indent="0" marL="0">
              <a:buNone/>
            </a:pPr>
            <a:r>
              <a:rPr lang="en-US" sz="1200" b="1" dirty="0">
                <a:solidFill>
                  <a:srgbClr val="E8871E"/>
                </a:solidFill>
                <a:latin typeface="Calibri" pitchFamily="34" charset="0"/>
                <a:ea typeface="Calibri" pitchFamily="34" charset="-122"/>
                <a:cs typeface="Calibri" pitchFamily="34" charset="-120"/>
              </a:rPr>
              <a:t>Q4</a:t>
            </a:r>
            <a:endParaRPr lang="en-US" sz="1200" dirty="0"/>
          </a:p>
        </p:txBody>
      </p:sp>
      <p:sp>
        <p:nvSpPr>
          <p:cNvPr id="22" name="Text 20"/>
          <p:cNvSpPr/>
          <p:nvPr/>
        </p:nvSpPr>
        <p:spPr>
          <a:xfrm>
            <a:off x="7050024" y="2971800"/>
            <a:ext cx="4297680" cy="749808"/>
          </a:xfrm>
          <a:prstGeom prst="rect">
            <a:avLst/>
          </a:prstGeom>
          <a:noFill/>
          <a:ln/>
        </p:spPr>
        <p:txBody>
          <a:bodyPr wrap="square" lIns="0" tIns="0" rIns="0" bIns="0" rtlCol="0" anchor="t"/>
          <a:lstStyle/>
          <a:p>
            <a:pPr indent="0" marL="0">
              <a:lnSpc>
                <a:spcPts val="1550"/>
              </a:lnSpc>
              <a:buNone/>
            </a:pPr>
            <a:r>
              <a:rPr lang="en-US" sz="1200" dirty="0">
                <a:solidFill>
                  <a:srgbClr val="12161C"/>
                </a:solidFill>
                <a:latin typeface="Calibri" pitchFamily="34" charset="0"/>
                <a:ea typeface="Calibri" pitchFamily="34" charset="-122"/>
                <a:cs typeface="Calibri" pitchFamily="34" charset="-120"/>
              </a:rPr>
              <a:t>Give the time and auxiliary space complexity of recursive factorial(n).</a:t>
            </a:r>
            <a:endParaRPr lang="en-US" sz="1200" dirty="0"/>
          </a:p>
        </p:txBody>
      </p:sp>
      <p:sp>
        <p:nvSpPr>
          <p:cNvPr id="23" name="Text 21"/>
          <p:cNvSpPr/>
          <p:nvPr/>
        </p:nvSpPr>
        <p:spPr>
          <a:xfrm>
            <a:off x="7050024" y="3758184"/>
            <a:ext cx="4297680" cy="256032"/>
          </a:xfrm>
          <a:prstGeom prst="rect">
            <a:avLst/>
          </a:prstGeom>
          <a:noFill/>
          <a:ln/>
        </p:spPr>
        <p:txBody>
          <a:bodyPr wrap="square" lIns="0" tIns="0" rIns="0" bIns="0" rtlCol="0" anchor="t"/>
          <a:lstStyle/>
          <a:p>
            <a:pPr indent="0" marL="0">
              <a:buNone/>
            </a:pPr>
            <a:r>
              <a:rPr lang="en-US" sz="1050" i="1" dirty="0">
                <a:solidFill>
                  <a:srgbClr val="0E7C86"/>
                </a:solidFill>
                <a:latin typeface="Calibri" pitchFamily="34" charset="0"/>
                <a:ea typeface="Calibri" pitchFamily="34" charset="-122"/>
                <a:cs typeface="Calibri" pitchFamily="34" charset="-120"/>
              </a:rPr>
              <a:t>Hint: count the stack frames</a:t>
            </a:r>
            <a:endParaRPr lang="en-US" sz="1050" dirty="0"/>
          </a:p>
        </p:txBody>
      </p:sp>
      <p:sp>
        <p:nvSpPr>
          <p:cNvPr id="24" name="Shape 22"/>
          <p:cNvSpPr/>
          <p:nvPr/>
        </p:nvSpPr>
        <p:spPr>
          <a:xfrm>
            <a:off x="640080" y="4279392"/>
            <a:ext cx="5303520" cy="1325880"/>
          </a:xfrm>
          <a:prstGeom prst="roundRect">
            <a:avLst>
              <a:gd name="adj" fmla="val 4138"/>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25" name="Shape 23"/>
          <p:cNvSpPr/>
          <p:nvPr/>
        </p:nvSpPr>
        <p:spPr>
          <a:xfrm>
            <a:off x="896112" y="4517136"/>
            <a:ext cx="420624" cy="420624"/>
          </a:xfrm>
          <a:prstGeom prst="ellipse">
            <a:avLst/>
          </a:prstGeom>
          <a:solidFill>
            <a:srgbClr val="1B2129"/>
          </a:solidFill>
          <a:ln/>
        </p:spPr>
      </p:sp>
      <p:sp>
        <p:nvSpPr>
          <p:cNvPr id="26" name="Text 24"/>
          <p:cNvSpPr/>
          <p:nvPr/>
        </p:nvSpPr>
        <p:spPr>
          <a:xfrm>
            <a:off x="896112" y="4517136"/>
            <a:ext cx="420624" cy="420624"/>
          </a:xfrm>
          <a:prstGeom prst="rect">
            <a:avLst/>
          </a:prstGeom>
          <a:noFill/>
          <a:ln/>
        </p:spPr>
        <p:txBody>
          <a:bodyPr wrap="square" lIns="0" tIns="0" rIns="0" bIns="0" rtlCol="0" anchor="ctr"/>
          <a:lstStyle/>
          <a:p>
            <a:pPr algn="ctr" indent="0" marL="0">
              <a:buNone/>
            </a:pPr>
            <a:r>
              <a:rPr lang="en-US" sz="1200" b="1" dirty="0">
                <a:solidFill>
                  <a:srgbClr val="E8871E"/>
                </a:solidFill>
                <a:latin typeface="Calibri" pitchFamily="34" charset="0"/>
                <a:ea typeface="Calibri" pitchFamily="34" charset="-122"/>
                <a:cs typeface="Calibri" pitchFamily="34" charset="-120"/>
              </a:rPr>
              <a:t>Q5</a:t>
            </a:r>
            <a:endParaRPr lang="en-US" sz="1200" dirty="0"/>
          </a:p>
        </p:txBody>
      </p:sp>
      <p:sp>
        <p:nvSpPr>
          <p:cNvPr id="27" name="Text 25"/>
          <p:cNvSpPr/>
          <p:nvPr/>
        </p:nvSpPr>
        <p:spPr>
          <a:xfrm>
            <a:off x="1444752" y="4462272"/>
            <a:ext cx="4297680" cy="749808"/>
          </a:xfrm>
          <a:prstGeom prst="rect">
            <a:avLst/>
          </a:prstGeom>
          <a:noFill/>
          <a:ln/>
        </p:spPr>
        <p:txBody>
          <a:bodyPr wrap="square" lIns="0" tIns="0" rIns="0" bIns="0" rtlCol="0" anchor="t"/>
          <a:lstStyle/>
          <a:p>
            <a:pPr indent="0" marL="0">
              <a:lnSpc>
                <a:spcPts val="1550"/>
              </a:lnSpc>
              <a:buNone/>
            </a:pPr>
            <a:r>
              <a:rPr lang="en-US" sz="1200" dirty="0">
                <a:solidFill>
                  <a:srgbClr val="12161C"/>
                </a:solidFill>
                <a:latin typeface="Calibri" pitchFamily="34" charset="0"/>
                <a:ea typeface="Calibri" pitchFamily="34" charset="-122"/>
                <a:cs typeface="Calibri" pitchFamily="34" charset="-120"/>
              </a:rPr>
              <a:t>True or false: an O(n²) algorithm is always slower than an O(n log n) one.</a:t>
            </a:r>
            <a:endParaRPr lang="en-US" sz="1200" dirty="0"/>
          </a:p>
        </p:txBody>
      </p:sp>
      <p:sp>
        <p:nvSpPr>
          <p:cNvPr id="28" name="Text 26"/>
          <p:cNvSpPr/>
          <p:nvPr/>
        </p:nvSpPr>
        <p:spPr>
          <a:xfrm>
            <a:off x="1444752" y="5248656"/>
            <a:ext cx="4297680" cy="256032"/>
          </a:xfrm>
          <a:prstGeom prst="rect">
            <a:avLst/>
          </a:prstGeom>
          <a:noFill/>
          <a:ln/>
        </p:spPr>
        <p:txBody>
          <a:bodyPr wrap="square" lIns="0" tIns="0" rIns="0" bIns="0" rtlCol="0" anchor="t"/>
          <a:lstStyle/>
          <a:p>
            <a:pPr indent="0" marL="0">
              <a:buNone/>
            </a:pPr>
            <a:r>
              <a:rPr lang="en-US" sz="1050" i="1" dirty="0">
                <a:solidFill>
                  <a:srgbClr val="0E7C86"/>
                </a:solidFill>
                <a:latin typeface="Calibri" pitchFamily="34" charset="0"/>
                <a:ea typeface="Calibri" pitchFamily="34" charset="-122"/>
                <a:cs typeface="Calibri" pitchFamily="34" charset="-120"/>
              </a:rPr>
              <a:t>Hint: think about small n and constants</a:t>
            </a:r>
            <a:endParaRPr lang="en-US" sz="1050" dirty="0"/>
          </a:p>
        </p:txBody>
      </p:sp>
      <p:sp>
        <p:nvSpPr>
          <p:cNvPr id="29" name="Shape 27"/>
          <p:cNvSpPr/>
          <p:nvPr/>
        </p:nvSpPr>
        <p:spPr>
          <a:xfrm>
            <a:off x="6245352" y="4279392"/>
            <a:ext cx="5303520" cy="1325880"/>
          </a:xfrm>
          <a:prstGeom prst="roundRect">
            <a:avLst>
              <a:gd name="adj" fmla="val 4138"/>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30" name="Shape 28"/>
          <p:cNvSpPr/>
          <p:nvPr/>
        </p:nvSpPr>
        <p:spPr>
          <a:xfrm>
            <a:off x="6501384" y="4517136"/>
            <a:ext cx="420624" cy="420624"/>
          </a:xfrm>
          <a:prstGeom prst="ellipse">
            <a:avLst/>
          </a:prstGeom>
          <a:solidFill>
            <a:srgbClr val="1B2129"/>
          </a:solidFill>
          <a:ln/>
        </p:spPr>
      </p:sp>
      <p:sp>
        <p:nvSpPr>
          <p:cNvPr id="31" name="Text 29"/>
          <p:cNvSpPr/>
          <p:nvPr/>
        </p:nvSpPr>
        <p:spPr>
          <a:xfrm>
            <a:off x="6501384" y="4517136"/>
            <a:ext cx="420624" cy="420624"/>
          </a:xfrm>
          <a:prstGeom prst="rect">
            <a:avLst/>
          </a:prstGeom>
          <a:noFill/>
          <a:ln/>
        </p:spPr>
        <p:txBody>
          <a:bodyPr wrap="square" lIns="0" tIns="0" rIns="0" bIns="0" rtlCol="0" anchor="ctr"/>
          <a:lstStyle/>
          <a:p>
            <a:pPr algn="ctr" indent="0" marL="0">
              <a:buNone/>
            </a:pPr>
            <a:r>
              <a:rPr lang="en-US" sz="1200" b="1" dirty="0">
                <a:solidFill>
                  <a:srgbClr val="E8871E"/>
                </a:solidFill>
                <a:latin typeface="Calibri" pitchFamily="34" charset="0"/>
                <a:ea typeface="Calibri" pitchFamily="34" charset="-122"/>
                <a:cs typeface="Calibri" pitchFamily="34" charset="-120"/>
              </a:rPr>
              <a:t>Q6</a:t>
            </a:r>
            <a:endParaRPr lang="en-US" sz="1200" dirty="0"/>
          </a:p>
        </p:txBody>
      </p:sp>
      <p:sp>
        <p:nvSpPr>
          <p:cNvPr id="32" name="Text 30"/>
          <p:cNvSpPr/>
          <p:nvPr/>
        </p:nvSpPr>
        <p:spPr>
          <a:xfrm>
            <a:off x="7050024" y="4462272"/>
            <a:ext cx="4297680" cy="749808"/>
          </a:xfrm>
          <a:prstGeom prst="rect">
            <a:avLst/>
          </a:prstGeom>
          <a:noFill/>
          <a:ln/>
        </p:spPr>
        <p:txBody>
          <a:bodyPr wrap="square" lIns="0" tIns="0" rIns="0" bIns="0" rtlCol="0" anchor="t"/>
          <a:lstStyle/>
          <a:p>
            <a:pPr indent="0" marL="0">
              <a:lnSpc>
                <a:spcPts val="1550"/>
              </a:lnSpc>
              <a:buNone/>
            </a:pPr>
            <a:r>
              <a:rPr lang="en-US" sz="1200" dirty="0">
                <a:solidFill>
                  <a:srgbClr val="12161C"/>
                </a:solidFill>
                <a:latin typeface="Calibri" pitchFamily="34" charset="0"/>
                <a:ea typeface="Calibri" pitchFamily="34" charset="-122"/>
                <a:cs typeface="Calibri" pitchFamily="34" charset="-120"/>
              </a:rPr>
              <a:t>Order these by growth: n!, n², log n, n log n, 2ⁿ, n, 1.</a:t>
            </a:r>
            <a:endParaRPr lang="en-US" sz="1200" dirty="0"/>
          </a:p>
        </p:txBody>
      </p:sp>
      <p:sp>
        <p:nvSpPr>
          <p:cNvPr id="33" name="Text 31"/>
          <p:cNvSpPr/>
          <p:nvPr/>
        </p:nvSpPr>
        <p:spPr>
          <a:xfrm>
            <a:off x="7050024" y="5248656"/>
            <a:ext cx="4297680" cy="256032"/>
          </a:xfrm>
          <a:prstGeom prst="rect">
            <a:avLst/>
          </a:prstGeom>
          <a:noFill/>
          <a:ln/>
        </p:spPr>
        <p:txBody>
          <a:bodyPr wrap="square" lIns="0" tIns="0" rIns="0" bIns="0" rtlCol="0" anchor="t"/>
          <a:lstStyle/>
          <a:p>
            <a:pPr indent="0" marL="0">
              <a:buNone/>
            </a:pPr>
            <a:r>
              <a:rPr lang="en-US" sz="1050" i="1" dirty="0">
                <a:solidFill>
                  <a:srgbClr val="0E7C86"/>
                </a:solidFill>
                <a:latin typeface="Calibri" pitchFamily="34" charset="0"/>
                <a:ea typeface="Calibri" pitchFamily="34" charset="-122"/>
                <a:cs typeface="Calibri" pitchFamily="34" charset="-120"/>
              </a:rPr>
              <a:t>Hint: compare pairwise</a:t>
            </a:r>
            <a:endParaRPr lang="en-US" sz="1050" dirty="0"/>
          </a:p>
        </p:txBody>
      </p:sp>
      <p:sp>
        <p:nvSpPr>
          <p:cNvPr id="34" name="Text 32"/>
          <p:cNvSpPr/>
          <p:nvPr/>
        </p:nvSpPr>
        <p:spPr>
          <a:xfrm>
            <a:off x="640080" y="5852160"/>
            <a:ext cx="10881360" cy="274320"/>
          </a:xfrm>
          <a:prstGeom prst="rect">
            <a:avLst/>
          </a:prstGeom>
          <a:noFill/>
          <a:ln/>
        </p:spPr>
        <p:txBody>
          <a:bodyPr wrap="square" lIns="0" tIns="0" rIns="0" bIns="0" rtlCol="0" anchor="t"/>
          <a:lstStyle/>
          <a:p>
            <a:pPr indent="0" marL="0">
              <a:buNone/>
            </a:pPr>
            <a:r>
              <a:rPr lang="en-US" sz="1200" i="1" dirty="0">
                <a:solidFill>
                  <a:srgbClr val="6B7784"/>
                </a:solidFill>
                <a:latin typeface="Calibri" pitchFamily="34" charset="0"/>
                <a:ea typeface="Calibri" pitchFamily="34" charset="-122"/>
                <a:cs typeface="Calibri" pitchFamily="34" charset="-120"/>
              </a:rPr>
              <a:t>Discuss your answers with the person next to you before we take them on the board.</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WATCH OUT</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Six mistakes to avoid</a:t>
            </a:r>
            <a:endParaRPr lang="en-US" sz="3000" dirty="0"/>
          </a:p>
        </p:txBody>
      </p:sp>
      <p:sp>
        <p:nvSpPr>
          <p:cNvPr id="4" name="Shape 2"/>
          <p:cNvSpPr/>
          <p:nvPr/>
        </p:nvSpPr>
        <p:spPr>
          <a:xfrm>
            <a:off x="640080" y="1298448"/>
            <a:ext cx="5303520" cy="1325880"/>
          </a:xfrm>
          <a:prstGeom prst="roundRect">
            <a:avLst>
              <a:gd name="adj" fmla="val 4138"/>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5" name="Shape 3"/>
          <p:cNvSpPr/>
          <p:nvPr/>
        </p:nvSpPr>
        <p:spPr>
          <a:xfrm>
            <a:off x="896112" y="1536192"/>
            <a:ext cx="420624" cy="420624"/>
          </a:xfrm>
          <a:prstGeom prst="ellipse">
            <a:avLst/>
          </a:prstGeom>
          <a:solidFill>
            <a:srgbClr val="B3261E"/>
          </a:solidFill>
          <a:ln/>
        </p:spPr>
      </p:sp>
      <p:sp>
        <p:nvSpPr>
          <p:cNvPr id="6" name="Text 4"/>
          <p:cNvSpPr/>
          <p:nvPr/>
        </p:nvSpPr>
        <p:spPr>
          <a:xfrm>
            <a:off x="896112" y="1536192"/>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7" name="Text 5"/>
          <p:cNvSpPr/>
          <p:nvPr/>
        </p:nvSpPr>
        <p:spPr>
          <a:xfrm>
            <a:off x="1444752" y="1517904"/>
            <a:ext cx="4297680" cy="274320"/>
          </a:xfrm>
          <a:prstGeom prst="rect">
            <a:avLst/>
          </a:prstGeom>
          <a:noFill/>
          <a:ln/>
        </p:spPr>
        <p:txBody>
          <a:bodyPr wrap="square" lIns="0" tIns="0" rIns="0" bIns="0" rtlCol="0" anchor="t"/>
          <a:lstStyle/>
          <a:p>
            <a:pPr indent="0" marL="0">
              <a:buNone/>
            </a:pPr>
            <a:r>
              <a:rPr lang="en-US" sz="1350" b="1" dirty="0">
                <a:solidFill>
                  <a:srgbClr val="12161C"/>
                </a:solidFill>
                <a:latin typeface="Calibri" pitchFamily="34" charset="0"/>
                <a:ea typeface="Calibri" pitchFamily="34" charset="-122"/>
                <a:cs typeface="Calibri" pitchFamily="34" charset="-120"/>
              </a:rPr>
              <a:t>Big-O means worst case</a:t>
            </a:r>
            <a:endParaRPr lang="en-US" sz="1350" dirty="0"/>
          </a:p>
        </p:txBody>
      </p:sp>
      <p:sp>
        <p:nvSpPr>
          <p:cNvPr id="8" name="Text 6"/>
          <p:cNvSpPr/>
          <p:nvPr/>
        </p:nvSpPr>
        <p:spPr>
          <a:xfrm>
            <a:off x="1444752" y="1847088"/>
            <a:ext cx="4343400" cy="658368"/>
          </a:xfrm>
          <a:prstGeom prst="rect">
            <a:avLst/>
          </a:prstGeom>
          <a:noFill/>
          <a:ln/>
        </p:spPr>
        <p:txBody>
          <a:bodyPr wrap="square" lIns="0" tIns="0" rIns="0" bIns="0" rtlCol="0" anchor="t"/>
          <a:lstStyle/>
          <a:p>
            <a:pPr indent="0" marL="0">
              <a:lnSpc>
                <a:spcPts val="1550"/>
              </a:lnSpc>
              <a:buNone/>
            </a:pPr>
            <a:r>
              <a:rPr lang="en-US" sz="1200" dirty="0">
                <a:solidFill>
                  <a:srgbClr val="6B7784"/>
                </a:solidFill>
                <a:latin typeface="Calibri" pitchFamily="34" charset="0"/>
                <a:ea typeface="Calibri" pitchFamily="34" charset="-122"/>
                <a:cs typeface="Calibri" pitchFamily="34" charset="-120"/>
              </a:rPr>
              <a:t>O, Ω and Θ describe functions. Any case can be bounded by any of them.</a:t>
            </a:r>
            <a:endParaRPr lang="en-US" sz="1200" dirty="0"/>
          </a:p>
        </p:txBody>
      </p:sp>
      <p:sp>
        <p:nvSpPr>
          <p:cNvPr id="9" name="Shape 7"/>
          <p:cNvSpPr/>
          <p:nvPr/>
        </p:nvSpPr>
        <p:spPr>
          <a:xfrm>
            <a:off x="6245352" y="1298448"/>
            <a:ext cx="5303520" cy="1325880"/>
          </a:xfrm>
          <a:prstGeom prst="roundRect">
            <a:avLst>
              <a:gd name="adj" fmla="val 4138"/>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10" name="Shape 8"/>
          <p:cNvSpPr/>
          <p:nvPr/>
        </p:nvSpPr>
        <p:spPr>
          <a:xfrm>
            <a:off x="6501384" y="1536192"/>
            <a:ext cx="420624" cy="420624"/>
          </a:xfrm>
          <a:prstGeom prst="ellipse">
            <a:avLst/>
          </a:prstGeom>
          <a:solidFill>
            <a:srgbClr val="B3261E"/>
          </a:solidFill>
          <a:ln/>
        </p:spPr>
      </p:sp>
      <p:sp>
        <p:nvSpPr>
          <p:cNvPr id="11" name="Text 9"/>
          <p:cNvSpPr/>
          <p:nvPr/>
        </p:nvSpPr>
        <p:spPr>
          <a:xfrm>
            <a:off x="6501384" y="1536192"/>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2" name="Text 10"/>
          <p:cNvSpPr/>
          <p:nvPr/>
        </p:nvSpPr>
        <p:spPr>
          <a:xfrm>
            <a:off x="7050024" y="1517904"/>
            <a:ext cx="4297680" cy="274320"/>
          </a:xfrm>
          <a:prstGeom prst="rect">
            <a:avLst/>
          </a:prstGeom>
          <a:noFill/>
          <a:ln/>
        </p:spPr>
        <p:txBody>
          <a:bodyPr wrap="square" lIns="0" tIns="0" rIns="0" bIns="0" rtlCol="0" anchor="t"/>
          <a:lstStyle/>
          <a:p>
            <a:pPr indent="0" marL="0">
              <a:buNone/>
            </a:pPr>
            <a:r>
              <a:rPr lang="en-US" sz="1350" b="1" dirty="0">
                <a:solidFill>
                  <a:srgbClr val="12161C"/>
                </a:solidFill>
                <a:latin typeface="Calibri" pitchFamily="34" charset="0"/>
                <a:ea typeface="Calibri" pitchFamily="34" charset="-122"/>
                <a:cs typeface="Calibri" pitchFamily="34" charset="-120"/>
              </a:rPr>
              <a:t>A loop runs n times, so the test does too</a:t>
            </a:r>
            <a:endParaRPr lang="en-US" sz="1350" dirty="0"/>
          </a:p>
        </p:txBody>
      </p:sp>
      <p:sp>
        <p:nvSpPr>
          <p:cNvPr id="13" name="Text 11"/>
          <p:cNvSpPr/>
          <p:nvPr/>
        </p:nvSpPr>
        <p:spPr>
          <a:xfrm>
            <a:off x="7050024" y="1847088"/>
            <a:ext cx="4343400" cy="658368"/>
          </a:xfrm>
          <a:prstGeom prst="rect">
            <a:avLst/>
          </a:prstGeom>
          <a:noFill/>
          <a:ln/>
        </p:spPr>
        <p:txBody>
          <a:bodyPr wrap="square" lIns="0" tIns="0" rIns="0" bIns="0" rtlCol="0" anchor="t"/>
          <a:lstStyle/>
          <a:p>
            <a:pPr indent="0" marL="0">
              <a:lnSpc>
                <a:spcPts val="1550"/>
              </a:lnSpc>
              <a:buNone/>
            </a:pPr>
            <a:r>
              <a:rPr lang="en-US" sz="1200" dirty="0">
                <a:solidFill>
                  <a:srgbClr val="6B7784"/>
                </a:solidFill>
                <a:latin typeface="Calibri" pitchFamily="34" charset="0"/>
                <a:ea typeface="Calibri" pitchFamily="34" charset="-122"/>
                <a:cs typeface="Calibri" pitchFamily="34" charset="-120"/>
              </a:rPr>
              <a:t>The test runs n + 1 times — the last one fails and exits the loop.</a:t>
            </a:r>
            <a:endParaRPr lang="en-US" sz="1200" dirty="0"/>
          </a:p>
        </p:txBody>
      </p:sp>
      <p:sp>
        <p:nvSpPr>
          <p:cNvPr id="14" name="Shape 12"/>
          <p:cNvSpPr/>
          <p:nvPr/>
        </p:nvSpPr>
        <p:spPr>
          <a:xfrm>
            <a:off x="640080" y="2788920"/>
            <a:ext cx="5303520" cy="1325880"/>
          </a:xfrm>
          <a:prstGeom prst="roundRect">
            <a:avLst>
              <a:gd name="adj" fmla="val 4138"/>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15" name="Shape 13"/>
          <p:cNvSpPr/>
          <p:nvPr/>
        </p:nvSpPr>
        <p:spPr>
          <a:xfrm>
            <a:off x="896112" y="3026664"/>
            <a:ext cx="420624" cy="420624"/>
          </a:xfrm>
          <a:prstGeom prst="ellipse">
            <a:avLst/>
          </a:prstGeom>
          <a:solidFill>
            <a:srgbClr val="B3261E"/>
          </a:solidFill>
          <a:ln/>
        </p:spPr>
      </p:sp>
      <p:sp>
        <p:nvSpPr>
          <p:cNvPr id="16" name="Text 14"/>
          <p:cNvSpPr/>
          <p:nvPr/>
        </p:nvSpPr>
        <p:spPr>
          <a:xfrm>
            <a:off x="896112" y="3026664"/>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7" name="Text 15"/>
          <p:cNvSpPr/>
          <p:nvPr/>
        </p:nvSpPr>
        <p:spPr>
          <a:xfrm>
            <a:off x="1444752" y="3008376"/>
            <a:ext cx="4297680" cy="274320"/>
          </a:xfrm>
          <a:prstGeom prst="rect">
            <a:avLst/>
          </a:prstGeom>
          <a:noFill/>
          <a:ln/>
        </p:spPr>
        <p:txBody>
          <a:bodyPr wrap="square" lIns="0" tIns="0" rIns="0" bIns="0" rtlCol="0" anchor="t"/>
          <a:lstStyle/>
          <a:p>
            <a:pPr indent="0" marL="0">
              <a:buNone/>
            </a:pPr>
            <a:r>
              <a:rPr lang="en-US" sz="1350" b="1" dirty="0">
                <a:solidFill>
                  <a:srgbClr val="12161C"/>
                </a:solidFill>
                <a:latin typeface="Calibri" pitchFamily="34" charset="0"/>
                <a:ea typeface="Calibri" pitchFamily="34" charset="-122"/>
                <a:cs typeface="Calibri" pitchFamily="34" charset="-120"/>
              </a:rPr>
              <a:t>Faster hardware fixes complexity</a:t>
            </a:r>
            <a:endParaRPr lang="en-US" sz="1350" dirty="0"/>
          </a:p>
        </p:txBody>
      </p:sp>
      <p:sp>
        <p:nvSpPr>
          <p:cNvPr id="18" name="Text 16"/>
          <p:cNvSpPr/>
          <p:nvPr/>
        </p:nvSpPr>
        <p:spPr>
          <a:xfrm>
            <a:off x="1444752" y="3337560"/>
            <a:ext cx="4343400" cy="658368"/>
          </a:xfrm>
          <a:prstGeom prst="rect">
            <a:avLst/>
          </a:prstGeom>
          <a:noFill/>
          <a:ln/>
        </p:spPr>
        <p:txBody>
          <a:bodyPr wrap="square" lIns="0" tIns="0" rIns="0" bIns="0" rtlCol="0" anchor="t"/>
          <a:lstStyle/>
          <a:p>
            <a:pPr indent="0" marL="0">
              <a:lnSpc>
                <a:spcPts val="1550"/>
              </a:lnSpc>
              <a:buNone/>
            </a:pPr>
            <a:r>
              <a:rPr lang="en-US" sz="1200" dirty="0">
                <a:solidFill>
                  <a:srgbClr val="6B7784"/>
                </a:solidFill>
                <a:latin typeface="Calibri" pitchFamily="34" charset="0"/>
                <a:ea typeface="Calibri" pitchFamily="34" charset="-122"/>
                <a:cs typeface="Calibri" pitchFamily="34" charset="-120"/>
              </a:rPr>
              <a:t>It changes the constant, never the growth rate.</a:t>
            </a:r>
            <a:endParaRPr lang="en-US" sz="1200" dirty="0"/>
          </a:p>
        </p:txBody>
      </p:sp>
      <p:sp>
        <p:nvSpPr>
          <p:cNvPr id="19" name="Shape 17"/>
          <p:cNvSpPr/>
          <p:nvPr/>
        </p:nvSpPr>
        <p:spPr>
          <a:xfrm>
            <a:off x="6245352" y="2788920"/>
            <a:ext cx="5303520" cy="1325880"/>
          </a:xfrm>
          <a:prstGeom prst="roundRect">
            <a:avLst>
              <a:gd name="adj" fmla="val 4138"/>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20" name="Shape 18"/>
          <p:cNvSpPr/>
          <p:nvPr/>
        </p:nvSpPr>
        <p:spPr>
          <a:xfrm>
            <a:off x="6501384" y="3026664"/>
            <a:ext cx="420624" cy="420624"/>
          </a:xfrm>
          <a:prstGeom prst="ellipse">
            <a:avLst/>
          </a:prstGeom>
          <a:solidFill>
            <a:srgbClr val="B3261E"/>
          </a:solidFill>
          <a:ln/>
        </p:spPr>
      </p:sp>
      <p:sp>
        <p:nvSpPr>
          <p:cNvPr id="21" name="Text 19"/>
          <p:cNvSpPr/>
          <p:nvPr/>
        </p:nvSpPr>
        <p:spPr>
          <a:xfrm>
            <a:off x="6501384" y="3026664"/>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22" name="Text 20"/>
          <p:cNvSpPr/>
          <p:nvPr/>
        </p:nvSpPr>
        <p:spPr>
          <a:xfrm>
            <a:off x="7050024" y="3008376"/>
            <a:ext cx="4297680" cy="274320"/>
          </a:xfrm>
          <a:prstGeom prst="rect">
            <a:avLst/>
          </a:prstGeom>
          <a:noFill/>
          <a:ln/>
        </p:spPr>
        <p:txBody>
          <a:bodyPr wrap="square" lIns="0" tIns="0" rIns="0" bIns="0" rtlCol="0" anchor="t"/>
          <a:lstStyle/>
          <a:p>
            <a:pPr indent="0" marL="0">
              <a:buNone/>
            </a:pPr>
            <a:r>
              <a:rPr lang="en-US" sz="1350" b="1" dirty="0">
                <a:solidFill>
                  <a:srgbClr val="12161C"/>
                </a:solidFill>
                <a:latin typeface="Calibri" pitchFamily="34" charset="0"/>
                <a:ea typeface="Calibri" pitchFamily="34" charset="-122"/>
                <a:cs typeface="Calibri" pitchFamily="34" charset="-120"/>
              </a:rPr>
              <a:t>O(n²) is always worse than O(n log n)</a:t>
            </a:r>
            <a:endParaRPr lang="en-US" sz="1350" dirty="0"/>
          </a:p>
        </p:txBody>
      </p:sp>
      <p:sp>
        <p:nvSpPr>
          <p:cNvPr id="23" name="Text 21"/>
          <p:cNvSpPr/>
          <p:nvPr/>
        </p:nvSpPr>
        <p:spPr>
          <a:xfrm>
            <a:off x="7050024" y="3337560"/>
            <a:ext cx="4343400" cy="658368"/>
          </a:xfrm>
          <a:prstGeom prst="rect">
            <a:avLst/>
          </a:prstGeom>
          <a:noFill/>
          <a:ln/>
        </p:spPr>
        <p:txBody>
          <a:bodyPr wrap="square" lIns="0" tIns="0" rIns="0" bIns="0" rtlCol="0" anchor="t"/>
          <a:lstStyle/>
          <a:p>
            <a:pPr indent="0" marL="0">
              <a:lnSpc>
                <a:spcPts val="1550"/>
              </a:lnSpc>
              <a:buNone/>
            </a:pPr>
            <a:r>
              <a:rPr lang="en-US" sz="1200" dirty="0">
                <a:solidFill>
                  <a:srgbClr val="6B7784"/>
                </a:solidFill>
                <a:latin typeface="Calibri" pitchFamily="34" charset="0"/>
                <a:ea typeface="Calibri" pitchFamily="34" charset="-122"/>
                <a:cs typeface="Calibri" pitchFamily="34" charset="-120"/>
              </a:rPr>
              <a:t>Only beyond the crossover point; for small n the constants decide.</a:t>
            </a:r>
            <a:endParaRPr lang="en-US" sz="1200" dirty="0"/>
          </a:p>
        </p:txBody>
      </p:sp>
      <p:sp>
        <p:nvSpPr>
          <p:cNvPr id="24" name="Shape 22"/>
          <p:cNvSpPr/>
          <p:nvPr/>
        </p:nvSpPr>
        <p:spPr>
          <a:xfrm>
            <a:off x="640080" y="4279392"/>
            <a:ext cx="5303520" cy="1325880"/>
          </a:xfrm>
          <a:prstGeom prst="roundRect">
            <a:avLst>
              <a:gd name="adj" fmla="val 4138"/>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25" name="Shape 23"/>
          <p:cNvSpPr/>
          <p:nvPr/>
        </p:nvSpPr>
        <p:spPr>
          <a:xfrm>
            <a:off x="896112" y="4517136"/>
            <a:ext cx="420624" cy="420624"/>
          </a:xfrm>
          <a:prstGeom prst="ellipse">
            <a:avLst/>
          </a:prstGeom>
          <a:solidFill>
            <a:srgbClr val="B3261E"/>
          </a:solidFill>
          <a:ln/>
        </p:spPr>
      </p:sp>
      <p:sp>
        <p:nvSpPr>
          <p:cNvPr id="26" name="Text 24"/>
          <p:cNvSpPr/>
          <p:nvPr/>
        </p:nvSpPr>
        <p:spPr>
          <a:xfrm>
            <a:off x="896112" y="4517136"/>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27" name="Text 25"/>
          <p:cNvSpPr/>
          <p:nvPr/>
        </p:nvSpPr>
        <p:spPr>
          <a:xfrm>
            <a:off x="1444752" y="4498848"/>
            <a:ext cx="4297680" cy="274320"/>
          </a:xfrm>
          <a:prstGeom prst="rect">
            <a:avLst/>
          </a:prstGeom>
          <a:noFill/>
          <a:ln/>
        </p:spPr>
        <p:txBody>
          <a:bodyPr wrap="square" lIns="0" tIns="0" rIns="0" bIns="0" rtlCol="0" anchor="t"/>
          <a:lstStyle/>
          <a:p>
            <a:pPr indent="0" marL="0">
              <a:buNone/>
            </a:pPr>
            <a:r>
              <a:rPr lang="en-US" sz="1350" b="1" dirty="0">
                <a:solidFill>
                  <a:srgbClr val="12161C"/>
                </a:solidFill>
                <a:latin typeface="Calibri" pitchFamily="34" charset="0"/>
                <a:ea typeface="Calibri" pitchFamily="34" charset="-122"/>
                <a:cs typeface="Calibri" pitchFamily="34" charset="-120"/>
              </a:rPr>
              <a:t>Nested loops always mean n²</a:t>
            </a:r>
            <a:endParaRPr lang="en-US" sz="1350" dirty="0"/>
          </a:p>
        </p:txBody>
      </p:sp>
      <p:sp>
        <p:nvSpPr>
          <p:cNvPr id="28" name="Text 26"/>
          <p:cNvSpPr/>
          <p:nvPr/>
        </p:nvSpPr>
        <p:spPr>
          <a:xfrm>
            <a:off x="1444752" y="4828032"/>
            <a:ext cx="4343400" cy="658368"/>
          </a:xfrm>
          <a:prstGeom prst="rect">
            <a:avLst/>
          </a:prstGeom>
          <a:noFill/>
          <a:ln/>
        </p:spPr>
        <p:txBody>
          <a:bodyPr wrap="square" lIns="0" tIns="0" rIns="0" bIns="0" rtlCol="0" anchor="t"/>
          <a:lstStyle/>
          <a:p>
            <a:pPr indent="0" marL="0">
              <a:lnSpc>
                <a:spcPts val="1550"/>
              </a:lnSpc>
              <a:buNone/>
            </a:pPr>
            <a:r>
              <a:rPr lang="en-US" sz="1200" dirty="0">
                <a:solidFill>
                  <a:srgbClr val="6B7784"/>
                </a:solidFill>
                <a:latin typeface="Calibri" pitchFamily="34" charset="0"/>
                <a:ea typeface="Calibri" pitchFamily="34" charset="-122"/>
                <a:cs typeface="Calibri" pitchFamily="34" charset="-120"/>
              </a:rPr>
              <a:t>for j := 1 to 10 inside for i := 1 to n is still O(n).</a:t>
            </a:r>
            <a:endParaRPr lang="en-US" sz="1200" dirty="0"/>
          </a:p>
        </p:txBody>
      </p:sp>
      <p:sp>
        <p:nvSpPr>
          <p:cNvPr id="29" name="Shape 27"/>
          <p:cNvSpPr/>
          <p:nvPr/>
        </p:nvSpPr>
        <p:spPr>
          <a:xfrm>
            <a:off x="6245352" y="4279392"/>
            <a:ext cx="5303520" cy="1325880"/>
          </a:xfrm>
          <a:prstGeom prst="roundRect">
            <a:avLst>
              <a:gd name="adj" fmla="val 4138"/>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30" name="Shape 28"/>
          <p:cNvSpPr/>
          <p:nvPr/>
        </p:nvSpPr>
        <p:spPr>
          <a:xfrm>
            <a:off x="6501384" y="4517136"/>
            <a:ext cx="420624" cy="420624"/>
          </a:xfrm>
          <a:prstGeom prst="ellipse">
            <a:avLst/>
          </a:prstGeom>
          <a:solidFill>
            <a:srgbClr val="B3261E"/>
          </a:solidFill>
          <a:ln/>
        </p:spPr>
      </p:sp>
      <p:sp>
        <p:nvSpPr>
          <p:cNvPr id="31" name="Text 29"/>
          <p:cNvSpPr/>
          <p:nvPr/>
        </p:nvSpPr>
        <p:spPr>
          <a:xfrm>
            <a:off x="6501384" y="4517136"/>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32" name="Text 30"/>
          <p:cNvSpPr/>
          <p:nvPr/>
        </p:nvSpPr>
        <p:spPr>
          <a:xfrm>
            <a:off x="7050024" y="4498848"/>
            <a:ext cx="4297680" cy="274320"/>
          </a:xfrm>
          <a:prstGeom prst="rect">
            <a:avLst/>
          </a:prstGeom>
          <a:noFill/>
          <a:ln/>
        </p:spPr>
        <p:txBody>
          <a:bodyPr wrap="square" lIns="0" tIns="0" rIns="0" bIns="0" rtlCol="0" anchor="t"/>
          <a:lstStyle/>
          <a:p>
            <a:pPr indent="0" marL="0">
              <a:buNone/>
            </a:pPr>
            <a:r>
              <a:rPr lang="en-US" sz="1350" b="1" dirty="0">
                <a:solidFill>
                  <a:srgbClr val="12161C"/>
                </a:solidFill>
                <a:latin typeface="Calibri" pitchFamily="34" charset="0"/>
                <a:ea typeface="Calibri" pitchFamily="34" charset="-122"/>
                <a:cs typeface="Calibri" pitchFamily="34" charset="-120"/>
              </a:rPr>
              <a:t>Space complexity includes the input</a:t>
            </a:r>
            <a:endParaRPr lang="en-US" sz="1350" dirty="0"/>
          </a:p>
        </p:txBody>
      </p:sp>
      <p:sp>
        <p:nvSpPr>
          <p:cNvPr id="33" name="Text 31"/>
          <p:cNvSpPr/>
          <p:nvPr/>
        </p:nvSpPr>
        <p:spPr>
          <a:xfrm>
            <a:off x="7050024" y="4828032"/>
            <a:ext cx="4343400" cy="658368"/>
          </a:xfrm>
          <a:prstGeom prst="rect">
            <a:avLst/>
          </a:prstGeom>
          <a:noFill/>
          <a:ln/>
        </p:spPr>
        <p:txBody>
          <a:bodyPr wrap="square" lIns="0" tIns="0" rIns="0" bIns="0" rtlCol="0" anchor="t"/>
          <a:lstStyle/>
          <a:p>
            <a:pPr indent="0" marL="0">
              <a:lnSpc>
                <a:spcPts val="1550"/>
              </a:lnSpc>
              <a:buNone/>
            </a:pPr>
            <a:r>
              <a:rPr lang="en-US" sz="1200" dirty="0">
                <a:solidFill>
                  <a:srgbClr val="6B7784"/>
                </a:solidFill>
                <a:latin typeface="Calibri" pitchFamily="34" charset="0"/>
                <a:ea typeface="Calibri" pitchFamily="34" charset="-122"/>
                <a:cs typeface="Calibri" pitchFamily="34" charset="-120"/>
              </a:rPr>
              <a:t>By convention we report auxiliary space — the extra memory allocated.</a:t>
            </a:r>
            <a:endParaRPr lang="en-US" sz="1200" dirty="0"/>
          </a:p>
        </p:txBody>
      </p:sp>
      <p:sp>
        <p:nvSpPr>
          <p:cNvPr id="34" name="Text 32"/>
          <p:cNvSpPr/>
          <p:nvPr/>
        </p:nvSpPr>
        <p:spPr>
          <a:xfrm>
            <a:off x="640080" y="5852160"/>
            <a:ext cx="10881360" cy="274320"/>
          </a:xfrm>
          <a:prstGeom prst="rect">
            <a:avLst/>
          </a:prstGeom>
          <a:noFill/>
          <a:ln/>
        </p:spPr>
        <p:txBody>
          <a:bodyPr wrap="square" lIns="0" tIns="0" rIns="0" bIns="0" rtlCol="0" anchor="t"/>
          <a:lstStyle/>
          <a:p>
            <a:pPr indent="0" marL="0">
              <a:buNone/>
            </a:pPr>
            <a:r>
              <a:rPr lang="en-US" sz="1200" i="1" dirty="0">
                <a:solidFill>
                  <a:srgbClr val="6B7784"/>
                </a:solidFill>
                <a:latin typeface="Calibri" pitchFamily="34" charset="0"/>
                <a:ea typeface="Calibri" pitchFamily="34" charset="-122"/>
                <a:cs typeface="Calibri" pitchFamily="34" charset="-120"/>
              </a:rPr>
              <a:t>Each of these appears every year in scripts — correcting them now is worth several marks later.</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310896"/>
            <a:ext cx="10058400" cy="228600"/>
          </a:xfrm>
          <a:prstGeom prst="rect">
            <a:avLst/>
          </a:prstGeom>
          <a:noFill/>
          <a:ln/>
        </p:spPr>
        <p:txBody>
          <a:bodyPr wrap="square" lIns="0" tIns="0" rIns="0" bIns="0" rtlCol="0" anchor="t"/>
          <a:lstStyle/>
          <a:p>
            <a:pPr indent="0" marL="0">
              <a:buNone/>
            </a:pPr>
            <a:r>
              <a:rPr lang="en-US" sz="1100" b="1" spc="160" kern="0" dirty="0">
                <a:solidFill>
                  <a:srgbClr val="0E7C86"/>
                </a:solidFill>
                <a:latin typeface="Calibri" pitchFamily="34" charset="0"/>
                <a:ea typeface="Calibri" pitchFamily="34" charset="-122"/>
                <a:cs typeface="Calibri" pitchFamily="34" charset="-120"/>
              </a:rPr>
              <a:t>RECAP</a:t>
            </a:r>
            <a:endParaRPr lang="en-US" sz="1100" dirty="0"/>
          </a:p>
        </p:txBody>
      </p:sp>
      <p:sp>
        <p:nvSpPr>
          <p:cNvPr id="3" name="Text 1"/>
          <p:cNvSpPr/>
          <p:nvPr/>
        </p:nvSpPr>
        <p:spPr>
          <a:xfrm>
            <a:off x="640080" y="548640"/>
            <a:ext cx="10911535" cy="566928"/>
          </a:xfrm>
          <a:prstGeom prst="rect">
            <a:avLst/>
          </a:prstGeom>
          <a:noFill/>
          <a:ln/>
        </p:spPr>
        <p:txBody>
          <a:bodyPr wrap="square" lIns="0" tIns="0" rIns="0" bIns="0" rtlCol="0" anchor="t"/>
          <a:lstStyle/>
          <a:p>
            <a:pPr indent="0" marL="0">
              <a:buNone/>
            </a:pPr>
            <a:r>
              <a:rPr lang="en-US" sz="3000" b="1" dirty="0">
                <a:solidFill>
                  <a:srgbClr val="12161C"/>
                </a:solidFill>
                <a:latin typeface="Cambria" pitchFamily="34" charset="0"/>
                <a:ea typeface="Cambria" pitchFamily="34" charset="-122"/>
                <a:cs typeface="Cambria" pitchFamily="34" charset="-120"/>
              </a:rPr>
              <a:t>What you should carry out of this lecture</a:t>
            </a:r>
            <a:endParaRPr lang="en-US" sz="3000" dirty="0"/>
          </a:p>
        </p:txBody>
      </p:sp>
      <p:sp>
        <p:nvSpPr>
          <p:cNvPr id="4" name="Shape 2"/>
          <p:cNvSpPr/>
          <p:nvPr/>
        </p:nvSpPr>
        <p:spPr>
          <a:xfrm>
            <a:off x="640080" y="1188720"/>
            <a:ext cx="10908792" cy="658368"/>
          </a:xfrm>
          <a:prstGeom prst="roundRect">
            <a:avLst>
              <a:gd name="adj" fmla="val 8333"/>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5" name="Shape 3"/>
          <p:cNvSpPr/>
          <p:nvPr/>
        </p:nvSpPr>
        <p:spPr>
          <a:xfrm>
            <a:off x="896112" y="1316736"/>
            <a:ext cx="384048" cy="384048"/>
          </a:xfrm>
          <a:prstGeom prst="ellipse">
            <a:avLst/>
          </a:prstGeom>
          <a:solidFill>
            <a:srgbClr val="0E7C86"/>
          </a:solidFill>
          <a:ln/>
        </p:spPr>
      </p:sp>
      <p:sp>
        <p:nvSpPr>
          <p:cNvPr id="6" name="Text 4"/>
          <p:cNvSpPr/>
          <p:nvPr/>
        </p:nvSpPr>
        <p:spPr>
          <a:xfrm>
            <a:off x="896112" y="13167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463040" y="1389888"/>
            <a:ext cx="9875520" cy="457200"/>
          </a:xfrm>
          <a:prstGeom prst="rect">
            <a:avLst/>
          </a:prstGeom>
          <a:noFill/>
          <a:ln/>
        </p:spPr>
        <p:txBody>
          <a:bodyPr wrap="square" lIns="0" tIns="0" rIns="0" bIns="0" rtlCol="0" anchor="t"/>
          <a:lstStyle/>
          <a:p>
            <a:pPr indent="0" marL="0">
              <a:lnSpc>
                <a:spcPts val="1800"/>
              </a:lnSpc>
              <a:buNone/>
            </a:pPr>
            <a:r>
              <a:rPr lang="en-US" sz="1350" dirty="0">
                <a:solidFill>
                  <a:srgbClr val="3A4551"/>
                </a:solidFill>
                <a:latin typeface="Calibri" pitchFamily="34" charset="0"/>
                <a:ea typeface="Calibri" pitchFamily="34" charset="-122"/>
                <a:cs typeface="Calibri" pitchFamily="34" charset="-120"/>
              </a:rPr>
              <a:t>An algorithm is a finite, definite, effective procedure with output — analysed independently of any machine.</a:t>
            </a:r>
            <a:endParaRPr lang="en-US" sz="1350" dirty="0"/>
          </a:p>
        </p:txBody>
      </p:sp>
      <p:sp>
        <p:nvSpPr>
          <p:cNvPr id="8" name="Shape 6"/>
          <p:cNvSpPr/>
          <p:nvPr/>
        </p:nvSpPr>
        <p:spPr>
          <a:xfrm>
            <a:off x="640080" y="1947672"/>
            <a:ext cx="10908792" cy="658368"/>
          </a:xfrm>
          <a:prstGeom prst="roundRect">
            <a:avLst>
              <a:gd name="adj" fmla="val 8333"/>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9" name="Shape 7"/>
          <p:cNvSpPr/>
          <p:nvPr/>
        </p:nvSpPr>
        <p:spPr>
          <a:xfrm>
            <a:off x="896112" y="2075688"/>
            <a:ext cx="384048" cy="384048"/>
          </a:xfrm>
          <a:prstGeom prst="ellipse">
            <a:avLst/>
          </a:prstGeom>
          <a:solidFill>
            <a:srgbClr val="0E7C86"/>
          </a:solidFill>
          <a:ln/>
        </p:spPr>
      </p:sp>
      <p:sp>
        <p:nvSpPr>
          <p:cNvPr id="10" name="Text 8"/>
          <p:cNvSpPr/>
          <p:nvPr/>
        </p:nvSpPr>
        <p:spPr>
          <a:xfrm>
            <a:off x="896112" y="20756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463040" y="2148840"/>
            <a:ext cx="9875520" cy="457200"/>
          </a:xfrm>
          <a:prstGeom prst="rect">
            <a:avLst/>
          </a:prstGeom>
          <a:noFill/>
          <a:ln/>
        </p:spPr>
        <p:txBody>
          <a:bodyPr wrap="square" lIns="0" tIns="0" rIns="0" bIns="0" rtlCol="0" anchor="t"/>
          <a:lstStyle/>
          <a:p>
            <a:pPr indent="0" marL="0">
              <a:lnSpc>
                <a:spcPts val="1800"/>
              </a:lnSpc>
              <a:buNone/>
            </a:pPr>
            <a:r>
              <a:rPr lang="en-US" sz="1350" dirty="0">
                <a:solidFill>
                  <a:srgbClr val="3A4551"/>
                </a:solidFill>
                <a:latin typeface="Calibri" pitchFamily="34" charset="0"/>
                <a:ea typeface="Calibri" pitchFamily="34" charset="-122"/>
                <a:cs typeface="Calibri" pitchFamily="34" charset="-120"/>
              </a:rPr>
              <a:t>Analysis is a priori: we count basic operations as a function of input size n rather than timing a program.</a:t>
            </a:r>
            <a:endParaRPr lang="en-US" sz="1350" dirty="0"/>
          </a:p>
        </p:txBody>
      </p:sp>
      <p:sp>
        <p:nvSpPr>
          <p:cNvPr id="12" name="Shape 10"/>
          <p:cNvSpPr/>
          <p:nvPr/>
        </p:nvSpPr>
        <p:spPr>
          <a:xfrm>
            <a:off x="640080" y="2706624"/>
            <a:ext cx="10908792" cy="658368"/>
          </a:xfrm>
          <a:prstGeom prst="roundRect">
            <a:avLst>
              <a:gd name="adj" fmla="val 8333"/>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13" name="Shape 11"/>
          <p:cNvSpPr/>
          <p:nvPr/>
        </p:nvSpPr>
        <p:spPr>
          <a:xfrm>
            <a:off x="896112" y="2834640"/>
            <a:ext cx="384048" cy="384048"/>
          </a:xfrm>
          <a:prstGeom prst="ellipse">
            <a:avLst/>
          </a:prstGeom>
          <a:solidFill>
            <a:srgbClr val="A85F0C"/>
          </a:solidFill>
          <a:ln/>
        </p:spPr>
      </p:sp>
      <p:sp>
        <p:nvSpPr>
          <p:cNvPr id="14" name="Text 12"/>
          <p:cNvSpPr/>
          <p:nvPr/>
        </p:nvSpPr>
        <p:spPr>
          <a:xfrm>
            <a:off x="896112" y="2834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463040" y="2907792"/>
            <a:ext cx="9875520" cy="457200"/>
          </a:xfrm>
          <a:prstGeom prst="rect">
            <a:avLst/>
          </a:prstGeom>
          <a:noFill/>
          <a:ln/>
        </p:spPr>
        <p:txBody>
          <a:bodyPr wrap="square" lIns="0" tIns="0" rIns="0" bIns="0" rtlCol="0" anchor="t"/>
          <a:lstStyle/>
          <a:p>
            <a:pPr indent="0" marL="0">
              <a:lnSpc>
                <a:spcPts val="1800"/>
              </a:lnSpc>
              <a:buNone/>
            </a:pPr>
            <a:r>
              <a:rPr lang="en-US" sz="1350" dirty="0">
                <a:solidFill>
                  <a:srgbClr val="3A4551"/>
                </a:solidFill>
                <a:latin typeface="Calibri" pitchFamily="34" charset="0"/>
                <a:ea typeface="Calibri" pitchFamily="34" charset="-122"/>
                <a:cs typeface="Calibri" pitchFamily="34" charset="-120"/>
              </a:rPr>
              <a:t>Time complexity is the step count T(n); space complexity is S(P) = C + Sₚ, and we usually report auxiliary space.</a:t>
            </a:r>
            <a:endParaRPr lang="en-US" sz="1350" dirty="0"/>
          </a:p>
        </p:txBody>
      </p:sp>
      <p:sp>
        <p:nvSpPr>
          <p:cNvPr id="16" name="Shape 14"/>
          <p:cNvSpPr/>
          <p:nvPr/>
        </p:nvSpPr>
        <p:spPr>
          <a:xfrm>
            <a:off x="640080" y="3465576"/>
            <a:ext cx="10908792" cy="658368"/>
          </a:xfrm>
          <a:prstGeom prst="roundRect">
            <a:avLst>
              <a:gd name="adj" fmla="val 8333"/>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17" name="Shape 15"/>
          <p:cNvSpPr/>
          <p:nvPr/>
        </p:nvSpPr>
        <p:spPr>
          <a:xfrm>
            <a:off x="896112" y="3593592"/>
            <a:ext cx="384048" cy="384048"/>
          </a:xfrm>
          <a:prstGeom prst="ellipse">
            <a:avLst/>
          </a:prstGeom>
          <a:solidFill>
            <a:srgbClr val="A85F0C"/>
          </a:solidFill>
          <a:ln/>
        </p:spPr>
      </p:sp>
      <p:sp>
        <p:nvSpPr>
          <p:cNvPr id="18" name="Text 16"/>
          <p:cNvSpPr/>
          <p:nvPr/>
        </p:nvSpPr>
        <p:spPr>
          <a:xfrm>
            <a:off x="896112" y="35935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463040" y="3666744"/>
            <a:ext cx="9875520" cy="457200"/>
          </a:xfrm>
          <a:prstGeom prst="rect">
            <a:avLst/>
          </a:prstGeom>
          <a:noFill/>
          <a:ln/>
        </p:spPr>
        <p:txBody>
          <a:bodyPr wrap="square" lIns="0" tIns="0" rIns="0" bIns="0" rtlCol="0" anchor="t"/>
          <a:lstStyle/>
          <a:p>
            <a:pPr indent="0" marL="0">
              <a:lnSpc>
                <a:spcPts val="1800"/>
              </a:lnSpc>
              <a:buNone/>
            </a:pPr>
            <a:r>
              <a:rPr lang="en-US" sz="1350" dirty="0">
                <a:solidFill>
                  <a:srgbClr val="3A4551"/>
                </a:solidFill>
                <a:latin typeface="Calibri" pitchFamily="34" charset="0"/>
                <a:ea typeface="Calibri" pitchFamily="34" charset="-122"/>
                <a:cs typeface="Calibri" pitchFamily="34" charset="-120"/>
              </a:rPr>
              <a:t>Every algorithm has best, average and worst cases; worst case is the default because it is a guarantee.</a:t>
            </a:r>
            <a:endParaRPr lang="en-US" sz="1350" dirty="0"/>
          </a:p>
        </p:txBody>
      </p:sp>
      <p:sp>
        <p:nvSpPr>
          <p:cNvPr id="20" name="Shape 18"/>
          <p:cNvSpPr/>
          <p:nvPr/>
        </p:nvSpPr>
        <p:spPr>
          <a:xfrm>
            <a:off x="640080" y="4224528"/>
            <a:ext cx="10908792" cy="658368"/>
          </a:xfrm>
          <a:prstGeom prst="roundRect">
            <a:avLst>
              <a:gd name="adj" fmla="val 8333"/>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21" name="Shape 19"/>
          <p:cNvSpPr/>
          <p:nvPr/>
        </p:nvSpPr>
        <p:spPr>
          <a:xfrm>
            <a:off x="896112" y="4352544"/>
            <a:ext cx="384048" cy="384048"/>
          </a:xfrm>
          <a:prstGeom prst="ellipse">
            <a:avLst/>
          </a:prstGeom>
          <a:solidFill>
            <a:srgbClr val="B3261E"/>
          </a:solidFill>
          <a:ln/>
        </p:spPr>
      </p:sp>
      <p:sp>
        <p:nvSpPr>
          <p:cNvPr id="22" name="Text 20"/>
          <p:cNvSpPr/>
          <p:nvPr/>
        </p:nvSpPr>
        <p:spPr>
          <a:xfrm>
            <a:off x="896112" y="4352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463040" y="4425696"/>
            <a:ext cx="9875520" cy="457200"/>
          </a:xfrm>
          <a:prstGeom prst="rect">
            <a:avLst/>
          </a:prstGeom>
          <a:noFill/>
          <a:ln/>
        </p:spPr>
        <p:txBody>
          <a:bodyPr wrap="square" lIns="0" tIns="0" rIns="0" bIns="0" rtlCol="0" anchor="t"/>
          <a:lstStyle/>
          <a:p>
            <a:pPr indent="0" marL="0">
              <a:lnSpc>
                <a:spcPts val="1800"/>
              </a:lnSpc>
              <a:buNone/>
            </a:pPr>
            <a:r>
              <a:rPr lang="en-US" sz="1350" dirty="0">
                <a:solidFill>
                  <a:srgbClr val="3A4551"/>
                </a:solidFill>
                <a:latin typeface="Calibri" pitchFamily="34" charset="0"/>
                <a:ea typeface="Calibri" pitchFamily="34" charset="-122"/>
                <a:cs typeface="Calibri" pitchFamily="34" charset="-120"/>
              </a:rPr>
              <a:t>O gives an upper bound, Ω a lower bound, Θ a tight bound — always exhibit c and n₀ in a proof.</a:t>
            </a:r>
            <a:endParaRPr lang="en-US" sz="1350" dirty="0"/>
          </a:p>
        </p:txBody>
      </p:sp>
      <p:sp>
        <p:nvSpPr>
          <p:cNvPr id="24" name="Shape 22"/>
          <p:cNvSpPr/>
          <p:nvPr/>
        </p:nvSpPr>
        <p:spPr>
          <a:xfrm>
            <a:off x="640080" y="4983480"/>
            <a:ext cx="10908792" cy="658368"/>
          </a:xfrm>
          <a:prstGeom prst="roundRect">
            <a:avLst>
              <a:gd name="adj" fmla="val 8333"/>
            </a:avLst>
          </a:prstGeom>
          <a:solidFill>
            <a:srgbClr val="FFFFFF"/>
          </a:solidFill>
          <a:ln w="12700">
            <a:solidFill>
              <a:srgbClr val="DCE2E8"/>
            </a:solidFill>
            <a:prstDash val="solid"/>
          </a:ln>
          <a:effectLst>
            <a:outerShdw sx="100000" sy="100000" kx="0" ky="0" algn="bl" rotWithShape="0" blurRad="127000" dist="25400" dir="5400000">
              <a:srgbClr val="9AA6B2">
                <a:alpha val="22000"/>
              </a:srgbClr>
            </a:outerShdw>
          </a:effectLst>
        </p:spPr>
      </p:sp>
      <p:sp>
        <p:nvSpPr>
          <p:cNvPr id="25" name="Shape 23"/>
          <p:cNvSpPr/>
          <p:nvPr/>
        </p:nvSpPr>
        <p:spPr>
          <a:xfrm>
            <a:off x="896112" y="5111496"/>
            <a:ext cx="384048" cy="384048"/>
          </a:xfrm>
          <a:prstGeom prst="ellipse">
            <a:avLst/>
          </a:prstGeom>
          <a:solidFill>
            <a:srgbClr val="B3261E"/>
          </a:solidFill>
          <a:ln/>
        </p:spPr>
      </p:sp>
      <p:sp>
        <p:nvSpPr>
          <p:cNvPr id="26" name="Text 24"/>
          <p:cNvSpPr/>
          <p:nvPr/>
        </p:nvSpPr>
        <p:spPr>
          <a:xfrm>
            <a:off x="896112" y="5111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1463040" y="5184648"/>
            <a:ext cx="9875520" cy="457200"/>
          </a:xfrm>
          <a:prstGeom prst="rect">
            <a:avLst/>
          </a:prstGeom>
          <a:noFill/>
          <a:ln/>
        </p:spPr>
        <p:txBody>
          <a:bodyPr wrap="square" lIns="0" tIns="0" rIns="0" bIns="0" rtlCol="0" anchor="t"/>
          <a:lstStyle/>
          <a:p>
            <a:pPr indent="0" marL="0">
              <a:lnSpc>
                <a:spcPts val="1800"/>
              </a:lnSpc>
              <a:buNone/>
            </a:pPr>
            <a:r>
              <a:rPr lang="en-US" sz="1350" dirty="0">
                <a:solidFill>
                  <a:srgbClr val="3A4551"/>
                </a:solidFill>
                <a:latin typeface="Calibri" pitchFamily="34" charset="0"/>
                <a:ea typeface="Calibri" pitchFamily="34" charset="-122"/>
                <a:cs typeface="Calibri" pitchFamily="34" charset="-120"/>
              </a:rPr>
              <a:t>Linear search is Θ(n) and needs nothing; binary search is Θ(log n) but demands sorted data.</a:t>
            </a:r>
            <a:endParaRPr lang="en-US" sz="1350" dirty="0"/>
          </a:p>
        </p:txBody>
      </p:sp>
      <p:sp>
        <p:nvSpPr>
          <p:cNvPr id="28" name="Shape 26"/>
          <p:cNvSpPr/>
          <p:nvPr/>
        </p:nvSpPr>
        <p:spPr>
          <a:xfrm>
            <a:off x="640080" y="5870448"/>
            <a:ext cx="10908792" cy="914"/>
          </a:xfrm>
          <a:prstGeom prst="roundRect">
            <a:avLst>
              <a:gd name="adj" fmla="val 6002626"/>
            </a:avLst>
          </a:prstGeom>
          <a:solidFill>
            <a:srgbClr val="DCE2E8"/>
          </a:solidFill>
          <a:ln/>
        </p:spPr>
      </p:sp>
      <p:sp>
        <p:nvSpPr>
          <p:cNvPr id="29" name="Text 27"/>
          <p:cNvSpPr/>
          <p:nvPr/>
        </p:nvSpPr>
        <p:spPr>
          <a:xfrm>
            <a:off x="640080" y="5943600"/>
            <a:ext cx="10881360" cy="320040"/>
          </a:xfrm>
          <a:prstGeom prst="rect">
            <a:avLst/>
          </a:prstGeom>
          <a:noFill/>
          <a:ln/>
        </p:spPr>
        <p:txBody>
          <a:bodyPr wrap="square" lIns="0" tIns="0" rIns="0" bIns="0" rtlCol="0" anchor="t"/>
          <a:lstStyle/>
          <a:p>
            <a:pPr indent="0" marL="0">
              <a:buNone/>
            </a:pPr>
            <a:r>
              <a:rPr lang="en-US" sz="1250" b="1" i="1" dirty="0">
                <a:solidFill>
                  <a:srgbClr val="0E7C86"/>
                </a:solidFill>
                <a:latin typeface="Calibri" pitchFamily="34" charset="0"/>
                <a:ea typeface="Calibri" pitchFamily="34" charset="-122"/>
                <a:cs typeface="Calibri" pitchFamily="34" charset="-120"/>
              </a:rPr>
              <a:t>Next lecture: recurrence relations — substitution, recursion tree and the Master theorem.</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2161C"/>
        </a:solidFill>
      </p:bgPr>
    </p:bg>
    <p:spTree>
      <p:nvGrpSpPr>
        <p:cNvPr id="1" name=""/>
        <p:cNvGrpSpPr/>
        <p:nvPr/>
      </p:nvGrpSpPr>
      <p:grpSpPr>
        <a:xfrm>
          <a:off x="0" y="0"/>
          <a:ext cx="0" cy="0"/>
          <a:chOff x="0" y="0"/>
          <a:chExt cx="0" cy="0"/>
        </a:xfrm>
      </p:grpSpPr>
      <p:sp>
        <p:nvSpPr>
          <p:cNvPr id="2" name="Text 0"/>
          <p:cNvSpPr/>
          <p:nvPr/>
        </p:nvSpPr>
        <p:spPr>
          <a:xfrm>
            <a:off x="640080" y="685800"/>
            <a:ext cx="8229600" cy="274320"/>
          </a:xfrm>
          <a:prstGeom prst="rect">
            <a:avLst/>
          </a:prstGeom>
          <a:noFill/>
          <a:ln/>
        </p:spPr>
        <p:txBody>
          <a:bodyPr wrap="square" lIns="0" tIns="0" rIns="0" bIns="0" rtlCol="0" anchor="t"/>
          <a:lstStyle/>
          <a:p>
            <a:pPr indent="0" marL="0">
              <a:buNone/>
            </a:pPr>
            <a:r>
              <a:rPr lang="en-US" sz="1200" b="1" spc="160" kern="0" dirty="0">
                <a:solidFill>
                  <a:srgbClr val="E8871E"/>
                </a:solidFill>
                <a:latin typeface="Calibri" pitchFamily="34" charset="0"/>
                <a:ea typeface="Calibri" pitchFamily="34" charset="-122"/>
                <a:cs typeface="Calibri" pitchFamily="34" charset="-120"/>
              </a:rPr>
              <a:t>REFERENCES &amp; FURTHER STUDY</a:t>
            </a:r>
            <a:endParaRPr lang="en-US" sz="1200" dirty="0"/>
          </a:p>
        </p:txBody>
      </p:sp>
      <p:sp>
        <p:nvSpPr>
          <p:cNvPr id="3" name="Text 1"/>
          <p:cNvSpPr/>
          <p:nvPr/>
        </p:nvSpPr>
        <p:spPr>
          <a:xfrm>
            <a:off x="640080" y="1005840"/>
            <a:ext cx="8229600" cy="54864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Where to read more</a:t>
            </a:r>
            <a:endParaRPr lang="en-US" sz="3200" dirty="0"/>
          </a:p>
        </p:txBody>
      </p:sp>
      <p:sp>
        <p:nvSpPr>
          <p:cNvPr id="4" name="Shape 2"/>
          <p:cNvSpPr/>
          <p:nvPr/>
        </p:nvSpPr>
        <p:spPr>
          <a:xfrm>
            <a:off x="640080" y="1828800"/>
            <a:ext cx="868680" cy="384048"/>
          </a:xfrm>
          <a:prstGeom prst="roundRect">
            <a:avLst>
              <a:gd name="adj" fmla="val 19048"/>
            </a:avLst>
          </a:prstGeom>
          <a:solidFill>
            <a:srgbClr val="1E2630"/>
          </a:solidFill>
          <a:ln w="12700">
            <a:solidFill>
              <a:srgbClr val="36414D"/>
            </a:solidFill>
            <a:prstDash val="solid"/>
          </a:ln>
        </p:spPr>
      </p:sp>
      <p:sp>
        <p:nvSpPr>
          <p:cNvPr id="5" name="Text 3"/>
          <p:cNvSpPr/>
          <p:nvPr/>
        </p:nvSpPr>
        <p:spPr>
          <a:xfrm>
            <a:off x="640080" y="1828800"/>
            <a:ext cx="868680" cy="384048"/>
          </a:xfrm>
          <a:prstGeom prst="rect">
            <a:avLst/>
          </a:prstGeom>
          <a:noFill/>
          <a:ln/>
        </p:spPr>
        <p:txBody>
          <a:bodyPr wrap="square" lIns="0" tIns="0" rIns="0" bIns="0" rtlCol="0" anchor="ctr"/>
          <a:lstStyle/>
          <a:p>
            <a:pPr algn="ctr" indent="0" marL="0">
              <a:buNone/>
            </a:pPr>
            <a:r>
              <a:rPr lang="en-US" sz="1200" b="1" dirty="0">
                <a:solidFill>
                  <a:srgbClr val="E8871E"/>
                </a:solidFill>
                <a:latin typeface="Calibri" pitchFamily="34" charset="0"/>
                <a:ea typeface="Calibri" pitchFamily="34" charset="-122"/>
                <a:cs typeface="Calibri" pitchFamily="34" charset="-120"/>
              </a:rPr>
              <a:t>T-1</a:t>
            </a:r>
            <a:endParaRPr lang="en-US" sz="1200" dirty="0"/>
          </a:p>
        </p:txBody>
      </p:sp>
      <p:sp>
        <p:nvSpPr>
          <p:cNvPr id="6" name="Text 4"/>
          <p:cNvSpPr/>
          <p:nvPr/>
        </p:nvSpPr>
        <p:spPr>
          <a:xfrm>
            <a:off x="1691640" y="1847088"/>
            <a:ext cx="1097280" cy="256032"/>
          </a:xfrm>
          <a:prstGeom prst="rect">
            <a:avLst/>
          </a:prstGeom>
          <a:noFill/>
          <a:ln/>
        </p:spPr>
        <p:txBody>
          <a:bodyPr wrap="square" lIns="0" tIns="0" rIns="0" bIns="0" rtlCol="0" anchor="t"/>
          <a:lstStyle/>
          <a:p>
            <a:pPr indent="0" marL="0">
              <a:buNone/>
            </a:pPr>
            <a:r>
              <a:rPr lang="en-US" sz="1050" spc="100" kern="0" dirty="0">
                <a:solidFill>
                  <a:srgbClr val="7C8798"/>
                </a:solidFill>
                <a:latin typeface="Calibri" pitchFamily="34" charset="0"/>
                <a:ea typeface="Calibri" pitchFamily="34" charset="-122"/>
                <a:cs typeface="Calibri" pitchFamily="34" charset="-120"/>
              </a:rPr>
              <a:t>Text</a:t>
            </a:r>
            <a:endParaRPr lang="en-US" sz="1050" dirty="0"/>
          </a:p>
        </p:txBody>
      </p:sp>
      <p:sp>
        <p:nvSpPr>
          <p:cNvPr id="7" name="Text 5"/>
          <p:cNvSpPr/>
          <p:nvPr/>
        </p:nvSpPr>
        <p:spPr>
          <a:xfrm>
            <a:off x="2834640" y="1810512"/>
            <a:ext cx="8686800" cy="566928"/>
          </a:xfrm>
          <a:prstGeom prst="rect">
            <a:avLst/>
          </a:prstGeom>
          <a:noFill/>
          <a:ln/>
        </p:spPr>
        <p:txBody>
          <a:bodyPr wrap="square" lIns="0" tIns="0" rIns="0" bIns="0" rtlCol="0" anchor="t"/>
          <a:lstStyle/>
          <a:p>
            <a:pPr indent="0" marL="0">
              <a:lnSpc>
                <a:spcPts val="1700"/>
              </a:lnSpc>
              <a:buNone/>
            </a:pPr>
            <a:r>
              <a:rPr lang="en-US" sz="1250" dirty="0">
                <a:solidFill>
                  <a:srgbClr val="D8DEE6"/>
                </a:solidFill>
                <a:latin typeface="Calibri" pitchFamily="34" charset="0"/>
                <a:ea typeface="Calibri" pitchFamily="34" charset="-122"/>
                <a:cs typeface="Calibri" pitchFamily="34" charset="-120"/>
              </a:rPr>
              <a:t>Horowitz, Sahni &amp; Rajasekaran — Fundamentals of Computer Algorithms. Chapter 1: Introduction, performance analysis, asymptotic notation.</a:t>
            </a:r>
            <a:endParaRPr lang="en-US" sz="1250" dirty="0"/>
          </a:p>
        </p:txBody>
      </p:sp>
      <p:sp>
        <p:nvSpPr>
          <p:cNvPr id="8" name="Shape 6"/>
          <p:cNvSpPr/>
          <p:nvPr/>
        </p:nvSpPr>
        <p:spPr>
          <a:xfrm>
            <a:off x="640080" y="2578608"/>
            <a:ext cx="868680" cy="384048"/>
          </a:xfrm>
          <a:prstGeom prst="roundRect">
            <a:avLst>
              <a:gd name="adj" fmla="val 19048"/>
            </a:avLst>
          </a:prstGeom>
          <a:solidFill>
            <a:srgbClr val="1E2630"/>
          </a:solidFill>
          <a:ln w="12700">
            <a:solidFill>
              <a:srgbClr val="36414D"/>
            </a:solidFill>
            <a:prstDash val="solid"/>
          </a:ln>
        </p:spPr>
      </p:sp>
      <p:sp>
        <p:nvSpPr>
          <p:cNvPr id="9" name="Text 7"/>
          <p:cNvSpPr/>
          <p:nvPr/>
        </p:nvSpPr>
        <p:spPr>
          <a:xfrm>
            <a:off x="640080" y="2578608"/>
            <a:ext cx="868680" cy="384048"/>
          </a:xfrm>
          <a:prstGeom prst="rect">
            <a:avLst/>
          </a:prstGeom>
          <a:noFill/>
          <a:ln/>
        </p:spPr>
        <p:txBody>
          <a:bodyPr wrap="square" lIns="0" tIns="0" rIns="0" bIns="0" rtlCol="0" anchor="ctr"/>
          <a:lstStyle/>
          <a:p>
            <a:pPr algn="ctr" indent="0" marL="0">
              <a:buNone/>
            </a:pPr>
            <a:r>
              <a:rPr lang="en-US" sz="1200" b="1" dirty="0">
                <a:solidFill>
                  <a:srgbClr val="E8871E"/>
                </a:solidFill>
                <a:latin typeface="Calibri" pitchFamily="34" charset="0"/>
                <a:ea typeface="Calibri" pitchFamily="34" charset="-122"/>
                <a:cs typeface="Calibri" pitchFamily="34" charset="-120"/>
              </a:rPr>
              <a:t>R-1</a:t>
            </a:r>
            <a:endParaRPr lang="en-US" sz="1200" dirty="0"/>
          </a:p>
        </p:txBody>
      </p:sp>
      <p:sp>
        <p:nvSpPr>
          <p:cNvPr id="10" name="Text 8"/>
          <p:cNvSpPr/>
          <p:nvPr/>
        </p:nvSpPr>
        <p:spPr>
          <a:xfrm>
            <a:off x="1691640" y="2596896"/>
            <a:ext cx="1097280" cy="256032"/>
          </a:xfrm>
          <a:prstGeom prst="rect">
            <a:avLst/>
          </a:prstGeom>
          <a:noFill/>
          <a:ln/>
        </p:spPr>
        <p:txBody>
          <a:bodyPr wrap="square" lIns="0" tIns="0" rIns="0" bIns="0" rtlCol="0" anchor="t"/>
          <a:lstStyle/>
          <a:p>
            <a:pPr indent="0" marL="0">
              <a:buNone/>
            </a:pPr>
            <a:r>
              <a:rPr lang="en-US" sz="1050" spc="100" kern="0" dirty="0">
                <a:solidFill>
                  <a:srgbClr val="7C8798"/>
                </a:solidFill>
                <a:latin typeface="Calibri" pitchFamily="34" charset="0"/>
                <a:ea typeface="Calibri" pitchFamily="34" charset="-122"/>
                <a:cs typeface="Calibri" pitchFamily="34" charset="-120"/>
              </a:rPr>
              <a:t>Reference</a:t>
            </a:r>
            <a:endParaRPr lang="en-US" sz="1050" dirty="0"/>
          </a:p>
        </p:txBody>
      </p:sp>
      <p:sp>
        <p:nvSpPr>
          <p:cNvPr id="11" name="Text 9"/>
          <p:cNvSpPr/>
          <p:nvPr/>
        </p:nvSpPr>
        <p:spPr>
          <a:xfrm>
            <a:off x="2834640" y="2560320"/>
            <a:ext cx="8686800" cy="566928"/>
          </a:xfrm>
          <a:prstGeom prst="rect">
            <a:avLst/>
          </a:prstGeom>
          <a:noFill/>
          <a:ln/>
        </p:spPr>
        <p:txBody>
          <a:bodyPr wrap="square" lIns="0" tIns="0" rIns="0" bIns="0" rtlCol="0" anchor="t"/>
          <a:lstStyle/>
          <a:p>
            <a:pPr indent="0" marL="0">
              <a:lnSpc>
                <a:spcPts val="1700"/>
              </a:lnSpc>
              <a:buNone/>
            </a:pPr>
            <a:r>
              <a:rPr lang="en-US" sz="1250" dirty="0">
                <a:solidFill>
                  <a:srgbClr val="D8DEE6"/>
                </a:solidFill>
                <a:latin typeface="Calibri" pitchFamily="34" charset="0"/>
                <a:ea typeface="Calibri" pitchFamily="34" charset="-122"/>
                <a:cs typeface="Calibri" pitchFamily="34" charset="-120"/>
              </a:rPr>
              <a:t>Cormen, Leiserson, Rivest &amp; Stein — Introduction to Algorithms. Chapters 1–3: the role of algorithms, insertion sort, growth of functions.</a:t>
            </a:r>
            <a:endParaRPr lang="en-US" sz="1250" dirty="0"/>
          </a:p>
        </p:txBody>
      </p:sp>
      <p:sp>
        <p:nvSpPr>
          <p:cNvPr id="12" name="Shape 10"/>
          <p:cNvSpPr/>
          <p:nvPr/>
        </p:nvSpPr>
        <p:spPr>
          <a:xfrm>
            <a:off x="640080" y="3328416"/>
            <a:ext cx="868680" cy="384048"/>
          </a:xfrm>
          <a:prstGeom prst="roundRect">
            <a:avLst>
              <a:gd name="adj" fmla="val 19048"/>
            </a:avLst>
          </a:prstGeom>
          <a:solidFill>
            <a:srgbClr val="1E2630"/>
          </a:solidFill>
          <a:ln w="12700">
            <a:solidFill>
              <a:srgbClr val="36414D"/>
            </a:solidFill>
            <a:prstDash val="solid"/>
          </a:ln>
        </p:spPr>
      </p:sp>
      <p:sp>
        <p:nvSpPr>
          <p:cNvPr id="13" name="Text 11"/>
          <p:cNvSpPr/>
          <p:nvPr/>
        </p:nvSpPr>
        <p:spPr>
          <a:xfrm>
            <a:off x="640080" y="3328416"/>
            <a:ext cx="868680" cy="384048"/>
          </a:xfrm>
          <a:prstGeom prst="rect">
            <a:avLst/>
          </a:prstGeom>
          <a:noFill/>
          <a:ln/>
        </p:spPr>
        <p:txBody>
          <a:bodyPr wrap="square" lIns="0" tIns="0" rIns="0" bIns="0" rtlCol="0" anchor="ctr"/>
          <a:lstStyle/>
          <a:p>
            <a:pPr algn="ctr" indent="0" marL="0">
              <a:buNone/>
            </a:pPr>
            <a:r>
              <a:rPr lang="en-US" sz="1200" b="1" dirty="0">
                <a:solidFill>
                  <a:srgbClr val="E8871E"/>
                </a:solidFill>
                <a:latin typeface="Calibri" pitchFamily="34" charset="0"/>
                <a:ea typeface="Calibri" pitchFamily="34" charset="-122"/>
                <a:cs typeface="Calibri" pitchFamily="34" charset="-120"/>
              </a:rPr>
              <a:t>OR-2</a:t>
            </a:r>
            <a:endParaRPr lang="en-US" sz="1200" dirty="0"/>
          </a:p>
        </p:txBody>
      </p:sp>
      <p:sp>
        <p:nvSpPr>
          <p:cNvPr id="14" name="Text 12"/>
          <p:cNvSpPr/>
          <p:nvPr/>
        </p:nvSpPr>
        <p:spPr>
          <a:xfrm>
            <a:off x="1691640" y="3346704"/>
            <a:ext cx="1097280" cy="256032"/>
          </a:xfrm>
          <a:prstGeom prst="rect">
            <a:avLst/>
          </a:prstGeom>
          <a:noFill/>
          <a:ln/>
        </p:spPr>
        <p:txBody>
          <a:bodyPr wrap="square" lIns="0" tIns="0" rIns="0" bIns="0" rtlCol="0" anchor="t"/>
          <a:lstStyle/>
          <a:p>
            <a:pPr indent="0" marL="0">
              <a:buNone/>
            </a:pPr>
            <a:r>
              <a:rPr lang="en-US" sz="1050" spc="100" kern="0" dirty="0">
                <a:solidFill>
                  <a:srgbClr val="7C8798"/>
                </a:solidFill>
                <a:latin typeface="Calibri" pitchFamily="34" charset="0"/>
                <a:ea typeface="Calibri" pitchFamily="34" charset="-122"/>
                <a:cs typeface="Calibri" pitchFamily="34" charset="-120"/>
              </a:rPr>
              <a:t>Online</a:t>
            </a:r>
            <a:endParaRPr lang="en-US" sz="1050" dirty="0"/>
          </a:p>
        </p:txBody>
      </p:sp>
      <p:sp>
        <p:nvSpPr>
          <p:cNvPr id="15" name="Text 13"/>
          <p:cNvSpPr/>
          <p:nvPr/>
        </p:nvSpPr>
        <p:spPr>
          <a:xfrm>
            <a:off x="2834640" y="3310128"/>
            <a:ext cx="8686800" cy="566928"/>
          </a:xfrm>
          <a:prstGeom prst="rect">
            <a:avLst/>
          </a:prstGeom>
          <a:noFill/>
          <a:ln/>
        </p:spPr>
        <p:txBody>
          <a:bodyPr wrap="square" lIns="0" tIns="0" rIns="0" bIns="0" rtlCol="0" anchor="t"/>
          <a:lstStyle/>
          <a:p>
            <a:pPr indent="0" marL="0">
              <a:lnSpc>
                <a:spcPts val="1700"/>
              </a:lnSpc>
              <a:buNone/>
            </a:pPr>
            <a:r>
              <a:rPr lang="en-US" sz="1250" dirty="0">
                <a:solidFill>
                  <a:srgbClr val="D8DEE6"/>
                </a:solidFill>
                <a:latin typeface="Calibri" pitchFamily="34" charset="0"/>
                <a:ea typeface="Calibri" pitchFamily="34" charset="-122"/>
                <a:cs typeface="Calibri" pitchFamily="34" charset="-120"/>
              </a:rPr>
              <a:t>Aho, Hopcroft &amp; Ullman — The Design and Analysis of Computer Algorithms; supporting NPTEL / online course notes on complexity.</a:t>
            </a:r>
            <a:endParaRPr lang="en-US" sz="1250" dirty="0"/>
          </a:p>
        </p:txBody>
      </p:sp>
      <p:sp>
        <p:nvSpPr>
          <p:cNvPr id="16" name="Shape 14"/>
          <p:cNvSpPr/>
          <p:nvPr/>
        </p:nvSpPr>
        <p:spPr>
          <a:xfrm>
            <a:off x="640080" y="4078224"/>
            <a:ext cx="868680" cy="384048"/>
          </a:xfrm>
          <a:prstGeom prst="roundRect">
            <a:avLst>
              <a:gd name="adj" fmla="val 19048"/>
            </a:avLst>
          </a:prstGeom>
          <a:solidFill>
            <a:srgbClr val="1E2630"/>
          </a:solidFill>
          <a:ln w="12700">
            <a:solidFill>
              <a:srgbClr val="36414D"/>
            </a:solidFill>
            <a:prstDash val="solid"/>
          </a:ln>
        </p:spPr>
      </p:sp>
      <p:sp>
        <p:nvSpPr>
          <p:cNvPr id="17" name="Text 15"/>
          <p:cNvSpPr/>
          <p:nvPr/>
        </p:nvSpPr>
        <p:spPr>
          <a:xfrm>
            <a:off x="640080" y="4078224"/>
            <a:ext cx="868680" cy="384048"/>
          </a:xfrm>
          <a:prstGeom prst="rect">
            <a:avLst/>
          </a:prstGeom>
          <a:noFill/>
          <a:ln/>
        </p:spPr>
        <p:txBody>
          <a:bodyPr wrap="square" lIns="0" tIns="0" rIns="0" bIns="0" rtlCol="0" anchor="ctr"/>
          <a:lstStyle/>
          <a:p>
            <a:pPr algn="ctr" indent="0" marL="0">
              <a:buNone/>
            </a:pPr>
            <a:r>
              <a:rPr lang="en-US" sz="1200" b="1" dirty="0">
                <a:solidFill>
                  <a:srgbClr val="E8871E"/>
                </a:solidFill>
                <a:latin typeface="Calibri" pitchFamily="34" charset="0"/>
                <a:ea typeface="Calibri" pitchFamily="34" charset="-122"/>
                <a:cs typeface="Calibri" pitchFamily="34" charset="-120"/>
              </a:rPr>
              <a:t>VL-1</a:t>
            </a:r>
            <a:endParaRPr lang="en-US" sz="1200" dirty="0"/>
          </a:p>
        </p:txBody>
      </p:sp>
      <p:sp>
        <p:nvSpPr>
          <p:cNvPr id="18" name="Text 16"/>
          <p:cNvSpPr/>
          <p:nvPr/>
        </p:nvSpPr>
        <p:spPr>
          <a:xfrm>
            <a:off x="1691640" y="4096512"/>
            <a:ext cx="1097280" cy="256032"/>
          </a:xfrm>
          <a:prstGeom prst="rect">
            <a:avLst/>
          </a:prstGeom>
          <a:noFill/>
          <a:ln/>
        </p:spPr>
        <p:txBody>
          <a:bodyPr wrap="square" lIns="0" tIns="0" rIns="0" bIns="0" rtlCol="0" anchor="t"/>
          <a:lstStyle/>
          <a:p>
            <a:pPr indent="0" marL="0">
              <a:buNone/>
            </a:pPr>
            <a:r>
              <a:rPr lang="en-US" sz="1050" spc="100" kern="0" dirty="0">
                <a:solidFill>
                  <a:srgbClr val="7C8798"/>
                </a:solidFill>
                <a:latin typeface="Calibri" pitchFamily="34" charset="0"/>
                <a:ea typeface="Calibri" pitchFamily="34" charset="-122"/>
                <a:cs typeface="Calibri" pitchFamily="34" charset="-120"/>
              </a:rPr>
              <a:t>Video</a:t>
            </a:r>
            <a:endParaRPr lang="en-US" sz="1050" dirty="0"/>
          </a:p>
        </p:txBody>
      </p:sp>
      <p:sp>
        <p:nvSpPr>
          <p:cNvPr id="19" name="Text 17"/>
          <p:cNvSpPr/>
          <p:nvPr/>
        </p:nvSpPr>
        <p:spPr>
          <a:xfrm>
            <a:off x="2834640" y="4059936"/>
            <a:ext cx="8686800" cy="566928"/>
          </a:xfrm>
          <a:prstGeom prst="rect">
            <a:avLst/>
          </a:prstGeom>
          <a:noFill/>
          <a:ln/>
        </p:spPr>
        <p:txBody>
          <a:bodyPr wrap="square" lIns="0" tIns="0" rIns="0" bIns="0" rtlCol="0" anchor="t"/>
          <a:lstStyle/>
          <a:p>
            <a:pPr indent="0" marL="0">
              <a:lnSpc>
                <a:spcPts val="1700"/>
              </a:lnSpc>
              <a:buNone/>
            </a:pPr>
            <a:r>
              <a:rPr lang="en-US" sz="1250" dirty="0">
                <a:solidFill>
                  <a:srgbClr val="D8DEE6"/>
                </a:solidFill>
                <a:latin typeface="Calibri" pitchFamily="34" charset="0"/>
                <a:ea typeface="Calibri" pitchFamily="34" charset="-122"/>
                <a:cs typeface="Calibri" pitchFamily="34" charset="-120"/>
              </a:rPr>
              <a:t>Introduction to algorithms and the need for analysis — lecture video.</a:t>
            </a:r>
            <a:endParaRPr lang="en-US" sz="1250" dirty="0"/>
          </a:p>
        </p:txBody>
      </p:sp>
      <p:sp>
        <p:nvSpPr>
          <p:cNvPr id="20" name="Shape 18"/>
          <p:cNvSpPr/>
          <p:nvPr/>
        </p:nvSpPr>
        <p:spPr>
          <a:xfrm>
            <a:off x="640080" y="4828032"/>
            <a:ext cx="868680" cy="384048"/>
          </a:xfrm>
          <a:prstGeom prst="roundRect">
            <a:avLst>
              <a:gd name="adj" fmla="val 19048"/>
            </a:avLst>
          </a:prstGeom>
          <a:solidFill>
            <a:srgbClr val="1E2630"/>
          </a:solidFill>
          <a:ln w="12700">
            <a:solidFill>
              <a:srgbClr val="36414D"/>
            </a:solidFill>
            <a:prstDash val="solid"/>
          </a:ln>
        </p:spPr>
      </p:sp>
      <p:sp>
        <p:nvSpPr>
          <p:cNvPr id="21" name="Text 19"/>
          <p:cNvSpPr/>
          <p:nvPr/>
        </p:nvSpPr>
        <p:spPr>
          <a:xfrm>
            <a:off x="640080" y="4828032"/>
            <a:ext cx="868680" cy="384048"/>
          </a:xfrm>
          <a:prstGeom prst="rect">
            <a:avLst/>
          </a:prstGeom>
          <a:noFill/>
          <a:ln/>
        </p:spPr>
        <p:txBody>
          <a:bodyPr wrap="square" lIns="0" tIns="0" rIns="0" bIns="0" rtlCol="0" anchor="ctr"/>
          <a:lstStyle/>
          <a:p>
            <a:pPr algn="ctr" indent="0" marL="0">
              <a:buNone/>
            </a:pPr>
            <a:r>
              <a:rPr lang="en-US" sz="1200" b="1" dirty="0">
                <a:solidFill>
                  <a:srgbClr val="E8871E"/>
                </a:solidFill>
                <a:latin typeface="Calibri" pitchFamily="34" charset="0"/>
                <a:ea typeface="Calibri" pitchFamily="34" charset="-122"/>
                <a:cs typeface="Calibri" pitchFamily="34" charset="-120"/>
              </a:rPr>
              <a:t>VL-2</a:t>
            </a:r>
            <a:endParaRPr lang="en-US" sz="1200" dirty="0"/>
          </a:p>
        </p:txBody>
      </p:sp>
      <p:sp>
        <p:nvSpPr>
          <p:cNvPr id="22" name="Text 20"/>
          <p:cNvSpPr/>
          <p:nvPr/>
        </p:nvSpPr>
        <p:spPr>
          <a:xfrm>
            <a:off x="1691640" y="4846320"/>
            <a:ext cx="1097280" cy="256032"/>
          </a:xfrm>
          <a:prstGeom prst="rect">
            <a:avLst/>
          </a:prstGeom>
          <a:noFill/>
          <a:ln/>
        </p:spPr>
        <p:txBody>
          <a:bodyPr wrap="square" lIns="0" tIns="0" rIns="0" bIns="0" rtlCol="0" anchor="t"/>
          <a:lstStyle/>
          <a:p>
            <a:pPr indent="0" marL="0">
              <a:buNone/>
            </a:pPr>
            <a:r>
              <a:rPr lang="en-US" sz="1050" spc="100" kern="0" dirty="0">
                <a:solidFill>
                  <a:srgbClr val="7C8798"/>
                </a:solidFill>
                <a:latin typeface="Calibri" pitchFamily="34" charset="0"/>
                <a:ea typeface="Calibri" pitchFamily="34" charset="-122"/>
                <a:cs typeface="Calibri" pitchFamily="34" charset="-120"/>
              </a:rPr>
              <a:t>Video</a:t>
            </a:r>
            <a:endParaRPr lang="en-US" sz="1050" dirty="0"/>
          </a:p>
        </p:txBody>
      </p:sp>
      <p:sp>
        <p:nvSpPr>
          <p:cNvPr id="23" name="Text 21"/>
          <p:cNvSpPr/>
          <p:nvPr/>
        </p:nvSpPr>
        <p:spPr>
          <a:xfrm>
            <a:off x="2834640" y="4809744"/>
            <a:ext cx="8686800" cy="566928"/>
          </a:xfrm>
          <a:prstGeom prst="rect">
            <a:avLst/>
          </a:prstGeom>
          <a:noFill/>
          <a:ln/>
        </p:spPr>
        <p:txBody>
          <a:bodyPr wrap="square" lIns="0" tIns="0" rIns="0" bIns="0" rtlCol="0" anchor="t"/>
          <a:lstStyle/>
          <a:p>
            <a:pPr indent="0" marL="0">
              <a:lnSpc>
                <a:spcPts val="1700"/>
              </a:lnSpc>
              <a:buNone/>
            </a:pPr>
            <a:r>
              <a:rPr lang="en-US" sz="1250" dirty="0">
                <a:solidFill>
                  <a:srgbClr val="D8DEE6"/>
                </a:solidFill>
                <a:latin typeface="Calibri" pitchFamily="34" charset="0"/>
                <a:ea typeface="Calibri" pitchFamily="34" charset="-122"/>
                <a:cs typeface="Calibri" pitchFamily="34" charset="-120"/>
              </a:rPr>
              <a:t>Asymptotic notations: Big-O, Big-Omega and Big-Theta with worked examples.</a:t>
            </a:r>
            <a:endParaRPr lang="en-US" sz="1250" dirty="0"/>
          </a:p>
        </p:txBody>
      </p:sp>
      <p:sp>
        <p:nvSpPr>
          <p:cNvPr id="24" name="Shape 22"/>
          <p:cNvSpPr/>
          <p:nvPr/>
        </p:nvSpPr>
        <p:spPr>
          <a:xfrm>
            <a:off x="640080" y="5715000"/>
            <a:ext cx="10908792" cy="658368"/>
          </a:xfrm>
          <a:prstGeom prst="roundRect">
            <a:avLst>
              <a:gd name="adj" fmla="val 8333"/>
            </a:avLst>
          </a:prstGeom>
          <a:solidFill>
            <a:srgbClr val="1E2630"/>
          </a:solidFill>
          <a:ln/>
        </p:spPr>
      </p:sp>
      <p:sp>
        <p:nvSpPr>
          <p:cNvPr id="25" name="Text 23"/>
          <p:cNvSpPr/>
          <p:nvPr/>
        </p:nvSpPr>
        <p:spPr>
          <a:xfrm>
            <a:off x="914400" y="5715000"/>
            <a:ext cx="10332720" cy="658368"/>
          </a:xfrm>
          <a:prstGeom prst="rect">
            <a:avLst/>
          </a:prstGeom>
          <a:noFill/>
          <a:ln/>
        </p:spPr>
        <p:txBody>
          <a:bodyPr wrap="square" lIns="0" tIns="0" rIns="0" bIns="0" rtlCol="0" anchor="ctr"/>
          <a:lstStyle/>
          <a:p>
            <a:pPr indent="0" marL="0">
              <a:buNone/>
            </a:pPr>
            <a:r>
              <a:rPr lang="en-US" sz="1250" b="1" dirty="0">
                <a:solidFill>
                  <a:srgbClr val="E8871E"/>
                </a:solidFill>
                <a:latin typeface="Calibri" pitchFamily="34" charset="0"/>
                <a:ea typeface="Calibri" pitchFamily="34" charset="-122"/>
                <a:cs typeface="Calibri" pitchFamily="34" charset="-120"/>
              </a:rPr>
              <a:t>Before the next class:  </a:t>
            </a:r>
            <a:pPr indent="0" marL="0">
              <a:buNone/>
            </a:pPr>
            <a:r>
              <a:rPr lang="en-US" sz="1250" dirty="0">
                <a:solidFill>
                  <a:srgbClr val="C9D2DC"/>
                </a:solidFill>
                <a:latin typeface="Calibri" pitchFamily="34" charset="0"/>
                <a:ea typeface="Calibri" pitchFamily="34" charset="-122"/>
                <a:cs typeface="Calibri" pitchFamily="34" charset="-120"/>
              </a:rPr>
              <a:t>attempt Q1–Q6 from the problem-solving slide, and revise summations and logarithms — both are needed for recurrence relations.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 Analysis of Algorithms and Complexity Measures</dc:title>
  <dc:subject>Design and Analysis of Algorithms</dc:subject>
  <dc:creator>Course Faculty</dc:creator>
  <cp:lastModifiedBy>Course Faculty</cp:lastModifiedBy>
  <cp:revision>1</cp:revision>
  <dcterms:created xsi:type="dcterms:W3CDTF">2026-08-11T01:00:32Z</dcterms:created>
  <dcterms:modified xsi:type="dcterms:W3CDTF">2026-08-11T01:00:32Z</dcterms:modified>
</cp:coreProperties>
</file>