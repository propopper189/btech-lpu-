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5F8FC"/>
                </a:solidFill>
              </a:defRPr>
            </a:pPr>
            <a:r>
              <a:t>0/1 KNAPSACK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2DD7BE"/>
                </a:solidFill>
              </a:defRPr>
            </a:pPr>
            <a:r>
              <a:t>Dynamic Programming | Design &amp; Analysis of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FC1D2"/>
                </a:solidFill>
              </a:defRPr>
            </a:pPr>
            <a:r>
              <a:t>Select items to maximize total value without exceeding capacity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3730752"/>
            <a:ext cx="3566160" cy="1828800"/>
          </a:xfrm>
          <a:prstGeom prst="roundRect">
            <a:avLst/>
          </a:prstGeom>
          <a:solidFill>
            <a:srgbClr val="04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97680" y="3657600"/>
            <a:ext cx="3566160" cy="1828800"/>
          </a:xfrm>
          <a:prstGeom prst="roundRect">
            <a:avLst/>
          </a:prstGeom>
          <a:solidFill>
            <a:srgbClr val="12263D"/>
          </a:solidFill>
          <a:ln>
            <a:solidFill>
              <a:srgbClr val="2DD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4297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BE46"/>
                </a:solidFill>
              </a:defRPr>
            </a:pPr>
            <a:r>
              <a:t>0   /   1   /  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5029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1B9E6"/>
                </a:solidFill>
              </a:defRPr>
            </a:pPr>
            <a:r>
              <a:t>LEAVE / TAKE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F8FC"/>
                </a:solidFill>
              </a:defRPr>
            </a:pPr>
            <a:r>
              <a:t>What is the 0/1 Knapsack Problem?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FC1D2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713231" y="1307592"/>
            <a:ext cx="5394960" cy="4937760"/>
          </a:xfrm>
          <a:prstGeom prst="roundRect">
            <a:avLst/>
          </a:prstGeom>
          <a:solidFill>
            <a:srgbClr val="04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94960" cy="4937760"/>
          </a:xfrm>
          <a:prstGeom prst="roundRect">
            <a:avLst/>
          </a:prstGeom>
          <a:solidFill>
            <a:srgbClr val="12263D"/>
          </a:solidFill>
          <a:ln>
            <a:solidFill>
              <a:srgbClr val="2DD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D7BE"/>
                </a:solidFill>
              </a:defRPr>
            </a:pPr>
            <a:r>
              <a:t>Problem 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5F8FC"/>
                </a:solidFill>
              </a:defRPr>
            </a:pPr>
            <a:r>
              <a:t>Given items with weights and values, choose a subset whose total weight is at most the capacity and whose total value is maximum.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</a:defRPr>
            </a:pPr>
            <a:r>
              <a:t>• Each item has weight wᵢ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96511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</a:defRPr>
            </a:pPr>
            <a:r>
              <a:t>• Each item has value vᵢ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2686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</a:defRPr>
            </a:pPr>
            <a:r>
              <a:t>• Knapsack capacity = 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5721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</a:defRPr>
            </a:pPr>
            <a:r>
              <a:t>• Each item is selected or rejected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82512" y="1307592"/>
            <a:ext cx="5212080" cy="4937760"/>
          </a:xfrm>
          <a:prstGeom prst="roundRect">
            <a:avLst/>
          </a:prstGeom>
          <a:solidFill>
            <a:srgbClr val="04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1234440"/>
            <a:ext cx="5212080" cy="4937760"/>
          </a:xfrm>
          <a:prstGeom prst="roundRect">
            <a:avLst/>
          </a:prstGeom>
          <a:solidFill>
            <a:srgbClr val="12263D"/>
          </a:solidFill>
          <a:ln>
            <a:solidFill>
              <a:srgbClr val="41B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54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1B9E6"/>
                </a:solidFill>
              </a:defRPr>
            </a:pPr>
            <a:r>
              <a:t>Why 0/1?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33172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BE46"/>
                </a:solidFill>
              </a:defRPr>
            </a:pPr>
            <a:r>
              <a:t>0 → not selected</a:t>
            </a:r>
            <a:br/>
            <a:r>
              <a:t>1 → selected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977639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5F8FC"/>
                </a:solidFill>
              </a:defRPr>
            </a:pPr>
            <a:r>
              <a:t>An item cannot be divided or selected more than once.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F8FC"/>
                </a:solidFill>
              </a:defRPr>
            </a:pPr>
            <a:r>
              <a:t>Why Use Dynamic Programming?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FC1D2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713231" y="1307592"/>
            <a:ext cx="5303520" cy="4846320"/>
          </a:xfrm>
          <a:prstGeom prst="roundRect">
            <a:avLst/>
          </a:prstGeom>
          <a:solidFill>
            <a:srgbClr val="04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4846320"/>
          </a:xfrm>
          <a:prstGeom prst="roundRect">
            <a:avLst/>
          </a:prstGeom>
          <a:solidFill>
            <a:srgbClr val="12263D"/>
          </a:solidFill>
          <a:ln>
            <a:solidFill>
              <a:srgbClr val="2DD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91072" y="1307592"/>
            <a:ext cx="5303520" cy="4846320"/>
          </a:xfrm>
          <a:prstGeom prst="roundRect">
            <a:avLst/>
          </a:prstGeom>
          <a:solidFill>
            <a:srgbClr val="04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303520" cy="4846320"/>
          </a:xfrm>
          <a:prstGeom prst="roundRect">
            <a:avLst/>
          </a:prstGeom>
          <a:solidFill>
            <a:srgbClr val="12263D"/>
          </a:solidFill>
          <a:ln>
            <a:solidFill>
              <a:srgbClr val="41B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D7BE"/>
                </a:solidFill>
              </a:defRPr>
            </a:pPr>
            <a:r>
              <a:t>Why brute force is costly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</a:defRPr>
            </a:pPr>
            <a:r>
              <a:t>• There are 2ⁿ possible subsets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5351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</a:defRPr>
            </a:pPr>
            <a:r>
              <a:t>• Repeated smaller subproblems appear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6674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</a:defRPr>
            </a:pPr>
            <a:r>
              <a:t>• Checking every subset becomes expensive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7997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</a:defRPr>
            </a:pPr>
            <a:r>
              <a:t>• We need an exact optimization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1B9E6"/>
                </a:solidFill>
              </a:defRPr>
            </a:pPr>
            <a:r>
              <a:t>DP 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28600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5F8FC"/>
                </a:solidFill>
              </a:defRPr>
            </a:pPr>
            <a:r>
              <a:t>Store the best answer for each smaller item/capacity problem and reuse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7091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BE46"/>
                </a:solidFill>
              </a:defRPr>
            </a:pPr>
            <a:r>
              <a:t>Two choices: EXCLUDE or INCLUDE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F8FC"/>
                </a:solidFill>
              </a:defRPr>
            </a:pPr>
            <a:r>
              <a:t>DP State and Recurrence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FC1D2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713231" y="1261872"/>
            <a:ext cx="10972800" cy="5029200"/>
          </a:xfrm>
          <a:prstGeom prst="roundRect">
            <a:avLst/>
          </a:prstGeom>
          <a:solidFill>
            <a:srgbClr val="04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10972800" cy="5029200"/>
          </a:xfrm>
          <a:prstGeom prst="roundRect">
            <a:avLst/>
          </a:prstGeom>
          <a:solidFill>
            <a:srgbClr val="12263D"/>
          </a:solidFill>
          <a:ln>
            <a:solidFill>
              <a:srgbClr val="2DD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BE46"/>
                </a:solidFill>
              </a:defRPr>
            </a:pPr>
            <a:r>
              <a:t>dp[i][w] = maximum value using first i items with capacity 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D7BE"/>
                </a:solidFill>
              </a:defRPr>
            </a:pPr>
            <a:r>
              <a:t>If wᵢ ≤ w: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5F8FC"/>
                </a:solidFill>
              </a:defRPr>
            </a:pPr>
            <a:r>
              <a:t>dp[i][w] = max(dp[i−1][w], vᵢ + dp[i−1][w−wᵢ])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1B9E6"/>
                </a:solidFill>
              </a:defRPr>
            </a:pPr>
            <a:r>
              <a:t>If wᵢ &gt; w: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F5F8FC"/>
                </a:solidFill>
              </a:defRPr>
            </a:pPr>
            <a:r>
              <a:t>dp[i][w] = dp[i−1][w]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AFC1D2"/>
                </a:solidFill>
              </a:defRPr>
            </a:pPr>
            <a:r>
              <a:t>Base cases: dp[0][w] = 0 and dp[i][0] = 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F8FC"/>
                </a:solidFill>
              </a:defRPr>
            </a:pPr>
            <a:r>
              <a:t>Worked Example — Problem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FC1D2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713231" y="1216152"/>
            <a:ext cx="10972800" cy="5166360"/>
          </a:xfrm>
          <a:prstGeom prst="roundRect">
            <a:avLst/>
          </a:prstGeom>
          <a:solidFill>
            <a:srgbClr val="04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10972800" cy="5166360"/>
          </a:xfrm>
          <a:prstGeom prst="roundRect">
            <a:avLst/>
          </a:prstGeom>
          <a:solidFill>
            <a:srgbClr val="12263D"/>
          </a:solidFill>
          <a:ln>
            <a:solidFill>
              <a:srgbClr val="2DD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BE46"/>
                </a:solidFill>
              </a:defRPr>
            </a:pPr>
            <a:r>
              <a:t>Capacity W = 7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240280"/>
            <a:ext cx="1645920" cy="502920"/>
          </a:xfrm>
          <a:prstGeom prst="rect">
            <a:avLst/>
          </a:prstGeom>
          <a:solidFill>
            <a:srgbClr val="2DD7BE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40B15"/>
                </a:solidFill>
              </a:defRPr>
            </a:pPr>
            <a:r>
              <a:t>Item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3239" y="2240280"/>
            <a:ext cx="1645920" cy="502920"/>
          </a:xfrm>
          <a:prstGeom prst="rect">
            <a:avLst/>
          </a:prstGeom>
          <a:solidFill>
            <a:srgbClr val="2DD7BE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40B15"/>
                </a:solidFill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2240280"/>
            <a:ext cx="1645920" cy="502920"/>
          </a:xfrm>
          <a:prstGeom prst="rect">
            <a:avLst/>
          </a:prstGeom>
          <a:solidFill>
            <a:srgbClr val="2DD7BE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40B15"/>
                </a:solidFill>
              </a:defRPr>
            </a:pPr>
            <a: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59" y="2240280"/>
            <a:ext cx="1645920" cy="502920"/>
          </a:xfrm>
          <a:prstGeom prst="rect">
            <a:avLst/>
          </a:prstGeom>
          <a:solidFill>
            <a:srgbClr val="2DD7BE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40B15"/>
                </a:solidFill>
              </a:defRPr>
            </a:pPr>
            <a: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19" y="2240280"/>
            <a:ext cx="1645920" cy="502920"/>
          </a:xfrm>
          <a:prstGeom prst="rect">
            <a:avLst/>
          </a:prstGeom>
          <a:solidFill>
            <a:srgbClr val="2DD7BE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40B15"/>
                </a:solidFill>
              </a:defRPr>
            </a:pPr>
            <a: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880360"/>
            <a:ext cx="164592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5F8FC"/>
                </a:solidFill>
              </a:defRPr>
            </a:pPr>
            <a:r>
              <a:t>Weight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39" y="2880360"/>
            <a:ext cx="164592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5F8FC"/>
                </a:solidFill>
              </a:defRPr>
            </a:pPr>
            <a: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880360"/>
            <a:ext cx="164592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5F8FC"/>
                </a:solidFill>
              </a:defRPr>
            </a:pPr>
            <a: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59" y="2880360"/>
            <a:ext cx="164592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5F8FC"/>
                </a:solidFill>
              </a:defRPr>
            </a:pPr>
            <a: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19" y="2880360"/>
            <a:ext cx="164592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5F8FC"/>
                </a:solidFill>
              </a:defRPr>
            </a:pPr>
            <a: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3520440"/>
            <a:ext cx="164592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5F8FC"/>
                </a:solidFill>
              </a:defRPr>
            </a:pPr>
            <a:r>
              <a:t>Value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63239" y="3520440"/>
            <a:ext cx="164592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5F8FC"/>
                </a:solidFill>
              </a:defRPr>
            </a:pPr>
            <a:r>
              <a:t>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3520440"/>
            <a:ext cx="164592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5F8FC"/>
                </a:solidFill>
              </a:defRPr>
            </a:pPr>
            <a: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95159" y="3520440"/>
            <a:ext cx="164592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5F8FC"/>
                </a:solidFill>
              </a:defRPr>
            </a:pPr>
            <a: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19" y="3520440"/>
            <a:ext cx="164592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F5F8FC"/>
                </a:solidFill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5F8FC"/>
                </a:solidFill>
              </a:defRPr>
            </a:pPr>
            <a:r>
              <a:t>Goal: total weight ≤ 7 and maximum value.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578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DD7BE"/>
                </a:solidFill>
              </a:defRPr>
            </a:pPr>
            <a:r>
              <a:t>Optimal selection: Items 2 + 3 → weight 7, value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F8FC"/>
                </a:solidFill>
              </a:defRPr>
            </a:pPr>
            <a:r>
              <a:t>Worked Example — Complete DP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FC1D2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576072" y="1216152"/>
            <a:ext cx="11155680" cy="5212080"/>
          </a:xfrm>
          <a:prstGeom prst="roundRect">
            <a:avLst/>
          </a:prstGeom>
          <a:solidFill>
            <a:srgbClr val="04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143000"/>
            <a:ext cx="11155680" cy="5212080"/>
          </a:xfrm>
          <a:prstGeom prst="roundRect">
            <a:avLst/>
          </a:prstGeom>
          <a:solidFill>
            <a:srgbClr val="12263D"/>
          </a:solidFill>
          <a:ln>
            <a:solidFill>
              <a:srgbClr val="2DD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508760"/>
            <a:ext cx="1097280" cy="502920"/>
          </a:xfrm>
          <a:prstGeom prst="rect">
            <a:avLst/>
          </a:prstGeom>
          <a:solidFill>
            <a:srgbClr val="2DD7BE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40B15"/>
                </a:solidFill>
              </a:defRPr>
            </a:pPr>
            <a:r>
              <a:t>i\w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0" y="1508760"/>
            <a:ext cx="1097280" cy="502920"/>
          </a:xfrm>
          <a:prstGeom prst="rect">
            <a:avLst/>
          </a:prstGeom>
          <a:solidFill>
            <a:srgbClr val="2DD7BE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40B15"/>
                </a:solidFill>
              </a:defRPr>
            </a:pPr>
            <a: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508760"/>
            <a:ext cx="1097280" cy="502920"/>
          </a:xfrm>
          <a:prstGeom prst="rect">
            <a:avLst/>
          </a:prstGeom>
          <a:solidFill>
            <a:srgbClr val="2DD7BE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40B15"/>
                </a:solidFill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1508760"/>
            <a:ext cx="1097280" cy="502920"/>
          </a:xfrm>
          <a:prstGeom prst="rect">
            <a:avLst/>
          </a:prstGeom>
          <a:solidFill>
            <a:srgbClr val="2DD7BE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40B15"/>
                </a:solidFill>
              </a:defRPr>
            </a:pPr>
            <a: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508760"/>
            <a:ext cx="1097280" cy="502920"/>
          </a:xfrm>
          <a:prstGeom prst="rect">
            <a:avLst/>
          </a:prstGeom>
          <a:solidFill>
            <a:srgbClr val="2DD7BE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40B15"/>
                </a:solidFill>
              </a:defRPr>
            </a:pPr>
            <a: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95160" y="1508760"/>
            <a:ext cx="1097280" cy="502920"/>
          </a:xfrm>
          <a:prstGeom prst="rect">
            <a:avLst/>
          </a:prstGeom>
          <a:solidFill>
            <a:srgbClr val="2DD7BE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40B15"/>
                </a:solidFill>
              </a:defRPr>
            </a:pPr>
            <a: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508760"/>
            <a:ext cx="1097280" cy="502920"/>
          </a:xfrm>
          <a:prstGeom prst="rect">
            <a:avLst/>
          </a:prstGeom>
          <a:solidFill>
            <a:srgbClr val="2DD7BE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40B15"/>
                </a:solidFill>
              </a:defRPr>
            </a:pPr>
            <a: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64040" y="1508760"/>
            <a:ext cx="1097280" cy="502920"/>
          </a:xfrm>
          <a:prstGeom prst="rect">
            <a:avLst/>
          </a:prstGeom>
          <a:solidFill>
            <a:srgbClr val="2DD7BE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40B15"/>
                </a:solidFill>
              </a:defRPr>
            </a:pPr>
            <a:r>
              <a:t>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98480" y="1508760"/>
            <a:ext cx="1097280" cy="502920"/>
          </a:xfrm>
          <a:prstGeom prst="rect">
            <a:avLst/>
          </a:prstGeom>
          <a:solidFill>
            <a:srgbClr val="2DD7BE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40B15"/>
                </a:solidFill>
              </a:defRPr>
            </a:pPr>
            <a:r>
              <a:t>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148839"/>
            <a:ext cx="1097280" cy="502920"/>
          </a:xfrm>
          <a:prstGeom prst="rect">
            <a:avLst/>
          </a:prstGeom>
          <a:solidFill>
            <a:srgbClr val="2DD7BE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40B15"/>
                </a:solidFill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7400" y="2148839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2148839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26280" y="2148839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2148839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95160" y="2148839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148839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64040" y="2148839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98480" y="2148839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2788920"/>
            <a:ext cx="1097280" cy="502920"/>
          </a:xfrm>
          <a:prstGeom prst="rect">
            <a:avLst/>
          </a:prstGeom>
          <a:solidFill>
            <a:srgbClr val="2DD7BE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40B15"/>
                </a:solidFill>
              </a:defRPr>
            </a:pPr>
            <a: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2788920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2788920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6280" y="2788920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2788920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95160" y="2788920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2788920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64040" y="2788920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98480" y="2788920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3428999"/>
            <a:ext cx="1097280" cy="502920"/>
          </a:xfrm>
          <a:prstGeom prst="rect">
            <a:avLst/>
          </a:prstGeom>
          <a:solidFill>
            <a:srgbClr val="2DD7BE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40B15"/>
                </a:solidFill>
              </a:defRPr>
            </a:pPr>
            <a: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57400" y="3428999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40" y="3428999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26280" y="3428999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3428999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95160" y="3428999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3428999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64040" y="3428999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698480" y="3428999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" y="4069079"/>
            <a:ext cx="1097280" cy="502920"/>
          </a:xfrm>
          <a:prstGeom prst="rect">
            <a:avLst/>
          </a:prstGeom>
          <a:solidFill>
            <a:srgbClr val="2DD7BE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40B15"/>
                </a:solidFill>
              </a:defRPr>
            </a:pPr>
            <a: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57400" y="4069079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91840" y="4069079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26280" y="4069079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60720" y="4069079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95160" y="4069079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29600" y="4069079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64040" y="4069079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6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698480" y="4069079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60" y="4709160"/>
            <a:ext cx="1097280" cy="502920"/>
          </a:xfrm>
          <a:prstGeom prst="rect">
            <a:avLst/>
          </a:prstGeom>
          <a:solidFill>
            <a:srgbClr val="2DD7BE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40B15"/>
                </a:solidFill>
              </a:defRPr>
            </a:pPr>
            <a: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57400" y="4709160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91840" y="4709160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26280" y="4709160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60720" y="4709160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95160" y="4709160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29600" y="4709160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64040" y="4709160"/>
            <a:ext cx="1097280" cy="502920"/>
          </a:xfrm>
          <a:prstGeom prst="rect">
            <a:avLst/>
          </a:prstGeom>
          <a:solidFill>
            <a:srgbClr val="12263D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F8FC"/>
                </a:solidFill>
              </a:defRPr>
            </a:pPr>
            <a:r>
              <a:t>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698480" y="4709160"/>
            <a:ext cx="1097280" cy="502920"/>
          </a:xfrm>
          <a:prstGeom prst="rect">
            <a:avLst/>
          </a:prstGeom>
          <a:solidFill>
            <a:srgbClr val="F5BE46"/>
          </a:solidFill>
          <a:ln>
            <a:solidFill>
              <a:srgbClr val="AFC1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40B15"/>
                </a:solidFill>
              </a:defRPr>
            </a:pPr>
            <a: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" y="55321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BE46"/>
                </a:solidFill>
              </a:defRPr>
            </a:pPr>
            <a:r>
              <a:t>Final answer = dp[4][7] =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F8FC"/>
                </a:solidFill>
              </a:defRPr>
            </a:pPr>
            <a:r>
              <a:t>Worked Example — Selecting the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FC1D2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713231" y="1307592"/>
            <a:ext cx="5303520" cy="4754880"/>
          </a:xfrm>
          <a:prstGeom prst="roundRect">
            <a:avLst/>
          </a:prstGeom>
          <a:solidFill>
            <a:srgbClr val="04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4754880"/>
          </a:xfrm>
          <a:prstGeom prst="roundRect">
            <a:avLst/>
          </a:prstGeom>
          <a:solidFill>
            <a:srgbClr val="12263D"/>
          </a:solidFill>
          <a:ln>
            <a:solidFill>
              <a:srgbClr val="2DD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DD7BE"/>
                </a:solidFill>
              </a:defRPr>
            </a:pPr>
            <a:r>
              <a:t>Backtracking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</a:defRPr>
            </a:pPr>
            <a:r>
              <a:t>• dp[4][7] = dp[3][7] → item 4 excluded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5292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</a:defRPr>
            </a:pPr>
            <a:r>
              <a:t>• dp[3][7] = 9 differs from dp[2][7] = 5 → item 3 included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112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</a:defRPr>
            </a:pPr>
            <a:r>
              <a:t>• Move to dp[2][3] =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966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</a:defRPr>
            </a:pPr>
            <a:r>
              <a:t>• dp[2][3] differs from dp[1][3] = 1 → item 2 included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307592"/>
            <a:ext cx="5303520" cy="4754880"/>
          </a:xfrm>
          <a:prstGeom prst="roundRect">
            <a:avLst/>
          </a:prstGeom>
          <a:solidFill>
            <a:srgbClr val="04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303520" cy="4754880"/>
          </a:xfrm>
          <a:prstGeom prst="roundRect">
            <a:avLst/>
          </a:prstGeom>
          <a:solidFill>
            <a:srgbClr val="12263D"/>
          </a:solidFill>
          <a:ln>
            <a:solidFill>
              <a:srgbClr val="41B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1B9E6"/>
                </a:solidFill>
              </a:defRPr>
            </a:pPr>
            <a:r>
              <a:t>Optimal selection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2860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F5BE46"/>
                </a:solidFill>
              </a:defRPr>
            </a:pPr>
            <a:r>
              <a:t>Item 2 + Item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4747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F8FC"/>
                </a:solidFill>
              </a:defRPr>
            </a:pPr>
            <a:r>
              <a:t>Total weight = 7</a:t>
            </a:r>
            <a:br/>
            <a:r>
              <a:t>Total value =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F8FC"/>
                </a:solidFill>
              </a:defRPr>
            </a:pPr>
            <a:r>
              <a:t>Advantages and Disadvantages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FC1D2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667512" y="1307592"/>
            <a:ext cx="5394960" cy="4846320"/>
          </a:xfrm>
          <a:prstGeom prst="roundRect">
            <a:avLst/>
          </a:prstGeom>
          <a:solidFill>
            <a:srgbClr val="04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5394960" cy="4846320"/>
          </a:xfrm>
          <a:prstGeom prst="roundRect">
            <a:avLst/>
          </a:prstGeom>
          <a:solidFill>
            <a:srgbClr val="12263D"/>
          </a:solidFill>
          <a:ln>
            <a:solidFill>
              <a:srgbClr val="2DD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91072" y="1307592"/>
            <a:ext cx="5394960" cy="4846320"/>
          </a:xfrm>
          <a:prstGeom prst="roundRect">
            <a:avLst/>
          </a:prstGeom>
          <a:solidFill>
            <a:srgbClr val="04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394960" cy="4846320"/>
          </a:xfrm>
          <a:prstGeom prst="roundRect">
            <a:avLst/>
          </a:prstGeom>
          <a:solidFill>
            <a:srgbClr val="12263D"/>
          </a:solidFill>
          <a:ln>
            <a:solidFill>
              <a:srgbClr val="41B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2DD7BE"/>
                </a:solidFill>
              </a:defRPr>
            </a:pPr>
            <a:r>
              <a:t>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</a:defRPr>
            </a:pPr>
            <a:r>
              <a:t>• Exact optimal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986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</a:defRPr>
            </a:pPr>
            <a:r>
              <a:t>• Avoids repeated subproblems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5701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</a:defRPr>
            </a:pPr>
            <a:r>
              <a:t>• Systematic include/exclude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1538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</a:defRPr>
            </a:pPr>
            <a:r>
              <a:t>• Easy to reconstruct selected items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7375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</a:defRPr>
            </a:pPr>
            <a:r>
              <a:t>• Works well for manageable integer capacity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41B9E6"/>
                </a:solidFill>
              </a:defRPr>
            </a:pPr>
            <a:r>
              <a:t>Disadvantages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402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</a:defRPr>
            </a:pPr>
            <a:r>
              <a:t>• O(nW) can be large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8986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</a:defRPr>
            </a:pPr>
            <a:r>
              <a:t>• Pseudo-polynomial complexity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55701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</a:defRPr>
            </a:pPr>
            <a:r>
              <a:t>• Large W requires large tables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21538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</a:defRPr>
            </a:pPr>
            <a:r>
              <a:t>• Standard method assumes integer capacity/weights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87375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8FC"/>
                </a:solidFill>
              </a:defRPr>
            </a:pPr>
            <a:r>
              <a:t>• Less direct than greedy fractional knapsack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F8FC"/>
                </a:solidFill>
              </a:defRPr>
            </a:pPr>
            <a:r>
              <a:t>Complexity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FC1D2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713231" y="1307592"/>
            <a:ext cx="5303520" cy="4754880"/>
          </a:xfrm>
          <a:prstGeom prst="roundRect">
            <a:avLst/>
          </a:prstGeom>
          <a:solidFill>
            <a:srgbClr val="04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4754880"/>
          </a:xfrm>
          <a:prstGeom prst="roundRect">
            <a:avLst/>
          </a:prstGeom>
          <a:solidFill>
            <a:srgbClr val="12263D"/>
          </a:solidFill>
          <a:ln>
            <a:solidFill>
              <a:srgbClr val="2DD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91072" y="1307592"/>
            <a:ext cx="5303520" cy="4754880"/>
          </a:xfrm>
          <a:prstGeom prst="roundRect">
            <a:avLst/>
          </a:prstGeom>
          <a:solidFill>
            <a:srgbClr val="04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1234440"/>
            <a:ext cx="5303520" cy="4754880"/>
          </a:xfrm>
          <a:prstGeom prst="roundRect">
            <a:avLst/>
          </a:prstGeom>
          <a:solidFill>
            <a:srgbClr val="12263D"/>
          </a:solidFill>
          <a:ln>
            <a:solidFill>
              <a:srgbClr val="41B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2DD7BE"/>
                </a:solidFill>
              </a:defRPr>
            </a:pPr>
            <a:r>
              <a:t>Standard 2D DP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BE46"/>
                </a:solidFill>
              </a:defRPr>
            </a:pPr>
            <a:r>
              <a:t>Time: O(nW)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F8FC"/>
                </a:solidFill>
              </a:defRPr>
            </a:pPr>
            <a:r>
              <a:t>Space: O(nW)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FC1D2"/>
                </a:solidFill>
              </a:defRPr>
            </a:pPr>
            <a:r>
              <a:t>n = items</a:t>
            </a:r>
            <a:br/>
            <a:r>
              <a:t>W = 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41B9E6"/>
                </a:solidFill>
              </a:defRPr>
            </a:pPr>
            <a:r>
              <a:t>Space-optimized DP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4028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BE46"/>
                </a:solidFill>
              </a:defRPr>
            </a:pPr>
            <a:r>
              <a:t>Time: O(nW)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46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F8FC"/>
                </a:solidFill>
              </a:defRPr>
            </a:pPr>
            <a:r>
              <a:t>Space: O(W)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1148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FC1D2"/>
                </a:solidFill>
              </a:defRPr>
            </a:pPr>
            <a:r>
              <a:t>One-dimensional DP array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F8FC"/>
                </a:solidFill>
              </a:defRPr>
            </a:pPr>
            <a:r>
              <a:t>Applications of 0/1 Knapsack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FC1D2"/>
                </a:solidFill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713231" y="1353312"/>
            <a:ext cx="3429000" cy="1783080"/>
          </a:xfrm>
          <a:prstGeom prst="roundRect">
            <a:avLst/>
          </a:prstGeom>
          <a:solidFill>
            <a:srgbClr val="04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429000" cy="1783080"/>
          </a:xfrm>
          <a:prstGeom prst="roundRect">
            <a:avLst/>
          </a:prstGeom>
          <a:solidFill>
            <a:srgbClr val="12263D"/>
          </a:solidFill>
          <a:ln>
            <a:solidFill>
              <a:srgbClr val="2DD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BE46"/>
                </a:solidFill>
              </a:defRPr>
            </a:pPr>
            <a:r>
              <a:t>Resource Allocation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5740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</a:defRPr>
            </a:pPr>
            <a:r>
              <a:t>Select projects under a fixed resource budget.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07992" y="1353312"/>
            <a:ext cx="3429000" cy="1783080"/>
          </a:xfrm>
          <a:prstGeom prst="roundRect">
            <a:avLst/>
          </a:prstGeom>
          <a:solidFill>
            <a:srgbClr val="04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34840" y="1280160"/>
            <a:ext cx="3429000" cy="1783080"/>
          </a:xfrm>
          <a:prstGeom prst="roundRect">
            <a:avLst/>
          </a:prstGeom>
          <a:solidFill>
            <a:srgbClr val="12263D"/>
          </a:solidFill>
          <a:ln>
            <a:solidFill>
              <a:srgbClr val="2DD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BE46"/>
                </a:solidFill>
              </a:defRPr>
            </a:pPr>
            <a:r>
              <a:t>Investment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05740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</a:defRPr>
            </a:pPr>
            <a:r>
              <a:t>Choose opportunities under a budget.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353312"/>
            <a:ext cx="3429000" cy="1783080"/>
          </a:xfrm>
          <a:prstGeom prst="roundRect">
            <a:avLst/>
          </a:prstGeom>
          <a:solidFill>
            <a:srgbClr val="04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1280160"/>
            <a:ext cx="3429000" cy="1783080"/>
          </a:xfrm>
          <a:prstGeom prst="roundRect">
            <a:avLst/>
          </a:prstGeom>
          <a:solidFill>
            <a:srgbClr val="12263D"/>
          </a:solidFill>
          <a:ln>
            <a:solidFill>
              <a:srgbClr val="2DD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5087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BE46"/>
                </a:solidFill>
              </a:defRPr>
            </a:pPr>
            <a:r>
              <a:t>Cargo Loading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05740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</a:defRPr>
            </a:pPr>
            <a:r>
              <a:t>Choose packages within vehicle capacity.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1" y="3593592"/>
            <a:ext cx="3429000" cy="1783080"/>
          </a:xfrm>
          <a:prstGeom prst="roundRect">
            <a:avLst/>
          </a:prstGeom>
          <a:solidFill>
            <a:srgbClr val="04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520440"/>
            <a:ext cx="3429000" cy="1783080"/>
          </a:xfrm>
          <a:prstGeom prst="roundRect">
            <a:avLst/>
          </a:prstGeom>
          <a:solidFill>
            <a:srgbClr val="12263D"/>
          </a:solidFill>
          <a:ln>
            <a:solidFill>
              <a:srgbClr val="2DD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374903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BE46"/>
                </a:solidFill>
              </a:defRPr>
            </a:pPr>
            <a:r>
              <a:t>Project Planning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29768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</a:defRPr>
            </a:pPr>
            <a:r>
              <a:t>Maximize benefit within constraints.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07992" y="3593592"/>
            <a:ext cx="3429000" cy="1783080"/>
          </a:xfrm>
          <a:prstGeom prst="roundRect">
            <a:avLst/>
          </a:prstGeom>
          <a:solidFill>
            <a:srgbClr val="04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434840" y="3520440"/>
            <a:ext cx="3429000" cy="1783080"/>
          </a:xfrm>
          <a:prstGeom prst="roundRect">
            <a:avLst/>
          </a:prstGeom>
          <a:solidFill>
            <a:srgbClr val="12263D"/>
          </a:solidFill>
          <a:ln>
            <a:solidFill>
              <a:srgbClr val="2DD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374903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BE46"/>
                </a:solidFill>
              </a:defRPr>
            </a:pPr>
            <a:r>
              <a:t>Budget Optimization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29768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</a:defRPr>
            </a:pPr>
            <a:r>
              <a:t>Choose purchases within a fixed budget.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02752" y="3593592"/>
            <a:ext cx="3429000" cy="1783080"/>
          </a:xfrm>
          <a:prstGeom prst="roundRect">
            <a:avLst/>
          </a:prstGeom>
          <a:solidFill>
            <a:srgbClr val="04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0" y="3520440"/>
            <a:ext cx="3429000" cy="1783080"/>
          </a:xfrm>
          <a:prstGeom prst="roundRect">
            <a:avLst/>
          </a:prstGeom>
          <a:solidFill>
            <a:srgbClr val="12263D"/>
          </a:solidFill>
          <a:ln>
            <a:solidFill>
              <a:srgbClr val="2DD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749039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BE46"/>
                </a:solidFill>
              </a:defRPr>
            </a:pPr>
            <a:r>
              <a:t>Computing Resources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297680"/>
            <a:ext cx="3017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8FC"/>
                </a:solidFill>
              </a:defRPr>
            </a:pPr>
            <a:r>
              <a:t>Select jobs under resource limits.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5F8FC"/>
                </a:solidFill>
              </a:defRPr>
            </a:pPr>
            <a:r>
              <a:t>Practice Questions — 0/1 Knapsack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0467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FC1D2"/>
                </a:solidFill>
              </a:defRPr>
            </a:pPr>
            <a:r>
              <a:t>Solve numerically; no solutions are provided.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7512" y="1170432"/>
            <a:ext cx="10972800" cy="5486400"/>
          </a:xfrm>
          <a:prstGeom prst="roundRect">
            <a:avLst/>
          </a:prstGeom>
          <a:solidFill>
            <a:srgbClr val="04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10972800" cy="5486400"/>
          </a:xfrm>
          <a:prstGeom prst="roundRect">
            <a:avLst/>
          </a:prstGeom>
          <a:solidFill>
            <a:srgbClr val="12263D"/>
          </a:solidFill>
          <a:ln>
            <a:solidFill>
              <a:srgbClr val="2DD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32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0">
                <a:solidFill>
                  <a:srgbClr val="F5F8FC"/>
                </a:solidFill>
              </a:defRPr>
            </a:pPr>
            <a:r>
              <a:t>1. Weights = {2,3,4,5}, values = {3,4,5,7}, W = 7. Find maximum value and selected items.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32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0">
                <a:solidFill>
                  <a:srgbClr val="F5F8FC"/>
                </a:solidFill>
              </a:defRPr>
            </a:pPr>
            <a:r>
              <a:t>2. Weights = {1,2,3,5}, values = {5,3,5,9}, W = 6. Construct the complete DP 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00984"/>
            <a:ext cx="10332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0">
                <a:solidFill>
                  <a:srgbClr val="F5F8FC"/>
                </a:solidFill>
              </a:defRPr>
            </a:pPr>
            <a:r>
              <a:t>3. Weights = {2,3,4,6}, values = {4,5,7,10}, W = 9. Find optimal value and selected items.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42816"/>
            <a:ext cx="10332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0">
                <a:solidFill>
                  <a:srgbClr val="F5F8FC"/>
                </a:solidFill>
              </a:defRPr>
            </a:pPr>
            <a:r>
              <a:t>4. Weights = {1,3,4,5}, values = {1,4,5,7}, W = 7. Show the backtracking steps from the final DP cell.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84648"/>
            <a:ext cx="103327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20" b="0">
                <a:solidFill>
                  <a:srgbClr val="F5F8FC"/>
                </a:solidFill>
              </a:defRPr>
            </a:pPr>
            <a:r>
              <a:t>5. Weights = {2,4,5,7,8}, values = {3,7,8,10,11}, W = 14. Find optimal value, selected items, and final DP 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F8FC"/>
                </a:solidFill>
              </a:defRPr>
            </a:pPr>
            <a:r>
              <a:t>0/1 KNAPSACK — 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87552" y="1810512"/>
            <a:ext cx="10332720" cy="4023360"/>
          </a:xfrm>
          <a:prstGeom prst="roundRect">
            <a:avLst/>
          </a:prstGeom>
          <a:solidFill>
            <a:srgbClr val="040B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10332720" cy="4023360"/>
          </a:xfrm>
          <a:prstGeom prst="roundRect">
            <a:avLst/>
          </a:prstGeom>
          <a:solidFill>
            <a:srgbClr val="12263D"/>
          </a:solidFill>
          <a:ln>
            <a:solidFill>
              <a:srgbClr val="2DD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960120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5F8FC"/>
                </a:solidFill>
              </a:defRPr>
            </a:pPr>
            <a:r>
              <a:t>• Each item has only two choices: 0 (leave) or 1 (take).</a:t>
            </a:r>
            <a:br/>
            <a:r>
              <a:t>• DP stores the best value for each item/capacity state.</a:t>
            </a:r>
            <a:br/>
            <a:r>
              <a:t>• Recurrence compares excluding and including the current item.</a:t>
            </a:r>
            <a:br/>
            <a:r>
              <a:t>• Standard complexity: O(nW) time and O(nW) space.</a:t>
            </a:r>
            <a:br/>
            <a:r>
              <a:t>• Space can be optimized to O(W) when only maximum value is required.</a:t>
            </a:r>
            <a:br/>
            <a:r>
              <a:t>• The method is exact but can become expensive when W is very large.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