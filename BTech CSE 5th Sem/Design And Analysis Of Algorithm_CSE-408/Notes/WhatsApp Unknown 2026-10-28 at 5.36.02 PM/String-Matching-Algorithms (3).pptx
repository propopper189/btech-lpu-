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66484" y="2287341"/>
            <a:ext cx="5337809" cy="3442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F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716" y="390271"/>
            <a:ext cx="10477500" cy="11953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29" y="2629661"/>
            <a:ext cx="10958195" cy="2155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2000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233415" y="2133600"/>
            <a:ext cx="3148965" cy="251460"/>
          </a:xfrm>
          <a:custGeom>
            <a:avLst/>
            <a:gdLst/>
            <a:ahLst/>
            <a:cxnLst/>
            <a:rect l="l" t="t" r="r" b="b"/>
            <a:pathLst>
              <a:path w="3148965" h="251460">
                <a:moveTo>
                  <a:pt x="3092958" y="0"/>
                </a:moveTo>
                <a:lnTo>
                  <a:pt x="55625" y="0"/>
                </a:lnTo>
                <a:lnTo>
                  <a:pt x="33968" y="4369"/>
                </a:lnTo>
                <a:lnTo>
                  <a:pt x="16287" y="16287"/>
                </a:lnTo>
                <a:lnTo>
                  <a:pt x="4369" y="33968"/>
                </a:lnTo>
                <a:lnTo>
                  <a:pt x="0" y="55625"/>
                </a:lnTo>
                <a:lnTo>
                  <a:pt x="0" y="195834"/>
                </a:lnTo>
                <a:lnTo>
                  <a:pt x="4369" y="217491"/>
                </a:lnTo>
                <a:lnTo>
                  <a:pt x="16287" y="235172"/>
                </a:lnTo>
                <a:lnTo>
                  <a:pt x="33968" y="247090"/>
                </a:lnTo>
                <a:lnTo>
                  <a:pt x="55625" y="251460"/>
                </a:lnTo>
                <a:lnTo>
                  <a:pt x="3092958" y="251460"/>
                </a:lnTo>
                <a:lnTo>
                  <a:pt x="3114615" y="247090"/>
                </a:lnTo>
                <a:lnTo>
                  <a:pt x="3132296" y="235172"/>
                </a:lnTo>
                <a:lnTo>
                  <a:pt x="3144214" y="217491"/>
                </a:lnTo>
                <a:lnTo>
                  <a:pt x="3148584" y="195834"/>
                </a:lnTo>
                <a:lnTo>
                  <a:pt x="3148584" y="55625"/>
                </a:lnTo>
                <a:lnTo>
                  <a:pt x="3144214" y="33968"/>
                </a:lnTo>
                <a:lnTo>
                  <a:pt x="3132296" y="16287"/>
                </a:lnTo>
                <a:lnTo>
                  <a:pt x="3114615" y="4369"/>
                </a:lnTo>
                <a:lnTo>
                  <a:pt x="3092958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20410" y="2155317"/>
            <a:ext cx="28746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COURSE: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DESIGN</a:t>
            </a:r>
            <a:r>
              <a:rPr sz="10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0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272424"/>
                </a:solidFill>
                <a:latin typeface="Microsoft Sans Serif"/>
                <a:cs typeface="Microsoft Sans Serif"/>
              </a:rPr>
              <a:t>ANALYSIS</a:t>
            </a:r>
            <a:r>
              <a:rPr sz="10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0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221351" y="2295524"/>
            <a:ext cx="4102735" cy="126682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005"/>
              </a:spcBef>
            </a:pPr>
            <a:r>
              <a:rPr sz="4450" spc="-140" dirty="0"/>
              <a:t>String</a:t>
            </a:r>
            <a:r>
              <a:rPr sz="4450" spc="-405" dirty="0"/>
              <a:t> </a:t>
            </a:r>
            <a:r>
              <a:rPr sz="4450" spc="-45" dirty="0"/>
              <a:t>Matching </a:t>
            </a:r>
            <a:r>
              <a:rPr sz="4450" spc="-35" dirty="0"/>
              <a:t>Algorithms</a:t>
            </a:r>
            <a:endParaRPr sz="4450"/>
          </a:p>
        </p:txBody>
      </p:sp>
      <p:sp>
        <p:nvSpPr>
          <p:cNvPr id="6" name="object 6"/>
          <p:cNvSpPr txBox="1"/>
          <p:nvPr/>
        </p:nvSpPr>
        <p:spPr>
          <a:xfrm>
            <a:off x="5221351" y="3777437"/>
            <a:ext cx="6172200" cy="939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latin typeface="Arial"/>
                <a:cs typeface="Arial"/>
              </a:rPr>
              <a:t>From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spc="-45" dirty="0">
                <a:latin typeface="Arial"/>
                <a:cs typeface="Arial"/>
              </a:rPr>
              <a:t>Sequential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Search</a:t>
            </a:r>
            <a:r>
              <a:rPr sz="1600" b="1" spc="-9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spc="-45" dirty="0">
                <a:latin typeface="Arial"/>
                <a:cs typeface="Arial"/>
              </a:rPr>
              <a:t>Rabin–</a:t>
            </a:r>
            <a:r>
              <a:rPr sz="1600" b="1" spc="-20" dirty="0">
                <a:latin typeface="Arial"/>
                <a:cs typeface="Arial"/>
              </a:rPr>
              <a:t>Karp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Sequential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| String Matching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|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Brute-Force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|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|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Rabin–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Karp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1416" y="714755"/>
            <a:ext cx="1556385" cy="251460"/>
          </a:xfrm>
          <a:custGeom>
            <a:avLst/>
            <a:gdLst/>
            <a:ahLst/>
            <a:cxnLst/>
            <a:rect l="l" t="t" r="r" b="b"/>
            <a:pathLst>
              <a:path w="1556385" h="251459">
                <a:moveTo>
                  <a:pt x="1500378" y="0"/>
                </a:moveTo>
                <a:lnTo>
                  <a:pt x="55575" y="0"/>
                </a:lnTo>
                <a:lnTo>
                  <a:pt x="33941" y="4369"/>
                </a:lnTo>
                <a:lnTo>
                  <a:pt x="16276" y="16287"/>
                </a:lnTo>
                <a:lnTo>
                  <a:pt x="4367" y="33968"/>
                </a:lnTo>
                <a:lnTo>
                  <a:pt x="0" y="55626"/>
                </a:lnTo>
                <a:lnTo>
                  <a:pt x="0" y="195834"/>
                </a:lnTo>
                <a:lnTo>
                  <a:pt x="4367" y="217491"/>
                </a:lnTo>
                <a:lnTo>
                  <a:pt x="16276" y="235172"/>
                </a:lnTo>
                <a:lnTo>
                  <a:pt x="33941" y="247090"/>
                </a:lnTo>
                <a:lnTo>
                  <a:pt x="55575" y="251460"/>
                </a:lnTo>
                <a:lnTo>
                  <a:pt x="1500378" y="251460"/>
                </a:lnTo>
                <a:lnTo>
                  <a:pt x="1522035" y="247090"/>
                </a:lnTo>
                <a:lnTo>
                  <a:pt x="1539716" y="235172"/>
                </a:lnTo>
                <a:lnTo>
                  <a:pt x="1551634" y="217491"/>
                </a:lnTo>
                <a:lnTo>
                  <a:pt x="1556004" y="195834"/>
                </a:lnTo>
                <a:lnTo>
                  <a:pt x="1556004" y="55626"/>
                </a:lnTo>
                <a:lnTo>
                  <a:pt x="1551634" y="33968"/>
                </a:lnTo>
                <a:lnTo>
                  <a:pt x="1539716" y="16287"/>
                </a:lnTo>
                <a:lnTo>
                  <a:pt x="1522035" y="4369"/>
                </a:lnTo>
                <a:lnTo>
                  <a:pt x="1500378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8080" y="736549"/>
            <a:ext cx="1338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</a:t>
            </a:r>
            <a:r>
              <a:rPr sz="10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75" dirty="0">
                <a:solidFill>
                  <a:srgbClr val="272424"/>
                </a:solidFill>
                <a:latin typeface="Microsoft Sans Serif"/>
                <a:cs typeface="Microsoft Sans Serif"/>
              </a:rPr>
              <a:t>1: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INTRODUCTION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716" y="915161"/>
            <a:ext cx="3627754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45" dirty="0"/>
              <a:t> </a:t>
            </a:r>
            <a:r>
              <a:rPr spc="-145" dirty="0"/>
              <a:t>Is</a:t>
            </a:r>
            <a:r>
              <a:rPr spc="-215" dirty="0"/>
              <a:t> </a:t>
            </a:r>
            <a:r>
              <a:rPr spc="-110" dirty="0"/>
              <a:t>Searching?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8716" y="1659257"/>
            <a:ext cx="10778490" cy="45656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Searching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process of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finding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required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item,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called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target,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within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 collection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data.</a:t>
            </a:r>
            <a:r>
              <a:rPr sz="13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most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fundamental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operations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performed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computers.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8368" y="2307335"/>
            <a:ext cx="5358765" cy="1531620"/>
            <a:chOff x="658368" y="2307335"/>
            <a:chExt cx="5358765" cy="1531620"/>
          </a:xfrm>
        </p:grpSpPr>
        <p:sp>
          <p:nvSpPr>
            <p:cNvPr id="7" name="object 7"/>
            <p:cNvSpPr/>
            <p:nvPr/>
          </p:nvSpPr>
          <p:spPr>
            <a:xfrm>
              <a:off x="661416" y="2310383"/>
              <a:ext cx="5352415" cy="1525905"/>
            </a:xfrm>
            <a:custGeom>
              <a:avLst/>
              <a:gdLst/>
              <a:ahLst/>
              <a:cxnLst/>
              <a:rect l="l" t="t" r="r" b="b"/>
              <a:pathLst>
                <a:path w="5352415" h="1525904">
                  <a:moveTo>
                    <a:pt x="5282819" y="0"/>
                  </a:moveTo>
                  <a:lnTo>
                    <a:pt x="69456" y="0"/>
                  </a:lnTo>
                  <a:lnTo>
                    <a:pt x="42423" y="5461"/>
                  </a:lnTo>
                  <a:lnTo>
                    <a:pt x="20345" y="20351"/>
                  </a:lnTo>
                  <a:lnTo>
                    <a:pt x="5459" y="42433"/>
                  </a:lnTo>
                  <a:lnTo>
                    <a:pt x="0" y="69468"/>
                  </a:lnTo>
                  <a:lnTo>
                    <a:pt x="0" y="1456054"/>
                  </a:lnTo>
                  <a:lnTo>
                    <a:pt x="5459" y="1483090"/>
                  </a:lnTo>
                  <a:lnTo>
                    <a:pt x="20345" y="1505172"/>
                  </a:lnTo>
                  <a:lnTo>
                    <a:pt x="42423" y="1520062"/>
                  </a:lnTo>
                  <a:lnTo>
                    <a:pt x="69456" y="1525523"/>
                  </a:lnTo>
                  <a:lnTo>
                    <a:pt x="5282819" y="1525523"/>
                  </a:lnTo>
                  <a:lnTo>
                    <a:pt x="5309854" y="1520062"/>
                  </a:lnTo>
                  <a:lnTo>
                    <a:pt x="5331936" y="1505172"/>
                  </a:lnTo>
                  <a:lnTo>
                    <a:pt x="5346827" y="1483090"/>
                  </a:lnTo>
                  <a:lnTo>
                    <a:pt x="5352288" y="1456054"/>
                  </a:lnTo>
                  <a:lnTo>
                    <a:pt x="5352288" y="69468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1416" y="2310383"/>
              <a:ext cx="5352415" cy="1525905"/>
            </a:xfrm>
            <a:custGeom>
              <a:avLst/>
              <a:gdLst/>
              <a:ahLst/>
              <a:cxnLst/>
              <a:rect l="l" t="t" r="r" b="b"/>
              <a:pathLst>
                <a:path w="5352415" h="1525904">
                  <a:moveTo>
                    <a:pt x="0" y="69468"/>
                  </a:moveTo>
                  <a:lnTo>
                    <a:pt x="5459" y="42433"/>
                  </a:lnTo>
                  <a:lnTo>
                    <a:pt x="20345" y="20351"/>
                  </a:lnTo>
                  <a:lnTo>
                    <a:pt x="42423" y="5461"/>
                  </a:lnTo>
                  <a:lnTo>
                    <a:pt x="69456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8" y="69468"/>
                  </a:lnTo>
                  <a:lnTo>
                    <a:pt x="5352288" y="1456054"/>
                  </a:lnTo>
                  <a:lnTo>
                    <a:pt x="5346827" y="1483090"/>
                  </a:lnTo>
                  <a:lnTo>
                    <a:pt x="5331936" y="1505172"/>
                  </a:lnTo>
                  <a:lnTo>
                    <a:pt x="5309854" y="1520062"/>
                  </a:lnTo>
                  <a:lnTo>
                    <a:pt x="5282819" y="1525523"/>
                  </a:lnTo>
                  <a:lnTo>
                    <a:pt x="69456" y="1525523"/>
                  </a:lnTo>
                  <a:lnTo>
                    <a:pt x="42423" y="1520062"/>
                  </a:lnTo>
                  <a:lnTo>
                    <a:pt x="20345" y="1505172"/>
                  </a:lnTo>
                  <a:lnTo>
                    <a:pt x="5459" y="1483090"/>
                  </a:lnTo>
                  <a:lnTo>
                    <a:pt x="0" y="1456054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3628" y="2481071"/>
              <a:ext cx="495300" cy="497205"/>
            </a:xfrm>
            <a:custGeom>
              <a:avLst/>
              <a:gdLst/>
              <a:ahLst/>
              <a:cxnLst/>
              <a:rect l="l" t="t" r="r" b="b"/>
              <a:pathLst>
                <a:path w="495300" h="497205">
                  <a:moveTo>
                    <a:pt x="247650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1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3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50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2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300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263" y="2618231"/>
              <a:ext cx="224028" cy="22250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20623" y="2947330"/>
            <a:ext cx="350456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Attendance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Finding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student's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name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attendance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75247" y="2307335"/>
            <a:ext cx="5358765" cy="1531620"/>
            <a:chOff x="6175247" y="2307335"/>
            <a:chExt cx="5358765" cy="1531620"/>
          </a:xfrm>
        </p:grpSpPr>
        <p:sp>
          <p:nvSpPr>
            <p:cNvPr id="13" name="object 13"/>
            <p:cNvSpPr/>
            <p:nvPr/>
          </p:nvSpPr>
          <p:spPr>
            <a:xfrm>
              <a:off x="6178295" y="2310383"/>
              <a:ext cx="5352415" cy="1525905"/>
            </a:xfrm>
            <a:custGeom>
              <a:avLst/>
              <a:gdLst/>
              <a:ahLst/>
              <a:cxnLst/>
              <a:rect l="l" t="t" r="r" b="b"/>
              <a:pathLst>
                <a:path w="5352415" h="1525904">
                  <a:moveTo>
                    <a:pt x="5282819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1456054"/>
                  </a:lnTo>
                  <a:lnTo>
                    <a:pt x="5461" y="1483090"/>
                  </a:lnTo>
                  <a:lnTo>
                    <a:pt x="20351" y="1505172"/>
                  </a:lnTo>
                  <a:lnTo>
                    <a:pt x="42433" y="1520062"/>
                  </a:lnTo>
                  <a:lnTo>
                    <a:pt x="69468" y="1525523"/>
                  </a:lnTo>
                  <a:lnTo>
                    <a:pt x="5282819" y="1525523"/>
                  </a:lnTo>
                  <a:lnTo>
                    <a:pt x="5309854" y="1520062"/>
                  </a:lnTo>
                  <a:lnTo>
                    <a:pt x="5331936" y="1505172"/>
                  </a:lnTo>
                  <a:lnTo>
                    <a:pt x="5346827" y="1483090"/>
                  </a:lnTo>
                  <a:lnTo>
                    <a:pt x="5352287" y="1456054"/>
                  </a:lnTo>
                  <a:lnTo>
                    <a:pt x="5352287" y="69468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78295" y="2310383"/>
              <a:ext cx="5352415" cy="1525905"/>
            </a:xfrm>
            <a:custGeom>
              <a:avLst/>
              <a:gdLst/>
              <a:ahLst/>
              <a:cxnLst/>
              <a:rect l="l" t="t" r="r" b="b"/>
              <a:pathLst>
                <a:path w="5352415" h="1525904">
                  <a:moveTo>
                    <a:pt x="0" y="69468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7" y="69468"/>
                  </a:lnTo>
                  <a:lnTo>
                    <a:pt x="5352287" y="1456054"/>
                  </a:lnTo>
                  <a:lnTo>
                    <a:pt x="5346827" y="1483090"/>
                  </a:lnTo>
                  <a:lnTo>
                    <a:pt x="5331936" y="1505172"/>
                  </a:lnTo>
                  <a:lnTo>
                    <a:pt x="5309854" y="1520062"/>
                  </a:lnTo>
                  <a:lnTo>
                    <a:pt x="5282819" y="1525523"/>
                  </a:lnTo>
                  <a:lnTo>
                    <a:pt x="69468" y="1525523"/>
                  </a:lnTo>
                  <a:lnTo>
                    <a:pt x="42433" y="1520062"/>
                  </a:lnTo>
                  <a:lnTo>
                    <a:pt x="20351" y="1505172"/>
                  </a:lnTo>
                  <a:lnTo>
                    <a:pt x="5461" y="1483090"/>
                  </a:lnTo>
                  <a:lnTo>
                    <a:pt x="0" y="1456054"/>
                  </a:lnTo>
                  <a:lnTo>
                    <a:pt x="0" y="69468"/>
                  </a:lnTo>
                  <a:close/>
                </a:path>
              </a:pathLst>
            </a:custGeom>
            <a:ln w="6095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50507" y="2481071"/>
              <a:ext cx="495300" cy="497205"/>
            </a:xfrm>
            <a:custGeom>
              <a:avLst/>
              <a:gdLst/>
              <a:ahLst/>
              <a:cxnLst/>
              <a:rect l="l" t="t" r="r" b="b"/>
              <a:pathLst>
                <a:path w="495300" h="497205">
                  <a:moveTo>
                    <a:pt x="247649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1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3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49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2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299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49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143" y="2618231"/>
              <a:ext cx="224027" cy="22250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338061" y="2947330"/>
            <a:ext cx="289877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70" dirty="0">
                <a:solidFill>
                  <a:srgbClr val="272424"/>
                </a:solidFill>
                <a:latin typeface="Arial"/>
                <a:cs typeface="Arial"/>
              </a:rPr>
              <a:t>Class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Record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Finding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roll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number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class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record.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8368" y="3997452"/>
            <a:ext cx="5358765" cy="1531620"/>
            <a:chOff x="658368" y="3997452"/>
            <a:chExt cx="5358765" cy="1531620"/>
          </a:xfrm>
        </p:grpSpPr>
        <p:sp>
          <p:nvSpPr>
            <p:cNvPr id="19" name="object 19"/>
            <p:cNvSpPr/>
            <p:nvPr/>
          </p:nvSpPr>
          <p:spPr>
            <a:xfrm>
              <a:off x="661416" y="4000500"/>
              <a:ext cx="5352415" cy="1525905"/>
            </a:xfrm>
            <a:custGeom>
              <a:avLst/>
              <a:gdLst/>
              <a:ahLst/>
              <a:cxnLst/>
              <a:rect l="l" t="t" r="r" b="b"/>
              <a:pathLst>
                <a:path w="5352415" h="1525904">
                  <a:moveTo>
                    <a:pt x="5282819" y="0"/>
                  </a:moveTo>
                  <a:lnTo>
                    <a:pt x="69456" y="0"/>
                  </a:lnTo>
                  <a:lnTo>
                    <a:pt x="42423" y="5461"/>
                  </a:lnTo>
                  <a:lnTo>
                    <a:pt x="20345" y="20351"/>
                  </a:lnTo>
                  <a:lnTo>
                    <a:pt x="5459" y="42433"/>
                  </a:lnTo>
                  <a:lnTo>
                    <a:pt x="0" y="69468"/>
                  </a:lnTo>
                  <a:lnTo>
                    <a:pt x="0" y="1456055"/>
                  </a:lnTo>
                  <a:lnTo>
                    <a:pt x="5459" y="1483090"/>
                  </a:lnTo>
                  <a:lnTo>
                    <a:pt x="20345" y="1505172"/>
                  </a:lnTo>
                  <a:lnTo>
                    <a:pt x="42423" y="1520063"/>
                  </a:lnTo>
                  <a:lnTo>
                    <a:pt x="69456" y="1525524"/>
                  </a:lnTo>
                  <a:lnTo>
                    <a:pt x="5282819" y="1525524"/>
                  </a:lnTo>
                  <a:lnTo>
                    <a:pt x="5309854" y="1520063"/>
                  </a:lnTo>
                  <a:lnTo>
                    <a:pt x="5331936" y="1505172"/>
                  </a:lnTo>
                  <a:lnTo>
                    <a:pt x="5346827" y="1483090"/>
                  </a:lnTo>
                  <a:lnTo>
                    <a:pt x="5352288" y="1456055"/>
                  </a:lnTo>
                  <a:lnTo>
                    <a:pt x="5352288" y="69468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1416" y="4000500"/>
              <a:ext cx="5352415" cy="1525905"/>
            </a:xfrm>
            <a:custGeom>
              <a:avLst/>
              <a:gdLst/>
              <a:ahLst/>
              <a:cxnLst/>
              <a:rect l="l" t="t" r="r" b="b"/>
              <a:pathLst>
                <a:path w="5352415" h="1525904">
                  <a:moveTo>
                    <a:pt x="0" y="69468"/>
                  </a:moveTo>
                  <a:lnTo>
                    <a:pt x="5459" y="42433"/>
                  </a:lnTo>
                  <a:lnTo>
                    <a:pt x="20345" y="20351"/>
                  </a:lnTo>
                  <a:lnTo>
                    <a:pt x="42423" y="5461"/>
                  </a:lnTo>
                  <a:lnTo>
                    <a:pt x="69456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8" y="69468"/>
                  </a:lnTo>
                  <a:lnTo>
                    <a:pt x="5352288" y="1456055"/>
                  </a:lnTo>
                  <a:lnTo>
                    <a:pt x="5346827" y="1483090"/>
                  </a:lnTo>
                  <a:lnTo>
                    <a:pt x="5331936" y="1505172"/>
                  </a:lnTo>
                  <a:lnTo>
                    <a:pt x="5309854" y="1520063"/>
                  </a:lnTo>
                  <a:lnTo>
                    <a:pt x="5282819" y="1525524"/>
                  </a:lnTo>
                  <a:lnTo>
                    <a:pt x="69456" y="1525524"/>
                  </a:lnTo>
                  <a:lnTo>
                    <a:pt x="42423" y="1520063"/>
                  </a:lnTo>
                  <a:lnTo>
                    <a:pt x="20345" y="1505172"/>
                  </a:lnTo>
                  <a:lnTo>
                    <a:pt x="5459" y="1483090"/>
                  </a:lnTo>
                  <a:lnTo>
                    <a:pt x="0" y="1456055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3628" y="4172712"/>
              <a:ext cx="495300" cy="497205"/>
            </a:xfrm>
            <a:custGeom>
              <a:avLst/>
              <a:gdLst/>
              <a:ahLst/>
              <a:cxnLst/>
              <a:rect l="l" t="t" r="r" b="b"/>
              <a:pathLst>
                <a:path w="495300" h="497204">
                  <a:moveTo>
                    <a:pt x="247650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0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2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50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2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300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9263" y="4309872"/>
              <a:ext cx="224028" cy="22250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20623" y="4638873"/>
            <a:ext cx="287401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35" dirty="0">
                <a:solidFill>
                  <a:srgbClr val="272424"/>
                </a:solidFill>
                <a:latin typeface="Arial"/>
                <a:cs typeface="Arial"/>
              </a:rPr>
              <a:t>Product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Finding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product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products.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75247" y="3997452"/>
            <a:ext cx="5358765" cy="1531620"/>
            <a:chOff x="6175247" y="3997452"/>
            <a:chExt cx="5358765" cy="1531620"/>
          </a:xfrm>
        </p:grpSpPr>
        <p:sp>
          <p:nvSpPr>
            <p:cNvPr id="25" name="object 25"/>
            <p:cNvSpPr/>
            <p:nvPr/>
          </p:nvSpPr>
          <p:spPr>
            <a:xfrm>
              <a:off x="6178295" y="4000500"/>
              <a:ext cx="5352415" cy="1525905"/>
            </a:xfrm>
            <a:custGeom>
              <a:avLst/>
              <a:gdLst/>
              <a:ahLst/>
              <a:cxnLst/>
              <a:rect l="l" t="t" r="r" b="b"/>
              <a:pathLst>
                <a:path w="5352415" h="1525904">
                  <a:moveTo>
                    <a:pt x="5282819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1456055"/>
                  </a:lnTo>
                  <a:lnTo>
                    <a:pt x="5461" y="1483090"/>
                  </a:lnTo>
                  <a:lnTo>
                    <a:pt x="20351" y="1505172"/>
                  </a:lnTo>
                  <a:lnTo>
                    <a:pt x="42433" y="1520063"/>
                  </a:lnTo>
                  <a:lnTo>
                    <a:pt x="69468" y="1525524"/>
                  </a:lnTo>
                  <a:lnTo>
                    <a:pt x="5282819" y="1525524"/>
                  </a:lnTo>
                  <a:lnTo>
                    <a:pt x="5309854" y="1520063"/>
                  </a:lnTo>
                  <a:lnTo>
                    <a:pt x="5331936" y="1505172"/>
                  </a:lnTo>
                  <a:lnTo>
                    <a:pt x="5346827" y="1483090"/>
                  </a:lnTo>
                  <a:lnTo>
                    <a:pt x="5352287" y="1456055"/>
                  </a:lnTo>
                  <a:lnTo>
                    <a:pt x="5352287" y="69468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78295" y="4000500"/>
              <a:ext cx="5352415" cy="1525905"/>
            </a:xfrm>
            <a:custGeom>
              <a:avLst/>
              <a:gdLst/>
              <a:ahLst/>
              <a:cxnLst/>
              <a:rect l="l" t="t" r="r" b="b"/>
              <a:pathLst>
                <a:path w="5352415" h="1525904">
                  <a:moveTo>
                    <a:pt x="0" y="69468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7" y="69468"/>
                  </a:lnTo>
                  <a:lnTo>
                    <a:pt x="5352287" y="1456055"/>
                  </a:lnTo>
                  <a:lnTo>
                    <a:pt x="5346827" y="1483090"/>
                  </a:lnTo>
                  <a:lnTo>
                    <a:pt x="5331936" y="1505172"/>
                  </a:lnTo>
                  <a:lnTo>
                    <a:pt x="5309854" y="1520063"/>
                  </a:lnTo>
                  <a:lnTo>
                    <a:pt x="5282819" y="1525524"/>
                  </a:lnTo>
                  <a:lnTo>
                    <a:pt x="69468" y="1525524"/>
                  </a:lnTo>
                  <a:lnTo>
                    <a:pt x="42433" y="1520063"/>
                  </a:lnTo>
                  <a:lnTo>
                    <a:pt x="20351" y="1505172"/>
                  </a:lnTo>
                  <a:lnTo>
                    <a:pt x="5461" y="1483090"/>
                  </a:lnTo>
                  <a:lnTo>
                    <a:pt x="0" y="1456055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50507" y="4172712"/>
              <a:ext cx="495300" cy="497205"/>
            </a:xfrm>
            <a:custGeom>
              <a:avLst/>
              <a:gdLst/>
              <a:ahLst/>
              <a:cxnLst/>
              <a:rect l="l" t="t" r="r" b="b"/>
              <a:pathLst>
                <a:path w="495300" h="497204">
                  <a:moveTo>
                    <a:pt x="247649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0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2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49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2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299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49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6143" y="4309872"/>
              <a:ext cx="224027" cy="22250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338061" y="4638873"/>
            <a:ext cx="304228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Document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Finding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particular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word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8716" y="5678858"/>
            <a:ext cx="10721340" cy="45656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algorithms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use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strategies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depending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type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problem.</a:t>
            </a:r>
            <a:r>
              <a:rPr sz="13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simplest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searching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 strategy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start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from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beginning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check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items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one by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one.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technique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is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called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Sequential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Search.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1416" y="1484375"/>
            <a:ext cx="1943100" cy="251460"/>
          </a:xfrm>
          <a:custGeom>
            <a:avLst/>
            <a:gdLst/>
            <a:ahLst/>
            <a:cxnLst/>
            <a:rect l="l" t="t" r="r" b="b"/>
            <a:pathLst>
              <a:path w="1943100" h="251460">
                <a:moveTo>
                  <a:pt x="1887474" y="0"/>
                </a:moveTo>
                <a:lnTo>
                  <a:pt x="55575" y="0"/>
                </a:lnTo>
                <a:lnTo>
                  <a:pt x="33941" y="4369"/>
                </a:lnTo>
                <a:lnTo>
                  <a:pt x="16276" y="16287"/>
                </a:lnTo>
                <a:lnTo>
                  <a:pt x="4367" y="33968"/>
                </a:lnTo>
                <a:lnTo>
                  <a:pt x="0" y="55625"/>
                </a:lnTo>
                <a:lnTo>
                  <a:pt x="0" y="195834"/>
                </a:lnTo>
                <a:lnTo>
                  <a:pt x="4367" y="217491"/>
                </a:lnTo>
                <a:lnTo>
                  <a:pt x="16276" y="235172"/>
                </a:lnTo>
                <a:lnTo>
                  <a:pt x="33941" y="247090"/>
                </a:lnTo>
                <a:lnTo>
                  <a:pt x="55575" y="251460"/>
                </a:lnTo>
                <a:lnTo>
                  <a:pt x="1887474" y="251460"/>
                </a:lnTo>
                <a:lnTo>
                  <a:pt x="1909131" y="247090"/>
                </a:lnTo>
                <a:lnTo>
                  <a:pt x="1926812" y="235172"/>
                </a:lnTo>
                <a:lnTo>
                  <a:pt x="1938730" y="217491"/>
                </a:lnTo>
                <a:lnTo>
                  <a:pt x="1943100" y="195834"/>
                </a:lnTo>
                <a:lnTo>
                  <a:pt x="1943100" y="55625"/>
                </a:lnTo>
                <a:lnTo>
                  <a:pt x="1938730" y="33968"/>
                </a:lnTo>
                <a:lnTo>
                  <a:pt x="1926812" y="16287"/>
                </a:lnTo>
                <a:lnTo>
                  <a:pt x="1909131" y="4369"/>
                </a:lnTo>
                <a:lnTo>
                  <a:pt x="1887474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8080" y="1506473"/>
            <a:ext cx="17075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</a:t>
            </a:r>
            <a:r>
              <a:rPr sz="10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2:</a:t>
            </a:r>
            <a:r>
              <a:rPr sz="10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75" dirty="0">
                <a:solidFill>
                  <a:srgbClr val="272424"/>
                </a:solidFill>
                <a:latin typeface="Microsoft Sans Serif"/>
                <a:cs typeface="Microsoft Sans Serif"/>
              </a:rPr>
              <a:t>SEQUENTIAL</a:t>
            </a:r>
            <a:r>
              <a:rPr sz="10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716" y="1684400"/>
            <a:ext cx="639635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Sequential</a:t>
            </a:r>
            <a:r>
              <a:rPr spc="-285" dirty="0"/>
              <a:t> </a:t>
            </a:r>
            <a:r>
              <a:rPr spc="-85" dirty="0"/>
              <a:t>Search</a:t>
            </a:r>
            <a:r>
              <a:rPr spc="-305" dirty="0"/>
              <a:t> </a:t>
            </a:r>
            <a:r>
              <a:rPr spc="-80" dirty="0"/>
              <a:t>(Linear</a:t>
            </a:r>
            <a:r>
              <a:rPr spc="-265" dirty="0"/>
              <a:t> </a:t>
            </a:r>
            <a:r>
              <a:rPr spc="-10" dirty="0"/>
              <a:t>Search)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8716" y="2578124"/>
            <a:ext cx="5247640" cy="2560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Sequential</a:t>
            </a:r>
            <a:r>
              <a:rPr sz="13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,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also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known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Linear</a:t>
            </a:r>
            <a:r>
              <a:rPr sz="1300" b="1" spc="-8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,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simple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technique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which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elements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checked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500" dirty="0">
                <a:solidFill>
                  <a:srgbClr val="272424"/>
                </a:solidFill>
                <a:latin typeface="Microsoft Sans Serif"/>
                <a:cs typeface="Microsoft Sans Serif"/>
              </a:rPr>
              <a:t> 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another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sequence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until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desired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entire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collection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been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checked.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600" b="1" spc="-55" dirty="0">
                <a:latin typeface="Arial"/>
                <a:cs typeface="Arial"/>
              </a:rPr>
              <a:t>Key</a:t>
            </a:r>
            <a:r>
              <a:rPr sz="1600" b="1" spc="-11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Characteristics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Arial"/>
              <a:cs typeface="Arial"/>
            </a:endParaRPr>
          </a:p>
          <a:p>
            <a:pPr marL="276225" indent="-263525">
              <a:lnSpc>
                <a:spcPct val="100000"/>
              </a:lnSpc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checked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one.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35"/>
              </a:spcBef>
              <a:buChar char="•"/>
              <a:tabLst>
                <a:tab pos="276225" algn="l"/>
              </a:tabLst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starts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from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20"/>
              </a:spcBef>
              <a:buChar char="•"/>
              <a:tabLst>
                <a:tab pos="276225" algn="l"/>
              </a:tabLst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stops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immediately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30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present,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checked.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20"/>
              </a:spcBef>
              <a:buChar char="•"/>
              <a:tabLst>
                <a:tab pos="276225" algn="l"/>
              </a:tabLst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does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sorted.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84391" y="2462783"/>
            <a:ext cx="5471160" cy="2910840"/>
          </a:xfrm>
          <a:custGeom>
            <a:avLst/>
            <a:gdLst/>
            <a:ahLst/>
            <a:cxnLst/>
            <a:rect l="l" t="t" r="r" b="b"/>
            <a:pathLst>
              <a:path w="5471159" h="2910840">
                <a:moveTo>
                  <a:pt x="5352034" y="0"/>
                </a:moveTo>
                <a:lnTo>
                  <a:pt x="119125" y="0"/>
                </a:lnTo>
                <a:lnTo>
                  <a:pt x="72759" y="9362"/>
                </a:lnTo>
                <a:lnTo>
                  <a:pt x="34893" y="34893"/>
                </a:lnTo>
                <a:lnTo>
                  <a:pt x="9362" y="72759"/>
                </a:lnTo>
                <a:lnTo>
                  <a:pt x="0" y="119125"/>
                </a:lnTo>
                <a:lnTo>
                  <a:pt x="0" y="2791714"/>
                </a:lnTo>
                <a:lnTo>
                  <a:pt x="9362" y="2838080"/>
                </a:lnTo>
                <a:lnTo>
                  <a:pt x="34893" y="2875946"/>
                </a:lnTo>
                <a:lnTo>
                  <a:pt x="72759" y="2901477"/>
                </a:lnTo>
                <a:lnTo>
                  <a:pt x="119125" y="2910840"/>
                </a:lnTo>
                <a:lnTo>
                  <a:pt x="5352034" y="2910840"/>
                </a:lnTo>
                <a:lnTo>
                  <a:pt x="5398400" y="2901477"/>
                </a:lnTo>
                <a:lnTo>
                  <a:pt x="5436266" y="2875946"/>
                </a:lnTo>
                <a:lnTo>
                  <a:pt x="5461797" y="2838080"/>
                </a:lnTo>
                <a:lnTo>
                  <a:pt x="5471160" y="2791714"/>
                </a:lnTo>
                <a:lnTo>
                  <a:pt x="5471160" y="119125"/>
                </a:lnTo>
                <a:lnTo>
                  <a:pt x="5461797" y="72759"/>
                </a:lnTo>
                <a:lnTo>
                  <a:pt x="5436266" y="34893"/>
                </a:lnTo>
                <a:lnTo>
                  <a:pt x="5398400" y="9362"/>
                </a:lnTo>
                <a:lnTo>
                  <a:pt x="5352034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38061" y="2566161"/>
            <a:ext cx="4549140" cy="19551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9F6EF"/>
                </a:solidFill>
                <a:latin typeface="Arial"/>
                <a:cs typeface="Arial"/>
              </a:rPr>
              <a:t>Example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List: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80" dirty="0">
                <a:solidFill>
                  <a:srgbClr val="F9F6EF"/>
                </a:solidFill>
                <a:latin typeface="Microsoft Sans Serif"/>
                <a:cs typeface="Microsoft Sans Serif"/>
              </a:rPr>
              <a:t>[10,</a:t>
            </a:r>
            <a:r>
              <a:rPr sz="1300" spc="-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25,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F9F6EF"/>
                </a:solidFill>
                <a:latin typeface="Microsoft Sans Serif"/>
                <a:cs typeface="Microsoft Sans Serif"/>
              </a:rPr>
              <a:t>8,</a:t>
            </a:r>
            <a:r>
              <a:rPr sz="1300" spc="-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40,</a:t>
            </a:r>
            <a:r>
              <a:rPr sz="1300" spc="-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15]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Target:</a:t>
            </a:r>
            <a:r>
              <a:rPr sz="1300" spc="-7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b="1" spc="110" dirty="0">
                <a:solidFill>
                  <a:srgbClr val="F9F6EF"/>
                </a:solidFill>
                <a:latin typeface="Arial"/>
                <a:cs typeface="Arial"/>
              </a:rPr>
              <a:t>40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00" spc="-95" dirty="0">
                <a:solidFill>
                  <a:srgbClr val="F9F6EF"/>
                </a:solidFill>
                <a:latin typeface="Microsoft Sans Serif"/>
                <a:cs typeface="Microsoft Sans Serif"/>
              </a:rPr>
              <a:t>10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F9F6EF"/>
                </a:solidFill>
                <a:latin typeface="Microsoft Sans Serif"/>
                <a:cs typeface="Microsoft Sans Serif"/>
              </a:rPr>
              <a:t>→</a:t>
            </a:r>
            <a:r>
              <a:rPr sz="1300" spc="-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25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F9F6EF"/>
                </a:solidFill>
                <a:latin typeface="Microsoft Sans Serif"/>
                <a:cs typeface="Microsoft Sans Serif"/>
              </a:rPr>
              <a:t>→</a:t>
            </a:r>
            <a:r>
              <a:rPr sz="1300" spc="-1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8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F9F6EF"/>
                </a:solidFill>
                <a:latin typeface="Microsoft Sans Serif"/>
                <a:cs typeface="Microsoft Sans Serif"/>
              </a:rPr>
              <a:t>→</a:t>
            </a:r>
            <a:r>
              <a:rPr sz="1300" spc="-1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b="1" spc="140" dirty="0">
                <a:solidFill>
                  <a:srgbClr val="F9F6EF"/>
                </a:solidFill>
                <a:latin typeface="Arial"/>
                <a:cs typeface="Arial"/>
              </a:rPr>
              <a:t>40</a:t>
            </a:r>
            <a:r>
              <a:rPr sz="1300" b="1" spc="-6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b="1" spc="-390" dirty="0">
                <a:solidFill>
                  <a:srgbClr val="F9F6EF"/>
                </a:solidFill>
                <a:latin typeface="Yu Gothic UI"/>
                <a:cs typeface="Yu Gothic UI"/>
              </a:rPr>
              <a:t>✓</a:t>
            </a:r>
            <a:endParaRPr sz="1300">
              <a:latin typeface="Yu Gothic UI"/>
              <a:cs typeface="Yu Gothic UI"/>
            </a:endParaRPr>
          </a:p>
          <a:p>
            <a:pPr marL="12700" marR="5080">
              <a:lnSpc>
                <a:spcPct val="107700"/>
              </a:lnSpc>
              <a:spcBef>
                <a:spcPts val="1210"/>
              </a:spcBef>
            </a:pPr>
            <a:r>
              <a:rPr sz="1300" spc="-2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3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0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stops</a:t>
            </a:r>
            <a:r>
              <a:rPr sz="1300" spc="7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after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finding</a:t>
            </a:r>
            <a:r>
              <a:rPr sz="13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40.</a:t>
            </a:r>
            <a:r>
              <a:rPr sz="13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300" spc="6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element</a:t>
            </a:r>
            <a:r>
              <a:rPr sz="13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45" dirty="0">
                <a:solidFill>
                  <a:srgbClr val="F9F6EF"/>
                </a:solidFill>
                <a:latin typeface="Microsoft Sans Serif"/>
                <a:cs typeface="Microsoft Sans Serif"/>
              </a:rPr>
              <a:t>15</a:t>
            </a:r>
            <a:r>
              <a:rPr sz="13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is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never checked.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394461"/>
            <a:ext cx="589280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spc="-65" dirty="0"/>
              <a:t>How</a:t>
            </a:r>
            <a:r>
              <a:rPr sz="2850" spc="-250" dirty="0"/>
              <a:t> </a:t>
            </a:r>
            <a:r>
              <a:rPr sz="2850" spc="-90" dirty="0"/>
              <a:t>Does</a:t>
            </a:r>
            <a:r>
              <a:rPr sz="2850" spc="-240" dirty="0"/>
              <a:t> </a:t>
            </a:r>
            <a:r>
              <a:rPr sz="2850" spc="-60" dirty="0"/>
              <a:t>Sequential</a:t>
            </a:r>
            <a:r>
              <a:rPr sz="2850" spc="-265" dirty="0"/>
              <a:t> </a:t>
            </a:r>
            <a:r>
              <a:rPr sz="2850" spc="-70" dirty="0"/>
              <a:t>Search</a:t>
            </a:r>
            <a:r>
              <a:rPr sz="2850" spc="-250" dirty="0"/>
              <a:t> </a:t>
            </a:r>
            <a:r>
              <a:rPr sz="2850" spc="-25" dirty="0"/>
              <a:t>Work?</a:t>
            </a:r>
            <a:endParaRPr sz="2850"/>
          </a:p>
        </p:txBody>
      </p:sp>
      <p:grpSp>
        <p:nvGrpSpPr>
          <p:cNvPr id="3" name="object 3"/>
          <p:cNvGrpSpPr/>
          <p:nvPr/>
        </p:nvGrpSpPr>
        <p:grpSpPr>
          <a:xfrm>
            <a:off x="658368" y="1516380"/>
            <a:ext cx="335280" cy="337185"/>
            <a:chOff x="658368" y="1516380"/>
            <a:chExt cx="335280" cy="337185"/>
          </a:xfrm>
        </p:grpSpPr>
        <p:sp>
          <p:nvSpPr>
            <p:cNvPr id="4" name="object 4"/>
            <p:cNvSpPr/>
            <p:nvPr/>
          </p:nvSpPr>
          <p:spPr>
            <a:xfrm>
              <a:off x="661416" y="1519428"/>
              <a:ext cx="329565" cy="330835"/>
            </a:xfrm>
            <a:custGeom>
              <a:avLst/>
              <a:gdLst/>
              <a:ahLst/>
              <a:cxnLst/>
              <a:rect l="l" t="t" r="r" b="b"/>
              <a:pathLst>
                <a:path w="329565" h="330835">
                  <a:moveTo>
                    <a:pt x="267716" y="0"/>
                  </a:moveTo>
                  <a:lnTo>
                    <a:pt x="61468" y="0"/>
                  </a:lnTo>
                  <a:lnTo>
                    <a:pt x="37542" y="4835"/>
                  </a:lnTo>
                  <a:lnTo>
                    <a:pt x="18003" y="18018"/>
                  </a:lnTo>
                  <a:lnTo>
                    <a:pt x="4830" y="37558"/>
                  </a:lnTo>
                  <a:lnTo>
                    <a:pt x="0" y="61468"/>
                  </a:lnTo>
                  <a:lnTo>
                    <a:pt x="0" y="269239"/>
                  </a:lnTo>
                  <a:lnTo>
                    <a:pt x="4830" y="293149"/>
                  </a:lnTo>
                  <a:lnTo>
                    <a:pt x="18003" y="312689"/>
                  </a:lnTo>
                  <a:lnTo>
                    <a:pt x="37542" y="325872"/>
                  </a:lnTo>
                  <a:lnTo>
                    <a:pt x="61468" y="330708"/>
                  </a:lnTo>
                  <a:lnTo>
                    <a:pt x="267716" y="330708"/>
                  </a:lnTo>
                  <a:lnTo>
                    <a:pt x="291641" y="325872"/>
                  </a:lnTo>
                  <a:lnTo>
                    <a:pt x="311180" y="312689"/>
                  </a:lnTo>
                  <a:lnTo>
                    <a:pt x="324353" y="293149"/>
                  </a:lnTo>
                  <a:lnTo>
                    <a:pt x="329184" y="269239"/>
                  </a:lnTo>
                  <a:lnTo>
                    <a:pt x="329184" y="61468"/>
                  </a:lnTo>
                  <a:lnTo>
                    <a:pt x="324353" y="37558"/>
                  </a:lnTo>
                  <a:lnTo>
                    <a:pt x="311180" y="18018"/>
                  </a:lnTo>
                  <a:lnTo>
                    <a:pt x="291641" y="4835"/>
                  </a:lnTo>
                  <a:lnTo>
                    <a:pt x="26771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1416" y="1519428"/>
              <a:ext cx="329565" cy="330835"/>
            </a:xfrm>
            <a:custGeom>
              <a:avLst/>
              <a:gdLst/>
              <a:ahLst/>
              <a:cxnLst/>
              <a:rect l="l" t="t" r="r" b="b"/>
              <a:pathLst>
                <a:path w="329565" h="330835">
                  <a:moveTo>
                    <a:pt x="0" y="61468"/>
                  </a:moveTo>
                  <a:lnTo>
                    <a:pt x="4830" y="37558"/>
                  </a:lnTo>
                  <a:lnTo>
                    <a:pt x="18003" y="18018"/>
                  </a:lnTo>
                  <a:lnTo>
                    <a:pt x="37542" y="4835"/>
                  </a:lnTo>
                  <a:lnTo>
                    <a:pt x="61468" y="0"/>
                  </a:lnTo>
                  <a:lnTo>
                    <a:pt x="267716" y="0"/>
                  </a:lnTo>
                  <a:lnTo>
                    <a:pt x="291641" y="4835"/>
                  </a:lnTo>
                  <a:lnTo>
                    <a:pt x="311180" y="18018"/>
                  </a:lnTo>
                  <a:lnTo>
                    <a:pt x="324353" y="37558"/>
                  </a:lnTo>
                  <a:lnTo>
                    <a:pt x="329184" y="61468"/>
                  </a:lnTo>
                  <a:lnTo>
                    <a:pt x="329184" y="269239"/>
                  </a:lnTo>
                  <a:lnTo>
                    <a:pt x="324353" y="293149"/>
                  </a:lnTo>
                  <a:lnTo>
                    <a:pt x="311180" y="312689"/>
                  </a:lnTo>
                  <a:lnTo>
                    <a:pt x="291641" y="325872"/>
                  </a:lnTo>
                  <a:lnTo>
                    <a:pt x="267716" y="330708"/>
                  </a:lnTo>
                  <a:lnTo>
                    <a:pt x="61468" y="330708"/>
                  </a:lnTo>
                  <a:lnTo>
                    <a:pt x="37542" y="325872"/>
                  </a:lnTo>
                  <a:lnTo>
                    <a:pt x="18003" y="312689"/>
                  </a:lnTo>
                  <a:lnTo>
                    <a:pt x="4830" y="293149"/>
                  </a:lnTo>
                  <a:lnTo>
                    <a:pt x="0" y="269239"/>
                  </a:lnTo>
                  <a:lnTo>
                    <a:pt x="0" y="61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78865" y="1524076"/>
            <a:ext cx="10096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415" dirty="0">
                <a:solidFill>
                  <a:srgbClr val="272424"/>
                </a:solidFill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8354" y="1535049"/>
            <a:ext cx="2520950" cy="548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Start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Begin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8368" y="2342388"/>
            <a:ext cx="335280" cy="335280"/>
            <a:chOff x="658368" y="2342388"/>
            <a:chExt cx="335280" cy="335280"/>
          </a:xfrm>
        </p:grpSpPr>
        <p:sp>
          <p:nvSpPr>
            <p:cNvPr id="9" name="object 9"/>
            <p:cNvSpPr/>
            <p:nvPr/>
          </p:nvSpPr>
          <p:spPr>
            <a:xfrm>
              <a:off x="661416" y="2345436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267716" y="0"/>
                  </a:moveTo>
                  <a:lnTo>
                    <a:pt x="61468" y="0"/>
                  </a:lnTo>
                  <a:lnTo>
                    <a:pt x="37542" y="4835"/>
                  </a:lnTo>
                  <a:lnTo>
                    <a:pt x="18003" y="18018"/>
                  </a:lnTo>
                  <a:lnTo>
                    <a:pt x="4830" y="37558"/>
                  </a:lnTo>
                  <a:lnTo>
                    <a:pt x="0" y="61467"/>
                  </a:lnTo>
                  <a:lnTo>
                    <a:pt x="0" y="267715"/>
                  </a:lnTo>
                  <a:lnTo>
                    <a:pt x="4830" y="291625"/>
                  </a:lnTo>
                  <a:lnTo>
                    <a:pt x="18003" y="311165"/>
                  </a:lnTo>
                  <a:lnTo>
                    <a:pt x="37542" y="324348"/>
                  </a:lnTo>
                  <a:lnTo>
                    <a:pt x="61468" y="329184"/>
                  </a:lnTo>
                  <a:lnTo>
                    <a:pt x="267716" y="329184"/>
                  </a:lnTo>
                  <a:lnTo>
                    <a:pt x="291641" y="324348"/>
                  </a:lnTo>
                  <a:lnTo>
                    <a:pt x="311180" y="311165"/>
                  </a:lnTo>
                  <a:lnTo>
                    <a:pt x="324353" y="291625"/>
                  </a:lnTo>
                  <a:lnTo>
                    <a:pt x="329184" y="267715"/>
                  </a:lnTo>
                  <a:lnTo>
                    <a:pt x="329184" y="61467"/>
                  </a:lnTo>
                  <a:lnTo>
                    <a:pt x="324353" y="37558"/>
                  </a:lnTo>
                  <a:lnTo>
                    <a:pt x="311180" y="18018"/>
                  </a:lnTo>
                  <a:lnTo>
                    <a:pt x="291641" y="4835"/>
                  </a:lnTo>
                  <a:lnTo>
                    <a:pt x="26771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1416" y="2345436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61467"/>
                  </a:moveTo>
                  <a:lnTo>
                    <a:pt x="4830" y="37558"/>
                  </a:lnTo>
                  <a:lnTo>
                    <a:pt x="18003" y="18018"/>
                  </a:lnTo>
                  <a:lnTo>
                    <a:pt x="37542" y="4835"/>
                  </a:lnTo>
                  <a:lnTo>
                    <a:pt x="61468" y="0"/>
                  </a:lnTo>
                  <a:lnTo>
                    <a:pt x="267716" y="0"/>
                  </a:lnTo>
                  <a:lnTo>
                    <a:pt x="291641" y="4835"/>
                  </a:lnTo>
                  <a:lnTo>
                    <a:pt x="311180" y="18018"/>
                  </a:lnTo>
                  <a:lnTo>
                    <a:pt x="324353" y="37558"/>
                  </a:lnTo>
                  <a:lnTo>
                    <a:pt x="329184" y="61467"/>
                  </a:lnTo>
                  <a:lnTo>
                    <a:pt x="329184" y="267715"/>
                  </a:lnTo>
                  <a:lnTo>
                    <a:pt x="324353" y="291625"/>
                  </a:lnTo>
                  <a:lnTo>
                    <a:pt x="311180" y="311165"/>
                  </a:lnTo>
                  <a:lnTo>
                    <a:pt x="291641" y="324348"/>
                  </a:lnTo>
                  <a:lnTo>
                    <a:pt x="267716" y="329184"/>
                  </a:lnTo>
                  <a:lnTo>
                    <a:pt x="61468" y="329184"/>
                  </a:lnTo>
                  <a:lnTo>
                    <a:pt x="37542" y="324348"/>
                  </a:lnTo>
                  <a:lnTo>
                    <a:pt x="18003" y="311165"/>
                  </a:lnTo>
                  <a:lnTo>
                    <a:pt x="4830" y="291625"/>
                  </a:lnTo>
                  <a:lnTo>
                    <a:pt x="0" y="267715"/>
                  </a:lnTo>
                  <a:lnTo>
                    <a:pt x="0" y="61467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54481" y="2350135"/>
            <a:ext cx="15049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50" dirty="0">
                <a:solidFill>
                  <a:srgbClr val="272424"/>
                </a:solidFill>
                <a:latin typeface="Arial"/>
                <a:cs typeface="Arial"/>
              </a:rPr>
              <a:t>2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8354" y="2360422"/>
            <a:ext cx="7867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Compare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8354" y="2707005"/>
            <a:ext cx="30518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</a:t>
            </a:r>
            <a:r>
              <a:rPr sz="115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current</a:t>
            </a:r>
            <a:r>
              <a:rPr sz="115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15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8368" y="3166872"/>
            <a:ext cx="335280" cy="337185"/>
            <a:chOff x="658368" y="3166872"/>
            <a:chExt cx="335280" cy="337185"/>
          </a:xfrm>
        </p:grpSpPr>
        <p:sp>
          <p:nvSpPr>
            <p:cNvPr id="15" name="object 15"/>
            <p:cNvSpPr/>
            <p:nvPr/>
          </p:nvSpPr>
          <p:spPr>
            <a:xfrm>
              <a:off x="661416" y="3169920"/>
              <a:ext cx="329565" cy="330835"/>
            </a:xfrm>
            <a:custGeom>
              <a:avLst/>
              <a:gdLst/>
              <a:ahLst/>
              <a:cxnLst/>
              <a:rect l="l" t="t" r="r" b="b"/>
              <a:pathLst>
                <a:path w="329565" h="330835">
                  <a:moveTo>
                    <a:pt x="267716" y="0"/>
                  </a:moveTo>
                  <a:lnTo>
                    <a:pt x="61468" y="0"/>
                  </a:lnTo>
                  <a:lnTo>
                    <a:pt x="37542" y="4835"/>
                  </a:lnTo>
                  <a:lnTo>
                    <a:pt x="18003" y="18018"/>
                  </a:lnTo>
                  <a:lnTo>
                    <a:pt x="4830" y="37558"/>
                  </a:lnTo>
                  <a:lnTo>
                    <a:pt x="0" y="61467"/>
                  </a:lnTo>
                  <a:lnTo>
                    <a:pt x="0" y="269239"/>
                  </a:lnTo>
                  <a:lnTo>
                    <a:pt x="4830" y="293149"/>
                  </a:lnTo>
                  <a:lnTo>
                    <a:pt x="18003" y="312689"/>
                  </a:lnTo>
                  <a:lnTo>
                    <a:pt x="37542" y="325872"/>
                  </a:lnTo>
                  <a:lnTo>
                    <a:pt x="61468" y="330707"/>
                  </a:lnTo>
                  <a:lnTo>
                    <a:pt x="267716" y="330707"/>
                  </a:lnTo>
                  <a:lnTo>
                    <a:pt x="291641" y="325872"/>
                  </a:lnTo>
                  <a:lnTo>
                    <a:pt x="311180" y="312689"/>
                  </a:lnTo>
                  <a:lnTo>
                    <a:pt x="324353" y="293149"/>
                  </a:lnTo>
                  <a:lnTo>
                    <a:pt x="329184" y="269239"/>
                  </a:lnTo>
                  <a:lnTo>
                    <a:pt x="329184" y="61467"/>
                  </a:lnTo>
                  <a:lnTo>
                    <a:pt x="324353" y="37558"/>
                  </a:lnTo>
                  <a:lnTo>
                    <a:pt x="311180" y="18018"/>
                  </a:lnTo>
                  <a:lnTo>
                    <a:pt x="291641" y="4835"/>
                  </a:lnTo>
                  <a:lnTo>
                    <a:pt x="26771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1416" y="3169920"/>
              <a:ext cx="329565" cy="330835"/>
            </a:xfrm>
            <a:custGeom>
              <a:avLst/>
              <a:gdLst/>
              <a:ahLst/>
              <a:cxnLst/>
              <a:rect l="l" t="t" r="r" b="b"/>
              <a:pathLst>
                <a:path w="329565" h="330835">
                  <a:moveTo>
                    <a:pt x="0" y="61467"/>
                  </a:moveTo>
                  <a:lnTo>
                    <a:pt x="4830" y="37558"/>
                  </a:lnTo>
                  <a:lnTo>
                    <a:pt x="18003" y="18018"/>
                  </a:lnTo>
                  <a:lnTo>
                    <a:pt x="37542" y="4835"/>
                  </a:lnTo>
                  <a:lnTo>
                    <a:pt x="61468" y="0"/>
                  </a:lnTo>
                  <a:lnTo>
                    <a:pt x="267716" y="0"/>
                  </a:lnTo>
                  <a:lnTo>
                    <a:pt x="291641" y="4835"/>
                  </a:lnTo>
                  <a:lnTo>
                    <a:pt x="311180" y="18018"/>
                  </a:lnTo>
                  <a:lnTo>
                    <a:pt x="324353" y="37558"/>
                  </a:lnTo>
                  <a:lnTo>
                    <a:pt x="329184" y="61467"/>
                  </a:lnTo>
                  <a:lnTo>
                    <a:pt x="329184" y="269239"/>
                  </a:lnTo>
                  <a:lnTo>
                    <a:pt x="324353" y="293149"/>
                  </a:lnTo>
                  <a:lnTo>
                    <a:pt x="311180" y="312689"/>
                  </a:lnTo>
                  <a:lnTo>
                    <a:pt x="291641" y="325872"/>
                  </a:lnTo>
                  <a:lnTo>
                    <a:pt x="267716" y="330707"/>
                  </a:lnTo>
                  <a:lnTo>
                    <a:pt x="61468" y="330707"/>
                  </a:lnTo>
                  <a:lnTo>
                    <a:pt x="37542" y="325872"/>
                  </a:lnTo>
                  <a:lnTo>
                    <a:pt x="18003" y="312689"/>
                  </a:lnTo>
                  <a:lnTo>
                    <a:pt x="4830" y="293149"/>
                  </a:lnTo>
                  <a:lnTo>
                    <a:pt x="0" y="269239"/>
                  </a:lnTo>
                  <a:lnTo>
                    <a:pt x="0" y="61467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51433" y="3175507"/>
            <a:ext cx="15557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15" dirty="0">
                <a:solidFill>
                  <a:srgbClr val="272424"/>
                </a:solidFill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8354" y="3186176"/>
            <a:ext cx="3457575" cy="547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Found?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equal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target,</a:t>
            </a:r>
            <a:r>
              <a:rPr sz="115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report</a:t>
            </a:r>
            <a:r>
              <a:rPr sz="115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that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1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8368" y="3992879"/>
            <a:ext cx="335280" cy="335280"/>
            <a:chOff x="658368" y="3992879"/>
            <a:chExt cx="335280" cy="335280"/>
          </a:xfrm>
        </p:grpSpPr>
        <p:sp>
          <p:nvSpPr>
            <p:cNvPr id="20" name="object 20"/>
            <p:cNvSpPr/>
            <p:nvPr/>
          </p:nvSpPr>
          <p:spPr>
            <a:xfrm>
              <a:off x="661416" y="399592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267716" y="0"/>
                  </a:moveTo>
                  <a:lnTo>
                    <a:pt x="61468" y="0"/>
                  </a:lnTo>
                  <a:lnTo>
                    <a:pt x="37542" y="4835"/>
                  </a:lnTo>
                  <a:lnTo>
                    <a:pt x="18003" y="18018"/>
                  </a:lnTo>
                  <a:lnTo>
                    <a:pt x="4830" y="37558"/>
                  </a:lnTo>
                  <a:lnTo>
                    <a:pt x="0" y="61468"/>
                  </a:lnTo>
                  <a:lnTo>
                    <a:pt x="0" y="267716"/>
                  </a:lnTo>
                  <a:lnTo>
                    <a:pt x="4830" y="291625"/>
                  </a:lnTo>
                  <a:lnTo>
                    <a:pt x="18003" y="311165"/>
                  </a:lnTo>
                  <a:lnTo>
                    <a:pt x="37542" y="324348"/>
                  </a:lnTo>
                  <a:lnTo>
                    <a:pt x="61468" y="329184"/>
                  </a:lnTo>
                  <a:lnTo>
                    <a:pt x="267716" y="329184"/>
                  </a:lnTo>
                  <a:lnTo>
                    <a:pt x="291641" y="324348"/>
                  </a:lnTo>
                  <a:lnTo>
                    <a:pt x="311180" y="311165"/>
                  </a:lnTo>
                  <a:lnTo>
                    <a:pt x="324353" y="291625"/>
                  </a:lnTo>
                  <a:lnTo>
                    <a:pt x="329184" y="267716"/>
                  </a:lnTo>
                  <a:lnTo>
                    <a:pt x="329184" y="61468"/>
                  </a:lnTo>
                  <a:lnTo>
                    <a:pt x="324353" y="37558"/>
                  </a:lnTo>
                  <a:lnTo>
                    <a:pt x="311180" y="18018"/>
                  </a:lnTo>
                  <a:lnTo>
                    <a:pt x="291641" y="4835"/>
                  </a:lnTo>
                  <a:lnTo>
                    <a:pt x="26771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1416" y="399592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61468"/>
                  </a:moveTo>
                  <a:lnTo>
                    <a:pt x="4830" y="37558"/>
                  </a:lnTo>
                  <a:lnTo>
                    <a:pt x="18003" y="18018"/>
                  </a:lnTo>
                  <a:lnTo>
                    <a:pt x="37542" y="4835"/>
                  </a:lnTo>
                  <a:lnTo>
                    <a:pt x="61468" y="0"/>
                  </a:lnTo>
                  <a:lnTo>
                    <a:pt x="267716" y="0"/>
                  </a:lnTo>
                  <a:lnTo>
                    <a:pt x="291641" y="4835"/>
                  </a:lnTo>
                  <a:lnTo>
                    <a:pt x="311180" y="18018"/>
                  </a:lnTo>
                  <a:lnTo>
                    <a:pt x="324353" y="37558"/>
                  </a:lnTo>
                  <a:lnTo>
                    <a:pt x="329184" y="61468"/>
                  </a:lnTo>
                  <a:lnTo>
                    <a:pt x="329184" y="267716"/>
                  </a:lnTo>
                  <a:lnTo>
                    <a:pt x="324353" y="291625"/>
                  </a:lnTo>
                  <a:lnTo>
                    <a:pt x="311180" y="311165"/>
                  </a:lnTo>
                  <a:lnTo>
                    <a:pt x="291641" y="324348"/>
                  </a:lnTo>
                  <a:lnTo>
                    <a:pt x="267716" y="329184"/>
                  </a:lnTo>
                  <a:lnTo>
                    <a:pt x="61468" y="329184"/>
                  </a:lnTo>
                  <a:lnTo>
                    <a:pt x="37542" y="324348"/>
                  </a:lnTo>
                  <a:lnTo>
                    <a:pt x="18003" y="311165"/>
                  </a:lnTo>
                  <a:lnTo>
                    <a:pt x="4830" y="291625"/>
                  </a:lnTo>
                  <a:lnTo>
                    <a:pt x="0" y="267716"/>
                  </a:lnTo>
                  <a:lnTo>
                    <a:pt x="0" y="61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6861" y="4000576"/>
            <a:ext cx="1638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80" dirty="0">
                <a:solidFill>
                  <a:srgbClr val="272424"/>
                </a:solidFill>
                <a:latin typeface="Arial"/>
                <a:cs typeface="Arial"/>
              </a:rPr>
              <a:t>4</a:t>
            </a:r>
            <a:endParaRPr sz="1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08354" y="4011548"/>
            <a:ext cx="2573020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Continue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equal,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 the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next</a:t>
            </a:r>
            <a:r>
              <a:rPr sz="115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8368" y="4817364"/>
            <a:ext cx="335280" cy="337185"/>
            <a:chOff x="658368" y="4817364"/>
            <a:chExt cx="335280" cy="337185"/>
          </a:xfrm>
        </p:grpSpPr>
        <p:sp>
          <p:nvSpPr>
            <p:cNvPr id="25" name="object 25"/>
            <p:cNvSpPr/>
            <p:nvPr/>
          </p:nvSpPr>
          <p:spPr>
            <a:xfrm>
              <a:off x="661416" y="4820412"/>
              <a:ext cx="329565" cy="330835"/>
            </a:xfrm>
            <a:custGeom>
              <a:avLst/>
              <a:gdLst/>
              <a:ahLst/>
              <a:cxnLst/>
              <a:rect l="l" t="t" r="r" b="b"/>
              <a:pathLst>
                <a:path w="329565" h="330835">
                  <a:moveTo>
                    <a:pt x="267716" y="0"/>
                  </a:moveTo>
                  <a:lnTo>
                    <a:pt x="61468" y="0"/>
                  </a:lnTo>
                  <a:lnTo>
                    <a:pt x="37542" y="4835"/>
                  </a:lnTo>
                  <a:lnTo>
                    <a:pt x="18003" y="18018"/>
                  </a:lnTo>
                  <a:lnTo>
                    <a:pt x="4830" y="37558"/>
                  </a:lnTo>
                  <a:lnTo>
                    <a:pt x="0" y="61468"/>
                  </a:lnTo>
                  <a:lnTo>
                    <a:pt x="0" y="269239"/>
                  </a:lnTo>
                  <a:lnTo>
                    <a:pt x="4830" y="293149"/>
                  </a:lnTo>
                  <a:lnTo>
                    <a:pt x="18003" y="312689"/>
                  </a:lnTo>
                  <a:lnTo>
                    <a:pt x="37542" y="325872"/>
                  </a:lnTo>
                  <a:lnTo>
                    <a:pt x="61468" y="330707"/>
                  </a:lnTo>
                  <a:lnTo>
                    <a:pt x="267716" y="330707"/>
                  </a:lnTo>
                  <a:lnTo>
                    <a:pt x="291641" y="325872"/>
                  </a:lnTo>
                  <a:lnTo>
                    <a:pt x="311180" y="312689"/>
                  </a:lnTo>
                  <a:lnTo>
                    <a:pt x="324353" y="293149"/>
                  </a:lnTo>
                  <a:lnTo>
                    <a:pt x="329184" y="269239"/>
                  </a:lnTo>
                  <a:lnTo>
                    <a:pt x="329184" y="61468"/>
                  </a:lnTo>
                  <a:lnTo>
                    <a:pt x="324353" y="37558"/>
                  </a:lnTo>
                  <a:lnTo>
                    <a:pt x="311180" y="18018"/>
                  </a:lnTo>
                  <a:lnTo>
                    <a:pt x="291641" y="4835"/>
                  </a:lnTo>
                  <a:lnTo>
                    <a:pt x="26771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1416" y="4820412"/>
              <a:ext cx="329565" cy="330835"/>
            </a:xfrm>
            <a:custGeom>
              <a:avLst/>
              <a:gdLst/>
              <a:ahLst/>
              <a:cxnLst/>
              <a:rect l="l" t="t" r="r" b="b"/>
              <a:pathLst>
                <a:path w="329565" h="330835">
                  <a:moveTo>
                    <a:pt x="0" y="61468"/>
                  </a:moveTo>
                  <a:lnTo>
                    <a:pt x="4830" y="37558"/>
                  </a:lnTo>
                  <a:lnTo>
                    <a:pt x="18003" y="18018"/>
                  </a:lnTo>
                  <a:lnTo>
                    <a:pt x="37542" y="4835"/>
                  </a:lnTo>
                  <a:lnTo>
                    <a:pt x="61468" y="0"/>
                  </a:lnTo>
                  <a:lnTo>
                    <a:pt x="267716" y="0"/>
                  </a:lnTo>
                  <a:lnTo>
                    <a:pt x="291641" y="4835"/>
                  </a:lnTo>
                  <a:lnTo>
                    <a:pt x="311180" y="18018"/>
                  </a:lnTo>
                  <a:lnTo>
                    <a:pt x="324353" y="37558"/>
                  </a:lnTo>
                  <a:lnTo>
                    <a:pt x="329184" y="61468"/>
                  </a:lnTo>
                  <a:lnTo>
                    <a:pt x="329184" y="269239"/>
                  </a:lnTo>
                  <a:lnTo>
                    <a:pt x="324353" y="293149"/>
                  </a:lnTo>
                  <a:lnTo>
                    <a:pt x="311180" y="312689"/>
                  </a:lnTo>
                  <a:lnTo>
                    <a:pt x="291641" y="325872"/>
                  </a:lnTo>
                  <a:lnTo>
                    <a:pt x="267716" y="330707"/>
                  </a:lnTo>
                  <a:lnTo>
                    <a:pt x="61468" y="330707"/>
                  </a:lnTo>
                  <a:lnTo>
                    <a:pt x="37542" y="325872"/>
                  </a:lnTo>
                  <a:lnTo>
                    <a:pt x="18003" y="312689"/>
                  </a:lnTo>
                  <a:lnTo>
                    <a:pt x="4830" y="293149"/>
                  </a:lnTo>
                  <a:lnTo>
                    <a:pt x="0" y="269239"/>
                  </a:lnTo>
                  <a:lnTo>
                    <a:pt x="0" y="61468"/>
                  </a:lnTo>
                  <a:close/>
                </a:path>
              </a:pathLst>
            </a:custGeom>
            <a:ln w="6095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49909" y="4826634"/>
            <a:ext cx="1593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45" dirty="0">
                <a:solidFill>
                  <a:srgbClr val="272424"/>
                </a:solidFill>
                <a:latin typeface="Arial"/>
                <a:cs typeface="Arial"/>
              </a:rPr>
              <a:t>5</a:t>
            </a:r>
            <a:endParaRPr sz="1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8354" y="4836921"/>
            <a:ext cx="435165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Repeat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until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end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reached.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58368" y="5643371"/>
            <a:ext cx="335280" cy="335280"/>
            <a:chOff x="658368" y="5643371"/>
            <a:chExt cx="335280" cy="335280"/>
          </a:xfrm>
        </p:grpSpPr>
        <p:sp>
          <p:nvSpPr>
            <p:cNvPr id="30" name="object 30"/>
            <p:cNvSpPr/>
            <p:nvPr/>
          </p:nvSpPr>
          <p:spPr>
            <a:xfrm>
              <a:off x="661416" y="5646419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267716" y="0"/>
                  </a:moveTo>
                  <a:lnTo>
                    <a:pt x="61468" y="0"/>
                  </a:lnTo>
                  <a:lnTo>
                    <a:pt x="37542" y="4830"/>
                  </a:lnTo>
                  <a:lnTo>
                    <a:pt x="18003" y="18003"/>
                  </a:lnTo>
                  <a:lnTo>
                    <a:pt x="4830" y="37542"/>
                  </a:lnTo>
                  <a:lnTo>
                    <a:pt x="0" y="61467"/>
                  </a:lnTo>
                  <a:lnTo>
                    <a:pt x="0" y="267715"/>
                  </a:lnTo>
                  <a:lnTo>
                    <a:pt x="4830" y="291641"/>
                  </a:lnTo>
                  <a:lnTo>
                    <a:pt x="18003" y="311180"/>
                  </a:lnTo>
                  <a:lnTo>
                    <a:pt x="37542" y="324353"/>
                  </a:lnTo>
                  <a:lnTo>
                    <a:pt x="61468" y="329183"/>
                  </a:lnTo>
                  <a:lnTo>
                    <a:pt x="267716" y="329183"/>
                  </a:lnTo>
                  <a:lnTo>
                    <a:pt x="291641" y="324353"/>
                  </a:lnTo>
                  <a:lnTo>
                    <a:pt x="311180" y="311180"/>
                  </a:lnTo>
                  <a:lnTo>
                    <a:pt x="324353" y="291641"/>
                  </a:lnTo>
                  <a:lnTo>
                    <a:pt x="329184" y="267715"/>
                  </a:lnTo>
                  <a:lnTo>
                    <a:pt x="329184" y="61467"/>
                  </a:lnTo>
                  <a:lnTo>
                    <a:pt x="324353" y="37542"/>
                  </a:lnTo>
                  <a:lnTo>
                    <a:pt x="311180" y="18003"/>
                  </a:lnTo>
                  <a:lnTo>
                    <a:pt x="291641" y="4830"/>
                  </a:lnTo>
                  <a:lnTo>
                    <a:pt x="26771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1416" y="5646419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61467"/>
                  </a:moveTo>
                  <a:lnTo>
                    <a:pt x="4830" y="37542"/>
                  </a:lnTo>
                  <a:lnTo>
                    <a:pt x="18003" y="18003"/>
                  </a:lnTo>
                  <a:lnTo>
                    <a:pt x="37542" y="4830"/>
                  </a:lnTo>
                  <a:lnTo>
                    <a:pt x="61468" y="0"/>
                  </a:lnTo>
                  <a:lnTo>
                    <a:pt x="267716" y="0"/>
                  </a:lnTo>
                  <a:lnTo>
                    <a:pt x="291641" y="4830"/>
                  </a:lnTo>
                  <a:lnTo>
                    <a:pt x="311180" y="18003"/>
                  </a:lnTo>
                  <a:lnTo>
                    <a:pt x="324353" y="37542"/>
                  </a:lnTo>
                  <a:lnTo>
                    <a:pt x="329184" y="61467"/>
                  </a:lnTo>
                  <a:lnTo>
                    <a:pt x="329184" y="267715"/>
                  </a:lnTo>
                  <a:lnTo>
                    <a:pt x="324353" y="291641"/>
                  </a:lnTo>
                  <a:lnTo>
                    <a:pt x="311180" y="311180"/>
                  </a:lnTo>
                  <a:lnTo>
                    <a:pt x="291641" y="324353"/>
                  </a:lnTo>
                  <a:lnTo>
                    <a:pt x="267716" y="329183"/>
                  </a:lnTo>
                  <a:lnTo>
                    <a:pt x="61468" y="329183"/>
                  </a:lnTo>
                  <a:lnTo>
                    <a:pt x="37542" y="324353"/>
                  </a:lnTo>
                  <a:lnTo>
                    <a:pt x="18003" y="311180"/>
                  </a:lnTo>
                  <a:lnTo>
                    <a:pt x="4830" y="291641"/>
                  </a:lnTo>
                  <a:lnTo>
                    <a:pt x="0" y="267715"/>
                  </a:lnTo>
                  <a:lnTo>
                    <a:pt x="0" y="61467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48385" y="5652008"/>
            <a:ext cx="1625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70" dirty="0">
                <a:solidFill>
                  <a:srgbClr val="272424"/>
                </a:solidFill>
                <a:latin typeface="Arial"/>
                <a:cs typeface="Arial"/>
              </a:rPr>
              <a:t>6</a:t>
            </a:r>
            <a:endParaRPr sz="1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08354" y="5662676"/>
            <a:ext cx="4530090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72424"/>
                </a:solidFill>
                <a:latin typeface="Arial"/>
                <a:cs typeface="Arial"/>
              </a:rPr>
              <a:t>Not</a:t>
            </a:r>
            <a:r>
              <a:rPr sz="14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Found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end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reached without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match,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report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8716" y="1132713"/>
            <a:ext cx="64541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632450" algn="l"/>
              </a:tabLst>
            </a:pPr>
            <a:r>
              <a:rPr sz="1400" b="1" dirty="0">
                <a:latin typeface="Arial"/>
                <a:cs typeface="Arial"/>
              </a:rPr>
              <a:t>Step-</a:t>
            </a:r>
            <a:r>
              <a:rPr sz="1400" b="1" spc="90" dirty="0">
                <a:latin typeface="Arial"/>
                <a:cs typeface="Arial"/>
              </a:rPr>
              <a:t>by-</a:t>
            </a:r>
            <a:r>
              <a:rPr sz="1400" b="1" spc="-10" dirty="0">
                <a:latin typeface="Arial"/>
                <a:cs typeface="Arial"/>
              </a:rPr>
              <a:t>Step</a:t>
            </a:r>
            <a:r>
              <a:rPr sz="1400" b="1" spc="8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Process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Flowchart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5" name="object 3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4056" y="1519427"/>
            <a:ext cx="4728972" cy="1775460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0447401" y="2838068"/>
            <a:ext cx="5556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272424"/>
                </a:solidFill>
                <a:latin typeface="Arial"/>
                <a:cs typeface="Arial"/>
              </a:rPr>
              <a:t>Move</a:t>
            </a:r>
            <a:r>
              <a:rPr sz="85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272424"/>
                </a:solidFill>
                <a:latin typeface="Arial"/>
                <a:cs typeface="Arial"/>
              </a:rPr>
              <a:t>Next</a:t>
            </a:r>
            <a:endParaRPr sz="8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629013" y="2838068"/>
            <a:ext cx="3943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40" dirty="0">
                <a:solidFill>
                  <a:srgbClr val="272424"/>
                </a:solidFill>
                <a:latin typeface="Arial"/>
                <a:cs typeface="Arial"/>
              </a:rPr>
              <a:t>Found?</a:t>
            </a:r>
            <a:endParaRPr sz="8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86038" y="2838068"/>
            <a:ext cx="4921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272424"/>
                </a:solidFill>
                <a:latin typeface="Arial"/>
                <a:cs typeface="Arial"/>
              </a:rPr>
              <a:t>Compare</a:t>
            </a:r>
            <a:endParaRPr sz="8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818881" y="2783205"/>
            <a:ext cx="436880" cy="2622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48260">
              <a:lnSpc>
                <a:spcPts val="840"/>
              </a:lnSpc>
              <a:spcBef>
                <a:spcPts val="280"/>
              </a:spcBef>
            </a:pPr>
            <a:r>
              <a:rPr sz="850" b="1" spc="-10" dirty="0">
                <a:solidFill>
                  <a:srgbClr val="272424"/>
                </a:solidFill>
                <a:latin typeface="Arial"/>
                <a:cs typeface="Arial"/>
              </a:rPr>
              <a:t>Select </a:t>
            </a:r>
            <a:r>
              <a:rPr sz="850" b="1" spc="-25" dirty="0">
                <a:solidFill>
                  <a:srgbClr val="272424"/>
                </a:solidFill>
                <a:latin typeface="Arial"/>
                <a:cs typeface="Arial"/>
              </a:rPr>
              <a:t>Element</a:t>
            </a:r>
            <a:endParaRPr sz="8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85761" y="2838068"/>
            <a:ext cx="2736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272424"/>
                </a:solidFill>
                <a:latin typeface="Arial"/>
                <a:cs typeface="Arial"/>
              </a:rPr>
              <a:t>Start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359154"/>
            <a:ext cx="1039368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Sequential</a:t>
            </a:r>
            <a:r>
              <a:rPr spc="-310" dirty="0"/>
              <a:t> </a:t>
            </a:r>
            <a:r>
              <a:rPr spc="-85" dirty="0"/>
              <a:t>Search</a:t>
            </a:r>
            <a:r>
              <a:rPr spc="-365" dirty="0"/>
              <a:t> </a:t>
            </a:r>
            <a:r>
              <a:rPr spc="-325" dirty="0"/>
              <a:t>—</a:t>
            </a:r>
            <a:r>
              <a:rPr spc="-280" dirty="0"/>
              <a:t> </a:t>
            </a:r>
            <a:r>
              <a:rPr spc="-100" dirty="0"/>
              <a:t>Example</a:t>
            </a:r>
            <a:r>
              <a:rPr spc="-305" dirty="0"/>
              <a:t> </a:t>
            </a:r>
            <a:r>
              <a:rPr spc="-555" dirty="0"/>
              <a:t>1:</a:t>
            </a:r>
            <a:r>
              <a:rPr spc="-275" dirty="0"/>
              <a:t> </a:t>
            </a:r>
            <a:r>
              <a:rPr spc="-114" dirty="0"/>
              <a:t>Searching</a:t>
            </a:r>
            <a:r>
              <a:rPr spc="-305" dirty="0"/>
              <a:t> </a:t>
            </a:r>
            <a:r>
              <a:rPr spc="-50" dirty="0"/>
              <a:t>for</a:t>
            </a:r>
            <a:r>
              <a:rPr spc="-285" dirty="0"/>
              <a:t> </a:t>
            </a:r>
            <a:r>
              <a:rPr dirty="0"/>
              <a:t>a</a:t>
            </a:r>
            <a:r>
              <a:rPr spc="-290" dirty="0"/>
              <a:t> </a:t>
            </a:r>
            <a:r>
              <a:rPr spc="-10" dirty="0"/>
              <a:t>Number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2204085"/>
            <a:ext cx="1725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List</a:t>
            </a:r>
            <a:r>
              <a:rPr sz="13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[12,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25,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7,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70" dirty="0">
                <a:solidFill>
                  <a:srgbClr val="272424"/>
                </a:solidFill>
                <a:latin typeface="Arial"/>
                <a:cs typeface="Arial"/>
              </a:rPr>
              <a:t>40,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18]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1485" y="2204085"/>
            <a:ext cx="9366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Target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114" dirty="0">
                <a:solidFill>
                  <a:srgbClr val="272424"/>
                </a:solidFill>
                <a:latin typeface="Arial"/>
                <a:cs typeface="Arial"/>
              </a:rPr>
              <a:t>40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55129" y="2615564"/>
          <a:ext cx="10869295" cy="21291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3605"/>
                <a:gridCol w="2717165"/>
                <a:gridCol w="3804285"/>
                <a:gridCol w="2174240"/>
              </a:tblGrid>
              <a:tr h="425450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Comparison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2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sz="1300" b="1" spc="-2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Element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Comparison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3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1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12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7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Continue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25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25</a:t>
                      </a:r>
                      <a:r>
                        <a:rPr sz="1300" spc="-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Continue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  <a:r>
                        <a:rPr sz="1300" spc="-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7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Continue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spc="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spc="6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spc="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300" spc="-6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1300" spc="-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300" b="1" spc="-5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Found</a:t>
                      </a:r>
                      <a:r>
                        <a:rPr sz="1300" b="1" spc="-5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9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300" y="2769870"/>
            <a:ext cx="120650" cy="117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8716" y="4917061"/>
            <a:ext cx="10755630" cy="45656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target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140" dirty="0">
                <a:solidFill>
                  <a:srgbClr val="272424"/>
                </a:solidFill>
                <a:latin typeface="Arial"/>
                <a:cs typeface="Arial"/>
              </a:rPr>
              <a:t>40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found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after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114" dirty="0">
                <a:solidFill>
                  <a:srgbClr val="272424"/>
                </a:solidFill>
                <a:latin typeface="Arial"/>
                <a:cs typeface="Arial"/>
              </a:rPr>
              <a:t>4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comparisons.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does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45" dirty="0">
                <a:solidFill>
                  <a:srgbClr val="272424"/>
                </a:solidFill>
                <a:latin typeface="Microsoft Sans Serif"/>
                <a:cs typeface="Microsoft Sans Serif"/>
              </a:rPr>
              <a:t>18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stops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immediately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finding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Sequential</a:t>
            </a:r>
            <a:r>
              <a:rPr spc="-310" dirty="0"/>
              <a:t> </a:t>
            </a:r>
            <a:r>
              <a:rPr spc="-80" dirty="0"/>
              <a:t>Search</a:t>
            </a:r>
            <a:r>
              <a:rPr spc="-370" dirty="0"/>
              <a:t> </a:t>
            </a:r>
            <a:r>
              <a:rPr spc="-325" dirty="0"/>
              <a:t>—</a:t>
            </a:r>
            <a:r>
              <a:rPr spc="-285" dirty="0"/>
              <a:t> </a:t>
            </a:r>
            <a:r>
              <a:rPr spc="-95" dirty="0"/>
              <a:t>Example</a:t>
            </a:r>
            <a:r>
              <a:rPr spc="-315" dirty="0"/>
              <a:t> </a:t>
            </a:r>
            <a:r>
              <a:rPr spc="-190" dirty="0"/>
              <a:t>2:</a:t>
            </a:r>
            <a:r>
              <a:rPr spc="-275" dirty="0"/>
              <a:t> </a:t>
            </a:r>
            <a:r>
              <a:rPr spc="-110" dirty="0"/>
              <a:t>Searching</a:t>
            </a:r>
            <a:r>
              <a:rPr spc="-320" dirty="0"/>
              <a:t> </a:t>
            </a:r>
            <a:r>
              <a:rPr spc="-45" dirty="0"/>
              <a:t>for</a:t>
            </a:r>
            <a:r>
              <a:rPr spc="-290" dirty="0"/>
              <a:t> </a:t>
            </a:r>
            <a:r>
              <a:rPr spc="50" dirty="0"/>
              <a:t>a</a:t>
            </a:r>
            <a:r>
              <a:rPr spc="-275" dirty="0"/>
              <a:t> </a:t>
            </a:r>
            <a:r>
              <a:rPr spc="-10" dirty="0"/>
              <a:t>Student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1669542"/>
            <a:ext cx="772668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37865" algn="l"/>
              </a:tabLst>
            </a:pP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List: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[Aman,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Simran,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Rohit,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Rahul,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Neha]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	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Target: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Rahul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teacher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wants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Rahul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line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students.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teacher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checks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each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student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one.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2488692"/>
            <a:ext cx="10869168" cy="6614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4222" y="3119542"/>
            <a:ext cx="164655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Aman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Rahul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9161" y="3119542"/>
            <a:ext cx="164655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Simran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Rahul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416" y="4002023"/>
            <a:ext cx="10869168" cy="66141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14222" y="4632874"/>
            <a:ext cx="164655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Rohit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Rahul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9161" y="4632874"/>
            <a:ext cx="1977389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95" dirty="0">
                <a:solidFill>
                  <a:srgbClr val="272424"/>
                </a:solidFill>
                <a:latin typeface="Arial"/>
                <a:cs typeface="Arial"/>
              </a:rPr>
              <a:t>Rahul </a:t>
            </a:r>
            <a:r>
              <a:rPr sz="1600" spc="-5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Found!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stops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here.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716" y="5684926"/>
            <a:ext cx="97745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Sequential Search</a:t>
            </a:r>
            <a:r>
              <a:rPr sz="130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because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 teacher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checks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students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sequentially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stops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when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required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student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found.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469517"/>
            <a:ext cx="990727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Sequential</a:t>
            </a:r>
            <a:r>
              <a:rPr spc="-305" dirty="0"/>
              <a:t> </a:t>
            </a:r>
            <a:r>
              <a:rPr spc="-85" dirty="0"/>
              <a:t>Search</a:t>
            </a:r>
            <a:r>
              <a:rPr spc="-365" dirty="0"/>
              <a:t> </a:t>
            </a:r>
            <a:r>
              <a:rPr spc="-325" dirty="0"/>
              <a:t>—</a:t>
            </a:r>
            <a:r>
              <a:rPr spc="-280" dirty="0"/>
              <a:t> </a:t>
            </a:r>
            <a:r>
              <a:rPr spc="-100" dirty="0"/>
              <a:t>Example</a:t>
            </a:r>
            <a:r>
              <a:rPr spc="-305" dirty="0"/>
              <a:t> </a:t>
            </a:r>
            <a:r>
              <a:rPr spc="-155" dirty="0"/>
              <a:t>3:</a:t>
            </a:r>
            <a:r>
              <a:rPr spc="-260" dirty="0"/>
              <a:t> </a:t>
            </a:r>
            <a:r>
              <a:rPr spc="-114" dirty="0"/>
              <a:t>Searching</a:t>
            </a:r>
            <a:r>
              <a:rPr spc="-305" dirty="0"/>
              <a:t> </a:t>
            </a:r>
            <a:r>
              <a:rPr spc="-50" dirty="0"/>
              <a:t>for</a:t>
            </a:r>
            <a:r>
              <a:rPr spc="-295" dirty="0"/>
              <a:t> </a:t>
            </a:r>
            <a:r>
              <a:rPr dirty="0"/>
              <a:t>a</a:t>
            </a:r>
            <a:r>
              <a:rPr spc="-270" dirty="0"/>
              <a:t> </a:t>
            </a:r>
            <a:r>
              <a:rPr spc="-20" dirty="0"/>
              <a:t>Book</a:t>
            </a:r>
          </a:p>
        </p:txBody>
      </p:sp>
      <p:sp>
        <p:nvSpPr>
          <p:cNvPr id="3" name="object 3"/>
          <p:cNvSpPr/>
          <p:nvPr/>
        </p:nvSpPr>
        <p:spPr>
          <a:xfrm>
            <a:off x="661416" y="2951988"/>
            <a:ext cx="3512820" cy="20320"/>
          </a:xfrm>
          <a:custGeom>
            <a:avLst/>
            <a:gdLst/>
            <a:ahLst/>
            <a:cxnLst/>
            <a:rect l="l" t="t" r="r" b="b"/>
            <a:pathLst>
              <a:path w="3512820" h="20319">
                <a:moveTo>
                  <a:pt x="3512820" y="0"/>
                </a:moveTo>
                <a:lnTo>
                  <a:pt x="0" y="0"/>
                </a:lnTo>
                <a:lnTo>
                  <a:pt x="0" y="19812"/>
                </a:lnTo>
                <a:lnTo>
                  <a:pt x="3512820" y="19812"/>
                </a:lnTo>
                <a:lnTo>
                  <a:pt x="3512820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8716" y="2877480"/>
            <a:ext cx="265303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Mathematics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required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book.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38828" y="2951988"/>
            <a:ext cx="3512820" cy="20320"/>
          </a:xfrm>
          <a:custGeom>
            <a:avLst/>
            <a:gdLst/>
            <a:ahLst/>
            <a:cxnLst/>
            <a:rect l="l" t="t" r="r" b="b"/>
            <a:pathLst>
              <a:path w="3512820" h="20319">
                <a:moveTo>
                  <a:pt x="3512820" y="0"/>
                </a:moveTo>
                <a:lnTo>
                  <a:pt x="0" y="0"/>
                </a:lnTo>
                <a:lnTo>
                  <a:pt x="0" y="19812"/>
                </a:lnTo>
                <a:lnTo>
                  <a:pt x="3512820" y="19812"/>
                </a:lnTo>
                <a:lnTo>
                  <a:pt x="3512820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27397" y="2877480"/>
            <a:ext cx="264731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Physics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required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book.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716" y="2314448"/>
            <a:ext cx="7556500" cy="603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Target: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Algorithms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  <a:tabLst>
                <a:tab pos="3691254" algn="l"/>
                <a:tab pos="7369175" algn="l"/>
              </a:tabLst>
            </a:pP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01</a:t>
            </a:r>
            <a:r>
              <a:rPr sz="13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	</a:t>
            </a: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02</a:t>
            </a:r>
            <a:r>
              <a:rPr sz="13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	</a:t>
            </a: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03</a:t>
            </a:r>
            <a:endParaRPr sz="1300">
              <a:latin typeface="Malgun Gothic Semilight"/>
              <a:cs typeface="Malgun Gothic Semi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17764" y="2951988"/>
            <a:ext cx="3512820" cy="20320"/>
          </a:xfrm>
          <a:custGeom>
            <a:avLst/>
            <a:gdLst/>
            <a:ahLst/>
            <a:cxnLst/>
            <a:rect l="l" t="t" r="r" b="b"/>
            <a:pathLst>
              <a:path w="3512820" h="20319">
                <a:moveTo>
                  <a:pt x="3512820" y="0"/>
                </a:moveTo>
                <a:lnTo>
                  <a:pt x="0" y="0"/>
                </a:lnTo>
                <a:lnTo>
                  <a:pt x="0" y="19812"/>
                </a:lnTo>
                <a:lnTo>
                  <a:pt x="3512820" y="19812"/>
                </a:lnTo>
                <a:lnTo>
                  <a:pt x="3512820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05698" y="2877480"/>
            <a:ext cx="264731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Chemistry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required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book.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716" y="3846322"/>
            <a:ext cx="2038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04</a:t>
            </a:r>
            <a:endParaRPr sz="1300">
              <a:latin typeface="Malgun Gothic Semilight"/>
              <a:cs typeface="Malgun Gothic Semi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1416" y="4104132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20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8716" y="4029370"/>
            <a:ext cx="228981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Algorithms</a:t>
            </a: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Found!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stops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here.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6484" y="3846322"/>
            <a:ext cx="199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05</a:t>
            </a:r>
            <a:endParaRPr sz="1300">
              <a:latin typeface="Malgun Gothic Semilight"/>
              <a:cs typeface="Malgun Gothic Semiligh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78296" y="4104132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20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66484" y="4029370"/>
            <a:ext cx="333375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English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Never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checked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already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ended.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716" y="5039995"/>
            <a:ext cx="107378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When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exact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position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book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unknown,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person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may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check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books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one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by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one.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real-life example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Sequential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Search.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258061"/>
            <a:ext cx="968756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Sequential</a:t>
            </a:r>
            <a:r>
              <a:rPr spc="-310" dirty="0"/>
              <a:t> </a:t>
            </a:r>
            <a:r>
              <a:rPr spc="-85" dirty="0"/>
              <a:t>Search</a:t>
            </a:r>
            <a:r>
              <a:rPr spc="-365" dirty="0"/>
              <a:t> </a:t>
            </a:r>
            <a:r>
              <a:rPr spc="-325" dirty="0"/>
              <a:t>—</a:t>
            </a:r>
            <a:r>
              <a:rPr spc="-280" dirty="0"/>
              <a:t> </a:t>
            </a:r>
            <a:r>
              <a:rPr spc="-100" dirty="0"/>
              <a:t>Example</a:t>
            </a:r>
            <a:r>
              <a:rPr spc="-310" dirty="0"/>
              <a:t> </a:t>
            </a:r>
            <a:r>
              <a:rPr spc="-85" dirty="0"/>
              <a:t>4:</a:t>
            </a:r>
            <a:r>
              <a:rPr spc="-275" dirty="0"/>
              <a:t> </a:t>
            </a:r>
            <a:r>
              <a:rPr spc="-65" dirty="0"/>
              <a:t>Element</a:t>
            </a:r>
            <a:r>
              <a:rPr spc="-305" dirty="0"/>
              <a:t> </a:t>
            </a:r>
            <a:r>
              <a:rPr dirty="0"/>
              <a:t>Not</a:t>
            </a:r>
            <a:r>
              <a:rPr spc="-290" dirty="0"/>
              <a:t> </a:t>
            </a:r>
            <a:r>
              <a:rPr spc="-10" dirty="0"/>
              <a:t>Found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2102866"/>
            <a:ext cx="17456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List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[5,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10,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95" dirty="0">
                <a:solidFill>
                  <a:srgbClr val="272424"/>
                </a:solidFill>
                <a:latin typeface="Arial"/>
                <a:cs typeface="Arial"/>
              </a:rPr>
              <a:t>15,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20,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25]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2822" y="2102866"/>
            <a:ext cx="9277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Target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70" dirty="0">
                <a:solidFill>
                  <a:srgbClr val="272424"/>
                </a:solidFill>
                <a:latin typeface="Arial"/>
                <a:cs typeface="Arial"/>
              </a:rPr>
              <a:t>30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2272" y="2511551"/>
            <a:ext cx="3533140" cy="909955"/>
            <a:chOff x="652272" y="2511551"/>
            <a:chExt cx="3533140" cy="909955"/>
          </a:xfrm>
        </p:grpSpPr>
        <p:sp>
          <p:nvSpPr>
            <p:cNvPr id="6" name="object 6"/>
            <p:cNvSpPr/>
            <p:nvPr/>
          </p:nvSpPr>
          <p:spPr>
            <a:xfrm>
              <a:off x="662178" y="2521457"/>
              <a:ext cx="3512820" cy="890269"/>
            </a:xfrm>
            <a:custGeom>
              <a:avLst/>
              <a:gdLst/>
              <a:ahLst/>
              <a:cxnLst/>
              <a:rect l="l" t="t" r="r" b="b"/>
              <a:pathLst>
                <a:path w="3512820" h="890270">
                  <a:moveTo>
                    <a:pt x="3443351" y="0"/>
                  </a:moveTo>
                  <a:lnTo>
                    <a:pt x="69494" y="0"/>
                  </a:lnTo>
                  <a:lnTo>
                    <a:pt x="42444" y="5461"/>
                  </a:lnTo>
                  <a:lnTo>
                    <a:pt x="20354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820546"/>
                  </a:lnTo>
                  <a:lnTo>
                    <a:pt x="5461" y="847582"/>
                  </a:lnTo>
                  <a:lnTo>
                    <a:pt x="20354" y="869664"/>
                  </a:lnTo>
                  <a:lnTo>
                    <a:pt x="42444" y="884554"/>
                  </a:lnTo>
                  <a:lnTo>
                    <a:pt x="69494" y="890015"/>
                  </a:lnTo>
                  <a:lnTo>
                    <a:pt x="3443351" y="890015"/>
                  </a:lnTo>
                  <a:lnTo>
                    <a:pt x="3470386" y="884554"/>
                  </a:lnTo>
                  <a:lnTo>
                    <a:pt x="3492468" y="869664"/>
                  </a:lnTo>
                  <a:lnTo>
                    <a:pt x="3507359" y="847582"/>
                  </a:lnTo>
                  <a:lnTo>
                    <a:pt x="3512820" y="820546"/>
                  </a:lnTo>
                  <a:lnTo>
                    <a:pt x="3512820" y="69468"/>
                  </a:lnTo>
                  <a:lnTo>
                    <a:pt x="3507359" y="42433"/>
                  </a:lnTo>
                  <a:lnTo>
                    <a:pt x="3492468" y="20351"/>
                  </a:lnTo>
                  <a:lnTo>
                    <a:pt x="3470386" y="5461"/>
                  </a:lnTo>
                  <a:lnTo>
                    <a:pt x="3443351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8" y="2521457"/>
              <a:ext cx="3512820" cy="890269"/>
            </a:xfrm>
            <a:custGeom>
              <a:avLst/>
              <a:gdLst/>
              <a:ahLst/>
              <a:cxnLst/>
              <a:rect l="l" t="t" r="r" b="b"/>
              <a:pathLst>
                <a:path w="3512820" h="890270">
                  <a:moveTo>
                    <a:pt x="0" y="69468"/>
                  </a:moveTo>
                  <a:lnTo>
                    <a:pt x="5461" y="42433"/>
                  </a:lnTo>
                  <a:lnTo>
                    <a:pt x="20354" y="20351"/>
                  </a:lnTo>
                  <a:lnTo>
                    <a:pt x="42444" y="5461"/>
                  </a:lnTo>
                  <a:lnTo>
                    <a:pt x="69494" y="0"/>
                  </a:lnTo>
                  <a:lnTo>
                    <a:pt x="3443351" y="0"/>
                  </a:lnTo>
                  <a:lnTo>
                    <a:pt x="3470386" y="5461"/>
                  </a:lnTo>
                  <a:lnTo>
                    <a:pt x="3492468" y="20351"/>
                  </a:lnTo>
                  <a:lnTo>
                    <a:pt x="3507359" y="42433"/>
                  </a:lnTo>
                  <a:lnTo>
                    <a:pt x="3512820" y="69468"/>
                  </a:lnTo>
                  <a:lnTo>
                    <a:pt x="3512820" y="820546"/>
                  </a:lnTo>
                  <a:lnTo>
                    <a:pt x="3507359" y="847582"/>
                  </a:lnTo>
                  <a:lnTo>
                    <a:pt x="3492468" y="869664"/>
                  </a:lnTo>
                  <a:lnTo>
                    <a:pt x="3470386" y="884554"/>
                  </a:lnTo>
                  <a:lnTo>
                    <a:pt x="3443351" y="890015"/>
                  </a:lnTo>
                  <a:lnTo>
                    <a:pt x="69494" y="890015"/>
                  </a:lnTo>
                  <a:lnTo>
                    <a:pt x="42444" y="884554"/>
                  </a:lnTo>
                  <a:lnTo>
                    <a:pt x="20354" y="869664"/>
                  </a:lnTo>
                  <a:lnTo>
                    <a:pt x="5461" y="847582"/>
                  </a:lnTo>
                  <a:lnTo>
                    <a:pt x="0" y="820546"/>
                  </a:lnTo>
                  <a:lnTo>
                    <a:pt x="0" y="69468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3119" y="2509210"/>
            <a:ext cx="140208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45" dirty="0">
                <a:solidFill>
                  <a:srgbClr val="272424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5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30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29684" y="2511551"/>
            <a:ext cx="3533140" cy="909955"/>
            <a:chOff x="4329684" y="2511551"/>
            <a:chExt cx="3533140" cy="909955"/>
          </a:xfrm>
        </p:grpSpPr>
        <p:sp>
          <p:nvSpPr>
            <p:cNvPr id="10" name="object 10"/>
            <p:cNvSpPr/>
            <p:nvPr/>
          </p:nvSpPr>
          <p:spPr>
            <a:xfrm>
              <a:off x="4339590" y="2521457"/>
              <a:ext cx="3512820" cy="890269"/>
            </a:xfrm>
            <a:custGeom>
              <a:avLst/>
              <a:gdLst/>
              <a:ahLst/>
              <a:cxnLst/>
              <a:rect l="l" t="t" r="r" b="b"/>
              <a:pathLst>
                <a:path w="3512820" h="890270">
                  <a:moveTo>
                    <a:pt x="3443351" y="0"/>
                  </a:moveTo>
                  <a:lnTo>
                    <a:pt x="69469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820546"/>
                  </a:lnTo>
                  <a:lnTo>
                    <a:pt x="5461" y="847582"/>
                  </a:lnTo>
                  <a:lnTo>
                    <a:pt x="20351" y="869664"/>
                  </a:lnTo>
                  <a:lnTo>
                    <a:pt x="42433" y="884554"/>
                  </a:lnTo>
                  <a:lnTo>
                    <a:pt x="69469" y="890015"/>
                  </a:lnTo>
                  <a:lnTo>
                    <a:pt x="3443351" y="890015"/>
                  </a:lnTo>
                  <a:lnTo>
                    <a:pt x="3470386" y="884554"/>
                  </a:lnTo>
                  <a:lnTo>
                    <a:pt x="3492468" y="869664"/>
                  </a:lnTo>
                  <a:lnTo>
                    <a:pt x="3507359" y="847582"/>
                  </a:lnTo>
                  <a:lnTo>
                    <a:pt x="3512819" y="820546"/>
                  </a:lnTo>
                  <a:lnTo>
                    <a:pt x="3512819" y="69468"/>
                  </a:lnTo>
                  <a:lnTo>
                    <a:pt x="3507359" y="42433"/>
                  </a:lnTo>
                  <a:lnTo>
                    <a:pt x="3492468" y="20351"/>
                  </a:lnTo>
                  <a:lnTo>
                    <a:pt x="3470386" y="5461"/>
                  </a:lnTo>
                  <a:lnTo>
                    <a:pt x="3443351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39590" y="2521457"/>
              <a:ext cx="3512820" cy="890269"/>
            </a:xfrm>
            <a:custGeom>
              <a:avLst/>
              <a:gdLst/>
              <a:ahLst/>
              <a:cxnLst/>
              <a:rect l="l" t="t" r="r" b="b"/>
              <a:pathLst>
                <a:path w="3512820" h="890270">
                  <a:moveTo>
                    <a:pt x="0" y="69468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9" y="0"/>
                  </a:lnTo>
                  <a:lnTo>
                    <a:pt x="3443351" y="0"/>
                  </a:lnTo>
                  <a:lnTo>
                    <a:pt x="3470386" y="5461"/>
                  </a:lnTo>
                  <a:lnTo>
                    <a:pt x="3492468" y="20351"/>
                  </a:lnTo>
                  <a:lnTo>
                    <a:pt x="3507359" y="42433"/>
                  </a:lnTo>
                  <a:lnTo>
                    <a:pt x="3512819" y="69468"/>
                  </a:lnTo>
                  <a:lnTo>
                    <a:pt x="3512819" y="820546"/>
                  </a:lnTo>
                  <a:lnTo>
                    <a:pt x="3507359" y="847582"/>
                  </a:lnTo>
                  <a:lnTo>
                    <a:pt x="3492468" y="869664"/>
                  </a:lnTo>
                  <a:lnTo>
                    <a:pt x="3470386" y="884554"/>
                  </a:lnTo>
                  <a:lnTo>
                    <a:pt x="3443351" y="890015"/>
                  </a:lnTo>
                  <a:lnTo>
                    <a:pt x="69469" y="890015"/>
                  </a:lnTo>
                  <a:lnTo>
                    <a:pt x="42433" y="884554"/>
                  </a:lnTo>
                  <a:lnTo>
                    <a:pt x="20351" y="869664"/>
                  </a:lnTo>
                  <a:lnTo>
                    <a:pt x="5461" y="847582"/>
                  </a:lnTo>
                  <a:lnTo>
                    <a:pt x="0" y="820546"/>
                  </a:lnTo>
                  <a:lnTo>
                    <a:pt x="0" y="69468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11802" y="2509210"/>
            <a:ext cx="146367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10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95" dirty="0">
                <a:solidFill>
                  <a:srgbClr val="272424"/>
                </a:solidFill>
                <a:latin typeface="Microsoft Sans Serif"/>
                <a:cs typeface="Microsoft Sans Serif"/>
              </a:rPr>
              <a:t>10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30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08619" y="2511551"/>
            <a:ext cx="3533140" cy="909955"/>
            <a:chOff x="8008619" y="2511551"/>
            <a:chExt cx="3533140" cy="909955"/>
          </a:xfrm>
        </p:grpSpPr>
        <p:sp>
          <p:nvSpPr>
            <p:cNvPr id="14" name="object 14"/>
            <p:cNvSpPr/>
            <p:nvPr/>
          </p:nvSpPr>
          <p:spPr>
            <a:xfrm>
              <a:off x="8018525" y="2521457"/>
              <a:ext cx="3512820" cy="890269"/>
            </a:xfrm>
            <a:custGeom>
              <a:avLst/>
              <a:gdLst/>
              <a:ahLst/>
              <a:cxnLst/>
              <a:rect l="l" t="t" r="r" b="b"/>
              <a:pathLst>
                <a:path w="3512820" h="890270">
                  <a:moveTo>
                    <a:pt x="3443351" y="0"/>
                  </a:moveTo>
                  <a:lnTo>
                    <a:pt x="69469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0" y="42433"/>
                  </a:lnTo>
                  <a:lnTo>
                    <a:pt x="0" y="69468"/>
                  </a:lnTo>
                  <a:lnTo>
                    <a:pt x="0" y="820546"/>
                  </a:lnTo>
                  <a:lnTo>
                    <a:pt x="5461" y="847582"/>
                  </a:lnTo>
                  <a:lnTo>
                    <a:pt x="20351" y="869664"/>
                  </a:lnTo>
                  <a:lnTo>
                    <a:pt x="42433" y="884554"/>
                  </a:lnTo>
                  <a:lnTo>
                    <a:pt x="69469" y="890015"/>
                  </a:lnTo>
                  <a:lnTo>
                    <a:pt x="3443351" y="890015"/>
                  </a:lnTo>
                  <a:lnTo>
                    <a:pt x="3470386" y="884554"/>
                  </a:lnTo>
                  <a:lnTo>
                    <a:pt x="3492468" y="869664"/>
                  </a:lnTo>
                  <a:lnTo>
                    <a:pt x="3507358" y="847582"/>
                  </a:lnTo>
                  <a:lnTo>
                    <a:pt x="3512820" y="820546"/>
                  </a:lnTo>
                  <a:lnTo>
                    <a:pt x="3512820" y="69468"/>
                  </a:lnTo>
                  <a:lnTo>
                    <a:pt x="3507358" y="42433"/>
                  </a:lnTo>
                  <a:lnTo>
                    <a:pt x="3492468" y="20351"/>
                  </a:lnTo>
                  <a:lnTo>
                    <a:pt x="3470386" y="5461"/>
                  </a:lnTo>
                  <a:lnTo>
                    <a:pt x="3443351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18525" y="2521457"/>
              <a:ext cx="3512820" cy="890269"/>
            </a:xfrm>
            <a:custGeom>
              <a:avLst/>
              <a:gdLst/>
              <a:ahLst/>
              <a:cxnLst/>
              <a:rect l="l" t="t" r="r" b="b"/>
              <a:pathLst>
                <a:path w="3512820" h="890270">
                  <a:moveTo>
                    <a:pt x="0" y="69468"/>
                  </a:moveTo>
                  <a:lnTo>
                    <a:pt x="5460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9" y="0"/>
                  </a:lnTo>
                  <a:lnTo>
                    <a:pt x="3443351" y="0"/>
                  </a:lnTo>
                  <a:lnTo>
                    <a:pt x="3470386" y="5461"/>
                  </a:lnTo>
                  <a:lnTo>
                    <a:pt x="3492468" y="20351"/>
                  </a:lnTo>
                  <a:lnTo>
                    <a:pt x="3507358" y="42433"/>
                  </a:lnTo>
                  <a:lnTo>
                    <a:pt x="3512820" y="69468"/>
                  </a:lnTo>
                  <a:lnTo>
                    <a:pt x="3512820" y="820546"/>
                  </a:lnTo>
                  <a:lnTo>
                    <a:pt x="3507358" y="847582"/>
                  </a:lnTo>
                  <a:lnTo>
                    <a:pt x="3492468" y="869664"/>
                  </a:lnTo>
                  <a:lnTo>
                    <a:pt x="3470386" y="884554"/>
                  </a:lnTo>
                  <a:lnTo>
                    <a:pt x="3443351" y="890015"/>
                  </a:lnTo>
                  <a:lnTo>
                    <a:pt x="69469" y="890015"/>
                  </a:lnTo>
                  <a:lnTo>
                    <a:pt x="42433" y="884554"/>
                  </a:lnTo>
                  <a:lnTo>
                    <a:pt x="20351" y="869664"/>
                  </a:lnTo>
                  <a:lnTo>
                    <a:pt x="5461" y="847582"/>
                  </a:lnTo>
                  <a:lnTo>
                    <a:pt x="0" y="820546"/>
                  </a:lnTo>
                  <a:lnTo>
                    <a:pt x="0" y="69468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90103" y="2509210"/>
            <a:ext cx="145097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145" dirty="0">
                <a:solidFill>
                  <a:srgbClr val="272424"/>
                </a:solidFill>
                <a:latin typeface="Microsoft Sans Serif"/>
                <a:cs typeface="Microsoft Sans Serif"/>
              </a:rPr>
              <a:t>15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30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52272" y="3566159"/>
            <a:ext cx="5372100" cy="909955"/>
            <a:chOff x="652272" y="3566159"/>
            <a:chExt cx="5372100" cy="909955"/>
          </a:xfrm>
        </p:grpSpPr>
        <p:sp>
          <p:nvSpPr>
            <p:cNvPr id="18" name="object 18"/>
            <p:cNvSpPr/>
            <p:nvPr/>
          </p:nvSpPr>
          <p:spPr>
            <a:xfrm>
              <a:off x="662178" y="3576065"/>
              <a:ext cx="5352415" cy="890269"/>
            </a:xfrm>
            <a:custGeom>
              <a:avLst/>
              <a:gdLst/>
              <a:ahLst/>
              <a:cxnLst/>
              <a:rect l="l" t="t" r="r" b="b"/>
              <a:pathLst>
                <a:path w="5352415" h="890270">
                  <a:moveTo>
                    <a:pt x="5282819" y="0"/>
                  </a:moveTo>
                  <a:lnTo>
                    <a:pt x="69494" y="0"/>
                  </a:lnTo>
                  <a:lnTo>
                    <a:pt x="42444" y="5461"/>
                  </a:lnTo>
                  <a:lnTo>
                    <a:pt x="20354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820547"/>
                  </a:lnTo>
                  <a:lnTo>
                    <a:pt x="5461" y="847582"/>
                  </a:lnTo>
                  <a:lnTo>
                    <a:pt x="20354" y="869664"/>
                  </a:lnTo>
                  <a:lnTo>
                    <a:pt x="42444" y="884555"/>
                  </a:lnTo>
                  <a:lnTo>
                    <a:pt x="69494" y="890016"/>
                  </a:lnTo>
                  <a:lnTo>
                    <a:pt x="5282819" y="890016"/>
                  </a:lnTo>
                  <a:lnTo>
                    <a:pt x="5309854" y="884555"/>
                  </a:lnTo>
                  <a:lnTo>
                    <a:pt x="5331936" y="869664"/>
                  </a:lnTo>
                  <a:lnTo>
                    <a:pt x="5346827" y="847582"/>
                  </a:lnTo>
                  <a:lnTo>
                    <a:pt x="5352288" y="820547"/>
                  </a:lnTo>
                  <a:lnTo>
                    <a:pt x="5352288" y="69469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2178" y="3576065"/>
              <a:ext cx="5352415" cy="890269"/>
            </a:xfrm>
            <a:custGeom>
              <a:avLst/>
              <a:gdLst/>
              <a:ahLst/>
              <a:cxnLst/>
              <a:rect l="l" t="t" r="r" b="b"/>
              <a:pathLst>
                <a:path w="5352415" h="890270">
                  <a:moveTo>
                    <a:pt x="0" y="69469"/>
                  </a:moveTo>
                  <a:lnTo>
                    <a:pt x="5461" y="42433"/>
                  </a:lnTo>
                  <a:lnTo>
                    <a:pt x="20354" y="20351"/>
                  </a:lnTo>
                  <a:lnTo>
                    <a:pt x="42444" y="5461"/>
                  </a:lnTo>
                  <a:lnTo>
                    <a:pt x="69494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8" y="69469"/>
                  </a:lnTo>
                  <a:lnTo>
                    <a:pt x="5352288" y="820547"/>
                  </a:lnTo>
                  <a:lnTo>
                    <a:pt x="5346827" y="847582"/>
                  </a:lnTo>
                  <a:lnTo>
                    <a:pt x="5331936" y="869664"/>
                  </a:lnTo>
                  <a:lnTo>
                    <a:pt x="5309854" y="884555"/>
                  </a:lnTo>
                  <a:lnTo>
                    <a:pt x="5282819" y="890016"/>
                  </a:lnTo>
                  <a:lnTo>
                    <a:pt x="69494" y="890016"/>
                  </a:lnTo>
                  <a:lnTo>
                    <a:pt x="42444" y="884555"/>
                  </a:lnTo>
                  <a:lnTo>
                    <a:pt x="20354" y="869664"/>
                  </a:lnTo>
                  <a:lnTo>
                    <a:pt x="5461" y="847582"/>
                  </a:lnTo>
                  <a:lnTo>
                    <a:pt x="0" y="820547"/>
                  </a:lnTo>
                  <a:lnTo>
                    <a:pt x="0" y="69469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33119" y="3564453"/>
            <a:ext cx="150939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50" dirty="0">
                <a:solidFill>
                  <a:srgbClr val="272424"/>
                </a:solidFill>
                <a:latin typeface="Arial"/>
                <a:cs typeface="Arial"/>
              </a:rPr>
              <a:t>20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20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30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69152" y="3566159"/>
            <a:ext cx="5372100" cy="909955"/>
            <a:chOff x="6169152" y="3566159"/>
            <a:chExt cx="5372100" cy="909955"/>
          </a:xfrm>
        </p:grpSpPr>
        <p:sp>
          <p:nvSpPr>
            <p:cNvPr id="22" name="object 22"/>
            <p:cNvSpPr/>
            <p:nvPr/>
          </p:nvSpPr>
          <p:spPr>
            <a:xfrm>
              <a:off x="6179058" y="3576065"/>
              <a:ext cx="5352415" cy="890269"/>
            </a:xfrm>
            <a:custGeom>
              <a:avLst/>
              <a:gdLst/>
              <a:ahLst/>
              <a:cxnLst/>
              <a:rect l="l" t="t" r="r" b="b"/>
              <a:pathLst>
                <a:path w="5352415" h="890270">
                  <a:moveTo>
                    <a:pt x="5282819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820547"/>
                  </a:lnTo>
                  <a:lnTo>
                    <a:pt x="5461" y="847582"/>
                  </a:lnTo>
                  <a:lnTo>
                    <a:pt x="20351" y="869664"/>
                  </a:lnTo>
                  <a:lnTo>
                    <a:pt x="42433" y="884555"/>
                  </a:lnTo>
                  <a:lnTo>
                    <a:pt x="69468" y="890016"/>
                  </a:lnTo>
                  <a:lnTo>
                    <a:pt x="5282819" y="890016"/>
                  </a:lnTo>
                  <a:lnTo>
                    <a:pt x="5309854" y="884555"/>
                  </a:lnTo>
                  <a:lnTo>
                    <a:pt x="5331936" y="869664"/>
                  </a:lnTo>
                  <a:lnTo>
                    <a:pt x="5346826" y="847582"/>
                  </a:lnTo>
                  <a:lnTo>
                    <a:pt x="5352288" y="820547"/>
                  </a:lnTo>
                  <a:lnTo>
                    <a:pt x="5352288" y="69469"/>
                  </a:lnTo>
                  <a:lnTo>
                    <a:pt x="5346826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79058" y="3576065"/>
              <a:ext cx="5352415" cy="890269"/>
            </a:xfrm>
            <a:custGeom>
              <a:avLst/>
              <a:gdLst/>
              <a:ahLst/>
              <a:cxnLst/>
              <a:rect l="l" t="t" r="r" b="b"/>
              <a:pathLst>
                <a:path w="5352415" h="890270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6" y="42433"/>
                  </a:lnTo>
                  <a:lnTo>
                    <a:pt x="5352288" y="69469"/>
                  </a:lnTo>
                  <a:lnTo>
                    <a:pt x="5352288" y="820547"/>
                  </a:lnTo>
                  <a:lnTo>
                    <a:pt x="5346826" y="847582"/>
                  </a:lnTo>
                  <a:lnTo>
                    <a:pt x="5331936" y="869664"/>
                  </a:lnTo>
                  <a:lnTo>
                    <a:pt x="5309854" y="884555"/>
                  </a:lnTo>
                  <a:lnTo>
                    <a:pt x="5282819" y="890016"/>
                  </a:lnTo>
                  <a:lnTo>
                    <a:pt x="69468" y="890016"/>
                  </a:lnTo>
                  <a:lnTo>
                    <a:pt x="42433" y="884555"/>
                  </a:lnTo>
                  <a:lnTo>
                    <a:pt x="20351" y="869664"/>
                  </a:lnTo>
                  <a:lnTo>
                    <a:pt x="5461" y="847582"/>
                  </a:lnTo>
                  <a:lnTo>
                    <a:pt x="0" y="820547"/>
                  </a:lnTo>
                  <a:lnTo>
                    <a:pt x="0" y="69469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350889" y="3564453"/>
            <a:ext cx="1603375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25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25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30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End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716" y="4635246"/>
            <a:ext cx="10798810" cy="8394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0" algn="ctr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Element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105" dirty="0">
                <a:solidFill>
                  <a:srgbClr val="272424"/>
                </a:solidFill>
                <a:latin typeface="Arial"/>
                <a:cs typeface="Arial"/>
              </a:rPr>
              <a:t>30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not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found.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elements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have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been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checked.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represents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60" dirty="0">
                <a:solidFill>
                  <a:srgbClr val="272424"/>
                </a:solidFill>
                <a:latin typeface="Arial"/>
                <a:cs typeface="Arial"/>
              </a:rPr>
              <a:t>worst-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case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situation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must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examine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entire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before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concluding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that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does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exist.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477774"/>
            <a:ext cx="6604634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65" dirty="0"/>
              <a:t>Sequential</a:t>
            </a:r>
            <a:r>
              <a:rPr sz="2750" spc="-190" dirty="0"/>
              <a:t> </a:t>
            </a:r>
            <a:r>
              <a:rPr sz="2750" spc="-70" dirty="0"/>
              <a:t>Search</a:t>
            </a:r>
            <a:r>
              <a:rPr sz="2750" spc="-245" dirty="0"/>
              <a:t> </a:t>
            </a:r>
            <a:r>
              <a:rPr sz="2750" spc="-275" dirty="0"/>
              <a:t>—</a:t>
            </a:r>
            <a:r>
              <a:rPr sz="2750" spc="-204" dirty="0"/>
              <a:t> </a:t>
            </a:r>
            <a:r>
              <a:rPr sz="2750" spc="-40" dirty="0"/>
              <a:t>Complexity</a:t>
            </a:r>
            <a:r>
              <a:rPr sz="2750" spc="-190" dirty="0"/>
              <a:t> </a:t>
            </a:r>
            <a:r>
              <a:rPr sz="2750" spc="-70" dirty="0"/>
              <a:t>Analysis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658368" y="1165860"/>
            <a:ext cx="5381625" cy="1054735"/>
            <a:chOff x="658368" y="1165860"/>
            <a:chExt cx="5381625" cy="1054735"/>
          </a:xfrm>
        </p:grpSpPr>
        <p:sp>
          <p:nvSpPr>
            <p:cNvPr id="4" name="object 4"/>
            <p:cNvSpPr/>
            <p:nvPr/>
          </p:nvSpPr>
          <p:spPr>
            <a:xfrm>
              <a:off x="661416" y="1168908"/>
              <a:ext cx="5375275" cy="1049020"/>
            </a:xfrm>
            <a:custGeom>
              <a:avLst/>
              <a:gdLst/>
              <a:ahLst/>
              <a:cxnLst/>
              <a:rect l="l" t="t" r="r" b="b"/>
              <a:pathLst>
                <a:path w="5375275" h="1049020">
                  <a:moveTo>
                    <a:pt x="5316093" y="0"/>
                  </a:moveTo>
                  <a:lnTo>
                    <a:pt x="59067" y="0"/>
                  </a:lnTo>
                  <a:lnTo>
                    <a:pt x="36074" y="4637"/>
                  </a:lnTo>
                  <a:lnTo>
                    <a:pt x="17298" y="17287"/>
                  </a:lnTo>
                  <a:lnTo>
                    <a:pt x="4641" y="36058"/>
                  </a:lnTo>
                  <a:lnTo>
                    <a:pt x="0" y="59054"/>
                  </a:lnTo>
                  <a:lnTo>
                    <a:pt x="0" y="989456"/>
                  </a:lnTo>
                  <a:lnTo>
                    <a:pt x="4641" y="1012453"/>
                  </a:lnTo>
                  <a:lnTo>
                    <a:pt x="17298" y="1031224"/>
                  </a:lnTo>
                  <a:lnTo>
                    <a:pt x="36074" y="1043874"/>
                  </a:lnTo>
                  <a:lnTo>
                    <a:pt x="59067" y="1048512"/>
                  </a:lnTo>
                  <a:lnTo>
                    <a:pt x="5316093" y="1048512"/>
                  </a:lnTo>
                  <a:lnTo>
                    <a:pt x="5339089" y="1043874"/>
                  </a:lnTo>
                  <a:lnTo>
                    <a:pt x="5357860" y="1031224"/>
                  </a:lnTo>
                  <a:lnTo>
                    <a:pt x="5370510" y="1012453"/>
                  </a:lnTo>
                  <a:lnTo>
                    <a:pt x="5375148" y="989456"/>
                  </a:lnTo>
                  <a:lnTo>
                    <a:pt x="5375148" y="59054"/>
                  </a:lnTo>
                  <a:lnTo>
                    <a:pt x="5370510" y="36058"/>
                  </a:lnTo>
                  <a:lnTo>
                    <a:pt x="5357860" y="17287"/>
                  </a:lnTo>
                  <a:lnTo>
                    <a:pt x="5339089" y="4637"/>
                  </a:lnTo>
                  <a:lnTo>
                    <a:pt x="5316093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1416" y="1168908"/>
              <a:ext cx="5375275" cy="1049020"/>
            </a:xfrm>
            <a:custGeom>
              <a:avLst/>
              <a:gdLst/>
              <a:ahLst/>
              <a:cxnLst/>
              <a:rect l="l" t="t" r="r" b="b"/>
              <a:pathLst>
                <a:path w="5375275" h="1049020">
                  <a:moveTo>
                    <a:pt x="0" y="59054"/>
                  </a:moveTo>
                  <a:lnTo>
                    <a:pt x="4641" y="36058"/>
                  </a:lnTo>
                  <a:lnTo>
                    <a:pt x="17298" y="17287"/>
                  </a:lnTo>
                  <a:lnTo>
                    <a:pt x="36074" y="4637"/>
                  </a:lnTo>
                  <a:lnTo>
                    <a:pt x="59067" y="0"/>
                  </a:lnTo>
                  <a:lnTo>
                    <a:pt x="5316093" y="0"/>
                  </a:lnTo>
                  <a:lnTo>
                    <a:pt x="5339089" y="4637"/>
                  </a:lnTo>
                  <a:lnTo>
                    <a:pt x="5357860" y="17287"/>
                  </a:lnTo>
                  <a:lnTo>
                    <a:pt x="5370510" y="36058"/>
                  </a:lnTo>
                  <a:lnTo>
                    <a:pt x="5375148" y="59054"/>
                  </a:lnTo>
                  <a:lnTo>
                    <a:pt x="5375148" y="989456"/>
                  </a:lnTo>
                  <a:lnTo>
                    <a:pt x="5370510" y="1012453"/>
                  </a:lnTo>
                  <a:lnTo>
                    <a:pt x="5357860" y="1031224"/>
                  </a:lnTo>
                  <a:lnTo>
                    <a:pt x="5339089" y="1043874"/>
                  </a:lnTo>
                  <a:lnTo>
                    <a:pt x="5316093" y="1048512"/>
                  </a:lnTo>
                  <a:lnTo>
                    <a:pt x="59067" y="1048512"/>
                  </a:lnTo>
                  <a:lnTo>
                    <a:pt x="36074" y="1043874"/>
                  </a:lnTo>
                  <a:lnTo>
                    <a:pt x="17298" y="1031224"/>
                  </a:lnTo>
                  <a:lnTo>
                    <a:pt x="4641" y="1012453"/>
                  </a:lnTo>
                  <a:lnTo>
                    <a:pt x="0" y="989456"/>
                  </a:lnTo>
                  <a:lnTo>
                    <a:pt x="0" y="59054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95629" y="1169697"/>
            <a:ext cx="2424430" cy="89852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350" b="1" spc="-45" dirty="0">
                <a:solidFill>
                  <a:srgbClr val="272424"/>
                </a:solidFill>
                <a:latin typeface="Arial"/>
                <a:cs typeface="Arial"/>
              </a:rPr>
              <a:t>Best</a:t>
            </a:r>
            <a:r>
              <a:rPr sz="135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35" dirty="0">
                <a:solidFill>
                  <a:srgbClr val="272424"/>
                </a:solidFill>
                <a:latin typeface="Arial"/>
                <a:cs typeface="Arial"/>
              </a:rPr>
              <a:t>Case</a:t>
            </a:r>
            <a:r>
              <a:rPr sz="135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135" dirty="0">
                <a:solidFill>
                  <a:srgbClr val="272424"/>
                </a:solidFill>
                <a:latin typeface="Arial"/>
                <a:cs typeface="Arial"/>
              </a:rPr>
              <a:t>—</a:t>
            </a:r>
            <a:r>
              <a:rPr sz="135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272424"/>
                </a:solidFill>
                <a:latin typeface="Arial"/>
                <a:cs typeface="Arial"/>
              </a:rPr>
              <a:t>O(1)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80"/>
              </a:spcBef>
            </a:pP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1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1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1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very</a:t>
            </a:r>
            <a:r>
              <a:rPr sz="11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1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position. 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Example: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 [40, </a:t>
            </a:r>
            <a:r>
              <a:rPr sz="1100" spc="-95" dirty="0">
                <a:solidFill>
                  <a:srgbClr val="272424"/>
                </a:solidFill>
                <a:latin typeface="Microsoft Sans Serif"/>
                <a:cs typeface="Microsoft Sans Serif"/>
              </a:rPr>
              <a:t>10,</a:t>
            </a:r>
            <a:r>
              <a:rPr sz="11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20,</a:t>
            </a:r>
            <a:r>
              <a:rPr sz="11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30],</a:t>
            </a:r>
            <a:r>
              <a:rPr sz="11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= 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40.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1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1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needed.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52388" y="1165860"/>
            <a:ext cx="5381625" cy="1054735"/>
            <a:chOff x="6152388" y="1165860"/>
            <a:chExt cx="5381625" cy="1054735"/>
          </a:xfrm>
        </p:grpSpPr>
        <p:sp>
          <p:nvSpPr>
            <p:cNvPr id="8" name="object 8"/>
            <p:cNvSpPr/>
            <p:nvPr/>
          </p:nvSpPr>
          <p:spPr>
            <a:xfrm>
              <a:off x="6155436" y="1168908"/>
              <a:ext cx="5375275" cy="1049020"/>
            </a:xfrm>
            <a:custGeom>
              <a:avLst/>
              <a:gdLst/>
              <a:ahLst/>
              <a:cxnLst/>
              <a:rect l="l" t="t" r="r" b="b"/>
              <a:pathLst>
                <a:path w="5375275" h="1049020">
                  <a:moveTo>
                    <a:pt x="5316093" y="0"/>
                  </a:moveTo>
                  <a:lnTo>
                    <a:pt x="59054" y="0"/>
                  </a:lnTo>
                  <a:lnTo>
                    <a:pt x="36058" y="4637"/>
                  </a:lnTo>
                  <a:lnTo>
                    <a:pt x="17287" y="17287"/>
                  </a:lnTo>
                  <a:lnTo>
                    <a:pt x="4637" y="36058"/>
                  </a:lnTo>
                  <a:lnTo>
                    <a:pt x="0" y="59054"/>
                  </a:lnTo>
                  <a:lnTo>
                    <a:pt x="0" y="989456"/>
                  </a:lnTo>
                  <a:lnTo>
                    <a:pt x="4637" y="1012453"/>
                  </a:lnTo>
                  <a:lnTo>
                    <a:pt x="17287" y="1031224"/>
                  </a:lnTo>
                  <a:lnTo>
                    <a:pt x="36058" y="1043874"/>
                  </a:lnTo>
                  <a:lnTo>
                    <a:pt x="59054" y="1048512"/>
                  </a:lnTo>
                  <a:lnTo>
                    <a:pt x="5316093" y="1048512"/>
                  </a:lnTo>
                  <a:lnTo>
                    <a:pt x="5339089" y="1043874"/>
                  </a:lnTo>
                  <a:lnTo>
                    <a:pt x="5357860" y="1031224"/>
                  </a:lnTo>
                  <a:lnTo>
                    <a:pt x="5370510" y="1012453"/>
                  </a:lnTo>
                  <a:lnTo>
                    <a:pt x="5375147" y="989456"/>
                  </a:lnTo>
                  <a:lnTo>
                    <a:pt x="5375147" y="59054"/>
                  </a:lnTo>
                  <a:lnTo>
                    <a:pt x="5370510" y="36058"/>
                  </a:lnTo>
                  <a:lnTo>
                    <a:pt x="5357860" y="17287"/>
                  </a:lnTo>
                  <a:lnTo>
                    <a:pt x="5339089" y="4637"/>
                  </a:lnTo>
                  <a:lnTo>
                    <a:pt x="5316093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55436" y="1168908"/>
              <a:ext cx="5375275" cy="1049020"/>
            </a:xfrm>
            <a:custGeom>
              <a:avLst/>
              <a:gdLst/>
              <a:ahLst/>
              <a:cxnLst/>
              <a:rect l="l" t="t" r="r" b="b"/>
              <a:pathLst>
                <a:path w="5375275" h="1049020">
                  <a:moveTo>
                    <a:pt x="0" y="59054"/>
                  </a:moveTo>
                  <a:lnTo>
                    <a:pt x="4637" y="36058"/>
                  </a:lnTo>
                  <a:lnTo>
                    <a:pt x="17287" y="17287"/>
                  </a:lnTo>
                  <a:lnTo>
                    <a:pt x="36058" y="4637"/>
                  </a:lnTo>
                  <a:lnTo>
                    <a:pt x="59054" y="0"/>
                  </a:lnTo>
                  <a:lnTo>
                    <a:pt x="5316093" y="0"/>
                  </a:lnTo>
                  <a:lnTo>
                    <a:pt x="5339089" y="4637"/>
                  </a:lnTo>
                  <a:lnTo>
                    <a:pt x="5357860" y="17287"/>
                  </a:lnTo>
                  <a:lnTo>
                    <a:pt x="5370510" y="36058"/>
                  </a:lnTo>
                  <a:lnTo>
                    <a:pt x="5375147" y="59054"/>
                  </a:lnTo>
                  <a:lnTo>
                    <a:pt x="5375147" y="989456"/>
                  </a:lnTo>
                  <a:lnTo>
                    <a:pt x="5370510" y="1012453"/>
                  </a:lnTo>
                  <a:lnTo>
                    <a:pt x="5357860" y="1031224"/>
                  </a:lnTo>
                  <a:lnTo>
                    <a:pt x="5339089" y="1043874"/>
                  </a:lnTo>
                  <a:lnTo>
                    <a:pt x="5316093" y="1048512"/>
                  </a:lnTo>
                  <a:lnTo>
                    <a:pt x="59054" y="1048512"/>
                  </a:lnTo>
                  <a:lnTo>
                    <a:pt x="36058" y="1043874"/>
                  </a:lnTo>
                  <a:lnTo>
                    <a:pt x="17287" y="1031224"/>
                  </a:lnTo>
                  <a:lnTo>
                    <a:pt x="4637" y="1012453"/>
                  </a:lnTo>
                  <a:lnTo>
                    <a:pt x="0" y="989456"/>
                  </a:lnTo>
                  <a:lnTo>
                    <a:pt x="0" y="59054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290564" y="1169697"/>
            <a:ext cx="3250565" cy="73088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350" b="1" spc="-20" dirty="0">
                <a:solidFill>
                  <a:srgbClr val="272424"/>
                </a:solidFill>
                <a:latin typeface="Arial"/>
                <a:cs typeface="Arial"/>
              </a:rPr>
              <a:t>Worst</a:t>
            </a:r>
            <a:r>
              <a:rPr sz="135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35" dirty="0">
                <a:solidFill>
                  <a:srgbClr val="272424"/>
                </a:solidFill>
                <a:latin typeface="Arial"/>
                <a:cs typeface="Arial"/>
              </a:rPr>
              <a:t>Case</a:t>
            </a:r>
            <a:r>
              <a:rPr sz="135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135" dirty="0">
                <a:solidFill>
                  <a:srgbClr val="272424"/>
                </a:solidFill>
                <a:latin typeface="Arial"/>
                <a:cs typeface="Arial"/>
              </a:rPr>
              <a:t>—</a:t>
            </a:r>
            <a:r>
              <a:rPr sz="135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272424"/>
                </a:solidFill>
                <a:latin typeface="Arial"/>
                <a:cs typeface="Arial"/>
              </a:rPr>
              <a:t>O(n)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80"/>
              </a:spcBef>
            </a:pP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1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1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last</a:t>
            </a:r>
            <a:r>
              <a:rPr sz="11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1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1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present</a:t>
            </a:r>
            <a:r>
              <a:rPr sz="11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1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all.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1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must</a:t>
            </a:r>
            <a:r>
              <a:rPr sz="11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</a:t>
            </a:r>
            <a:r>
              <a:rPr sz="11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1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</a:t>
            </a:r>
            <a:r>
              <a:rPr sz="11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1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8368" y="2333244"/>
            <a:ext cx="5381625" cy="885825"/>
            <a:chOff x="658368" y="2333244"/>
            <a:chExt cx="5381625" cy="885825"/>
          </a:xfrm>
        </p:grpSpPr>
        <p:sp>
          <p:nvSpPr>
            <p:cNvPr id="12" name="object 12"/>
            <p:cNvSpPr/>
            <p:nvPr/>
          </p:nvSpPr>
          <p:spPr>
            <a:xfrm>
              <a:off x="661416" y="2336292"/>
              <a:ext cx="5375275" cy="879475"/>
            </a:xfrm>
            <a:custGeom>
              <a:avLst/>
              <a:gdLst/>
              <a:ahLst/>
              <a:cxnLst/>
              <a:rect l="l" t="t" r="r" b="b"/>
              <a:pathLst>
                <a:path w="5375275" h="879475">
                  <a:moveTo>
                    <a:pt x="5316093" y="0"/>
                  </a:moveTo>
                  <a:lnTo>
                    <a:pt x="59067" y="0"/>
                  </a:lnTo>
                  <a:lnTo>
                    <a:pt x="36074" y="4637"/>
                  </a:lnTo>
                  <a:lnTo>
                    <a:pt x="17298" y="17287"/>
                  </a:lnTo>
                  <a:lnTo>
                    <a:pt x="4641" y="36058"/>
                  </a:lnTo>
                  <a:lnTo>
                    <a:pt x="0" y="59055"/>
                  </a:lnTo>
                  <a:lnTo>
                    <a:pt x="0" y="820293"/>
                  </a:lnTo>
                  <a:lnTo>
                    <a:pt x="4641" y="843289"/>
                  </a:lnTo>
                  <a:lnTo>
                    <a:pt x="17298" y="862060"/>
                  </a:lnTo>
                  <a:lnTo>
                    <a:pt x="36074" y="874710"/>
                  </a:lnTo>
                  <a:lnTo>
                    <a:pt x="59067" y="879348"/>
                  </a:lnTo>
                  <a:lnTo>
                    <a:pt x="5316093" y="879348"/>
                  </a:lnTo>
                  <a:lnTo>
                    <a:pt x="5339089" y="874710"/>
                  </a:lnTo>
                  <a:lnTo>
                    <a:pt x="5357860" y="862060"/>
                  </a:lnTo>
                  <a:lnTo>
                    <a:pt x="5370510" y="843289"/>
                  </a:lnTo>
                  <a:lnTo>
                    <a:pt x="5375148" y="820293"/>
                  </a:lnTo>
                  <a:lnTo>
                    <a:pt x="5375148" y="59055"/>
                  </a:lnTo>
                  <a:lnTo>
                    <a:pt x="5370510" y="36058"/>
                  </a:lnTo>
                  <a:lnTo>
                    <a:pt x="5357860" y="17287"/>
                  </a:lnTo>
                  <a:lnTo>
                    <a:pt x="5339089" y="4637"/>
                  </a:lnTo>
                  <a:lnTo>
                    <a:pt x="5316093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1416" y="2336292"/>
              <a:ext cx="5375275" cy="879475"/>
            </a:xfrm>
            <a:custGeom>
              <a:avLst/>
              <a:gdLst/>
              <a:ahLst/>
              <a:cxnLst/>
              <a:rect l="l" t="t" r="r" b="b"/>
              <a:pathLst>
                <a:path w="5375275" h="879475">
                  <a:moveTo>
                    <a:pt x="0" y="59055"/>
                  </a:moveTo>
                  <a:lnTo>
                    <a:pt x="4641" y="36058"/>
                  </a:lnTo>
                  <a:lnTo>
                    <a:pt x="17298" y="17287"/>
                  </a:lnTo>
                  <a:lnTo>
                    <a:pt x="36074" y="4637"/>
                  </a:lnTo>
                  <a:lnTo>
                    <a:pt x="59067" y="0"/>
                  </a:lnTo>
                  <a:lnTo>
                    <a:pt x="5316093" y="0"/>
                  </a:lnTo>
                  <a:lnTo>
                    <a:pt x="5339089" y="4637"/>
                  </a:lnTo>
                  <a:lnTo>
                    <a:pt x="5357860" y="17287"/>
                  </a:lnTo>
                  <a:lnTo>
                    <a:pt x="5370510" y="36058"/>
                  </a:lnTo>
                  <a:lnTo>
                    <a:pt x="5375148" y="59055"/>
                  </a:lnTo>
                  <a:lnTo>
                    <a:pt x="5375148" y="820293"/>
                  </a:lnTo>
                  <a:lnTo>
                    <a:pt x="5370510" y="843289"/>
                  </a:lnTo>
                  <a:lnTo>
                    <a:pt x="5357860" y="862060"/>
                  </a:lnTo>
                  <a:lnTo>
                    <a:pt x="5339089" y="874710"/>
                  </a:lnTo>
                  <a:lnTo>
                    <a:pt x="5316093" y="879348"/>
                  </a:lnTo>
                  <a:lnTo>
                    <a:pt x="59067" y="879348"/>
                  </a:lnTo>
                  <a:lnTo>
                    <a:pt x="36074" y="874710"/>
                  </a:lnTo>
                  <a:lnTo>
                    <a:pt x="17298" y="862060"/>
                  </a:lnTo>
                  <a:lnTo>
                    <a:pt x="4641" y="843289"/>
                  </a:lnTo>
                  <a:lnTo>
                    <a:pt x="0" y="820293"/>
                  </a:lnTo>
                  <a:lnTo>
                    <a:pt x="0" y="59055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95629" y="2337619"/>
            <a:ext cx="4617085" cy="73025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350" b="1" spc="-40" dirty="0">
                <a:solidFill>
                  <a:srgbClr val="272424"/>
                </a:solidFill>
                <a:latin typeface="Arial"/>
                <a:cs typeface="Arial"/>
              </a:rPr>
              <a:t>Average</a:t>
            </a:r>
            <a:r>
              <a:rPr sz="135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35" dirty="0">
                <a:solidFill>
                  <a:srgbClr val="272424"/>
                </a:solidFill>
                <a:latin typeface="Arial"/>
                <a:cs typeface="Arial"/>
              </a:rPr>
              <a:t>Case</a:t>
            </a:r>
            <a:r>
              <a:rPr sz="135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135" dirty="0">
                <a:solidFill>
                  <a:srgbClr val="272424"/>
                </a:solidFill>
                <a:latin typeface="Arial"/>
                <a:cs typeface="Arial"/>
              </a:rPr>
              <a:t>—</a:t>
            </a:r>
            <a:r>
              <a:rPr sz="135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272424"/>
                </a:solidFill>
                <a:latin typeface="Arial"/>
                <a:cs typeface="Arial"/>
              </a:rPr>
              <a:t>O(n)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On</a:t>
            </a:r>
            <a:r>
              <a:rPr sz="11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average,</a:t>
            </a:r>
            <a:r>
              <a:rPr sz="11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target</a:t>
            </a:r>
            <a:r>
              <a:rPr sz="11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1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1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1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somewhere</a:t>
            </a:r>
            <a:r>
              <a:rPr sz="11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1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middle,</a:t>
            </a:r>
            <a:r>
              <a:rPr sz="11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requiring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approximately</a:t>
            </a:r>
            <a:r>
              <a:rPr sz="11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n/2</a:t>
            </a:r>
            <a:r>
              <a:rPr sz="11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comparisons,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which</a:t>
            </a:r>
            <a:r>
              <a:rPr sz="11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simplifies</a:t>
            </a:r>
            <a:r>
              <a:rPr sz="11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1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O(n).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52388" y="2333244"/>
            <a:ext cx="5381625" cy="885825"/>
            <a:chOff x="6152388" y="2333244"/>
            <a:chExt cx="5381625" cy="885825"/>
          </a:xfrm>
        </p:grpSpPr>
        <p:sp>
          <p:nvSpPr>
            <p:cNvPr id="16" name="object 16"/>
            <p:cNvSpPr/>
            <p:nvPr/>
          </p:nvSpPr>
          <p:spPr>
            <a:xfrm>
              <a:off x="6155436" y="2336292"/>
              <a:ext cx="5375275" cy="879475"/>
            </a:xfrm>
            <a:custGeom>
              <a:avLst/>
              <a:gdLst/>
              <a:ahLst/>
              <a:cxnLst/>
              <a:rect l="l" t="t" r="r" b="b"/>
              <a:pathLst>
                <a:path w="5375275" h="879475">
                  <a:moveTo>
                    <a:pt x="5316093" y="0"/>
                  </a:moveTo>
                  <a:lnTo>
                    <a:pt x="59054" y="0"/>
                  </a:lnTo>
                  <a:lnTo>
                    <a:pt x="36058" y="4637"/>
                  </a:lnTo>
                  <a:lnTo>
                    <a:pt x="17287" y="17287"/>
                  </a:lnTo>
                  <a:lnTo>
                    <a:pt x="4637" y="36058"/>
                  </a:lnTo>
                  <a:lnTo>
                    <a:pt x="0" y="59055"/>
                  </a:lnTo>
                  <a:lnTo>
                    <a:pt x="0" y="820293"/>
                  </a:lnTo>
                  <a:lnTo>
                    <a:pt x="4637" y="843289"/>
                  </a:lnTo>
                  <a:lnTo>
                    <a:pt x="17287" y="862060"/>
                  </a:lnTo>
                  <a:lnTo>
                    <a:pt x="36058" y="874710"/>
                  </a:lnTo>
                  <a:lnTo>
                    <a:pt x="59054" y="879348"/>
                  </a:lnTo>
                  <a:lnTo>
                    <a:pt x="5316093" y="879348"/>
                  </a:lnTo>
                  <a:lnTo>
                    <a:pt x="5339089" y="874710"/>
                  </a:lnTo>
                  <a:lnTo>
                    <a:pt x="5357860" y="862060"/>
                  </a:lnTo>
                  <a:lnTo>
                    <a:pt x="5370510" y="843289"/>
                  </a:lnTo>
                  <a:lnTo>
                    <a:pt x="5375147" y="820293"/>
                  </a:lnTo>
                  <a:lnTo>
                    <a:pt x="5375147" y="59055"/>
                  </a:lnTo>
                  <a:lnTo>
                    <a:pt x="5370510" y="36058"/>
                  </a:lnTo>
                  <a:lnTo>
                    <a:pt x="5357860" y="17287"/>
                  </a:lnTo>
                  <a:lnTo>
                    <a:pt x="5339089" y="4637"/>
                  </a:lnTo>
                  <a:lnTo>
                    <a:pt x="5316093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55436" y="2336292"/>
              <a:ext cx="5375275" cy="879475"/>
            </a:xfrm>
            <a:custGeom>
              <a:avLst/>
              <a:gdLst/>
              <a:ahLst/>
              <a:cxnLst/>
              <a:rect l="l" t="t" r="r" b="b"/>
              <a:pathLst>
                <a:path w="5375275" h="879475">
                  <a:moveTo>
                    <a:pt x="0" y="59055"/>
                  </a:moveTo>
                  <a:lnTo>
                    <a:pt x="4637" y="36058"/>
                  </a:lnTo>
                  <a:lnTo>
                    <a:pt x="17287" y="17287"/>
                  </a:lnTo>
                  <a:lnTo>
                    <a:pt x="36058" y="4637"/>
                  </a:lnTo>
                  <a:lnTo>
                    <a:pt x="59054" y="0"/>
                  </a:lnTo>
                  <a:lnTo>
                    <a:pt x="5316093" y="0"/>
                  </a:lnTo>
                  <a:lnTo>
                    <a:pt x="5339089" y="4637"/>
                  </a:lnTo>
                  <a:lnTo>
                    <a:pt x="5357860" y="17287"/>
                  </a:lnTo>
                  <a:lnTo>
                    <a:pt x="5370510" y="36058"/>
                  </a:lnTo>
                  <a:lnTo>
                    <a:pt x="5375147" y="59055"/>
                  </a:lnTo>
                  <a:lnTo>
                    <a:pt x="5375147" y="820293"/>
                  </a:lnTo>
                  <a:lnTo>
                    <a:pt x="5370510" y="843289"/>
                  </a:lnTo>
                  <a:lnTo>
                    <a:pt x="5357860" y="862060"/>
                  </a:lnTo>
                  <a:lnTo>
                    <a:pt x="5339089" y="874710"/>
                  </a:lnTo>
                  <a:lnTo>
                    <a:pt x="5316093" y="879348"/>
                  </a:lnTo>
                  <a:lnTo>
                    <a:pt x="59054" y="879348"/>
                  </a:lnTo>
                  <a:lnTo>
                    <a:pt x="36058" y="874710"/>
                  </a:lnTo>
                  <a:lnTo>
                    <a:pt x="17287" y="862060"/>
                  </a:lnTo>
                  <a:lnTo>
                    <a:pt x="4637" y="843289"/>
                  </a:lnTo>
                  <a:lnTo>
                    <a:pt x="0" y="820293"/>
                  </a:lnTo>
                  <a:lnTo>
                    <a:pt x="0" y="59055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90564" y="2337619"/>
            <a:ext cx="4610735" cy="73025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350" b="1" spc="-35" dirty="0">
                <a:solidFill>
                  <a:srgbClr val="272424"/>
                </a:solidFill>
                <a:latin typeface="Arial"/>
                <a:cs typeface="Arial"/>
              </a:rPr>
              <a:t>Space</a:t>
            </a:r>
            <a:r>
              <a:rPr sz="135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25" dirty="0">
                <a:solidFill>
                  <a:srgbClr val="272424"/>
                </a:solidFill>
                <a:latin typeface="Arial"/>
                <a:cs typeface="Arial"/>
              </a:rPr>
              <a:t>Complexity</a:t>
            </a:r>
            <a:r>
              <a:rPr sz="135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135" dirty="0">
                <a:solidFill>
                  <a:srgbClr val="272424"/>
                </a:solidFill>
                <a:latin typeface="Arial"/>
                <a:cs typeface="Arial"/>
              </a:rPr>
              <a:t>—</a:t>
            </a:r>
            <a:r>
              <a:rPr sz="135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272424"/>
                </a:solidFill>
                <a:latin typeface="Arial"/>
                <a:cs typeface="Arial"/>
              </a:rPr>
              <a:t>O(1)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1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 few</a:t>
            </a:r>
            <a:r>
              <a:rPr sz="11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additional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variables</a:t>
            </a:r>
            <a:r>
              <a:rPr sz="11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1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used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 (index,</a:t>
            </a:r>
            <a:r>
              <a:rPr sz="11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counter).</a:t>
            </a:r>
            <a:r>
              <a:rPr sz="11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No </a:t>
            </a:r>
            <a:r>
              <a:rPr sz="11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additional</a:t>
            </a:r>
            <a:r>
              <a:rPr sz="11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1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structures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required.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9" name="object 19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0" y="3349752"/>
            <a:ext cx="7237476" cy="292912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053333" y="4428835"/>
            <a:ext cx="1567180" cy="6159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745"/>
              </a:spcBef>
            </a:pPr>
            <a:r>
              <a:rPr sz="1600" b="1" spc="-70" dirty="0">
                <a:latin typeface="Arial"/>
                <a:cs typeface="Arial"/>
              </a:rPr>
              <a:t>Position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39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300" spc="-330" dirty="0">
                <a:latin typeface="Microsoft Sans Serif"/>
                <a:cs typeface="Microsoft Sans Serif"/>
              </a:rPr>
              <a:t>1</a:t>
            </a:r>
            <a:r>
              <a:rPr sz="1300" spc="5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comparison</a:t>
            </a:r>
            <a:r>
              <a:rPr sz="1300" spc="30" dirty="0">
                <a:latin typeface="Microsoft Sans Serif"/>
                <a:cs typeface="Microsoft Sans Serif"/>
              </a:rPr>
              <a:t> </a:t>
            </a:r>
            <a:r>
              <a:rPr sz="1300" spc="365" dirty="0">
                <a:latin typeface="Microsoft Sans Serif"/>
                <a:cs typeface="Microsoft Sans Serif"/>
              </a:rPr>
              <a:t>—</a:t>
            </a:r>
            <a:r>
              <a:rPr sz="1300" spc="50" dirty="0">
                <a:latin typeface="Microsoft Sans Serif"/>
                <a:cs typeface="Microsoft Sans Serif"/>
              </a:rPr>
              <a:t> </a:t>
            </a:r>
            <a:r>
              <a:rPr sz="1300" spc="-20" dirty="0">
                <a:latin typeface="Microsoft Sans Serif"/>
                <a:cs typeface="Microsoft Sans Serif"/>
              </a:rPr>
              <a:t>Best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51830" y="4331445"/>
            <a:ext cx="1474470" cy="80772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750"/>
              </a:spcBef>
            </a:pPr>
            <a:r>
              <a:rPr sz="1600" b="1" spc="-70" dirty="0">
                <a:latin typeface="Arial"/>
                <a:cs typeface="Arial"/>
              </a:rPr>
              <a:t>Position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n/2</a:t>
            </a:r>
            <a:endParaRPr sz="1600">
              <a:latin typeface="Arial"/>
              <a:cs typeface="Arial"/>
            </a:endParaRPr>
          </a:p>
          <a:p>
            <a:pPr marL="12700" marR="5080" algn="ctr">
              <a:lnSpc>
                <a:spcPts val="1500"/>
              </a:lnSpc>
              <a:spcBef>
                <a:spcPts val="630"/>
              </a:spcBef>
            </a:pPr>
            <a:r>
              <a:rPr sz="1300" dirty="0">
                <a:latin typeface="Microsoft Sans Serif"/>
                <a:cs typeface="Microsoft Sans Serif"/>
              </a:rPr>
              <a:t>n/2</a:t>
            </a:r>
            <a:r>
              <a:rPr sz="1300" spc="17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comparisons</a:t>
            </a:r>
            <a:r>
              <a:rPr sz="1300" spc="125" dirty="0">
                <a:latin typeface="Microsoft Sans Serif"/>
                <a:cs typeface="Microsoft Sans Serif"/>
              </a:rPr>
              <a:t> </a:t>
            </a:r>
            <a:r>
              <a:rPr sz="1300" spc="315" dirty="0">
                <a:latin typeface="Microsoft Sans Serif"/>
                <a:cs typeface="Microsoft Sans Serif"/>
              </a:rPr>
              <a:t>— </a:t>
            </a:r>
            <a:r>
              <a:rPr sz="1300" spc="-10" dirty="0">
                <a:latin typeface="Microsoft Sans Serif"/>
                <a:cs typeface="Microsoft Sans Serif"/>
              </a:rPr>
              <a:t>Average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03997" y="4310888"/>
            <a:ext cx="1316990" cy="9328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34010" marR="81280" indent="-243840">
              <a:lnSpc>
                <a:spcPts val="1580"/>
              </a:lnSpc>
              <a:spcBef>
                <a:spcPts val="430"/>
              </a:spcBef>
            </a:pPr>
            <a:r>
              <a:rPr sz="1600" b="1" spc="-70" dirty="0">
                <a:latin typeface="Arial"/>
                <a:cs typeface="Arial"/>
              </a:rPr>
              <a:t>Position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n</a:t>
            </a:r>
            <a:r>
              <a:rPr sz="1600" b="1" spc="-110" dirty="0">
                <a:latin typeface="Arial"/>
                <a:cs typeface="Arial"/>
              </a:rPr>
              <a:t> </a:t>
            </a:r>
            <a:r>
              <a:rPr sz="1600" b="1" spc="-40" dirty="0">
                <a:latin typeface="Arial"/>
                <a:cs typeface="Arial"/>
              </a:rPr>
              <a:t>or </a:t>
            </a:r>
            <a:r>
              <a:rPr sz="1600" b="1" spc="-10" dirty="0">
                <a:latin typeface="Arial"/>
                <a:cs typeface="Arial"/>
              </a:rPr>
              <a:t>absent</a:t>
            </a:r>
            <a:endParaRPr sz="1600">
              <a:latin typeface="Arial"/>
              <a:cs typeface="Arial"/>
            </a:endParaRPr>
          </a:p>
          <a:p>
            <a:pPr marL="428625" marR="5080" indent="-416559">
              <a:lnSpc>
                <a:spcPts val="1500"/>
              </a:lnSpc>
              <a:spcBef>
                <a:spcPts val="690"/>
              </a:spcBef>
            </a:pPr>
            <a:r>
              <a:rPr sz="1300" dirty="0">
                <a:latin typeface="Microsoft Sans Serif"/>
                <a:cs typeface="Microsoft Sans Serif"/>
              </a:rPr>
              <a:t>n</a:t>
            </a:r>
            <a:r>
              <a:rPr sz="1300" spc="10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comparisons</a:t>
            </a:r>
            <a:r>
              <a:rPr sz="1300" spc="70" dirty="0">
                <a:latin typeface="Microsoft Sans Serif"/>
                <a:cs typeface="Microsoft Sans Serif"/>
              </a:rPr>
              <a:t> </a:t>
            </a:r>
            <a:r>
              <a:rPr sz="1300" spc="315" dirty="0">
                <a:latin typeface="Microsoft Sans Serif"/>
                <a:cs typeface="Microsoft Sans Serif"/>
              </a:rPr>
              <a:t>— </a:t>
            </a:r>
            <a:r>
              <a:rPr sz="1300" spc="-10" dirty="0">
                <a:latin typeface="Microsoft Sans Serif"/>
                <a:cs typeface="Microsoft Sans Serif"/>
              </a:rPr>
              <a:t>Worst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1416" y="1530096"/>
            <a:ext cx="1792605" cy="251460"/>
          </a:xfrm>
          <a:custGeom>
            <a:avLst/>
            <a:gdLst/>
            <a:ahLst/>
            <a:cxnLst/>
            <a:rect l="l" t="t" r="r" b="b"/>
            <a:pathLst>
              <a:path w="1792605" h="251460">
                <a:moveTo>
                  <a:pt x="1736598" y="0"/>
                </a:moveTo>
                <a:lnTo>
                  <a:pt x="55575" y="0"/>
                </a:lnTo>
                <a:lnTo>
                  <a:pt x="33941" y="4369"/>
                </a:lnTo>
                <a:lnTo>
                  <a:pt x="16276" y="16287"/>
                </a:lnTo>
                <a:lnTo>
                  <a:pt x="4367" y="33968"/>
                </a:lnTo>
                <a:lnTo>
                  <a:pt x="0" y="55625"/>
                </a:lnTo>
                <a:lnTo>
                  <a:pt x="0" y="195833"/>
                </a:lnTo>
                <a:lnTo>
                  <a:pt x="4367" y="217491"/>
                </a:lnTo>
                <a:lnTo>
                  <a:pt x="16276" y="235172"/>
                </a:lnTo>
                <a:lnTo>
                  <a:pt x="33941" y="247090"/>
                </a:lnTo>
                <a:lnTo>
                  <a:pt x="55575" y="251459"/>
                </a:lnTo>
                <a:lnTo>
                  <a:pt x="1736598" y="251459"/>
                </a:lnTo>
                <a:lnTo>
                  <a:pt x="1758255" y="247090"/>
                </a:lnTo>
                <a:lnTo>
                  <a:pt x="1775936" y="235172"/>
                </a:lnTo>
                <a:lnTo>
                  <a:pt x="1787854" y="217491"/>
                </a:lnTo>
                <a:lnTo>
                  <a:pt x="1792224" y="195833"/>
                </a:lnTo>
                <a:lnTo>
                  <a:pt x="1792224" y="55625"/>
                </a:lnTo>
                <a:lnTo>
                  <a:pt x="1787854" y="33968"/>
                </a:lnTo>
                <a:lnTo>
                  <a:pt x="1775936" y="16287"/>
                </a:lnTo>
                <a:lnTo>
                  <a:pt x="1758255" y="4369"/>
                </a:lnTo>
                <a:lnTo>
                  <a:pt x="1736598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8080" y="1551559"/>
            <a:ext cx="1581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</a:t>
            </a:r>
            <a:r>
              <a:rPr sz="10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3: </a:t>
            </a:r>
            <a:r>
              <a:rPr sz="10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716" y="1729867"/>
            <a:ext cx="826960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From</a:t>
            </a:r>
            <a:r>
              <a:rPr spc="-285" dirty="0"/>
              <a:t> </a:t>
            </a:r>
            <a:r>
              <a:rPr spc="-65" dirty="0"/>
              <a:t>Element</a:t>
            </a:r>
            <a:r>
              <a:rPr spc="-290" dirty="0"/>
              <a:t> </a:t>
            </a:r>
            <a:r>
              <a:rPr spc="-114" dirty="0"/>
              <a:t>Searching</a:t>
            </a:r>
            <a:r>
              <a:rPr spc="-300" dirty="0"/>
              <a:t> </a:t>
            </a:r>
            <a:r>
              <a:rPr spc="65" dirty="0"/>
              <a:t>to</a:t>
            </a:r>
            <a:r>
              <a:rPr spc="-280" dirty="0"/>
              <a:t> </a:t>
            </a:r>
            <a:r>
              <a:rPr spc="-105" dirty="0"/>
              <a:t>String</a:t>
            </a:r>
            <a:r>
              <a:rPr spc="-305" dirty="0"/>
              <a:t> </a:t>
            </a:r>
            <a:r>
              <a:rPr spc="-45" dirty="0"/>
              <a:t>Searching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8716" y="2474830"/>
            <a:ext cx="10454640" cy="455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Sequential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used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search for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single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element.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However, many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real-world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problems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require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us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sequence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</a:t>
            </a:r>
            <a:r>
              <a:rPr sz="1300" b="1" spc="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rather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than</a:t>
            </a:r>
            <a:r>
              <a:rPr sz="1300" b="1" spc="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single</a:t>
            </a:r>
            <a:r>
              <a:rPr sz="130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element.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3124200"/>
            <a:ext cx="413003" cy="4145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68983" y="2928945"/>
            <a:ext cx="455739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Word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600" b="1" spc="-1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600" b="1" spc="-1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Book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1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word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Algorithm</a:t>
            </a:r>
            <a:r>
              <a:rPr sz="130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textbook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reference material.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9632" y="3124200"/>
            <a:ext cx="413004" cy="4145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07200" y="2928945"/>
            <a:ext cx="455295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Keyword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PDF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keyword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5" dirty="0">
                <a:solidFill>
                  <a:srgbClr val="272424"/>
                </a:solidFill>
                <a:latin typeface="Microsoft Sans Serif"/>
                <a:cs typeface="Microsoft Sans Serif"/>
              </a:rPr>
              <a:t>PDF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digital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report.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0" name="object 10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1416" y="4191000"/>
            <a:ext cx="413003" cy="41300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68983" y="3996366"/>
            <a:ext cx="4208780" cy="92329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Name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60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File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student's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name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file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database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export.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2" name="object 12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9632" y="4191000"/>
            <a:ext cx="413004" cy="41300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07200" y="3996366"/>
            <a:ext cx="4314825" cy="92329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spc="-75" dirty="0">
                <a:solidFill>
                  <a:srgbClr val="272424"/>
                </a:solidFill>
                <a:latin typeface="Arial"/>
                <a:cs typeface="Arial"/>
              </a:rPr>
              <a:t>DNA</a:t>
            </a:r>
            <a:r>
              <a:rPr sz="16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Sequence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DNA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biological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critical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application.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716" y="5097271"/>
            <a:ext cx="80244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process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searching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sequence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called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String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or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Matching.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497205"/>
            <a:ext cx="471741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75" dirty="0"/>
              <a:t> </a:t>
            </a:r>
            <a:r>
              <a:rPr spc="-145" dirty="0"/>
              <a:t>Is</a:t>
            </a:r>
            <a:r>
              <a:rPr spc="-245" dirty="0"/>
              <a:t> </a:t>
            </a:r>
            <a:r>
              <a:rPr spc="-100" dirty="0"/>
              <a:t>String</a:t>
            </a:r>
            <a:r>
              <a:rPr spc="-285" dirty="0"/>
              <a:t> </a:t>
            </a:r>
            <a:r>
              <a:rPr spc="-45" dirty="0"/>
              <a:t>Matching?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6823" y="1510436"/>
            <a:ext cx="10137140" cy="455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String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process of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finding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whether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sequence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characters,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called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pattern, occurs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within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another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sequence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of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characters,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called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text.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1416" y="1359408"/>
            <a:ext cx="20320" cy="802005"/>
          </a:xfrm>
          <a:custGeom>
            <a:avLst/>
            <a:gdLst/>
            <a:ahLst/>
            <a:cxnLst/>
            <a:rect l="l" t="t" r="r" b="b"/>
            <a:pathLst>
              <a:path w="20320" h="802005">
                <a:moveTo>
                  <a:pt x="15379" y="0"/>
                </a:moveTo>
                <a:lnTo>
                  <a:pt x="4432" y="0"/>
                </a:lnTo>
                <a:lnTo>
                  <a:pt x="0" y="4444"/>
                </a:lnTo>
                <a:lnTo>
                  <a:pt x="0" y="9905"/>
                </a:lnTo>
                <a:lnTo>
                  <a:pt x="0" y="797178"/>
                </a:lnTo>
                <a:lnTo>
                  <a:pt x="4432" y="801624"/>
                </a:lnTo>
                <a:lnTo>
                  <a:pt x="15379" y="801624"/>
                </a:lnTo>
                <a:lnTo>
                  <a:pt x="19812" y="797178"/>
                </a:lnTo>
                <a:lnTo>
                  <a:pt x="19812" y="4444"/>
                </a:lnTo>
                <a:lnTo>
                  <a:pt x="15379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8716" y="2450083"/>
            <a:ext cx="334010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Arial"/>
                <a:cs typeface="Arial"/>
              </a:rPr>
              <a:t>Formal</a:t>
            </a:r>
            <a:r>
              <a:rPr sz="1600" b="1" spc="-9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Example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20" dirty="0">
                <a:solidFill>
                  <a:srgbClr val="272424"/>
                </a:solidFill>
                <a:latin typeface="Microsoft Sans Serif"/>
                <a:cs typeface="Microsoft Sans Serif"/>
              </a:rPr>
              <a:t>STRUCTURES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Pattern:</a:t>
            </a:r>
            <a:r>
              <a:rPr sz="130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16" y="3541776"/>
            <a:ext cx="5233670" cy="20320"/>
          </a:xfrm>
          <a:custGeom>
            <a:avLst/>
            <a:gdLst/>
            <a:ahLst/>
            <a:cxnLst/>
            <a:rect l="l" t="t" r="r" b="b"/>
            <a:pathLst>
              <a:path w="5233670" h="20320">
                <a:moveTo>
                  <a:pt x="5228971" y="0"/>
                </a:moveTo>
                <a:lnTo>
                  <a:pt x="4432" y="0"/>
                </a:lnTo>
                <a:lnTo>
                  <a:pt x="0" y="4445"/>
                </a:lnTo>
                <a:lnTo>
                  <a:pt x="0" y="9906"/>
                </a:lnTo>
                <a:lnTo>
                  <a:pt x="0" y="15366"/>
                </a:lnTo>
                <a:lnTo>
                  <a:pt x="4432" y="19812"/>
                </a:lnTo>
                <a:lnTo>
                  <a:pt x="5228971" y="19812"/>
                </a:lnTo>
                <a:lnTo>
                  <a:pt x="5233416" y="15366"/>
                </a:lnTo>
                <a:lnTo>
                  <a:pt x="5233416" y="4445"/>
                </a:lnTo>
                <a:lnTo>
                  <a:pt x="5228971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8716" y="3753614"/>
            <a:ext cx="5132705" cy="10521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1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examines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tries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determine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whether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sequence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inside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A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1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only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when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all</a:t>
            </a:r>
            <a:r>
              <a:rPr sz="130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corresponding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</a:t>
            </a:r>
            <a:r>
              <a:rPr sz="13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600" b="1" spc="-35" dirty="0">
                <a:latin typeface="Arial"/>
                <a:cs typeface="Arial"/>
              </a:rPr>
              <a:t>Three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spc="-75" dirty="0">
                <a:latin typeface="Arial"/>
                <a:cs typeface="Arial"/>
              </a:rPr>
              <a:t>Possible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Outcomes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716" y="5003444"/>
            <a:ext cx="2545715" cy="66865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76225" indent="-263525">
              <a:lnSpc>
                <a:spcPct val="100000"/>
              </a:lnSpc>
              <a:spcBef>
                <a:spcPts val="229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once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35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300" spc="1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multiple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times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20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not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found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all.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2088" y="2450083"/>
            <a:ext cx="1443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Arial"/>
                <a:cs typeface="Arial"/>
              </a:rPr>
              <a:t>More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Examples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94120" y="2895600"/>
            <a:ext cx="2554605" cy="1621790"/>
            <a:chOff x="6294120" y="2895600"/>
            <a:chExt cx="2554605" cy="1621790"/>
          </a:xfrm>
        </p:grpSpPr>
        <p:sp>
          <p:nvSpPr>
            <p:cNvPr id="11" name="object 11"/>
            <p:cNvSpPr/>
            <p:nvPr/>
          </p:nvSpPr>
          <p:spPr>
            <a:xfrm>
              <a:off x="6304026" y="2905505"/>
              <a:ext cx="2534920" cy="1602105"/>
            </a:xfrm>
            <a:custGeom>
              <a:avLst/>
              <a:gdLst/>
              <a:ahLst/>
              <a:cxnLst/>
              <a:rect l="l" t="t" r="r" b="b"/>
              <a:pathLst>
                <a:path w="2534920" h="1602104">
                  <a:moveTo>
                    <a:pt x="2464943" y="0"/>
                  </a:moveTo>
                  <a:lnTo>
                    <a:pt x="69469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1532255"/>
                  </a:lnTo>
                  <a:lnTo>
                    <a:pt x="5461" y="1559290"/>
                  </a:lnTo>
                  <a:lnTo>
                    <a:pt x="20351" y="1581372"/>
                  </a:lnTo>
                  <a:lnTo>
                    <a:pt x="42433" y="1596263"/>
                  </a:lnTo>
                  <a:lnTo>
                    <a:pt x="69469" y="1601724"/>
                  </a:lnTo>
                  <a:lnTo>
                    <a:pt x="2464943" y="1601724"/>
                  </a:lnTo>
                  <a:lnTo>
                    <a:pt x="2491978" y="1596263"/>
                  </a:lnTo>
                  <a:lnTo>
                    <a:pt x="2514060" y="1581372"/>
                  </a:lnTo>
                  <a:lnTo>
                    <a:pt x="2528951" y="1559290"/>
                  </a:lnTo>
                  <a:lnTo>
                    <a:pt x="2534412" y="1532255"/>
                  </a:lnTo>
                  <a:lnTo>
                    <a:pt x="2534412" y="69469"/>
                  </a:lnTo>
                  <a:lnTo>
                    <a:pt x="2528951" y="42433"/>
                  </a:lnTo>
                  <a:lnTo>
                    <a:pt x="2514060" y="20351"/>
                  </a:lnTo>
                  <a:lnTo>
                    <a:pt x="2491978" y="5461"/>
                  </a:lnTo>
                  <a:lnTo>
                    <a:pt x="2464943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04026" y="2905505"/>
              <a:ext cx="2534920" cy="1602105"/>
            </a:xfrm>
            <a:custGeom>
              <a:avLst/>
              <a:gdLst/>
              <a:ahLst/>
              <a:cxnLst/>
              <a:rect l="l" t="t" r="r" b="b"/>
              <a:pathLst>
                <a:path w="2534920" h="1602104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9" y="0"/>
                  </a:lnTo>
                  <a:lnTo>
                    <a:pt x="2464943" y="0"/>
                  </a:lnTo>
                  <a:lnTo>
                    <a:pt x="2491978" y="5461"/>
                  </a:lnTo>
                  <a:lnTo>
                    <a:pt x="2514060" y="20351"/>
                  </a:lnTo>
                  <a:lnTo>
                    <a:pt x="2528951" y="42433"/>
                  </a:lnTo>
                  <a:lnTo>
                    <a:pt x="2534412" y="69469"/>
                  </a:lnTo>
                  <a:lnTo>
                    <a:pt x="2534412" y="1532255"/>
                  </a:lnTo>
                  <a:lnTo>
                    <a:pt x="2528951" y="1559290"/>
                  </a:lnTo>
                  <a:lnTo>
                    <a:pt x="2514060" y="1581372"/>
                  </a:lnTo>
                  <a:lnTo>
                    <a:pt x="2491978" y="1596263"/>
                  </a:lnTo>
                  <a:lnTo>
                    <a:pt x="2464943" y="1601724"/>
                  </a:lnTo>
                  <a:lnTo>
                    <a:pt x="69469" y="1601724"/>
                  </a:lnTo>
                  <a:lnTo>
                    <a:pt x="42433" y="1596263"/>
                  </a:lnTo>
                  <a:lnTo>
                    <a:pt x="20351" y="1581372"/>
                  </a:lnTo>
                  <a:lnTo>
                    <a:pt x="5461" y="1559290"/>
                  </a:lnTo>
                  <a:lnTo>
                    <a:pt x="0" y="1532255"/>
                  </a:lnTo>
                  <a:lnTo>
                    <a:pt x="0" y="69469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76238" y="3027425"/>
            <a:ext cx="1993264" cy="1069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solidFill>
                  <a:srgbClr val="272424"/>
                </a:solidFill>
                <a:latin typeface="Arial"/>
                <a:cs typeface="Arial"/>
              </a:rPr>
              <a:t>Example</a:t>
            </a:r>
            <a:r>
              <a:rPr sz="16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90" dirty="0">
                <a:solidFill>
                  <a:srgbClr val="272424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Text: </a:t>
            </a:r>
            <a:r>
              <a:rPr sz="1300" spc="-95" dirty="0">
                <a:solidFill>
                  <a:srgbClr val="272424"/>
                </a:solidFill>
                <a:latin typeface="Microsoft Sans Serif"/>
                <a:cs typeface="Microsoft Sans Serif"/>
              </a:rPr>
              <a:t>COMPUTER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SCIENCE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Pattern: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SCIENCE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once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993123" y="2895600"/>
            <a:ext cx="2554605" cy="1621790"/>
            <a:chOff x="8993123" y="2895600"/>
            <a:chExt cx="2554605" cy="1621790"/>
          </a:xfrm>
        </p:grpSpPr>
        <p:sp>
          <p:nvSpPr>
            <p:cNvPr id="15" name="object 15"/>
            <p:cNvSpPr/>
            <p:nvPr/>
          </p:nvSpPr>
          <p:spPr>
            <a:xfrm>
              <a:off x="9003029" y="2905505"/>
              <a:ext cx="2534920" cy="1602105"/>
            </a:xfrm>
            <a:custGeom>
              <a:avLst/>
              <a:gdLst/>
              <a:ahLst/>
              <a:cxnLst/>
              <a:rect l="l" t="t" r="r" b="b"/>
              <a:pathLst>
                <a:path w="2534920" h="1602104">
                  <a:moveTo>
                    <a:pt x="2464943" y="0"/>
                  </a:moveTo>
                  <a:lnTo>
                    <a:pt x="69469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0" y="42433"/>
                  </a:lnTo>
                  <a:lnTo>
                    <a:pt x="0" y="69469"/>
                  </a:lnTo>
                  <a:lnTo>
                    <a:pt x="0" y="1532255"/>
                  </a:lnTo>
                  <a:lnTo>
                    <a:pt x="5461" y="1559290"/>
                  </a:lnTo>
                  <a:lnTo>
                    <a:pt x="20351" y="1581372"/>
                  </a:lnTo>
                  <a:lnTo>
                    <a:pt x="42433" y="1596263"/>
                  </a:lnTo>
                  <a:lnTo>
                    <a:pt x="69469" y="1601724"/>
                  </a:lnTo>
                  <a:lnTo>
                    <a:pt x="2464943" y="1601724"/>
                  </a:lnTo>
                  <a:lnTo>
                    <a:pt x="2491978" y="1596263"/>
                  </a:lnTo>
                  <a:lnTo>
                    <a:pt x="2514060" y="1581372"/>
                  </a:lnTo>
                  <a:lnTo>
                    <a:pt x="2528951" y="1559290"/>
                  </a:lnTo>
                  <a:lnTo>
                    <a:pt x="2534412" y="1532255"/>
                  </a:lnTo>
                  <a:lnTo>
                    <a:pt x="2534412" y="69469"/>
                  </a:lnTo>
                  <a:lnTo>
                    <a:pt x="2528951" y="42433"/>
                  </a:lnTo>
                  <a:lnTo>
                    <a:pt x="2514060" y="20351"/>
                  </a:lnTo>
                  <a:lnTo>
                    <a:pt x="2491978" y="5461"/>
                  </a:lnTo>
                  <a:lnTo>
                    <a:pt x="2464943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03029" y="2905505"/>
              <a:ext cx="2534920" cy="1602105"/>
            </a:xfrm>
            <a:custGeom>
              <a:avLst/>
              <a:gdLst/>
              <a:ahLst/>
              <a:cxnLst/>
              <a:rect l="l" t="t" r="r" b="b"/>
              <a:pathLst>
                <a:path w="2534920" h="1602104">
                  <a:moveTo>
                    <a:pt x="0" y="69469"/>
                  </a:moveTo>
                  <a:lnTo>
                    <a:pt x="5460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9" y="0"/>
                  </a:lnTo>
                  <a:lnTo>
                    <a:pt x="2464943" y="0"/>
                  </a:lnTo>
                  <a:lnTo>
                    <a:pt x="2491978" y="5461"/>
                  </a:lnTo>
                  <a:lnTo>
                    <a:pt x="2514060" y="20351"/>
                  </a:lnTo>
                  <a:lnTo>
                    <a:pt x="2528951" y="42433"/>
                  </a:lnTo>
                  <a:lnTo>
                    <a:pt x="2534412" y="69469"/>
                  </a:lnTo>
                  <a:lnTo>
                    <a:pt x="2534412" y="1532255"/>
                  </a:lnTo>
                  <a:lnTo>
                    <a:pt x="2528951" y="1559290"/>
                  </a:lnTo>
                  <a:lnTo>
                    <a:pt x="2514060" y="1581372"/>
                  </a:lnTo>
                  <a:lnTo>
                    <a:pt x="2491978" y="1596263"/>
                  </a:lnTo>
                  <a:lnTo>
                    <a:pt x="2464943" y="1601724"/>
                  </a:lnTo>
                  <a:lnTo>
                    <a:pt x="69469" y="1601724"/>
                  </a:lnTo>
                  <a:lnTo>
                    <a:pt x="42433" y="1596263"/>
                  </a:lnTo>
                  <a:lnTo>
                    <a:pt x="20351" y="1581372"/>
                  </a:lnTo>
                  <a:lnTo>
                    <a:pt x="5461" y="1559290"/>
                  </a:lnTo>
                  <a:lnTo>
                    <a:pt x="0" y="1532255"/>
                  </a:lnTo>
                  <a:lnTo>
                    <a:pt x="0" y="69469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175495" y="3027425"/>
            <a:ext cx="2178685" cy="1283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solidFill>
                  <a:srgbClr val="272424"/>
                </a:solidFill>
                <a:latin typeface="Arial"/>
                <a:cs typeface="Arial"/>
              </a:rPr>
              <a:t>Example</a:t>
            </a:r>
            <a:r>
              <a:rPr sz="16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Text:</a:t>
            </a:r>
            <a:r>
              <a:rPr sz="1300" spc="-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BANANA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Pattern: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ANA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twice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(indices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30" dirty="0">
                <a:solidFill>
                  <a:srgbClr val="272424"/>
                </a:solidFill>
                <a:latin typeface="Microsoft Sans Serif"/>
                <a:cs typeface="Microsoft Sans Serif"/>
              </a:rPr>
              <a:t>1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3)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94120" y="4661915"/>
            <a:ext cx="5253355" cy="1405255"/>
            <a:chOff x="6294120" y="4661915"/>
            <a:chExt cx="5253355" cy="1405255"/>
          </a:xfrm>
        </p:grpSpPr>
        <p:sp>
          <p:nvSpPr>
            <p:cNvPr id="19" name="object 19"/>
            <p:cNvSpPr/>
            <p:nvPr/>
          </p:nvSpPr>
          <p:spPr>
            <a:xfrm>
              <a:off x="6304026" y="4671821"/>
              <a:ext cx="5233670" cy="1385570"/>
            </a:xfrm>
            <a:custGeom>
              <a:avLst/>
              <a:gdLst/>
              <a:ahLst/>
              <a:cxnLst/>
              <a:rect l="l" t="t" r="r" b="b"/>
              <a:pathLst>
                <a:path w="5233670" h="1385570">
                  <a:moveTo>
                    <a:pt x="5163947" y="0"/>
                  </a:moveTo>
                  <a:lnTo>
                    <a:pt x="69469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1315872"/>
                  </a:lnTo>
                  <a:lnTo>
                    <a:pt x="5461" y="1342903"/>
                  </a:lnTo>
                  <a:lnTo>
                    <a:pt x="20351" y="1364976"/>
                  </a:lnTo>
                  <a:lnTo>
                    <a:pt x="42433" y="1379858"/>
                  </a:lnTo>
                  <a:lnTo>
                    <a:pt x="69469" y="1385315"/>
                  </a:lnTo>
                  <a:lnTo>
                    <a:pt x="5163947" y="1385315"/>
                  </a:lnTo>
                  <a:lnTo>
                    <a:pt x="5190982" y="1379858"/>
                  </a:lnTo>
                  <a:lnTo>
                    <a:pt x="5213064" y="1364976"/>
                  </a:lnTo>
                  <a:lnTo>
                    <a:pt x="5227955" y="1342903"/>
                  </a:lnTo>
                  <a:lnTo>
                    <a:pt x="5233416" y="1315872"/>
                  </a:lnTo>
                  <a:lnTo>
                    <a:pt x="5233416" y="69468"/>
                  </a:lnTo>
                  <a:lnTo>
                    <a:pt x="5227955" y="42433"/>
                  </a:lnTo>
                  <a:lnTo>
                    <a:pt x="5213064" y="20351"/>
                  </a:lnTo>
                  <a:lnTo>
                    <a:pt x="5190982" y="5461"/>
                  </a:lnTo>
                  <a:lnTo>
                    <a:pt x="5163947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04026" y="4671821"/>
              <a:ext cx="5233670" cy="1385570"/>
            </a:xfrm>
            <a:custGeom>
              <a:avLst/>
              <a:gdLst/>
              <a:ahLst/>
              <a:cxnLst/>
              <a:rect l="l" t="t" r="r" b="b"/>
              <a:pathLst>
                <a:path w="5233670" h="1385570">
                  <a:moveTo>
                    <a:pt x="0" y="69468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9" y="0"/>
                  </a:lnTo>
                  <a:lnTo>
                    <a:pt x="5163947" y="0"/>
                  </a:lnTo>
                  <a:lnTo>
                    <a:pt x="5190982" y="5461"/>
                  </a:lnTo>
                  <a:lnTo>
                    <a:pt x="5213064" y="20351"/>
                  </a:lnTo>
                  <a:lnTo>
                    <a:pt x="5227955" y="42433"/>
                  </a:lnTo>
                  <a:lnTo>
                    <a:pt x="5233416" y="69468"/>
                  </a:lnTo>
                  <a:lnTo>
                    <a:pt x="5233416" y="1315872"/>
                  </a:lnTo>
                  <a:lnTo>
                    <a:pt x="5227955" y="1342903"/>
                  </a:lnTo>
                  <a:lnTo>
                    <a:pt x="5213064" y="1364976"/>
                  </a:lnTo>
                  <a:lnTo>
                    <a:pt x="5190982" y="1379858"/>
                  </a:lnTo>
                  <a:lnTo>
                    <a:pt x="5163947" y="1385315"/>
                  </a:lnTo>
                  <a:lnTo>
                    <a:pt x="69469" y="1385315"/>
                  </a:lnTo>
                  <a:lnTo>
                    <a:pt x="42433" y="1379858"/>
                  </a:lnTo>
                  <a:lnTo>
                    <a:pt x="20351" y="1364976"/>
                  </a:lnTo>
                  <a:lnTo>
                    <a:pt x="5461" y="1342903"/>
                  </a:lnTo>
                  <a:lnTo>
                    <a:pt x="0" y="1315872"/>
                  </a:lnTo>
                  <a:lnTo>
                    <a:pt x="0" y="69468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76238" y="4793996"/>
            <a:ext cx="1551940" cy="1069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solidFill>
                  <a:srgbClr val="272424"/>
                </a:solidFill>
                <a:latin typeface="Arial"/>
                <a:cs typeface="Arial"/>
              </a:rPr>
              <a:t>Example</a:t>
            </a:r>
            <a:r>
              <a:rPr sz="16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10" dirty="0">
                <a:solidFill>
                  <a:srgbClr val="272424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Text: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HELLO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WORLD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Pattern: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390271"/>
            <a:ext cx="574802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dirty="0"/>
              <a:t>Why</a:t>
            </a:r>
            <a:r>
              <a:rPr sz="2850" spc="-235" dirty="0"/>
              <a:t> </a:t>
            </a:r>
            <a:r>
              <a:rPr sz="2850" spc="-120" dirty="0"/>
              <a:t>Is</a:t>
            </a:r>
            <a:r>
              <a:rPr sz="2850" spc="-225" dirty="0"/>
              <a:t> </a:t>
            </a:r>
            <a:r>
              <a:rPr sz="2850" spc="-90" dirty="0"/>
              <a:t>String</a:t>
            </a:r>
            <a:r>
              <a:rPr sz="2850" spc="-245" dirty="0"/>
              <a:t> </a:t>
            </a:r>
            <a:r>
              <a:rPr sz="2850" spc="-35" dirty="0"/>
              <a:t>Matching</a:t>
            </a:r>
            <a:r>
              <a:rPr sz="2850" spc="-270" dirty="0"/>
              <a:t> </a:t>
            </a:r>
            <a:r>
              <a:rPr sz="2850" spc="-10" dirty="0"/>
              <a:t>Important?</a:t>
            </a:r>
            <a:endParaRPr sz="2850"/>
          </a:p>
        </p:txBody>
      </p:sp>
      <p:grpSp>
        <p:nvGrpSpPr>
          <p:cNvPr id="3" name="object 3"/>
          <p:cNvGrpSpPr/>
          <p:nvPr/>
        </p:nvGrpSpPr>
        <p:grpSpPr>
          <a:xfrm>
            <a:off x="661416" y="1121663"/>
            <a:ext cx="10869295" cy="879475"/>
            <a:chOff x="661416" y="1121663"/>
            <a:chExt cx="10869295" cy="879475"/>
          </a:xfrm>
        </p:grpSpPr>
        <p:pic>
          <p:nvPicPr>
            <p:cNvPr id="4" name="object 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6" y="1121663"/>
              <a:ext cx="10869168" cy="879348"/>
            </a:xfrm>
            <a:prstGeom prst="rect">
              <a:avLst/>
            </a:prstGeom>
          </p:spPr>
        </p:pic>
        <p:pic>
          <p:nvPicPr>
            <p:cNvPr id="5" name="object 5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1060" y="1450847"/>
              <a:ext cx="219456" cy="22097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61416" y="2130551"/>
            <a:ext cx="10869295" cy="879475"/>
            <a:chOff x="661416" y="2130551"/>
            <a:chExt cx="10869295" cy="879475"/>
          </a:xfrm>
        </p:grpSpPr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6" y="2130551"/>
              <a:ext cx="10869168" cy="879348"/>
            </a:xfrm>
            <a:prstGeom prst="rect">
              <a:avLst/>
            </a:prstGeom>
          </p:spPr>
        </p:pic>
        <p:pic>
          <p:nvPicPr>
            <p:cNvPr id="8" name="object 8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1060" y="2459735"/>
              <a:ext cx="219456" cy="22097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61416" y="3139439"/>
            <a:ext cx="10869295" cy="879475"/>
            <a:chOff x="661416" y="3139439"/>
            <a:chExt cx="10869295" cy="879475"/>
          </a:xfrm>
        </p:grpSpPr>
        <p:pic>
          <p:nvPicPr>
            <p:cNvPr id="10" name="object 10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6" y="3139439"/>
              <a:ext cx="10869168" cy="879348"/>
            </a:xfrm>
            <a:prstGeom prst="rect">
              <a:avLst/>
            </a:prstGeom>
          </p:spPr>
        </p:pic>
        <p:pic>
          <p:nvPicPr>
            <p:cNvPr id="11" name="object 11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1060" y="3468623"/>
              <a:ext cx="219456" cy="22098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61416" y="4148328"/>
            <a:ext cx="10869295" cy="879475"/>
            <a:chOff x="661416" y="4148328"/>
            <a:chExt cx="10869295" cy="879475"/>
          </a:xfrm>
        </p:grpSpPr>
        <p:pic>
          <p:nvPicPr>
            <p:cNvPr id="13" name="object 1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6" y="4148328"/>
              <a:ext cx="10869168" cy="879348"/>
            </a:xfrm>
            <a:prstGeom prst="rect">
              <a:avLst/>
            </a:prstGeom>
          </p:spPr>
        </p:pic>
        <p:pic>
          <p:nvPicPr>
            <p:cNvPr id="14" name="object 14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1060" y="4477512"/>
              <a:ext cx="219456" cy="22098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61416" y="5157215"/>
            <a:ext cx="10869295" cy="879475"/>
            <a:chOff x="661416" y="5157215"/>
            <a:chExt cx="10869295" cy="879475"/>
          </a:xfrm>
        </p:grpSpPr>
        <p:pic>
          <p:nvPicPr>
            <p:cNvPr id="16" name="object 1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6" y="5157215"/>
              <a:ext cx="10869168" cy="879348"/>
            </a:xfrm>
            <a:prstGeom prst="rect">
              <a:avLst/>
            </a:prstGeom>
          </p:spPr>
        </p:pic>
        <p:pic>
          <p:nvPicPr>
            <p:cNvPr id="17" name="object 17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1060" y="5487923"/>
              <a:ext cx="219456" cy="21945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48716" y="1130789"/>
            <a:ext cx="10323195" cy="52298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875"/>
              </a:spcBef>
            </a:pPr>
            <a:r>
              <a:rPr sz="1400" b="1" spc="-45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r>
              <a:rPr sz="14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Engines</a:t>
            </a:r>
            <a:endParaRPr sz="140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40"/>
              </a:spcBef>
            </a:pP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engines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keywords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large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collections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web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pages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documents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return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relevant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results.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747395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Text</a:t>
            </a:r>
            <a:r>
              <a:rPr sz="14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Editors</a:t>
            </a:r>
            <a:endParaRPr sz="140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35"/>
              </a:spcBef>
            </a:pP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option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searches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words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phrases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inside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document.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Ctrl+F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powered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string-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747395">
              <a:lnSpc>
                <a:spcPct val="100000"/>
              </a:lnSpc>
            </a:pPr>
            <a:r>
              <a:rPr sz="1400" b="1" spc="-60" dirty="0">
                <a:solidFill>
                  <a:srgbClr val="272424"/>
                </a:solidFill>
                <a:latin typeface="Arial"/>
                <a:cs typeface="Arial"/>
              </a:rPr>
              <a:t>Spell</a:t>
            </a:r>
            <a:r>
              <a:rPr sz="14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Checking</a:t>
            </a:r>
            <a:endParaRPr sz="140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40"/>
              </a:spcBef>
            </a:pP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Applications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words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dictionary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entries</a:t>
            </a:r>
            <a:r>
              <a:rPr sz="115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detect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correct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spelling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mistakes.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747395">
              <a:lnSpc>
                <a:spcPct val="100000"/>
              </a:lnSpc>
            </a:pP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Bioinformatics</a:t>
            </a:r>
            <a:endParaRPr sz="140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40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Scientists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patterns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DNA</a:t>
            </a:r>
            <a:r>
              <a:rPr sz="115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protein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sequences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to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identify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genes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study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diseases.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747395">
              <a:lnSpc>
                <a:spcPct val="100000"/>
              </a:lnSpc>
            </a:pP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Cybersecurity</a:t>
            </a:r>
            <a:endParaRPr sz="140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40"/>
              </a:spcBef>
            </a:pP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Security</a:t>
            </a:r>
            <a:r>
              <a:rPr sz="115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systems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files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network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suspicious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malicious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patterns</a:t>
            </a:r>
            <a:r>
              <a:rPr sz="115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detect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threats.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becomes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critically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important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very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large</a:t>
            </a:r>
            <a:r>
              <a:rPr sz="115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320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through</a:t>
            </a:r>
            <a:r>
              <a:rPr sz="11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millions</a:t>
            </a:r>
            <a:r>
              <a:rPr sz="11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web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pages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billions</a:t>
            </a:r>
            <a:r>
              <a:rPr sz="11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base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pairs</a:t>
            </a:r>
            <a:r>
              <a:rPr sz="11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DNA.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51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Text</a:t>
            </a:r>
            <a:r>
              <a:rPr spc="-295" dirty="0"/>
              <a:t> </a:t>
            </a:r>
            <a:r>
              <a:rPr spc="-35" dirty="0"/>
              <a:t>and</a:t>
            </a:r>
            <a:r>
              <a:rPr spc="-305" dirty="0"/>
              <a:t> </a:t>
            </a:r>
            <a:r>
              <a:rPr spc="-25" dirty="0"/>
              <a:t>Pattern</a:t>
            </a:r>
            <a:r>
              <a:rPr spc="-360" dirty="0"/>
              <a:t> </a:t>
            </a:r>
            <a:r>
              <a:rPr spc="-325" dirty="0"/>
              <a:t>—</a:t>
            </a:r>
            <a:r>
              <a:rPr spc="-295" dirty="0"/>
              <a:t> </a:t>
            </a:r>
            <a:r>
              <a:rPr spc="-50" dirty="0"/>
              <a:t>Core</a:t>
            </a:r>
            <a:r>
              <a:rPr spc="-315" dirty="0"/>
              <a:t> </a:t>
            </a:r>
            <a:r>
              <a:rPr spc="-10" dirty="0"/>
              <a:t>Concepts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8368" y="1682495"/>
            <a:ext cx="5240020" cy="1150620"/>
            <a:chOff x="658368" y="1682495"/>
            <a:chExt cx="5240020" cy="1150620"/>
          </a:xfrm>
        </p:grpSpPr>
        <p:sp>
          <p:nvSpPr>
            <p:cNvPr id="4" name="object 4"/>
            <p:cNvSpPr/>
            <p:nvPr/>
          </p:nvSpPr>
          <p:spPr>
            <a:xfrm>
              <a:off x="661416" y="1685543"/>
              <a:ext cx="5233670" cy="1144905"/>
            </a:xfrm>
            <a:custGeom>
              <a:avLst/>
              <a:gdLst/>
              <a:ahLst/>
              <a:cxnLst/>
              <a:rect l="l" t="t" r="r" b="b"/>
              <a:pathLst>
                <a:path w="5233670" h="1144905">
                  <a:moveTo>
                    <a:pt x="5163947" y="0"/>
                  </a:moveTo>
                  <a:lnTo>
                    <a:pt x="69418" y="0"/>
                  </a:lnTo>
                  <a:lnTo>
                    <a:pt x="42396" y="5461"/>
                  </a:lnTo>
                  <a:lnTo>
                    <a:pt x="20331" y="20351"/>
                  </a:lnTo>
                  <a:lnTo>
                    <a:pt x="5454" y="42433"/>
                  </a:lnTo>
                  <a:lnTo>
                    <a:pt x="0" y="69468"/>
                  </a:lnTo>
                  <a:lnTo>
                    <a:pt x="0" y="1075054"/>
                  </a:lnTo>
                  <a:lnTo>
                    <a:pt x="5454" y="1102090"/>
                  </a:lnTo>
                  <a:lnTo>
                    <a:pt x="20331" y="1124172"/>
                  </a:lnTo>
                  <a:lnTo>
                    <a:pt x="42396" y="1139062"/>
                  </a:lnTo>
                  <a:lnTo>
                    <a:pt x="69418" y="1144523"/>
                  </a:lnTo>
                  <a:lnTo>
                    <a:pt x="5163947" y="1144523"/>
                  </a:lnTo>
                  <a:lnTo>
                    <a:pt x="5190982" y="1139062"/>
                  </a:lnTo>
                  <a:lnTo>
                    <a:pt x="5213064" y="1124172"/>
                  </a:lnTo>
                  <a:lnTo>
                    <a:pt x="5227955" y="1102090"/>
                  </a:lnTo>
                  <a:lnTo>
                    <a:pt x="5233416" y="1075054"/>
                  </a:lnTo>
                  <a:lnTo>
                    <a:pt x="5233416" y="69468"/>
                  </a:lnTo>
                  <a:lnTo>
                    <a:pt x="5227955" y="42433"/>
                  </a:lnTo>
                  <a:lnTo>
                    <a:pt x="5213064" y="20351"/>
                  </a:lnTo>
                  <a:lnTo>
                    <a:pt x="5190982" y="5461"/>
                  </a:lnTo>
                  <a:lnTo>
                    <a:pt x="5163947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1416" y="1685543"/>
              <a:ext cx="5233670" cy="1144905"/>
            </a:xfrm>
            <a:custGeom>
              <a:avLst/>
              <a:gdLst/>
              <a:ahLst/>
              <a:cxnLst/>
              <a:rect l="l" t="t" r="r" b="b"/>
              <a:pathLst>
                <a:path w="5233670" h="1144905">
                  <a:moveTo>
                    <a:pt x="0" y="69468"/>
                  </a:moveTo>
                  <a:lnTo>
                    <a:pt x="5454" y="42433"/>
                  </a:lnTo>
                  <a:lnTo>
                    <a:pt x="20331" y="20351"/>
                  </a:lnTo>
                  <a:lnTo>
                    <a:pt x="42396" y="5461"/>
                  </a:lnTo>
                  <a:lnTo>
                    <a:pt x="69418" y="0"/>
                  </a:lnTo>
                  <a:lnTo>
                    <a:pt x="5163947" y="0"/>
                  </a:lnTo>
                  <a:lnTo>
                    <a:pt x="5190982" y="5461"/>
                  </a:lnTo>
                  <a:lnTo>
                    <a:pt x="5213064" y="20351"/>
                  </a:lnTo>
                  <a:lnTo>
                    <a:pt x="5227955" y="42433"/>
                  </a:lnTo>
                  <a:lnTo>
                    <a:pt x="5233416" y="69468"/>
                  </a:lnTo>
                  <a:lnTo>
                    <a:pt x="5233416" y="1075054"/>
                  </a:lnTo>
                  <a:lnTo>
                    <a:pt x="5227955" y="1102090"/>
                  </a:lnTo>
                  <a:lnTo>
                    <a:pt x="5213064" y="1124172"/>
                  </a:lnTo>
                  <a:lnTo>
                    <a:pt x="5190982" y="1139062"/>
                  </a:lnTo>
                  <a:lnTo>
                    <a:pt x="5163947" y="1144523"/>
                  </a:lnTo>
                  <a:lnTo>
                    <a:pt x="69418" y="1144523"/>
                  </a:lnTo>
                  <a:lnTo>
                    <a:pt x="42396" y="1139062"/>
                  </a:lnTo>
                  <a:lnTo>
                    <a:pt x="20331" y="1124172"/>
                  </a:lnTo>
                  <a:lnTo>
                    <a:pt x="5454" y="1102090"/>
                  </a:lnTo>
                  <a:lnTo>
                    <a:pt x="0" y="1075054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20623" y="2194712"/>
            <a:ext cx="4429125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larger sequence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in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which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searching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is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performed.</a:t>
            </a:r>
            <a:r>
              <a:rPr sz="130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"haystack"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through.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8368" y="2993135"/>
            <a:ext cx="5240020" cy="1150620"/>
            <a:chOff x="658368" y="2993135"/>
            <a:chExt cx="5240020" cy="1150620"/>
          </a:xfrm>
        </p:grpSpPr>
        <p:sp>
          <p:nvSpPr>
            <p:cNvPr id="8" name="object 8"/>
            <p:cNvSpPr/>
            <p:nvPr/>
          </p:nvSpPr>
          <p:spPr>
            <a:xfrm>
              <a:off x="661416" y="2996183"/>
              <a:ext cx="5233670" cy="1144905"/>
            </a:xfrm>
            <a:custGeom>
              <a:avLst/>
              <a:gdLst/>
              <a:ahLst/>
              <a:cxnLst/>
              <a:rect l="l" t="t" r="r" b="b"/>
              <a:pathLst>
                <a:path w="5233670" h="1144904">
                  <a:moveTo>
                    <a:pt x="5163947" y="0"/>
                  </a:moveTo>
                  <a:lnTo>
                    <a:pt x="69418" y="0"/>
                  </a:lnTo>
                  <a:lnTo>
                    <a:pt x="42396" y="5461"/>
                  </a:lnTo>
                  <a:lnTo>
                    <a:pt x="20331" y="20351"/>
                  </a:lnTo>
                  <a:lnTo>
                    <a:pt x="5454" y="42433"/>
                  </a:lnTo>
                  <a:lnTo>
                    <a:pt x="0" y="69468"/>
                  </a:lnTo>
                  <a:lnTo>
                    <a:pt x="0" y="1075054"/>
                  </a:lnTo>
                  <a:lnTo>
                    <a:pt x="5454" y="1102090"/>
                  </a:lnTo>
                  <a:lnTo>
                    <a:pt x="20331" y="1124172"/>
                  </a:lnTo>
                  <a:lnTo>
                    <a:pt x="42396" y="1139062"/>
                  </a:lnTo>
                  <a:lnTo>
                    <a:pt x="69418" y="1144523"/>
                  </a:lnTo>
                  <a:lnTo>
                    <a:pt x="5163947" y="1144523"/>
                  </a:lnTo>
                  <a:lnTo>
                    <a:pt x="5190982" y="1139062"/>
                  </a:lnTo>
                  <a:lnTo>
                    <a:pt x="5213064" y="1124172"/>
                  </a:lnTo>
                  <a:lnTo>
                    <a:pt x="5227955" y="1102090"/>
                  </a:lnTo>
                  <a:lnTo>
                    <a:pt x="5233416" y="1075054"/>
                  </a:lnTo>
                  <a:lnTo>
                    <a:pt x="5233416" y="69468"/>
                  </a:lnTo>
                  <a:lnTo>
                    <a:pt x="5227955" y="42433"/>
                  </a:lnTo>
                  <a:lnTo>
                    <a:pt x="5213064" y="20351"/>
                  </a:lnTo>
                  <a:lnTo>
                    <a:pt x="5190982" y="5461"/>
                  </a:lnTo>
                  <a:lnTo>
                    <a:pt x="5163947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1416" y="2996183"/>
              <a:ext cx="5233670" cy="1144905"/>
            </a:xfrm>
            <a:custGeom>
              <a:avLst/>
              <a:gdLst/>
              <a:ahLst/>
              <a:cxnLst/>
              <a:rect l="l" t="t" r="r" b="b"/>
              <a:pathLst>
                <a:path w="5233670" h="1144904">
                  <a:moveTo>
                    <a:pt x="0" y="69468"/>
                  </a:moveTo>
                  <a:lnTo>
                    <a:pt x="5454" y="42433"/>
                  </a:lnTo>
                  <a:lnTo>
                    <a:pt x="20331" y="20351"/>
                  </a:lnTo>
                  <a:lnTo>
                    <a:pt x="42396" y="5461"/>
                  </a:lnTo>
                  <a:lnTo>
                    <a:pt x="69418" y="0"/>
                  </a:lnTo>
                  <a:lnTo>
                    <a:pt x="5163947" y="0"/>
                  </a:lnTo>
                  <a:lnTo>
                    <a:pt x="5190982" y="5461"/>
                  </a:lnTo>
                  <a:lnTo>
                    <a:pt x="5213064" y="20351"/>
                  </a:lnTo>
                  <a:lnTo>
                    <a:pt x="5227955" y="42433"/>
                  </a:lnTo>
                  <a:lnTo>
                    <a:pt x="5233416" y="69468"/>
                  </a:lnTo>
                  <a:lnTo>
                    <a:pt x="5233416" y="1075054"/>
                  </a:lnTo>
                  <a:lnTo>
                    <a:pt x="5227955" y="1102090"/>
                  </a:lnTo>
                  <a:lnTo>
                    <a:pt x="5213064" y="1124172"/>
                  </a:lnTo>
                  <a:lnTo>
                    <a:pt x="5190982" y="1139062"/>
                  </a:lnTo>
                  <a:lnTo>
                    <a:pt x="5163947" y="1144523"/>
                  </a:lnTo>
                  <a:lnTo>
                    <a:pt x="69418" y="1144523"/>
                  </a:lnTo>
                  <a:lnTo>
                    <a:pt x="42396" y="1139062"/>
                  </a:lnTo>
                  <a:lnTo>
                    <a:pt x="20331" y="1124172"/>
                  </a:lnTo>
                  <a:lnTo>
                    <a:pt x="5454" y="1102090"/>
                  </a:lnTo>
                  <a:lnTo>
                    <a:pt x="0" y="1075054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20623" y="3105149"/>
            <a:ext cx="449707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6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(P)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123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smaller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sequence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 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that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we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want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find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inside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text.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"needle"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looking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for.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1416" y="4367784"/>
            <a:ext cx="5233670" cy="20320"/>
          </a:xfrm>
          <a:custGeom>
            <a:avLst/>
            <a:gdLst/>
            <a:ahLst/>
            <a:cxnLst/>
            <a:rect l="l" t="t" r="r" b="b"/>
            <a:pathLst>
              <a:path w="5233670" h="20320">
                <a:moveTo>
                  <a:pt x="5228971" y="0"/>
                </a:moveTo>
                <a:lnTo>
                  <a:pt x="4432" y="0"/>
                </a:lnTo>
                <a:lnTo>
                  <a:pt x="0" y="4445"/>
                </a:lnTo>
                <a:lnTo>
                  <a:pt x="0" y="9906"/>
                </a:lnTo>
                <a:lnTo>
                  <a:pt x="0" y="15367"/>
                </a:lnTo>
                <a:lnTo>
                  <a:pt x="4432" y="19812"/>
                </a:lnTo>
                <a:lnTo>
                  <a:pt x="5228971" y="19812"/>
                </a:lnTo>
                <a:lnTo>
                  <a:pt x="5233416" y="15367"/>
                </a:lnTo>
                <a:lnTo>
                  <a:pt x="5233416" y="4445"/>
                </a:lnTo>
                <a:lnTo>
                  <a:pt x="5228971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8716" y="4552950"/>
            <a:ext cx="18180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latin typeface="Arial"/>
                <a:cs typeface="Arial"/>
              </a:rPr>
              <a:t>Possible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Outcomes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716" y="5019573"/>
            <a:ext cx="4420870" cy="88391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76225" indent="-263525">
              <a:lnSpc>
                <a:spcPct val="100000"/>
              </a:lnSpc>
              <a:spcBef>
                <a:spcPts val="229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once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35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multiple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times</a:t>
            </a:r>
            <a:r>
              <a:rPr sz="1300" b="1" spc="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(overlapping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non-</a:t>
            </a:r>
            <a:endParaRPr sz="1300">
              <a:latin typeface="Microsoft Sans Serif"/>
              <a:cs typeface="Microsoft Sans Serif"/>
            </a:endParaRPr>
          </a:p>
          <a:p>
            <a:pPr marL="276225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overlapping).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30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not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occur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all.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84391" y="1499616"/>
            <a:ext cx="5471160" cy="4520565"/>
          </a:xfrm>
          <a:custGeom>
            <a:avLst/>
            <a:gdLst/>
            <a:ahLst/>
            <a:cxnLst/>
            <a:rect l="l" t="t" r="r" b="b"/>
            <a:pathLst>
              <a:path w="5471159" h="4520565">
                <a:moveTo>
                  <a:pt x="5352034" y="0"/>
                </a:moveTo>
                <a:lnTo>
                  <a:pt x="118999" y="0"/>
                </a:lnTo>
                <a:lnTo>
                  <a:pt x="72705" y="9360"/>
                </a:lnTo>
                <a:lnTo>
                  <a:pt x="34877" y="34877"/>
                </a:lnTo>
                <a:lnTo>
                  <a:pt x="9360" y="72705"/>
                </a:lnTo>
                <a:lnTo>
                  <a:pt x="0" y="118999"/>
                </a:lnTo>
                <a:lnTo>
                  <a:pt x="0" y="4401121"/>
                </a:lnTo>
                <a:lnTo>
                  <a:pt x="9360" y="4447467"/>
                </a:lnTo>
                <a:lnTo>
                  <a:pt x="34877" y="4485312"/>
                </a:lnTo>
                <a:lnTo>
                  <a:pt x="72705" y="4510828"/>
                </a:lnTo>
                <a:lnTo>
                  <a:pt x="118999" y="4520184"/>
                </a:lnTo>
                <a:lnTo>
                  <a:pt x="5352034" y="4520184"/>
                </a:lnTo>
                <a:lnTo>
                  <a:pt x="5398400" y="4510828"/>
                </a:lnTo>
                <a:lnTo>
                  <a:pt x="5436266" y="4485312"/>
                </a:lnTo>
                <a:lnTo>
                  <a:pt x="5461797" y="4447467"/>
                </a:lnTo>
                <a:lnTo>
                  <a:pt x="5471160" y="4401121"/>
                </a:lnTo>
                <a:lnTo>
                  <a:pt x="5471160" y="118999"/>
                </a:lnTo>
                <a:lnTo>
                  <a:pt x="5461797" y="72705"/>
                </a:lnTo>
                <a:lnTo>
                  <a:pt x="5436266" y="34877"/>
                </a:lnTo>
                <a:lnTo>
                  <a:pt x="5398400" y="9360"/>
                </a:lnTo>
                <a:lnTo>
                  <a:pt x="5352034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0623" y="1601850"/>
            <a:ext cx="6442075" cy="641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29580">
              <a:lnSpc>
                <a:spcPts val="1714"/>
              </a:lnSpc>
              <a:spcBef>
                <a:spcPts val="95"/>
              </a:spcBef>
            </a:pPr>
            <a:r>
              <a:rPr sz="1600" b="1" spc="-50" dirty="0">
                <a:solidFill>
                  <a:srgbClr val="F9F6EF"/>
                </a:solidFill>
                <a:latin typeface="Arial"/>
                <a:cs typeface="Arial"/>
              </a:rPr>
              <a:t>Examples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645"/>
              </a:lnSpc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Text</a:t>
            </a:r>
            <a:r>
              <a:rPr sz="1600" b="1" spc="-1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(T)</a:t>
            </a:r>
            <a:endParaRPr sz="1600">
              <a:latin typeface="Arial"/>
              <a:cs typeface="Arial"/>
            </a:endParaRPr>
          </a:p>
          <a:p>
            <a:pPr marL="5529580">
              <a:lnSpc>
                <a:spcPts val="1490"/>
              </a:lnSpc>
            </a:pPr>
            <a:r>
              <a:rPr sz="1300" b="1" dirty="0">
                <a:solidFill>
                  <a:srgbClr val="F9F6EF"/>
                </a:solidFill>
                <a:latin typeface="Arial"/>
                <a:cs typeface="Arial"/>
              </a:rPr>
              <a:t>Example</a:t>
            </a:r>
            <a:r>
              <a:rPr sz="1300" b="1" spc="-7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F9F6EF"/>
                </a:solidFill>
                <a:latin typeface="Arial"/>
                <a:cs typeface="Arial"/>
              </a:rPr>
              <a:t>1: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38061" y="2218715"/>
            <a:ext cx="1988820" cy="6673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Text:</a:t>
            </a:r>
            <a:r>
              <a:rPr sz="1300" spc="-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90" dirty="0">
                <a:solidFill>
                  <a:srgbClr val="F9F6EF"/>
                </a:solidFill>
                <a:latin typeface="Microsoft Sans Serif"/>
                <a:cs typeface="Microsoft Sans Serif"/>
              </a:rPr>
              <a:t>COMPUTER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70" dirty="0">
                <a:solidFill>
                  <a:srgbClr val="F9F6EF"/>
                </a:solidFill>
                <a:latin typeface="Microsoft Sans Serif"/>
                <a:cs typeface="Microsoft Sans Serif"/>
              </a:rPr>
              <a:t>SCIENCE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Pattern: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 SCIENCE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300" dirty="0">
                <a:solidFill>
                  <a:srgbClr val="F9F6EF"/>
                </a:solidFill>
                <a:latin typeface="Microsoft Sans Serif"/>
                <a:cs typeface="Microsoft Sans Serif"/>
              </a:rPr>
              <a:t>→</a:t>
            </a:r>
            <a:r>
              <a:rPr sz="1300" spc="8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occurs</a:t>
            </a:r>
            <a:r>
              <a:rPr sz="1300" spc="6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9F6EF"/>
                </a:solidFill>
                <a:latin typeface="Microsoft Sans Serif"/>
                <a:cs typeface="Microsoft Sans Serif"/>
              </a:rPr>
              <a:t>once.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50508" y="3124199"/>
            <a:ext cx="5140960" cy="1351915"/>
          </a:xfrm>
          <a:custGeom>
            <a:avLst/>
            <a:gdLst/>
            <a:ahLst/>
            <a:cxnLst/>
            <a:rect l="l" t="t" r="r" b="b"/>
            <a:pathLst>
              <a:path w="5140959" h="1351914">
                <a:moveTo>
                  <a:pt x="5140452" y="1337564"/>
                </a:moveTo>
                <a:lnTo>
                  <a:pt x="5136388" y="1333500"/>
                </a:lnTo>
                <a:lnTo>
                  <a:pt x="4064" y="1333500"/>
                </a:lnTo>
                <a:lnTo>
                  <a:pt x="0" y="1337564"/>
                </a:lnTo>
                <a:lnTo>
                  <a:pt x="0" y="1342644"/>
                </a:lnTo>
                <a:lnTo>
                  <a:pt x="0" y="1347724"/>
                </a:lnTo>
                <a:lnTo>
                  <a:pt x="4064" y="1351788"/>
                </a:lnTo>
                <a:lnTo>
                  <a:pt x="5136388" y="1351788"/>
                </a:lnTo>
                <a:lnTo>
                  <a:pt x="5140452" y="1347724"/>
                </a:lnTo>
                <a:lnTo>
                  <a:pt x="5140452" y="1337564"/>
                </a:lnTo>
                <a:close/>
              </a:path>
              <a:path w="5140959" h="1351914">
                <a:moveTo>
                  <a:pt x="5140452" y="4064"/>
                </a:moveTo>
                <a:lnTo>
                  <a:pt x="5136388" y="0"/>
                </a:lnTo>
                <a:lnTo>
                  <a:pt x="4064" y="0"/>
                </a:lnTo>
                <a:lnTo>
                  <a:pt x="0" y="4064"/>
                </a:lnTo>
                <a:lnTo>
                  <a:pt x="0" y="9144"/>
                </a:lnTo>
                <a:lnTo>
                  <a:pt x="0" y="14224"/>
                </a:lnTo>
                <a:lnTo>
                  <a:pt x="4064" y="18288"/>
                </a:lnTo>
                <a:lnTo>
                  <a:pt x="5136388" y="18288"/>
                </a:lnTo>
                <a:lnTo>
                  <a:pt x="5140452" y="14224"/>
                </a:lnTo>
                <a:lnTo>
                  <a:pt x="5140452" y="4064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38061" y="3335657"/>
            <a:ext cx="2824480" cy="88455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b="1" dirty="0">
                <a:solidFill>
                  <a:srgbClr val="F9F6EF"/>
                </a:solidFill>
                <a:latin typeface="Arial"/>
                <a:cs typeface="Arial"/>
              </a:rPr>
              <a:t>Example</a:t>
            </a:r>
            <a:r>
              <a:rPr sz="1300" b="1" spc="-9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F9F6EF"/>
                </a:solidFill>
                <a:latin typeface="Arial"/>
                <a:cs typeface="Arial"/>
              </a:rPr>
              <a:t>2: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Text:</a:t>
            </a:r>
            <a:r>
              <a:rPr sz="1300" spc="-7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BANANA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Pattern: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ANA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300" dirty="0">
                <a:solidFill>
                  <a:srgbClr val="F9F6EF"/>
                </a:solidFill>
                <a:latin typeface="Microsoft Sans Serif"/>
                <a:cs typeface="Microsoft Sans Serif"/>
              </a:rPr>
              <a:t>→</a:t>
            </a:r>
            <a:r>
              <a:rPr sz="1300" spc="6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Pattern</a:t>
            </a:r>
            <a:r>
              <a:rPr sz="1300" spc="9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occurs</a:t>
            </a:r>
            <a:r>
              <a:rPr sz="13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at</a:t>
            </a:r>
            <a:r>
              <a:rPr sz="1300" spc="7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positions</a:t>
            </a:r>
            <a:r>
              <a:rPr sz="1300" spc="8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330" dirty="0">
                <a:solidFill>
                  <a:srgbClr val="F9F6EF"/>
                </a:solidFill>
                <a:latin typeface="Microsoft Sans Serif"/>
                <a:cs typeface="Microsoft Sans Serif"/>
              </a:rPr>
              <a:t>1</a:t>
            </a:r>
            <a:r>
              <a:rPr sz="1300" spc="6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and</a:t>
            </a:r>
            <a:r>
              <a:rPr sz="13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3.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38061" y="4670196"/>
            <a:ext cx="1969135" cy="88391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300" b="1" dirty="0">
                <a:solidFill>
                  <a:srgbClr val="F9F6EF"/>
                </a:solidFill>
                <a:latin typeface="Arial"/>
                <a:cs typeface="Arial"/>
              </a:rPr>
              <a:t>Example</a:t>
            </a:r>
            <a:r>
              <a:rPr sz="1300" b="1" spc="-7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F9F6EF"/>
                </a:solidFill>
                <a:latin typeface="Arial"/>
                <a:cs typeface="Arial"/>
              </a:rPr>
              <a:t>3: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Text:</a:t>
            </a:r>
            <a:r>
              <a:rPr sz="1300" spc="-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75" dirty="0">
                <a:solidFill>
                  <a:srgbClr val="F9F6EF"/>
                </a:solidFill>
                <a:latin typeface="Microsoft Sans Serif"/>
                <a:cs typeface="Microsoft Sans Serif"/>
              </a:rPr>
              <a:t>HELLO</a:t>
            </a:r>
            <a:r>
              <a:rPr sz="1300" spc="-20" dirty="0">
                <a:solidFill>
                  <a:srgbClr val="F9F6EF"/>
                </a:solidFill>
                <a:latin typeface="Microsoft Sans Serif"/>
                <a:cs typeface="Microsoft Sans Serif"/>
              </a:rPr>
              <a:t> WORLD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Pattern:</a:t>
            </a:r>
            <a:r>
              <a:rPr sz="1300" spc="-1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9F6EF"/>
                </a:solidFill>
                <a:latin typeface="Microsoft Sans Serif"/>
                <a:cs typeface="Microsoft Sans Serif"/>
              </a:rPr>
              <a:t>DATA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300" dirty="0">
                <a:solidFill>
                  <a:srgbClr val="F9F6EF"/>
                </a:solidFill>
                <a:latin typeface="Microsoft Sans Serif"/>
                <a:cs typeface="Microsoft Sans Serif"/>
              </a:rPr>
              <a:t>→</a:t>
            </a:r>
            <a:r>
              <a:rPr sz="1300" spc="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Pattern</a:t>
            </a:r>
            <a:r>
              <a:rPr sz="1300" spc="6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does</a:t>
            </a:r>
            <a:r>
              <a:rPr sz="1300" spc="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not</a:t>
            </a:r>
            <a:r>
              <a:rPr sz="13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occur.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787399"/>
            <a:ext cx="627062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How</a:t>
            </a:r>
            <a:r>
              <a:rPr spc="-290" dirty="0"/>
              <a:t> </a:t>
            </a:r>
            <a:r>
              <a:rPr spc="-110" dirty="0"/>
              <a:t>Does</a:t>
            </a:r>
            <a:r>
              <a:rPr spc="-295" dirty="0"/>
              <a:t> </a:t>
            </a:r>
            <a:r>
              <a:rPr spc="-105" dirty="0"/>
              <a:t>String</a:t>
            </a:r>
            <a:r>
              <a:rPr spc="-330" dirty="0"/>
              <a:t> </a:t>
            </a:r>
            <a:r>
              <a:rPr spc="-50" dirty="0"/>
              <a:t>Matching</a:t>
            </a:r>
            <a:r>
              <a:rPr spc="-325" dirty="0"/>
              <a:t> </a:t>
            </a:r>
            <a:r>
              <a:rPr spc="-10" dirty="0"/>
              <a:t>Work?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8368" y="1645920"/>
            <a:ext cx="378460" cy="378460"/>
            <a:chOff x="658368" y="1645920"/>
            <a:chExt cx="378460" cy="378460"/>
          </a:xfrm>
        </p:grpSpPr>
        <p:sp>
          <p:nvSpPr>
            <p:cNvPr id="4" name="object 4"/>
            <p:cNvSpPr/>
            <p:nvPr/>
          </p:nvSpPr>
          <p:spPr>
            <a:xfrm>
              <a:off x="661416" y="1648968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10">
                  <a:moveTo>
                    <a:pt x="302425" y="0"/>
                  </a:moveTo>
                  <a:lnTo>
                    <a:pt x="69430" y="0"/>
                  </a:lnTo>
                  <a:lnTo>
                    <a:pt x="42401" y="5461"/>
                  </a:lnTo>
                  <a:lnTo>
                    <a:pt x="20332" y="20351"/>
                  </a:lnTo>
                  <a:lnTo>
                    <a:pt x="5455" y="42433"/>
                  </a:lnTo>
                  <a:lnTo>
                    <a:pt x="0" y="69469"/>
                  </a:lnTo>
                  <a:lnTo>
                    <a:pt x="0" y="302387"/>
                  </a:lnTo>
                  <a:lnTo>
                    <a:pt x="5455" y="329422"/>
                  </a:lnTo>
                  <a:lnTo>
                    <a:pt x="20332" y="351504"/>
                  </a:lnTo>
                  <a:lnTo>
                    <a:pt x="42401" y="366395"/>
                  </a:lnTo>
                  <a:lnTo>
                    <a:pt x="69430" y="371856"/>
                  </a:lnTo>
                  <a:lnTo>
                    <a:pt x="302425" y="371856"/>
                  </a:lnTo>
                  <a:lnTo>
                    <a:pt x="329454" y="366395"/>
                  </a:lnTo>
                  <a:lnTo>
                    <a:pt x="351523" y="351504"/>
                  </a:lnTo>
                  <a:lnTo>
                    <a:pt x="366400" y="329422"/>
                  </a:lnTo>
                  <a:lnTo>
                    <a:pt x="371856" y="302387"/>
                  </a:lnTo>
                  <a:lnTo>
                    <a:pt x="371856" y="69469"/>
                  </a:lnTo>
                  <a:lnTo>
                    <a:pt x="366400" y="42433"/>
                  </a:lnTo>
                  <a:lnTo>
                    <a:pt x="351523" y="20351"/>
                  </a:lnTo>
                  <a:lnTo>
                    <a:pt x="329454" y="5461"/>
                  </a:lnTo>
                  <a:lnTo>
                    <a:pt x="302425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1416" y="1648968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10">
                  <a:moveTo>
                    <a:pt x="0" y="69469"/>
                  </a:moveTo>
                  <a:lnTo>
                    <a:pt x="5455" y="42433"/>
                  </a:lnTo>
                  <a:lnTo>
                    <a:pt x="20332" y="20351"/>
                  </a:lnTo>
                  <a:lnTo>
                    <a:pt x="42401" y="5461"/>
                  </a:lnTo>
                  <a:lnTo>
                    <a:pt x="69430" y="0"/>
                  </a:lnTo>
                  <a:lnTo>
                    <a:pt x="302425" y="0"/>
                  </a:lnTo>
                  <a:lnTo>
                    <a:pt x="329454" y="5461"/>
                  </a:lnTo>
                  <a:lnTo>
                    <a:pt x="351523" y="20351"/>
                  </a:lnTo>
                  <a:lnTo>
                    <a:pt x="366400" y="42433"/>
                  </a:lnTo>
                  <a:lnTo>
                    <a:pt x="371856" y="69469"/>
                  </a:lnTo>
                  <a:lnTo>
                    <a:pt x="371856" y="302387"/>
                  </a:lnTo>
                  <a:lnTo>
                    <a:pt x="366400" y="329422"/>
                  </a:lnTo>
                  <a:lnTo>
                    <a:pt x="351523" y="351504"/>
                  </a:lnTo>
                  <a:lnTo>
                    <a:pt x="329454" y="366395"/>
                  </a:lnTo>
                  <a:lnTo>
                    <a:pt x="302425" y="371856"/>
                  </a:lnTo>
                  <a:lnTo>
                    <a:pt x="69430" y="371856"/>
                  </a:lnTo>
                  <a:lnTo>
                    <a:pt x="42401" y="366395"/>
                  </a:lnTo>
                  <a:lnTo>
                    <a:pt x="20332" y="351504"/>
                  </a:lnTo>
                  <a:lnTo>
                    <a:pt x="5455" y="329422"/>
                  </a:lnTo>
                  <a:lnTo>
                    <a:pt x="0" y="302387"/>
                  </a:lnTo>
                  <a:lnTo>
                    <a:pt x="0" y="6946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95019" y="1653032"/>
            <a:ext cx="11239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465" dirty="0">
                <a:solidFill>
                  <a:srgbClr val="272424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6383" y="1535472"/>
            <a:ext cx="340487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Select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Position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Select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starting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96584" y="1645920"/>
            <a:ext cx="378460" cy="378460"/>
            <a:chOff x="6196584" y="1645920"/>
            <a:chExt cx="378460" cy="378460"/>
          </a:xfrm>
        </p:grpSpPr>
        <p:sp>
          <p:nvSpPr>
            <p:cNvPr id="9" name="object 9"/>
            <p:cNvSpPr/>
            <p:nvPr/>
          </p:nvSpPr>
          <p:spPr>
            <a:xfrm>
              <a:off x="6199632" y="1648968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10">
                  <a:moveTo>
                    <a:pt x="302387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302387"/>
                  </a:lnTo>
                  <a:lnTo>
                    <a:pt x="5461" y="329422"/>
                  </a:lnTo>
                  <a:lnTo>
                    <a:pt x="20351" y="351504"/>
                  </a:lnTo>
                  <a:lnTo>
                    <a:pt x="42433" y="366395"/>
                  </a:lnTo>
                  <a:lnTo>
                    <a:pt x="69468" y="371856"/>
                  </a:lnTo>
                  <a:lnTo>
                    <a:pt x="302387" y="371856"/>
                  </a:lnTo>
                  <a:lnTo>
                    <a:pt x="329422" y="366395"/>
                  </a:lnTo>
                  <a:lnTo>
                    <a:pt x="351504" y="351504"/>
                  </a:lnTo>
                  <a:lnTo>
                    <a:pt x="366394" y="329422"/>
                  </a:lnTo>
                  <a:lnTo>
                    <a:pt x="371856" y="302387"/>
                  </a:lnTo>
                  <a:lnTo>
                    <a:pt x="371856" y="69469"/>
                  </a:lnTo>
                  <a:lnTo>
                    <a:pt x="366394" y="42433"/>
                  </a:lnTo>
                  <a:lnTo>
                    <a:pt x="351504" y="20351"/>
                  </a:lnTo>
                  <a:lnTo>
                    <a:pt x="329422" y="5461"/>
                  </a:lnTo>
                  <a:lnTo>
                    <a:pt x="302387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9632" y="1648968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10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302387" y="0"/>
                  </a:lnTo>
                  <a:lnTo>
                    <a:pt x="329422" y="5461"/>
                  </a:lnTo>
                  <a:lnTo>
                    <a:pt x="351504" y="20351"/>
                  </a:lnTo>
                  <a:lnTo>
                    <a:pt x="366394" y="42433"/>
                  </a:lnTo>
                  <a:lnTo>
                    <a:pt x="371856" y="69469"/>
                  </a:lnTo>
                  <a:lnTo>
                    <a:pt x="371856" y="302387"/>
                  </a:lnTo>
                  <a:lnTo>
                    <a:pt x="366394" y="329422"/>
                  </a:lnTo>
                  <a:lnTo>
                    <a:pt x="351504" y="351504"/>
                  </a:lnTo>
                  <a:lnTo>
                    <a:pt x="329422" y="366395"/>
                  </a:lnTo>
                  <a:lnTo>
                    <a:pt x="302387" y="371856"/>
                  </a:lnTo>
                  <a:lnTo>
                    <a:pt x="69468" y="371856"/>
                  </a:lnTo>
                  <a:lnTo>
                    <a:pt x="42433" y="366395"/>
                  </a:lnTo>
                  <a:lnTo>
                    <a:pt x="20351" y="351504"/>
                  </a:lnTo>
                  <a:lnTo>
                    <a:pt x="5461" y="329422"/>
                  </a:lnTo>
                  <a:lnTo>
                    <a:pt x="0" y="302387"/>
                  </a:lnTo>
                  <a:lnTo>
                    <a:pt x="0" y="6946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05803" y="1653032"/>
            <a:ext cx="16891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272424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4650" y="1535472"/>
            <a:ext cx="4732655" cy="92392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Compare</a:t>
            </a:r>
            <a:r>
              <a:rPr sz="16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Characters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</a:t>
            </a:r>
            <a:r>
              <a:rPr sz="1300" spc="1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300" spc="1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corresponding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1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one.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8368" y="2795016"/>
            <a:ext cx="378460" cy="378460"/>
            <a:chOff x="658368" y="2795016"/>
            <a:chExt cx="378460" cy="378460"/>
          </a:xfrm>
        </p:grpSpPr>
        <p:sp>
          <p:nvSpPr>
            <p:cNvPr id="14" name="object 14"/>
            <p:cNvSpPr/>
            <p:nvPr/>
          </p:nvSpPr>
          <p:spPr>
            <a:xfrm>
              <a:off x="661416" y="2798064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10">
                  <a:moveTo>
                    <a:pt x="302425" y="0"/>
                  </a:moveTo>
                  <a:lnTo>
                    <a:pt x="69430" y="0"/>
                  </a:lnTo>
                  <a:lnTo>
                    <a:pt x="42401" y="5461"/>
                  </a:lnTo>
                  <a:lnTo>
                    <a:pt x="20332" y="20351"/>
                  </a:lnTo>
                  <a:lnTo>
                    <a:pt x="5455" y="42433"/>
                  </a:lnTo>
                  <a:lnTo>
                    <a:pt x="0" y="69469"/>
                  </a:lnTo>
                  <a:lnTo>
                    <a:pt x="0" y="302387"/>
                  </a:lnTo>
                  <a:lnTo>
                    <a:pt x="5455" y="329422"/>
                  </a:lnTo>
                  <a:lnTo>
                    <a:pt x="20332" y="351504"/>
                  </a:lnTo>
                  <a:lnTo>
                    <a:pt x="42401" y="366395"/>
                  </a:lnTo>
                  <a:lnTo>
                    <a:pt x="69430" y="371856"/>
                  </a:lnTo>
                  <a:lnTo>
                    <a:pt x="302425" y="371856"/>
                  </a:lnTo>
                  <a:lnTo>
                    <a:pt x="329454" y="366394"/>
                  </a:lnTo>
                  <a:lnTo>
                    <a:pt x="351523" y="351504"/>
                  </a:lnTo>
                  <a:lnTo>
                    <a:pt x="366400" y="329422"/>
                  </a:lnTo>
                  <a:lnTo>
                    <a:pt x="371856" y="302387"/>
                  </a:lnTo>
                  <a:lnTo>
                    <a:pt x="371856" y="69469"/>
                  </a:lnTo>
                  <a:lnTo>
                    <a:pt x="366400" y="42433"/>
                  </a:lnTo>
                  <a:lnTo>
                    <a:pt x="351523" y="20351"/>
                  </a:lnTo>
                  <a:lnTo>
                    <a:pt x="329454" y="5461"/>
                  </a:lnTo>
                  <a:lnTo>
                    <a:pt x="302425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1416" y="2798064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10">
                  <a:moveTo>
                    <a:pt x="0" y="69469"/>
                  </a:moveTo>
                  <a:lnTo>
                    <a:pt x="5455" y="42433"/>
                  </a:lnTo>
                  <a:lnTo>
                    <a:pt x="20332" y="20351"/>
                  </a:lnTo>
                  <a:lnTo>
                    <a:pt x="42401" y="5461"/>
                  </a:lnTo>
                  <a:lnTo>
                    <a:pt x="69430" y="0"/>
                  </a:lnTo>
                  <a:lnTo>
                    <a:pt x="302425" y="0"/>
                  </a:lnTo>
                  <a:lnTo>
                    <a:pt x="329454" y="5461"/>
                  </a:lnTo>
                  <a:lnTo>
                    <a:pt x="351523" y="20351"/>
                  </a:lnTo>
                  <a:lnTo>
                    <a:pt x="366400" y="42433"/>
                  </a:lnTo>
                  <a:lnTo>
                    <a:pt x="371856" y="69469"/>
                  </a:lnTo>
                  <a:lnTo>
                    <a:pt x="371856" y="302387"/>
                  </a:lnTo>
                  <a:lnTo>
                    <a:pt x="366400" y="329422"/>
                  </a:lnTo>
                  <a:lnTo>
                    <a:pt x="351523" y="351504"/>
                  </a:lnTo>
                  <a:lnTo>
                    <a:pt x="329454" y="366394"/>
                  </a:lnTo>
                  <a:lnTo>
                    <a:pt x="302425" y="371856"/>
                  </a:lnTo>
                  <a:lnTo>
                    <a:pt x="69430" y="371856"/>
                  </a:lnTo>
                  <a:lnTo>
                    <a:pt x="42401" y="366395"/>
                  </a:lnTo>
                  <a:lnTo>
                    <a:pt x="20332" y="351504"/>
                  </a:lnTo>
                  <a:lnTo>
                    <a:pt x="5455" y="329422"/>
                  </a:lnTo>
                  <a:lnTo>
                    <a:pt x="0" y="302387"/>
                  </a:lnTo>
                  <a:lnTo>
                    <a:pt x="0" y="6946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4540" y="2802763"/>
            <a:ext cx="17462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25" dirty="0">
                <a:solidFill>
                  <a:srgbClr val="272424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6383" y="2685203"/>
            <a:ext cx="4818380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Found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match,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report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successful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current position.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96584" y="2795016"/>
            <a:ext cx="378460" cy="378460"/>
            <a:chOff x="6196584" y="2795016"/>
            <a:chExt cx="378460" cy="378460"/>
          </a:xfrm>
        </p:grpSpPr>
        <p:sp>
          <p:nvSpPr>
            <p:cNvPr id="19" name="object 19"/>
            <p:cNvSpPr/>
            <p:nvPr/>
          </p:nvSpPr>
          <p:spPr>
            <a:xfrm>
              <a:off x="6199632" y="2798064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10">
                  <a:moveTo>
                    <a:pt x="302387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302387"/>
                  </a:lnTo>
                  <a:lnTo>
                    <a:pt x="5461" y="329422"/>
                  </a:lnTo>
                  <a:lnTo>
                    <a:pt x="20351" y="351504"/>
                  </a:lnTo>
                  <a:lnTo>
                    <a:pt x="42433" y="366395"/>
                  </a:lnTo>
                  <a:lnTo>
                    <a:pt x="69468" y="371856"/>
                  </a:lnTo>
                  <a:lnTo>
                    <a:pt x="302387" y="371856"/>
                  </a:lnTo>
                  <a:lnTo>
                    <a:pt x="329422" y="366394"/>
                  </a:lnTo>
                  <a:lnTo>
                    <a:pt x="351504" y="351504"/>
                  </a:lnTo>
                  <a:lnTo>
                    <a:pt x="366394" y="329422"/>
                  </a:lnTo>
                  <a:lnTo>
                    <a:pt x="371856" y="302387"/>
                  </a:lnTo>
                  <a:lnTo>
                    <a:pt x="371856" y="69469"/>
                  </a:lnTo>
                  <a:lnTo>
                    <a:pt x="366394" y="42433"/>
                  </a:lnTo>
                  <a:lnTo>
                    <a:pt x="351504" y="20351"/>
                  </a:lnTo>
                  <a:lnTo>
                    <a:pt x="329422" y="5461"/>
                  </a:lnTo>
                  <a:lnTo>
                    <a:pt x="302387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99632" y="2798064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10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302387" y="0"/>
                  </a:lnTo>
                  <a:lnTo>
                    <a:pt x="329422" y="5461"/>
                  </a:lnTo>
                  <a:lnTo>
                    <a:pt x="351504" y="20351"/>
                  </a:lnTo>
                  <a:lnTo>
                    <a:pt x="366394" y="42433"/>
                  </a:lnTo>
                  <a:lnTo>
                    <a:pt x="371856" y="69469"/>
                  </a:lnTo>
                  <a:lnTo>
                    <a:pt x="371856" y="302387"/>
                  </a:lnTo>
                  <a:lnTo>
                    <a:pt x="366394" y="329422"/>
                  </a:lnTo>
                  <a:lnTo>
                    <a:pt x="351504" y="351504"/>
                  </a:lnTo>
                  <a:lnTo>
                    <a:pt x="329422" y="366394"/>
                  </a:lnTo>
                  <a:lnTo>
                    <a:pt x="302387" y="371856"/>
                  </a:lnTo>
                  <a:lnTo>
                    <a:pt x="69468" y="371856"/>
                  </a:lnTo>
                  <a:lnTo>
                    <a:pt x="42433" y="366395"/>
                  </a:lnTo>
                  <a:lnTo>
                    <a:pt x="20351" y="351504"/>
                  </a:lnTo>
                  <a:lnTo>
                    <a:pt x="5461" y="329422"/>
                  </a:lnTo>
                  <a:lnTo>
                    <a:pt x="0" y="302387"/>
                  </a:lnTo>
                  <a:lnTo>
                    <a:pt x="0" y="6946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98184" y="2802763"/>
            <a:ext cx="18415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100" dirty="0">
                <a:solidFill>
                  <a:srgbClr val="272424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24650" y="2685203"/>
            <a:ext cx="439102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Mismatch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occurs,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according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strategy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8368" y="4201667"/>
            <a:ext cx="3519170" cy="501650"/>
            <a:chOff x="658368" y="4201667"/>
            <a:chExt cx="3519170" cy="501650"/>
          </a:xfrm>
        </p:grpSpPr>
        <p:sp>
          <p:nvSpPr>
            <p:cNvPr id="24" name="object 24"/>
            <p:cNvSpPr/>
            <p:nvPr/>
          </p:nvSpPr>
          <p:spPr>
            <a:xfrm>
              <a:off x="661416" y="4204715"/>
              <a:ext cx="3512820" cy="495300"/>
            </a:xfrm>
            <a:custGeom>
              <a:avLst/>
              <a:gdLst/>
              <a:ahLst/>
              <a:cxnLst/>
              <a:rect l="l" t="t" r="r" b="b"/>
              <a:pathLst>
                <a:path w="3512820" h="495300">
                  <a:moveTo>
                    <a:pt x="3265170" y="0"/>
                  </a:moveTo>
                  <a:lnTo>
                    <a:pt x="247650" y="0"/>
                  </a:ln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49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50" y="495299"/>
                  </a:lnTo>
                  <a:lnTo>
                    <a:pt x="3265170" y="495299"/>
                  </a:lnTo>
                  <a:lnTo>
                    <a:pt x="3315081" y="490268"/>
                  </a:lnTo>
                  <a:lnTo>
                    <a:pt x="3361568" y="475839"/>
                  </a:lnTo>
                  <a:lnTo>
                    <a:pt x="3403635" y="453006"/>
                  </a:lnTo>
                  <a:lnTo>
                    <a:pt x="3440287" y="422767"/>
                  </a:lnTo>
                  <a:lnTo>
                    <a:pt x="3470526" y="386115"/>
                  </a:lnTo>
                  <a:lnTo>
                    <a:pt x="3493359" y="344048"/>
                  </a:lnTo>
                  <a:lnTo>
                    <a:pt x="3507788" y="297561"/>
                  </a:lnTo>
                  <a:lnTo>
                    <a:pt x="3512820" y="247649"/>
                  </a:lnTo>
                  <a:lnTo>
                    <a:pt x="3507788" y="197738"/>
                  </a:lnTo>
                  <a:lnTo>
                    <a:pt x="3493359" y="151251"/>
                  </a:lnTo>
                  <a:lnTo>
                    <a:pt x="3470526" y="109184"/>
                  </a:lnTo>
                  <a:lnTo>
                    <a:pt x="3440287" y="72532"/>
                  </a:lnTo>
                  <a:lnTo>
                    <a:pt x="3403635" y="42293"/>
                  </a:lnTo>
                  <a:lnTo>
                    <a:pt x="3361568" y="19460"/>
                  </a:lnTo>
                  <a:lnTo>
                    <a:pt x="3315081" y="5031"/>
                  </a:lnTo>
                  <a:lnTo>
                    <a:pt x="3265170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1416" y="4204715"/>
              <a:ext cx="3512820" cy="495300"/>
            </a:xfrm>
            <a:custGeom>
              <a:avLst/>
              <a:gdLst/>
              <a:ahLst/>
              <a:cxnLst/>
              <a:rect l="l" t="t" r="r" b="b"/>
              <a:pathLst>
                <a:path w="3512820" h="495300">
                  <a:moveTo>
                    <a:pt x="0" y="247649"/>
                  </a:moveTo>
                  <a:lnTo>
                    <a:pt x="5031" y="197738"/>
                  </a:lnTo>
                  <a:lnTo>
                    <a:pt x="19460" y="151251"/>
                  </a:lnTo>
                  <a:lnTo>
                    <a:pt x="42293" y="109184"/>
                  </a:lnTo>
                  <a:lnTo>
                    <a:pt x="72532" y="72532"/>
                  </a:lnTo>
                  <a:lnTo>
                    <a:pt x="109184" y="42293"/>
                  </a:lnTo>
                  <a:lnTo>
                    <a:pt x="151251" y="19460"/>
                  </a:lnTo>
                  <a:lnTo>
                    <a:pt x="197738" y="5031"/>
                  </a:lnTo>
                  <a:lnTo>
                    <a:pt x="247650" y="0"/>
                  </a:lnTo>
                  <a:lnTo>
                    <a:pt x="3265170" y="0"/>
                  </a:lnTo>
                  <a:lnTo>
                    <a:pt x="3315081" y="5031"/>
                  </a:lnTo>
                  <a:lnTo>
                    <a:pt x="3361568" y="19460"/>
                  </a:lnTo>
                  <a:lnTo>
                    <a:pt x="3403635" y="42293"/>
                  </a:lnTo>
                  <a:lnTo>
                    <a:pt x="3440287" y="72532"/>
                  </a:lnTo>
                  <a:lnTo>
                    <a:pt x="3470526" y="109184"/>
                  </a:lnTo>
                  <a:lnTo>
                    <a:pt x="3493359" y="151251"/>
                  </a:lnTo>
                  <a:lnTo>
                    <a:pt x="3507788" y="197738"/>
                  </a:lnTo>
                  <a:lnTo>
                    <a:pt x="3512820" y="247649"/>
                  </a:lnTo>
                  <a:lnTo>
                    <a:pt x="3507788" y="297561"/>
                  </a:lnTo>
                  <a:lnTo>
                    <a:pt x="3493359" y="344048"/>
                  </a:lnTo>
                  <a:lnTo>
                    <a:pt x="3470526" y="386115"/>
                  </a:lnTo>
                  <a:lnTo>
                    <a:pt x="3440287" y="422767"/>
                  </a:lnTo>
                  <a:lnTo>
                    <a:pt x="3403635" y="453006"/>
                  </a:lnTo>
                  <a:lnTo>
                    <a:pt x="3361568" y="475839"/>
                  </a:lnTo>
                  <a:lnTo>
                    <a:pt x="3315081" y="490268"/>
                  </a:lnTo>
                  <a:lnTo>
                    <a:pt x="3265170" y="495299"/>
                  </a:lnTo>
                  <a:lnTo>
                    <a:pt x="247650" y="495299"/>
                  </a:lnTo>
                  <a:lnTo>
                    <a:pt x="197738" y="490268"/>
                  </a:lnTo>
                  <a:lnTo>
                    <a:pt x="151251" y="475839"/>
                  </a:lnTo>
                  <a:lnTo>
                    <a:pt x="109184" y="453006"/>
                  </a:lnTo>
                  <a:lnTo>
                    <a:pt x="72532" y="422767"/>
                  </a:lnTo>
                  <a:lnTo>
                    <a:pt x="42293" y="386115"/>
                  </a:lnTo>
                  <a:lnTo>
                    <a:pt x="19460" y="344048"/>
                  </a:lnTo>
                  <a:lnTo>
                    <a:pt x="5031" y="297561"/>
                  </a:lnTo>
                  <a:lnTo>
                    <a:pt x="0" y="24764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14222" y="4670242"/>
            <a:ext cx="207772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Brute-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Force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Try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335779" y="4201667"/>
            <a:ext cx="3519170" cy="501650"/>
            <a:chOff x="4335779" y="4201667"/>
            <a:chExt cx="3519170" cy="501650"/>
          </a:xfrm>
        </p:grpSpPr>
        <p:sp>
          <p:nvSpPr>
            <p:cNvPr id="28" name="object 28"/>
            <p:cNvSpPr/>
            <p:nvPr/>
          </p:nvSpPr>
          <p:spPr>
            <a:xfrm>
              <a:off x="4338827" y="4204715"/>
              <a:ext cx="3512820" cy="495300"/>
            </a:xfrm>
            <a:custGeom>
              <a:avLst/>
              <a:gdLst/>
              <a:ahLst/>
              <a:cxnLst/>
              <a:rect l="l" t="t" r="r" b="b"/>
              <a:pathLst>
                <a:path w="3512820" h="495300">
                  <a:moveTo>
                    <a:pt x="3265170" y="0"/>
                  </a:moveTo>
                  <a:lnTo>
                    <a:pt x="247650" y="0"/>
                  </a:ln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49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50" y="495299"/>
                  </a:lnTo>
                  <a:lnTo>
                    <a:pt x="3265170" y="495299"/>
                  </a:lnTo>
                  <a:lnTo>
                    <a:pt x="3315081" y="490268"/>
                  </a:lnTo>
                  <a:lnTo>
                    <a:pt x="3361568" y="475839"/>
                  </a:lnTo>
                  <a:lnTo>
                    <a:pt x="3403635" y="453006"/>
                  </a:lnTo>
                  <a:lnTo>
                    <a:pt x="3440287" y="422767"/>
                  </a:lnTo>
                  <a:lnTo>
                    <a:pt x="3470526" y="386115"/>
                  </a:lnTo>
                  <a:lnTo>
                    <a:pt x="3493359" y="344048"/>
                  </a:lnTo>
                  <a:lnTo>
                    <a:pt x="3507788" y="297561"/>
                  </a:lnTo>
                  <a:lnTo>
                    <a:pt x="3512820" y="247649"/>
                  </a:lnTo>
                  <a:lnTo>
                    <a:pt x="3507788" y="197738"/>
                  </a:lnTo>
                  <a:lnTo>
                    <a:pt x="3493359" y="151251"/>
                  </a:lnTo>
                  <a:lnTo>
                    <a:pt x="3470526" y="109184"/>
                  </a:lnTo>
                  <a:lnTo>
                    <a:pt x="3440287" y="72532"/>
                  </a:lnTo>
                  <a:lnTo>
                    <a:pt x="3403635" y="42293"/>
                  </a:lnTo>
                  <a:lnTo>
                    <a:pt x="3361568" y="19460"/>
                  </a:lnTo>
                  <a:lnTo>
                    <a:pt x="3315081" y="5031"/>
                  </a:lnTo>
                  <a:lnTo>
                    <a:pt x="3265170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38827" y="4204715"/>
              <a:ext cx="3512820" cy="495300"/>
            </a:xfrm>
            <a:custGeom>
              <a:avLst/>
              <a:gdLst/>
              <a:ahLst/>
              <a:cxnLst/>
              <a:rect l="l" t="t" r="r" b="b"/>
              <a:pathLst>
                <a:path w="3512820" h="495300">
                  <a:moveTo>
                    <a:pt x="0" y="247649"/>
                  </a:moveTo>
                  <a:lnTo>
                    <a:pt x="5031" y="197738"/>
                  </a:lnTo>
                  <a:lnTo>
                    <a:pt x="19460" y="151251"/>
                  </a:lnTo>
                  <a:lnTo>
                    <a:pt x="42293" y="109184"/>
                  </a:lnTo>
                  <a:lnTo>
                    <a:pt x="72532" y="72532"/>
                  </a:lnTo>
                  <a:lnTo>
                    <a:pt x="109184" y="42293"/>
                  </a:lnTo>
                  <a:lnTo>
                    <a:pt x="151251" y="19460"/>
                  </a:lnTo>
                  <a:lnTo>
                    <a:pt x="197738" y="5031"/>
                  </a:lnTo>
                  <a:lnTo>
                    <a:pt x="247650" y="0"/>
                  </a:lnTo>
                  <a:lnTo>
                    <a:pt x="3265170" y="0"/>
                  </a:lnTo>
                  <a:lnTo>
                    <a:pt x="3315081" y="5031"/>
                  </a:lnTo>
                  <a:lnTo>
                    <a:pt x="3361568" y="19460"/>
                  </a:lnTo>
                  <a:lnTo>
                    <a:pt x="3403635" y="42293"/>
                  </a:lnTo>
                  <a:lnTo>
                    <a:pt x="3440287" y="72532"/>
                  </a:lnTo>
                  <a:lnTo>
                    <a:pt x="3470526" y="109184"/>
                  </a:lnTo>
                  <a:lnTo>
                    <a:pt x="3493359" y="151251"/>
                  </a:lnTo>
                  <a:lnTo>
                    <a:pt x="3507788" y="197738"/>
                  </a:lnTo>
                  <a:lnTo>
                    <a:pt x="3512820" y="247649"/>
                  </a:lnTo>
                  <a:lnTo>
                    <a:pt x="3507788" y="297561"/>
                  </a:lnTo>
                  <a:lnTo>
                    <a:pt x="3493359" y="344048"/>
                  </a:lnTo>
                  <a:lnTo>
                    <a:pt x="3470526" y="386115"/>
                  </a:lnTo>
                  <a:lnTo>
                    <a:pt x="3440287" y="422767"/>
                  </a:lnTo>
                  <a:lnTo>
                    <a:pt x="3403635" y="453006"/>
                  </a:lnTo>
                  <a:lnTo>
                    <a:pt x="3361568" y="475839"/>
                  </a:lnTo>
                  <a:lnTo>
                    <a:pt x="3315081" y="490268"/>
                  </a:lnTo>
                  <a:lnTo>
                    <a:pt x="3265170" y="495299"/>
                  </a:lnTo>
                  <a:lnTo>
                    <a:pt x="247650" y="495299"/>
                  </a:lnTo>
                  <a:lnTo>
                    <a:pt x="197738" y="490268"/>
                  </a:lnTo>
                  <a:lnTo>
                    <a:pt x="151251" y="475839"/>
                  </a:lnTo>
                  <a:lnTo>
                    <a:pt x="109184" y="453006"/>
                  </a:lnTo>
                  <a:lnTo>
                    <a:pt x="72532" y="422767"/>
                  </a:lnTo>
                  <a:lnTo>
                    <a:pt x="42293" y="386115"/>
                  </a:lnTo>
                  <a:lnTo>
                    <a:pt x="19460" y="344048"/>
                  </a:lnTo>
                  <a:lnTo>
                    <a:pt x="5031" y="297561"/>
                  </a:lnTo>
                  <a:lnTo>
                    <a:pt x="0" y="24764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8716" y="3786885"/>
            <a:ext cx="6926580" cy="80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algorithms</a:t>
            </a:r>
            <a:r>
              <a:rPr sz="1300" spc="1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use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strategies</a:t>
            </a:r>
            <a:r>
              <a:rPr sz="1300" spc="1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mismatch.</a:t>
            </a:r>
            <a:r>
              <a:rPr sz="1300" spc="1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presentation</a:t>
            </a:r>
            <a:r>
              <a:rPr sz="1300" spc="1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focuses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on: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1729105">
              <a:lnSpc>
                <a:spcPct val="100000"/>
              </a:lnSpc>
              <a:tabLst>
                <a:tab pos="5379720" algn="l"/>
              </a:tabLst>
            </a:pPr>
            <a:r>
              <a:rPr sz="1950" b="1" spc="-465" dirty="0">
                <a:solidFill>
                  <a:srgbClr val="272424"/>
                </a:solidFill>
                <a:latin typeface="Arial"/>
                <a:cs typeface="Arial"/>
              </a:rPr>
              <a:t>1</a:t>
            </a:r>
            <a:r>
              <a:rPr sz="1950" b="1" dirty="0">
                <a:solidFill>
                  <a:srgbClr val="272424"/>
                </a:solidFill>
                <a:latin typeface="Arial"/>
                <a:cs typeface="Arial"/>
              </a:rPr>
              <a:t>	</a:t>
            </a:r>
            <a:r>
              <a:rPr sz="1950" b="1" spc="-50" dirty="0">
                <a:solidFill>
                  <a:srgbClr val="272424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2497" y="4670242"/>
            <a:ext cx="261112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Hashing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Use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numerical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fingerprints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filter.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014716" y="4201667"/>
            <a:ext cx="3519170" cy="501650"/>
            <a:chOff x="8014716" y="4201667"/>
            <a:chExt cx="3519170" cy="501650"/>
          </a:xfrm>
        </p:grpSpPr>
        <p:sp>
          <p:nvSpPr>
            <p:cNvPr id="33" name="object 33"/>
            <p:cNvSpPr/>
            <p:nvPr/>
          </p:nvSpPr>
          <p:spPr>
            <a:xfrm>
              <a:off x="8017764" y="4204715"/>
              <a:ext cx="3512820" cy="495300"/>
            </a:xfrm>
            <a:custGeom>
              <a:avLst/>
              <a:gdLst/>
              <a:ahLst/>
              <a:cxnLst/>
              <a:rect l="l" t="t" r="r" b="b"/>
              <a:pathLst>
                <a:path w="3512820" h="495300">
                  <a:moveTo>
                    <a:pt x="3265169" y="0"/>
                  </a:moveTo>
                  <a:lnTo>
                    <a:pt x="247650" y="0"/>
                  </a:ln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49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50" y="495299"/>
                  </a:lnTo>
                  <a:lnTo>
                    <a:pt x="3265169" y="495299"/>
                  </a:lnTo>
                  <a:lnTo>
                    <a:pt x="3315081" y="490268"/>
                  </a:lnTo>
                  <a:lnTo>
                    <a:pt x="3361568" y="475839"/>
                  </a:lnTo>
                  <a:lnTo>
                    <a:pt x="3403635" y="453006"/>
                  </a:lnTo>
                  <a:lnTo>
                    <a:pt x="3440287" y="422767"/>
                  </a:lnTo>
                  <a:lnTo>
                    <a:pt x="3470526" y="386115"/>
                  </a:lnTo>
                  <a:lnTo>
                    <a:pt x="3493359" y="344048"/>
                  </a:lnTo>
                  <a:lnTo>
                    <a:pt x="3507788" y="297561"/>
                  </a:lnTo>
                  <a:lnTo>
                    <a:pt x="3512819" y="247649"/>
                  </a:lnTo>
                  <a:lnTo>
                    <a:pt x="3507788" y="197738"/>
                  </a:lnTo>
                  <a:lnTo>
                    <a:pt x="3493359" y="151251"/>
                  </a:lnTo>
                  <a:lnTo>
                    <a:pt x="3470526" y="109184"/>
                  </a:lnTo>
                  <a:lnTo>
                    <a:pt x="3440287" y="72532"/>
                  </a:lnTo>
                  <a:lnTo>
                    <a:pt x="3403635" y="42293"/>
                  </a:lnTo>
                  <a:lnTo>
                    <a:pt x="3361568" y="19460"/>
                  </a:lnTo>
                  <a:lnTo>
                    <a:pt x="3315081" y="5031"/>
                  </a:lnTo>
                  <a:lnTo>
                    <a:pt x="326516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17764" y="4204715"/>
              <a:ext cx="3512820" cy="495300"/>
            </a:xfrm>
            <a:custGeom>
              <a:avLst/>
              <a:gdLst/>
              <a:ahLst/>
              <a:cxnLst/>
              <a:rect l="l" t="t" r="r" b="b"/>
              <a:pathLst>
                <a:path w="3512820" h="495300">
                  <a:moveTo>
                    <a:pt x="0" y="247649"/>
                  </a:moveTo>
                  <a:lnTo>
                    <a:pt x="5031" y="197738"/>
                  </a:lnTo>
                  <a:lnTo>
                    <a:pt x="19460" y="151251"/>
                  </a:lnTo>
                  <a:lnTo>
                    <a:pt x="42293" y="109184"/>
                  </a:lnTo>
                  <a:lnTo>
                    <a:pt x="72532" y="72532"/>
                  </a:lnTo>
                  <a:lnTo>
                    <a:pt x="109184" y="42293"/>
                  </a:lnTo>
                  <a:lnTo>
                    <a:pt x="151251" y="19460"/>
                  </a:lnTo>
                  <a:lnTo>
                    <a:pt x="197738" y="5031"/>
                  </a:lnTo>
                  <a:lnTo>
                    <a:pt x="247650" y="0"/>
                  </a:lnTo>
                  <a:lnTo>
                    <a:pt x="3265169" y="0"/>
                  </a:lnTo>
                  <a:lnTo>
                    <a:pt x="3315081" y="5031"/>
                  </a:lnTo>
                  <a:lnTo>
                    <a:pt x="3361568" y="19460"/>
                  </a:lnTo>
                  <a:lnTo>
                    <a:pt x="3403635" y="42293"/>
                  </a:lnTo>
                  <a:lnTo>
                    <a:pt x="3440287" y="72532"/>
                  </a:lnTo>
                  <a:lnTo>
                    <a:pt x="3470526" y="109184"/>
                  </a:lnTo>
                  <a:lnTo>
                    <a:pt x="3493359" y="151251"/>
                  </a:lnTo>
                  <a:lnTo>
                    <a:pt x="3507788" y="197738"/>
                  </a:lnTo>
                  <a:lnTo>
                    <a:pt x="3512819" y="247649"/>
                  </a:lnTo>
                  <a:lnTo>
                    <a:pt x="3507788" y="297561"/>
                  </a:lnTo>
                  <a:lnTo>
                    <a:pt x="3493359" y="344048"/>
                  </a:lnTo>
                  <a:lnTo>
                    <a:pt x="3470526" y="386115"/>
                  </a:lnTo>
                  <a:lnTo>
                    <a:pt x="3440287" y="422767"/>
                  </a:lnTo>
                  <a:lnTo>
                    <a:pt x="3403635" y="453006"/>
                  </a:lnTo>
                  <a:lnTo>
                    <a:pt x="3361568" y="475839"/>
                  </a:lnTo>
                  <a:lnTo>
                    <a:pt x="3315081" y="490268"/>
                  </a:lnTo>
                  <a:lnTo>
                    <a:pt x="3265169" y="495299"/>
                  </a:lnTo>
                  <a:lnTo>
                    <a:pt x="247650" y="495299"/>
                  </a:lnTo>
                  <a:lnTo>
                    <a:pt x="197738" y="490268"/>
                  </a:lnTo>
                  <a:lnTo>
                    <a:pt x="151251" y="475839"/>
                  </a:lnTo>
                  <a:lnTo>
                    <a:pt x="109184" y="453006"/>
                  </a:lnTo>
                  <a:lnTo>
                    <a:pt x="72532" y="422767"/>
                  </a:lnTo>
                  <a:lnTo>
                    <a:pt x="42293" y="386115"/>
                  </a:lnTo>
                  <a:lnTo>
                    <a:pt x="19460" y="344048"/>
                  </a:lnTo>
                  <a:lnTo>
                    <a:pt x="5031" y="297561"/>
                  </a:lnTo>
                  <a:lnTo>
                    <a:pt x="0" y="24764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691878" y="4270628"/>
            <a:ext cx="17462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25" dirty="0">
                <a:solidFill>
                  <a:srgbClr val="272424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71180" y="4670242"/>
            <a:ext cx="218567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Rabin–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Karp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Rolling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8716" y="5722111"/>
            <a:ext cx="69564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Other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advanced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algorithms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(such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Knuth–Morris–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Pratt)</a:t>
            </a:r>
            <a:r>
              <a:rPr sz="1300" spc="1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covered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subsequent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topics.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1416" y="477012"/>
            <a:ext cx="1887220" cy="175260"/>
          </a:xfrm>
          <a:custGeom>
            <a:avLst/>
            <a:gdLst/>
            <a:ahLst/>
            <a:cxnLst/>
            <a:rect l="l" t="t" r="r" b="b"/>
            <a:pathLst>
              <a:path w="1887220" h="175259">
                <a:moveTo>
                  <a:pt x="1847977" y="0"/>
                </a:moveTo>
                <a:lnTo>
                  <a:pt x="38735" y="0"/>
                </a:lnTo>
                <a:lnTo>
                  <a:pt x="23660" y="3051"/>
                </a:lnTo>
                <a:lnTo>
                  <a:pt x="11347" y="11366"/>
                </a:lnTo>
                <a:lnTo>
                  <a:pt x="3044" y="23681"/>
                </a:lnTo>
                <a:lnTo>
                  <a:pt x="0" y="38735"/>
                </a:lnTo>
                <a:lnTo>
                  <a:pt x="0" y="136525"/>
                </a:lnTo>
                <a:lnTo>
                  <a:pt x="3044" y="151578"/>
                </a:lnTo>
                <a:lnTo>
                  <a:pt x="11347" y="163893"/>
                </a:lnTo>
                <a:lnTo>
                  <a:pt x="23660" y="172208"/>
                </a:lnTo>
                <a:lnTo>
                  <a:pt x="38735" y="175260"/>
                </a:lnTo>
                <a:lnTo>
                  <a:pt x="1847977" y="175260"/>
                </a:lnTo>
                <a:lnTo>
                  <a:pt x="1863030" y="172208"/>
                </a:lnTo>
                <a:lnTo>
                  <a:pt x="1875345" y="163893"/>
                </a:lnTo>
                <a:lnTo>
                  <a:pt x="1883660" y="151578"/>
                </a:lnTo>
                <a:lnTo>
                  <a:pt x="1886712" y="136525"/>
                </a:lnTo>
                <a:lnTo>
                  <a:pt x="1886712" y="38735"/>
                </a:lnTo>
                <a:lnTo>
                  <a:pt x="1883660" y="23681"/>
                </a:lnTo>
                <a:lnTo>
                  <a:pt x="1875345" y="11366"/>
                </a:lnTo>
                <a:lnTo>
                  <a:pt x="1863030" y="3051"/>
                </a:lnTo>
                <a:lnTo>
                  <a:pt x="1847977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210" y="488061"/>
            <a:ext cx="17164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6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</a:t>
            </a:r>
            <a:r>
              <a:rPr sz="7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700" dirty="0">
                <a:solidFill>
                  <a:srgbClr val="272424"/>
                </a:solidFill>
                <a:latin typeface="Microsoft Sans Serif"/>
                <a:cs typeface="Microsoft Sans Serif"/>
              </a:rPr>
              <a:t>4:</a:t>
            </a:r>
            <a:r>
              <a:rPr sz="7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7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BRUTE-</a:t>
            </a:r>
            <a:r>
              <a:rPr sz="700" spc="-60" dirty="0">
                <a:solidFill>
                  <a:srgbClr val="272424"/>
                </a:solidFill>
                <a:latin typeface="Microsoft Sans Serif"/>
                <a:cs typeface="Microsoft Sans Serif"/>
              </a:rPr>
              <a:t>FORCE</a:t>
            </a:r>
            <a:r>
              <a:rPr sz="7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700" spc="-6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7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7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716" y="598754"/>
            <a:ext cx="4937760" cy="370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/>
              <a:t>What</a:t>
            </a:r>
            <a:r>
              <a:rPr sz="2250" spc="-140" dirty="0"/>
              <a:t> </a:t>
            </a:r>
            <a:r>
              <a:rPr sz="2250" spc="-100" dirty="0"/>
              <a:t>Is</a:t>
            </a:r>
            <a:r>
              <a:rPr sz="2250" spc="-125" dirty="0"/>
              <a:t> </a:t>
            </a:r>
            <a:r>
              <a:rPr sz="2250" dirty="0"/>
              <a:t>Brute-</a:t>
            </a:r>
            <a:r>
              <a:rPr sz="2250" spc="-60" dirty="0"/>
              <a:t>Force</a:t>
            </a:r>
            <a:r>
              <a:rPr sz="2250" spc="-125" dirty="0"/>
              <a:t> </a:t>
            </a:r>
            <a:r>
              <a:rPr sz="2250" spc="-75" dirty="0"/>
              <a:t>String</a:t>
            </a:r>
            <a:r>
              <a:rPr sz="2250" spc="-140" dirty="0"/>
              <a:t> </a:t>
            </a:r>
            <a:r>
              <a:rPr sz="2250" spc="-25" dirty="0"/>
              <a:t>Matching?</a:t>
            </a:r>
            <a:endParaRPr sz="2250"/>
          </a:p>
        </p:txBody>
      </p:sp>
      <p:sp>
        <p:nvSpPr>
          <p:cNvPr id="5" name="object 5"/>
          <p:cNvSpPr txBox="1"/>
          <p:nvPr/>
        </p:nvSpPr>
        <p:spPr>
          <a:xfrm>
            <a:off x="822452" y="1154684"/>
            <a:ext cx="9522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Brute-Force</a:t>
            </a:r>
            <a:r>
              <a:rPr sz="900" b="1" spc="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72424"/>
                </a:solidFill>
                <a:latin typeface="Arial"/>
                <a:cs typeface="Arial"/>
              </a:rPr>
              <a:t>String</a:t>
            </a:r>
            <a:r>
              <a:rPr sz="900" b="1" spc="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r>
              <a:rPr sz="900" b="1" spc="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9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9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technique</a:t>
            </a:r>
            <a:r>
              <a:rPr sz="900" b="1" spc="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that</a:t>
            </a:r>
            <a:r>
              <a:rPr sz="9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attempts</a:t>
            </a:r>
            <a:r>
              <a:rPr sz="900" b="1" spc="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900" b="1" spc="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r>
              <a:rPr sz="9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9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9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with</a:t>
            </a:r>
            <a:r>
              <a:rPr sz="9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9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text</a:t>
            </a:r>
            <a:r>
              <a:rPr sz="900" b="1" spc="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at</a:t>
            </a:r>
            <a:r>
              <a:rPr sz="9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every</a:t>
            </a:r>
            <a:r>
              <a:rPr sz="90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72424"/>
                </a:solidFill>
                <a:latin typeface="Arial"/>
                <a:cs typeface="Arial"/>
              </a:rPr>
              <a:t>possible</a:t>
            </a:r>
            <a:r>
              <a:rPr sz="900" b="1" spc="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starting</a:t>
            </a:r>
            <a:r>
              <a:rPr sz="9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72424"/>
                </a:solidFill>
                <a:latin typeface="Arial"/>
                <a:cs typeface="Arial"/>
              </a:rPr>
              <a:t>position</a:t>
            </a:r>
            <a:r>
              <a:rPr sz="900" b="1" spc="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72424"/>
                </a:solidFill>
                <a:latin typeface="Arial"/>
                <a:cs typeface="Arial"/>
              </a:rPr>
              <a:t>using</a:t>
            </a:r>
            <a:r>
              <a:rPr sz="9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direct</a:t>
            </a:r>
            <a:r>
              <a:rPr sz="90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character-</a:t>
            </a:r>
            <a:r>
              <a:rPr sz="900" b="1" spc="75" dirty="0">
                <a:solidFill>
                  <a:srgbClr val="272424"/>
                </a:solidFill>
                <a:latin typeface="Arial"/>
                <a:cs typeface="Arial"/>
              </a:rPr>
              <a:t>by-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character</a:t>
            </a:r>
            <a:r>
              <a:rPr sz="900" b="1" spc="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72424"/>
                </a:solidFill>
                <a:latin typeface="Arial"/>
                <a:cs typeface="Arial"/>
              </a:rPr>
              <a:t>comparison.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16" y="1095755"/>
            <a:ext cx="12700" cy="309880"/>
          </a:xfrm>
          <a:custGeom>
            <a:avLst/>
            <a:gdLst/>
            <a:ahLst/>
            <a:cxnLst/>
            <a:rect l="l" t="t" r="r" b="b"/>
            <a:pathLst>
              <a:path w="12700" h="309880">
                <a:moveTo>
                  <a:pt x="9461" y="0"/>
                </a:moveTo>
                <a:lnTo>
                  <a:pt x="2730" y="0"/>
                </a:lnTo>
                <a:lnTo>
                  <a:pt x="0" y="2667"/>
                </a:lnTo>
                <a:lnTo>
                  <a:pt x="0" y="6096"/>
                </a:lnTo>
                <a:lnTo>
                  <a:pt x="0" y="306705"/>
                </a:lnTo>
                <a:lnTo>
                  <a:pt x="2730" y="309372"/>
                </a:lnTo>
                <a:lnTo>
                  <a:pt x="9461" y="309372"/>
                </a:lnTo>
                <a:lnTo>
                  <a:pt x="12192" y="306705"/>
                </a:lnTo>
                <a:lnTo>
                  <a:pt x="12192" y="2667"/>
                </a:lnTo>
                <a:lnTo>
                  <a:pt x="9461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8716" y="1530476"/>
            <a:ext cx="1197610" cy="417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Arial"/>
                <a:cs typeface="Arial"/>
              </a:rPr>
              <a:t>Complete</a:t>
            </a:r>
            <a:r>
              <a:rPr sz="1100" b="1" spc="-9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Process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00" spc="-25" dirty="0">
                <a:solidFill>
                  <a:srgbClr val="272424"/>
                </a:solidFill>
                <a:latin typeface="Arial MT"/>
                <a:cs typeface="Arial MT"/>
              </a:rPr>
              <a:t>01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1416" y="1969007"/>
            <a:ext cx="5293360" cy="12700"/>
          </a:xfrm>
          <a:custGeom>
            <a:avLst/>
            <a:gdLst/>
            <a:ahLst/>
            <a:cxnLst/>
            <a:rect l="l" t="t" r="r" b="b"/>
            <a:pathLst>
              <a:path w="5293360" h="12700">
                <a:moveTo>
                  <a:pt x="5292852" y="0"/>
                </a:moveTo>
                <a:lnTo>
                  <a:pt x="0" y="0"/>
                </a:lnTo>
                <a:lnTo>
                  <a:pt x="0" y="12192"/>
                </a:lnTo>
                <a:lnTo>
                  <a:pt x="5292852" y="12192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716" y="1915524"/>
            <a:ext cx="3060700" cy="4933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Align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Align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9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9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9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716" y="2544571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72424"/>
                </a:solidFill>
                <a:latin typeface="Arial MT"/>
                <a:cs typeface="Arial MT"/>
              </a:rPr>
              <a:t>02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1416" y="2727960"/>
            <a:ext cx="5293360" cy="13970"/>
          </a:xfrm>
          <a:custGeom>
            <a:avLst/>
            <a:gdLst/>
            <a:ahLst/>
            <a:cxnLst/>
            <a:rect l="l" t="t" r="r" b="b"/>
            <a:pathLst>
              <a:path w="5293360" h="13969">
                <a:moveTo>
                  <a:pt x="5292852" y="0"/>
                </a:moveTo>
                <a:lnTo>
                  <a:pt x="0" y="0"/>
                </a:lnTo>
                <a:lnTo>
                  <a:pt x="0" y="13715"/>
                </a:lnTo>
                <a:lnTo>
                  <a:pt x="5292852" y="13715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1416" y="3488436"/>
            <a:ext cx="5293360" cy="12700"/>
          </a:xfrm>
          <a:custGeom>
            <a:avLst/>
            <a:gdLst/>
            <a:ahLst/>
            <a:cxnLst/>
            <a:rect l="l" t="t" r="r" b="b"/>
            <a:pathLst>
              <a:path w="5293360" h="12700">
                <a:moveTo>
                  <a:pt x="5292852" y="0"/>
                </a:moveTo>
                <a:lnTo>
                  <a:pt x="0" y="0"/>
                </a:lnTo>
                <a:lnTo>
                  <a:pt x="0" y="12191"/>
                </a:lnTo>
                <a:lnTo>
                  <a:pt x="5292852" y="12191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1416" y="4247388"/>
            <a:ext cx="5293360" cy="12700"/>
          </a:xfrm>
          <a:custGeom>
            <a:avLst/>
            <a:gdLst/>
            <a:ahLst/>
            <a:cxnLst/>
            <a:rect l="l" t="t" r="r" b="b"/>
            <a:pathLst>
              <a:path w="5293360" h="12700">
                <a:moveTo>
                  <a:pt x="5292852" y="0"/>
                </a:moveTo>
                <a:lnTo>
                  <a:pt x="0" y="0"/>
                </a:lnTo>
                <a:lnTo>
                  <a:pt x="0" y="12191"/>
                </a:lnTo>
                <a:lnTo>
                  <a:pt x="5292852" y="12191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1416" y="5007864"/>
            <a:ext cx="5293360" cy="12700"/>
          </a:xfrm>
          <a:custGeom>
            <a:avLst/>
            <a:gdLst/>
            <a:ahLst/>
            <a:cxnLst/>
            <a:rect l="l" t="t" r="r" b="b"/>
            <a:pathLst>
              <a:path w="5293360" h="12700">
                <a:moveTo>
                  <a:pt x="5292852" y="0"/>
                </a:moveTo>
                <a:lnTo>
                  <a:pt x="0" y="0"/>
                </a:lnTo>
                <a:lnTo>
                  <a:pt x="0" y="12191"/>
                </a:lnTo>
                <a:lnTo>
                  <a:pt x="5292852" y="12191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1416" y="5766816"/>
            <a:ext cx="5293360" cy="12700"/>
          </a:xfrm>
          <a:custGeom>
            <a:avLst/>
            <a:gdLst/>
            <a:ahLst/>
            <a:cxnLst/>
            <a:rect l="l" t="t" r="r" b="b"/>
            <a:pathLst>
              <a:path w="5293360" h="12700">
                <a:moveTo>
                  <a:pt x="5292852" y="0"/>
                </a:moveTo>
                <a:lnTo>
                  <a:pt x="0" y="0"/>
                </a:lnTo>
                <a:lnTo>
                  <a:pt x="0" y="12191"/>
                </a:lnTo>
                <a:lnTo>
                  <a:pt x="5292852" y="12191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8716" y="2675678"/>
            <a:ext cx="3375660" cy="35318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Compare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</a:t>
            </a:r>
            <a:r>
              <a:rPr sz="9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from</a:t>
            </a:r>
            <a:r>
              <a:rPr sz="9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left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to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right.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272424"/>
                </a:solidFill>
                <a:latin typeface="Arial MT"/>
                <a:cs typeface="Arial MT"/>
              </a:rPr>
              <a:t>03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Match?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9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match,</a:t>
            </a:r>
            <a:r>
              <a:rPr sz="9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report</a:t>
            </a:r>
            <a:r>
              <a:rPr sz="9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successful</a:t>
            </a:r>
            <a:r>
              <a:rPr sz="9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solidFill>
                  <a:srgbClr val="272424"/>
                </a:solidFill>
                <a:latin typeface="Arial MT"/>
                <a:cs typeface="Arial MT"/>
              </a:rPr>
              <a:t>04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Mismatch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9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occurs,</a:t>
            </a:r>
            <a:r>
              <a:rPr sz="9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shift</a:t>
            </a:r>
            <a:r>
              <a:rPr sz="9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9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9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right.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272424"/>
                </a:solidFill>
                <a:latin typeface="Arial MT"/>
                <a:cs typeface="Arial MT"/>
              </a:rPr>
              <a:t>05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Repeat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comparing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again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from</a:t>
            </a:r>
            <a:r>
              <a:rPr sz="9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beginning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272424"/>
                </a:solidFill>
                <a:latin typeface="Arial MT"/>
                <a:cs typeface="Arial MT"/>
              </a:rPr>
              <a:t>06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Finish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r>
              <a:rPr sz="9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until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9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9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exhausted.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31382" y="1441023"/>
            <a:ext cx="5202555" cy="122428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100" b="1" spc="-45" dirty="0">
                <a:latin typeface="Arial"/>
                <a:cs typeface="Arial"/>
              </a:rPr>
              <a:t>Key</a:t>
            </a:r>
            <a:r>
              <a:rPr sz="1100" b="1" spc="-9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Emphasis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000"/>
              </a:lnSpc>
              <a:spcBef>
                <a:spcPts val="675"/>
              </a:spcBef>
            </a:pP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The algorithm</a:t>
            </a:r>
            <a:r>
              <a:rPr sz="9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does</a:t>
            </a:r>
            <a:r>
              <a:rPr sz="9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not</a:t>
            </a:r>
            <a:r>
              <a:rPr sz="9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72424"/>
                </a:solidFill>
                <a:latin typeface="Arial"/>
                <a:cs typeface="Arial"/>
              </a:rPr>
              <a:t>use</a:t>
            </a:r>
            <a:r>
              <a:rPr sz="9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any</a:t>
            </a:r>
            <a:r>
              <a:rPr sz="9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advanced</a:t>
            </a:r>
            <a:r>
              <a:rPr sz="90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shortcut.</a:t>
            </a:r>
            <a:r>
              <a:rPr sz="9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9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systematically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tries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9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number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starting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9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9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n</a:t>
            </a:r>
            <a:r>
              <a:rPr sz="90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m</a:t>
            </a:r>
            <a:r>
              <a:rPr sz="9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is:</a:t>
            </a:r>
            <a:endParaRPr sz="900">
              <a:latin typeface="Microsoft Sans Serif"/>
              <a:cs typeface="Microsoft Sans Serif"/>
            </a:endParaRPr>
          </a:p>
          <a:p>
            <a:pPr marL="118745" algn="ctr">
              <a:lnSpc>
                <a:spcPct val="100000"/>
              </a:lnSpc>
              <a:spcBef>
                <a:spcPts val="500"/>
              </a:spcBef>
            </a:pP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n</a:t>
            </a:r>
            <a:r>
              <a:rPr sz="9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−</a:t>
            </a:r>
            <a:r>
              <a:rPr sz="9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m</a:t>
            </a:r>
            <a:r>
              <a:rPr sz="9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72424"/>
                </a:solidFill>
                <a:latin typeface="Arial"/>
                <a:cs typeface="Arial"/>
              </a:rPr>
              <a:t>+</a:t>
            </a:r>
            <a:r>
              <a:rPr sz="900" b="1" spc="-50" dirty="0">
                <a:solidFill>
                  <a:srgbClr val="272424"/>
                </a:solidFill>
                <a:latin typeface="Arial"/>
                <a:cs typeface="Arial"/>
              </a:rPr>
              <a:t> 1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9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9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number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outer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loop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will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check.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355598"/>
            <a:ext cx="772604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Brute-</a:t>
            </a:r>
            <a:r>
              <a:rPr spc="-90" dirty="0"/>
              <a:t>Force</a:t>
            </a:r>
            <a:r>
              <a:rPr spc="-260" dirty="0"/>
              <a:t> </a:t>
            </a:r>
            <a:r>
              <a:rPr spc="-100" dirty="0"/>
              <a:t>Example</a:t>
            </a:r>
            <a:r>
              <a:rPr spc="-254" dirty="0"/>
              <a:t> </a:t>
            </a:r>
            <a:r>
              <a:rPr spc="-555" dirty="0"/>
              <a:t>1:</a:t>
            </a:r>
            <a:r>
              <a:rPr spc="-235" dirty="0"/>
              <a:t> </a:t>
            </a:r>
            <a:r>
              <a:rPr spc="-114" dirty="0"/>
              <a:t>Searching</a:t>
            </a:r>
            <a:r>
              <a:rPr spc="-275" dirty="0"/>
              <a:t> </a:t>
            </a:r>
            <a:r>
              <a:rPr spc="-295" dirty="0"/>
              <a:t>"DATA"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2200401"/>
            <a:ext cx="10268585" cy="84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2920" algn="l"/>
              </a:tabLst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COMPUTER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DATA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STRUCTURES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	Pattern: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initially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tries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beginning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At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where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does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90" dirty="0">
                <a:solidFill>
                  <a:srgbClr val="272424"/>
                </a:solidFill>
                <a:latin typeface="Arial"/>
                <a:cs typeface="Arial"/>
              </a:rPr>
              <a:t>D</a:t>
            </a:r>
            <a:r>
              <a:rPr sz="13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,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forward</a:t>
            </a:r>
            <a:r>
              <a:rPr sz="1300" spc="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quickly</a:t>
            </a:r>
            <a:r>
              <a:rPr sz="1300" spc="1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1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2272" y="3224783"/>
            <a:ext cx="5372100" cy="1769745"/>
            <a:chOff x="652272" y="3224783"/>
            <a:chExt cx="5372100" cy="1769745"/>
          </a:xfrm>
        </p:grpSpPr>
        <p:sp>
          <p:nvSpPr>
            <p:cNvPr id="5" name="object 5"/>
            <p:cNvSpPr/>
            <p:nvPr/>
          </p:nvSpPr>
          <p:spPr>
            <a:xfrm>
              <a:off x="662178" y="3234689"/>
              <a:ext cx="5352415" cy="1750060"/>
            </a:xfrm>
            <a:custGeom>
              <a:avLst/>
              <a:gdLst/>
              <a:ahLst/>
              <a:cxnLst/>
              <a:rect l="l" t="t" r="r" b="b"/>
              <a:pathLst>
                <a:path w="5352415" h="1750060">
                  <a:moveTo>
                    <a:pt x="5282819" y="0"/>
                  </a:moveTo>
                  <a:lnTo>
                    <a:pt x="69456" y="0"/>
                  </a:lnTo>
                  <a:lnTo>
                    <a:pt x="42423" y="5461"/>
                  </a:lnTo>
                  <a:lnTo>
                    <a:pt x="20345" y="20351"/>
                  </a:lnTo>
                  <a:lnTo>
                    <a:pt x="5459" y="42433"/>
                  </a:lnTo>
                  <a:lnTo>
                    <a:pt x="0" y="69469"/>
                  </a:lnTo>
                  <a:lnTo>
                    <a:pt x="0" y="1680083"/>
                  </a:lnTo>
                  <a:lnTo>
                    <a:pt x="5459" y="1707118"/>
                  </a:lnTo>
                  <a:lnTo>
                    <a:pt x="20345" y="1729200"/>
                  </a:lnTo>
                  <a:lnTo>
                    <a:pt x="42423" y="1744091"/>
                  </a:lnTo>
                  <a:lnTo>
                    <a:pt x="69456" y="1749552"/>
                  </a:lnTo>
                  <a:lnTo>
                    <a:pt x="5282819" y="1749552"/>
                  </a:lnTo>
                  <a:lnTo>
                    <a:pt x="5309854" y="1744091"/>
                  </a:lnTo>
                  <a:lnTo>
                    <a:pt x="5331936" y="1729200"/>
                  </a:lnTo>
                  <a:lnTo>
                    <a:pt x="5346827" y="1707118"/>
                  </a:lnTo>
                  <a:lnTo>
                    <a:pt x="5352288" y="1680083"/>
                  </a:lnTo>
                  <a:lnTo>
                    <a:pt x="5352288" y="69469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8" y="3234689"/>
              <a:ext cx="5352415" cy="1750060"/>
            </a:xfrm>
            <a:custGeom>
              <a:avLst/>
              <a:gdLst/>
              <a:ahLst/>
              <a:cxnLst/>
              <a:rect l="l" t="t" r="r" b="b"/>
              <a:pathLst>
                <a:path w="5352415" h="1750060">
                  <a:moveTo>
                    <a:pt x="0" y="69469"/>
                  </a:moveTo>
                  <a:lnTo>
                    <a:pt x="5459" y="42433"/>
                  </a:lnTo>
                  <a:lnTo>
                    <a:pt x="20345" y="20351"/>
                  </a:lnTo>
                  <a:lnTo>
                    <a:pt x="42423" y="5461"/>
                  </a:lnTo>
                  <a:lnTo>
                    <a:pt x="69456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8" y="69469"/>
                  </a:lnTo>
                  <a:lnTo>
                    <a:pt x="5352288" y="1680083"/>
                  </a:lnTo>
                  <a:lnTo>
                    <a:pt x="5346827" y="1707118"/>
                  </a:lnTo>
                  <a:lnTo>
                    <a:pt x="5331936" y="1729200"/>
                  </a:lnTo>
                  <a:lnTo>
                    <a:pt x="5309854" y="1744091"/>
                  </a:lnTo>
                  <a:lnTo>
                    <a:pt x="5282819" y="1749552"/>
                  </a:lnTo>
                  <a:lnTo>
                    <a:pt x="69456" y="1749552"/>
                  </a:lnTo>
                  <a:lnTo>
                    <a:pt x="42423" y="1744091"/>
                  </a:lnTo>
                  <a:lnTo>
                    <a:pt x="20345" y="1729200"/>
                  </a:lnTo>
                  <a:lnTo>
                    <a:pt x="5459" y="1707118"/>
                  </a:lnTo>
                  <a:lnTo>
                    <a:pt x="0" y="1680083"/>
                  </a:lnTo>
                  <a:lnTo>
                    <a:pt x="0" y="69469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33119" y="3223077"/>
            <a:ext cx="482917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C</a:t>
            </a:r>
            <a:r>
              <a:rPr sz="1600" b="1" spc="-1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O</a:t>
            </a:r>
            <a:r>
              <a:rPr sz="1600" b="1" spc="-1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272424"/>
                </a:solidFill>
                <a:latin typeface="Arial"/>
                <a:cs typeface="Arial"/>
              </a:rPr>
              <a:t>M</a:t>
            </a:r>
            <a:r>
              <a:rPr sz="1600" b="1" spc="-1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14" dirty="0">
                <a:solidFill>
                  <a:srgbClr val="272424"/>
                </a:solidFill>
                <a:latin typeface="Arial"/>
                <a:cs typeface="Arial"/>
              </a:rPr>
              <a:t>P</a:t>
            </a:r>
            <a:r>
              <a:rPr sz="1600" b="1" spc="-1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272424"/>
                </a:solidFill>
                <a:latin typeface="Arial"/>
                <a:cs typeface="Arial"/>
              </a:rPr>
              <a:t>U</a:t>
            </a:r>
            <a:r>
              <a:rPr sz="1600" b="1" spc="-1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T</a:t>
            </a:r>
            <a:r>
              <a:rPr sz="1600" b="1" spc="-1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55" dirty="0">
                <a:solidFill>
                  <a:srgbClr val="272424"/>
                </a:solidFill>
                <a:latin typeface="Arial"/>
                <a:cs typeface="Arial"/>
              </a:rPr>
              <a:t>E</a:t>
            </a:r>
            <a:r>
              <a:rPr sz="1600" b="1" spc="-1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70" dirty="0">
                <a:solidFill>
                  <a:srgbClr val="272424"/>
                </a:solidFill>
                <a:latin typeface="Arial"/>
                <a:cs typeface="Arial"/>
              </a:rPr>
              <a:t>R</a:t>
            </a:r>
            <a:r>
              <a:rPr sz="1600" b="1" spc="-1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...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1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Shift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immediately.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checking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where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D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might</a:t>
            </a:r>
            <a:r>
              <a:rPr sz="1300" spc="1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appear.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69152" y="3224783"/>
            <a:ext cx="5372100" cy="1769745"/>
            <a:chOff x="6169152" y="3224783"/>
            <a:chExt cx="5372100" cy="1769745"/>
          </a:xfrm>
        </p:grpSpPr>
        <p:sp>
          <p:nvSpPr>
            <p:cNvPr id="9" name="object 9"/>
            <p:cNvSpPr/>
            <p:nvPr/>
          </p:nvSpPr>
          <p:spPr>
            <a:xfrm>
              <a:off x="6179058" y="3234689"/>
              <a:ext cx="5352415" cy="1750060"/>
            </a:xfrm>
            <a:custGeom>
              <a:avLst/>
              <a:gdLst/>
              <a:ahLst/>
              <a:cxnLst/>
              <a:rect l="l" t="t" r="r" b="b"/>
              <a:pathLst>
                <a:path w="5352415" h="1750060">
                  <a:moveTo>
                    <a:pt x="5282819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1680083"/>
                  </a:lnTo>
                  <a:lnTo>
                    <a:pt x="5461" y="1707118"/>
                  </a:lnTo>
                  <a:lnTo>
                    <a:pt x="20351" y="1729200"/>
                  </a:lnTo>
                  <a:lnTo>
                    <a:pt x="42433" y="1744091"/>
                  </a:lnTo>
                  <a:lnTo>
                    <a:pt x="69468" y="1749552"/>
                  </a:lnTo>
                  <a:lnTo>
                    <a:pt x="5282819" y="1749552"/>
                  </a:lnTo>
                  <a:lnTo>
                    <a:pt x="5309854" y="1744091"/>
                  </a:lnTo>
                  <a:lnTo>
                    <a:pt x="5331936" y="1729200"/>
                  </a:lnTo>
                  <a:lnTo>
                    <a:pt x="5346826" y="1707118"/>
                  </a:lnTo>
                  <a:lnTo>
                    <a:pt x="5352288" y="1680083"/>
                  </a:lnTo>
                  <a:lnTo>
                    <a:pt x="5352288" y="69469"/>
                  </a:lnTo>
                  <a:lnTo>
                    <a:pt x="5346826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79058" y="3234689"/>
              <a:ext cx="5352415" cy="1750060"/>
            </a:xfrm>
            <a:custGeom>
              <a:avLst/>
              <a:gdLst/>
              <a:ahLst/>
              <a:cxnLst/>
              <a:rect l="l" t="t" r="r" b="b"/>
              <a:pathLst>
                <a:path w="5352415" h="1750060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6" y="42433"/>
                  </a:lnTo>
                  <a:lnTo>
                    <a:pt x="5352288" y="69469"/>
                  </a:lnTo>
                  <a:lnTo>
                    <a:pt x="5352288" y="1680083"/>
                  </a:lnTo>
                  <a:lnTo>
                    <a:pt x="5346826" y="1707118"/>
                  </a:lnTo>
                  <a:lnTo>
                    <a:pt x="5331936" y="1729200"/>
                  </a:lnTo>
                  <a:lnTo>
                    <a:pt x="5309854" y="1744091"/>
                  </a:lnTo>
                  <a:lnTo>
                    <a:pt x="5282819" y="1749552"/>
                  </a:lnTo>
                  <a:lnTo>
                    <a:pt x="69468" y="1749552"/>
                  </a:lnTo>
                  <a:lnTo>
                    <a:pt x="42433" y="1744091"/>
                  </a:lnTo>
                  <a:lnTo>
                    <a:pt x="20351" y="1729200"/>
                  </a:lnTo>
                  <a:lnTo>
                    <a:pt x="5461" y="1707118"/>
                  </a:lnTo>
                  <a:lnTo>
                    <a:pt x="0" y="1680083"/>
                  </a:lnTo>
                  <a:lnTo>
                    <a:pt x="0" y="69469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50889" y="3223077"/>
            <a:ext cx="1743710" cy="156527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35" dirty="0">
                <a:solidFill>
                  <a:srgbClr val="272424"/>
                </a:solidFill>
                <a:latin typeface="Arial"/>
                <a:cs typeface="Arial"/>
              </a:rPr>
              <a:t>Window</a:t>
            </a:r>
            <a:r>
              <a:rPr sz="16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272424"/>
                </a:solidFill>
                <a:latin typeface="Arial"/>
                <a:cs typeface="Arial"/>
              </a:rPr>
              <a:t>at</a:t>
            </a:r>
            <a:r>
              <a:rPr sz="1600" b="1" spc="-1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272424"/>
                </a:solidFill>
                <a:latin typeface="Arial"/>
                <a:cs typeface="Arial"/>
              </a:rPr>
              <a:t>"DATA"</a:t>
            </a:r>
            <a:endParaRPr sz="1600">
              <a:latin typeface="Arial"/>
              <a:cs typeface="Arial"/>
            </a:endParaRPr>
          </a:p>
          <a:p>
            <a:pPr marL="12700" marR="1157605" algn="just">
              <a:lnSpc>
                <a:spcPct val="108200"/>
              </a:lnSpc>
              <a:spcBef>
                <a:spcPts val="720"/>
              </a:spcBef>
            </a:pP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D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D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5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5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T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T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5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endParaRPr sz="13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All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match!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00197" y="5153914"/>
            <a:ext cx="59924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Result: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45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found.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All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four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consecutively.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346149"/>
            <a:ext cx="10006330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Brute-</a:t>
            </a:r>
            <a:r>
              <a:rPr spc="-80" dirty="0"/>
              <a:t>Force</a:t>
            </a:r>
            <a:r>
              <a:rPr spc="-290" dirty="0"/>
              <a:t> </a:t>
            </a:r>
            <a:r>
              <a:rPr spc="-95" dirty="0"/>
              <a:t>Example</a:t>
            </a:r>
            <a:r>
              <a:rPr spc="-290" dirty="0"/>
              <a:t> </a:t>
            </a:r>
            <a:r>
              <a:rPr spc="-190" dirty="0"/>
              <a:t>2:</a:t>
            </a:r>
            <a:r>
              <a:rPr spc="-250" dirty="0"/>
              <a:t> </a:t>
            </a:r>
            <a:r>
              <a:rPr spc="-110" dirty="0"/>
              <a:t>Searching</a:t>
            </a:r>
            <a:r>
              <a:rPr spc="-290" dirty="0"/>
              <a:t> </a:t>
            </a:r>
            <a:r>
              <a:rPr spc="-295" dirty="0"/>
              <a:t>"ANA"</a:t>
            </a:r>
            <a:r>
              <a:rPr spc="-285" dirty="0"/>
              <a:t> </a:t>
            </a:r>
            <a:r>
              <a:rPr spc="-95" dirty="0"/>
              <a:t>in</a:t>
            </a:r>
            <a:r>
              <a:rPr spc="-265" dirty="0"/>
              <a:t> </a:t>
            </a:r>
            <a:r>
              <a:rPr spc="-290" dirty="0"/>
              <a:t>"BANANA"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2191257"/>
            <a:ext cx="11506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BANANA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6938" y="2191257"/>
            <a:ext cx="10521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Pattern: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ANA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55129" y="2602864"/>
          <a:ext cx="10868659" cy="2155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7165"/>
                <a:gridCol w="2717165"/>
                <a:gridCol w="2717164"/>
                <a:gridCol w="2717165"/>
              </a:tblGrid>
              <a:tr h="429259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Window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Comparison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10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BAN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9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1300" spc="-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7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6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3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N=N</a:t>
                      </a:r>
                      <a:r>
                        <a:rPr sz="1300" spc="-3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A=A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300" b="1" spc="-4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300" b="1" spc="-2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Index</a:t>
                      </a:r>
                      <a:r>
                        <a:rPr sz="1300" b="1" spc="-5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3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300" b="1" spc="-1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9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NAN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1300" spc="-7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29259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N=N</a:t>
                      </a:r>
                      <a:r>
                        <a:rPr sz="1300" spc="-3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A=A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300" b="1" spc="-3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300" b="1" spc="-1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Index</a:t>
                      </a:r>
                      <a:r>
                        <a:rPr sz="1300" b="1" spc="-4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300" b="1" spc="-1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9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48716" y="4930546"/>
            <a:ext cx="10542270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example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demonstrates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that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45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can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occur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more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than once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same</a:t>
            </a:r>
            <a:r>
              <a:rPr sz="1300" b="1" spc="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text.</a:t>
            </a:r>
            <a:r>
              <a:rPr sz="13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Brute-Force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continues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scanning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occurrences.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ANA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0" dirty="0">
                <a:solidFill>
                  <a:srgbClr val="272424"/>
                </a:solidFill>
                <a:latin typeface="Arial"/>
                <a:cs typeface="Arial"/>
              </a:rPr>
              <a:t>[1,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3]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6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Brute-</a:t>
            </a:r>
            <a:r>
              <a:rPr spc="-80" dirty="0"/>
              <a:t>Force</a:t>
            </a:r>
            <a:r>
              <a:rPr spc="-265" dirty="0"/>
              <a:t> </a:t>
            </a:r>
            <a:r>
              <a:rPr spc="-95" dirty="0"/>
              <a:t>Example</a:t>
            </a:r>
            <a:r>
              <a:rPr spc="-260" dirty="0"/>
              <a:t> </a:t>
            </a:r>
            <a:r>
              <a:rPr spc="-155" dirty="0"/>
              <a:t>3:</a:t>
            </a:r>
            <a:r>
              <a:rPr spc="-220" dirty="0"/>
              <a:t> </a:t>
            </a:r>
            <a:r>
              <a:rPr spc="-110" dirty="0"/>
              <a:t>Searching</a:t>
            </a:r>
            <a:r>
              <a:rPr spc="-270" dirty="0"/>
              <a:t> </a:t>
            </a:r>
            <a:r>
              <a:rPr spc="-295" dirty="0"/>
              <a:t>"CAT"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1898649"/>
            <a:ext cx="21196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CAT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SLEEPING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7726" y="1898649"/>
            <a:ext cx="10350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Pattern: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CAT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716" y="2278761"/>
            <a:ext cx="2000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16" y="2537460"/>
            <a:ext cx="5352415" cy="18415"/>
          </a:xfrm>
          <a:custGeom>
            <a:avLst/>
            <a:gdLst/>
            <a:ahLst/>
            <a:cxnLst/>
            <a:rect l="l" t="t" r="r" b="b"/>
            <a:pathLst>
              <a:path w="5352415" h="18414">
                <a:moveTo>
                  <a:pt x="5352288" y="0"/>
                </a:moveTo>
                <a:lnTo>
                  <a:pt x="0" y="0"/>
                </a:lnTo>
                <a:lnTo>
                  <a:pt x="0" y="18287"/>
                </a:lnTo>
                <a:lnTo>
                  <a:pt x="5352288" y="18287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8716" y="2462587"/>
            <a:ext cx="3545204" cy="70802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spc="-65" dirty="0">
                <a:solidFill>
                  <a:srgbClr val="272424"/>
                </a:solidFill>
                <a:latin typeface="Arial"/>
                <a:cs typeface="Arial"/>
              </a:rPr>
              <a:t>Position</a:t>
            </a:r>
            <a:r>
              <a:rPr sz="160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0:</a:t>
            </a:r>
            <a:r>
              <a:rPr sz="160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"THE"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T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character.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Shift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right.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6484" y="2278761"/>
            <a:ext cx="199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78296" y="2537460"/>
            <a:ext cx="5352415" cy="18415"/>
          </a:xfrm>
          <a:custGeom>
            <a:avLst/>
            <a:gdLst/>
            <a:ahLst/>
            <a:cxnLst/>
            <a:rect l="l" t="t" r="r" b="b"/>
            <a:pathLst>
              <a:path w="5352415" h="18414">
                <a:moveTo>
                  <a:pt x="5352288" y="0"/>
                </a:moveTo>
                <a:lnTo>
                  <a:pt x="0" y="0"/>
                </a:lnTo>
                <a:lnTo>
                  <a:pt x="0" y="18287"/>
                </a:lnTo>
                <a:lnTo>
                  <a:pt x="5352288" y="18287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66484" y="2462587"/>
            <a:ext cx="2216150" cy="70802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spc="-70" dirty="0">
                <a:solidFill>
                  <a:srgbClr val="272424"/>
                </a:solidFill>
                <a:latin typeface="Arial"/>
                <a:cs typeface="Arial"/>
              </a:rPr>
              <a:t>Position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80" dirty="0">
                <a:solidFill>
                  <a:srgbClr val="272424"/>
                </a:solidFill>
                <a:latin typeface="Arial"/>
                <a:cs typeface="Arial"/>
              </a:rPr>
              <a:t>1:</a:t>
            </a:r>
            <a:r>
              <a:rPr sz="16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70" dirty="0">
                <a:solidFill>
                  <a:srgbClr val="272424"/>
                </a:solidFill>
                <a:latin typeface="Arial"/>
                <a:cs typeface="Arial"/>
              </a:rPr>
              <a:t>"HE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"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Mismatch. Shift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right.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716" y="3430904"/>
            <a:ext cx="2000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1416" y="3688079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20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8716" y="3612829"/>
            <a:ext cx="2200275" cy="70993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spc="-65" dirty="0">
                <a:solidFill>
                  <a:srgbClr val="272424"/>
                </a:solidFill>
                <a:latin typeface="Arial"/>
                <a:cs typeface="Arial"/>
              </a:rPr>
              <a:t>Position</a:t>
            </a:r>
            <a:r>
              <a:rPr sz="160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95" dirty="0">
                <a:solidFill>
                  <a:srgbClr val="272424"/>
                </a:solidFill>
                <a:latin typeface="Arial"/>
                <a:cs typeface="Arial"/>
              </a:rPr>
              <a:t>2: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15" dirty="0">
                <a:solidFill>
                  <a:srgbClr val="272424"/>
                </a:solidFill>
                <a:latin typeface="Arial"/>
                <a:cs typeface="Arial"/>
              </a:rPr>
              <a:t>"E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C"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145" dirty="0">
                <a:solidFill>
                  <a:srgbClr val="272424"/>
                </a:solidFill>
                <a:latin typeface="Microsoft Sans Serif"/>
                <a:cs typeface="Microsoft Sans Serif"/>
              </a:rPr>
              <a:t>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Mismatch.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Shift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right.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6484" y="3430904"/>
            <a:ext cx="199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78296" y="3688079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20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66484" y="3612829"/>
            <a:ext cx="1819910" cy="92456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spc="-65" dirty="0">
                <a:solidFill>
                  <a:srgbClr val="272424"/>
                </a:solidFill>
                <a:latin typeface="Arial"/>
                <a:cs typeface="Arial"/>
              </a:rPr>
              <a:t>Position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4:</a:t>
            </a:r>
            <a:r>
              <a:rPr sz="16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"CAT"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</a:t>
            </a:r>
            <a:r>
              <a:rPr sz="13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8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,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75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75" dirty="0">
                <a:solidFill>
                  <a:srgbClr val="272424"/>
                </a:solidFill>
                <a:latin typeface="Microsoft Sans Serif"/>
                <a:cs typeface="Microsoft Sans Serif"/>
              </a:rPr>
              <a:t>,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T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T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endParaRPr sz="13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All</a:t>
            </a:r>
            <a:r>
              <a:rPr sz="130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characters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match!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716" y="4839461"/>
            <a:ext cx="10884535" cy="8394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word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CAT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found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at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index</a:t>
            </a:r>
            <a:r>
              <a:rPr sz="1300" b="1" spc="-8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4.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similar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specific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word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inside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document.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scans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stops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95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soon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full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confirmed.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945642"/>
            <a:ext cx="800925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Brute-</a:t>
            </a:r>
            <a:r>
              <a:rPr spc="-90" dirty="0"/>
              <a:t>Force</a:t>
            </a:r>
            <a:r>
              <a:rPr spc="-270" dirty="0"/>
              <a:t> </a:t>
            </a:r>
            <a:r>
              <a:rPr spc="-100" dirty="0"/>
              <a:t>Example</a:t>
            </a:r>
            <a:r>
              <a:rPr spc="-270" dirty="0"/>
              <a:t> </a:t>
            </a:r>
            <a:r>
              <a:rPr spc="-85" dirty="0"/>
              <a:t>4:</a:t>
            </a:r>
            <a:r>
              <a:rPr spc="-240" dirty="0"/>
              <a:t> </a:t>
            </a:r>
            <a:r>
              <a:rPr spc="-30" dirty="0"/>
              <a:t>Pattern</a:t>
            </a:r>
            <a:r>
              <a:rPr spc="-275" dirty="0"/>
              <a:t> </a:t>
            </a:r>
            <a:r>
              <a:rPr dirty="0"/>
              <a:t>Not</a:t>
            </a:r>
            <a:r>
              <a:rPr spc="-250" dirty="0"/>
              <a:t> </a:t>
            </a:r>
            <a:r>
              <a:rPr spc="-20" dirty="0"/>
              <a:t>Found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1790445"/>
            <a:ext cx="16211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HELLO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WORLD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9377" y="1790445"/>
            <a:ext cx="11436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Pattern: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55129" y="2201798"/>
          <a:ext cx="10868659" cy="2555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7165"/>
                <a:gridCol w="2717165"/>
                <a:gridCol w="2717164"/>
                <a:gridCol w="2717165"/>
              </a:tblGrid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Window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4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First</a:t>
                      </a:r>
                      <a:r>
                        <a:rPr sz="1300" b="1" spc="-7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Char</a:t>
                      </a:r>
                      <a:r>
                        <a:rPr sz="1300" b="1" spc="-5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Match?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Outcome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10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HELL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3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ELLO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1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LLO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1300" spc="-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LO</a:t>
                      </a:r>
                      <a:r>
                        <a:rPr sz="1300" spc="-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6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W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1300" spc="-7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spc="26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4–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None</a:t>
                      </a:r>
                      <a:r>
                        <a:rPr sz="1300" spc="8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r>
                        <a:rPr sz="1300" spc="1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48716" y="4947361"/>
            <a:ext cx="10706735" cy="8394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960" algn="ctr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not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found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text.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1470"/>
              </a:spcBef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checks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starting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position.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represents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60" dirty="0">
                <a:solidFill>
                  <a:srgbClr val="272424"/>
                </a:solidFill>
                <a:latin typeface="Arial"/>
                <a:cs typeface="Arial"/>
              </a:rPr>
              <a:t>worst-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case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situation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to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examine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all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none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which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yield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506095"/>
            <a:ext cx="492823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80" dirty="0"/>
              <a:t>Searching</a:t>
            </a:r>
            <a:r>
              <a:rPr sz="2250" spc="-200" dirty="0"/>
              <a:t> </a:t>
            </a:r>
            <a:r>
              <a:rPr sz="2250" dirty="0"/>
              <a:t>a</a:t>
            </a:r>
            <a:r>
              <a:rPr sz="2250" spc="-175" dirty="0"/>
              <a:t> </a:t>
            </a:r>
            <a:r>
              <a:rPr sz="2250" spc="-10" dirty="0"/>
              <a:t>Word</a:t>
            </a:r>
            <a:r>
              <a:rPr sz="2250" spc="-200" dirty="0"/>
              <a:t> </a:t>
            </a:r>
            <a:r>
              <a:rPr sz="2250" spc="-65" dirty="0"/>
              <a:t>in</a:t>
            </a:r>
            <a:r>
              <a:rPr sz="2250" spc="-165" dirty="0"/>
              <a:t> </a:t>
            </a:r>
            <a:r>
              <a:rPr sz="2250" dirty="0"/>
              <a:t>a</a:t>
            </a:r>
            <a:r>
              <a:rPr sz="2250" spc="-180" dirty="0"/>
              <a:t> </a:t>
            </a:r>
            <a:r>
              <a:rPr sz="2250" spc="-10" dirty="0"/>
              <a:t>Text</a:t>
            </a:r>
            <a:r>
              <a:rPr sz="2250" spc="-155" dirty="0"/>
              <a:t> </a:t>
            </a:r>
            <a:r>
              <a:rPr sz="2250" spc="-10" dirty="0"/>
              <a:t>Document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648716" y="1036065"/>
            <a:ext cx="111379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0" dirty="0">
                <a:latin typeface="Arial"/>
                <a:cs typeface="Arial"/>
              </a:rPr>
              <a:t>Document</a:t>
            </a:r>
            <a:r>
              <a:rPr sz="1100" b="1" spc="-8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(Text)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2452" y="1360170"/>
            <a:ext cx="4528185" cy="2895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200"/>
              </a:spcBef>
            </a:pP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Design</a:t>
            </a:r>
            <a:r>
              <a:rPr sz="9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9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Analysis</a:t>
            </a:r>
            <a:r>
              <a:rPr sz="9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Algorithms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an</a:t>
            </a:r>
            <a:r>
              <a:rPr sz="9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important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subject.</a:t>
            </a:r>
            <a:r>
              <a:rPr sz="9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Algorithms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9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used</a:t>
            </a:r>
            <a:r>
              <a:rPr sz="9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solve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computational</a:t>
            </a:r>
            <a:r>
              <a:rPr sz="9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problems.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1416" y="1319783"/>
            <a:ext cx="12700" cy="401320"/>
          </a:xfrm>
          <a:custGeom>
            <a:avLst/>
            <a:gdLst/>
            <a:ahLst/>
            <a:cxnLst/>
            <a:rect l="l" t="t" r="r" b="b"/>
            <a:pathLst>
              <a:path w="12700" h="401319">
                <a:moveTo>
                  <a:pt x="9461" y="0"/>
                </a:moveTo>
                <a:lnTo>
                  <a:pt x="2730" y="0"/>
                </a:lnTo>
                <a:lnTo>
                  <a:pt x="0" y="2666"/>
                </a:lnTo>
                <a:lnTo>
                  <a:pt x="0" y="6095"/>
                </a:lnTo>
                <a:lnTo>
                  <a:pt x="0" y="398144"/>
                </a:lnTo>
                <a:lnTo>
                  <a:pt x="2730" y="400812"/>
                </a:lnTo>
                <a:lnTo>
                  <a:pt x="9461" y="400812"/>
                </a:lnTo>
                <a:lnTo>
                  <a:pt x="12192" y="398144"/>
                </a:lnTo>
                <a:lnTo>
                  <a:pt x="12192" y="2666"/>
                </a:lnTo>
                <a:lnTo>
                  <a:pt x="9461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3355" y="1775586"/>
            <a:ext cx="723900" cy="182880"/>
          </a:xfrm>
          <a:custGeom>
            <a:avLst/>
            <a:gdLst/>
            <a:ahLst/>
            <a:cxnLst/>
            <a:rect l="l" t="t" r="r" b="b"/>
            <a:pathLst>
              <a:path w="723900" h="182880">
                <a:moveTo>
                  <a:pt x="723900" y="0"/>
                </a:moveTo>
                <a:lnTo>
                  <a:pt x="0" y="0"/>
                </a:lnTo>
                <a:lnTo>
                  <a:pt x="0" y="182879"/>
                </a:lnTo>
                <a:lnTo>
                  <a:pt x="723900" y="182879"/>
                </a:lnTo>
                <a:lnTo>
                  <a:pt x="723900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8716" y="1764919"/>
            <a:ext cx="12877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5" dirty="0">
                <a:latin typeface="Arial"/>
                <a:cs typeface="Arial"/>
              </a:rPr>
              <a:t>Pattern:</a:t>
            </a:r>
            <a:r>
              <a:rPr sz="1100" b="1" spc="-100" dirty="0"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Consolas"/>
                <a:cs typeface="Consolas"/>
              </a:rPr>
              <a:t>Algorithms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1416" y="2089404"/>
            <a:ext cx="5293360" cy="12700"/>
          </a:xfrm>
          <a:custGeom>
            <a:avLst/>
            <a:gdLst/>
            <a:ahLst/>
            <a:cxnLst/>
            <a:rect l="l" t="t" r="r" b="b"/>
            <a:pathLst>
              <a:path w="5293360" h="12700">
                <a:moveTo>
                  <a:pt x="5290185" y="0"/>
                </a:moveTo>
                <a:lnTo>
                  <a:pt x="2730" y="0"/>
                </a:lnTo>
                <a:lnTo>
                  <a:pt x="0" y="2667"/>
                </a:lnTo>
                <a:lnTo>
                  <a:pt x="0" y="6096"/>
                </a:lnTo>
                <a:lnTo>
                  <a:pt x="0" y="9525"/>
                </a:lnTo>
                <a:lnTo>
                  <a:pt x="2730" y="12192"/>
                </a:lnTo>
                <a:lnTo>
                  <a:pt x="5290185" y="12192"/>
                </a:lnTo>
                <a:lnTo>
                  <a:pt x="5292852" y="9525"/>
                </a:lnTo>
                <a:lnTo>
                  <a:pt x="5292852" y="2667"/>
                </a:lnTo>
                <a:lnTo>
                  <a:pt x="5290185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1416" y="2613659"/>
            <a:ext cx="5293360" cy="12700"/>
          </a:xfrm>
          <a:custGeom>
            <a:avLst/>
            <a:gdLst/>
            <a:ahLst/>
            <a:cxnLst/>
            <a:rect l="l" t="t" r="r" b="b"/>
            <a:pathLst>
              <a:path w="5293360" h="12700">
                <a:moveTo>
                  <a:pt x="5292852" y="0"/>
                </a:moveTo>
                <a:lnTo>
                  <a:pt x="0" y="0"/>
                </a:lnTo>
                <a:lnTo>
                  <a:pt x="0" y="12192"/>
                </a:lnTo>
                <a:lnTo>
                  <a:pt x="5292852" y="12192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1416" y="3372611"/>
            <a:ext cx="5293360" cy="12700"/>
          </a:xfrm>
          <a:custGeom>
            <a:avLst/>
            <a:gdLst/>
            <a:ahLst/>
            <a:cxnLst/>
            <a:rect l="l" t="t" r="r" b="b"/>
            <a:pathLst>
              <a:path w="5293360" h="12700">
                <a:moveTo>
                  <a:pt x="5292852" y="0"/>
                </a:moveTo>
                <a:lnTo>
                  <a:pt x="0" y="0"/>
                </a:lnTo>
                <a:lnTo>
                  <a:pt x="0" y="12191"/>
                </a:lnTo>
                <a:lnTo>
                  <a:pt x="5292852" y="12191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1416" y="4131564"/>
            <a:ext cx="5293360" cy="13970"/>
          </a:xfrm>
          <a:custGeom>
            <a:avLst/>
            <a:gdLst/>
            <a:ahLst/>
            <a:cxnLst/>
            <a:rect l="l" t="t" r="r" b="b"/>
            <a:pathLst>
              <a:path w="5293360" h="13970">
                <a:moveTo>
                  <a:pt x="5292852" y="0"/>
                </a:moveTo>
                <a:lnTo>
                  <a:pt x="0" y="0"/>
                </a:lnTo>
                <a:lnTo>
                  <a:pt x="0" y="13716"/>
                </a:lnTo>
                <a:lnTo>
                  <a:pt x="5292852" y="13716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1416" y="4892040"/>
            <a:ext cx="5293360" cy="12700"/>
          </a:xfrm>
          <a:custGeom>
            <a:avLst/>
            <a:gdLst/>
            <a:ahLst/>
            <a:cxnLst/>
            <a:rect l="l" t="t" r="r" b="b"/>
            <a:pathLst>
              <a:path w="5293360" h="12700">
                <a:moveTo>
                  <a:pt x="5292852" y="0"/>
                </a:moveTo>
                <a:lnTo>
                  <a:pt x="0" y="0"/>
                </a:lnTo>
                <a:lnTo>
                  <a:pt x="0" y="12191"/>
                </a:lnTo>
                <a:lnTo>
                  <a:pt x="5292852" y="12191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1416" y="5650991"/>
            <a:ext cx="5293360" cy="13970"/>
          </a:xfrm>
          <a:custGeom>
            <a:avLst/>
            <a:gdLst/>
            <a:ahLst/>
            <a:cxnLst/>
            <a:rect l="l" t="t" r="r" b="b"/>
            <a:pathLst>
              <a:path w="5293360" h="13970">
                <a:moveTo>
                  <a:pt x="5292852" y="0"/>
                </a:moveTo>
                <a:lnTo>
                  <a:pt x="0" y="0"/>
                </a:lnTo>
                <a:lnTo>
                  <a:pt x="0" y="13715"/>
                </a:lnTo>
                <a:lnTo>
                  <a:pt x="5292852" y="13715"/>
                </a:lnTo>
                <a:lnTo>
                  <a:pt x="5292852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8716" y="2175129"/>
            <a:ext cx="4831080" cy="3917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Arial"/>
                <a:cs typeface="Arial"/>
              </a:rPr>
              <a:t>Complete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Practical</a:t>
            </a:r>
            <a:r>
              <a:rPr sz="1100" b="1" spc="-9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Process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01</a:t>
            </a:r>
            <a:endParaRPr sz="9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Begin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9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beginning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02</a:t>
            </a:r>
            <a:endParaRPr sz="9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b="1" spc="-20" dirty="0">
                <a:solidFill>
                  <a:srgbClr val="272424"/>
                </a:solidFill>
                <a:latin typeface="Arial"/>
                <a:cs typeface="Arial"/>
              </a:rPr>
              <a:t>Scan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Examine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9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where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word</a:t>
            </a:r>
            <a:r>
              <a:rPr sz="9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begin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(where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'A'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appears).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03</a:t>
            </a:r>
            <a:endParaRPr sz="9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Compare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</a:t>
            </a:r>
            <a:r>
              <a:rPr sz="9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9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9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that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04</a:t>
            </a:r>
            <a:endParaRPr sz="9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9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9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b="1" spc="-10" dirty="0">
                <a:solidFill>
                  <a:srgbClr val="272424"/>
                </a:solidFill>
                <a:latin typeface="Arial"/>
                <a:cs typeface="Arial"/>
              </a:rPr>
              <a:t>Algorithms</a:t>
            </a:r>
            <a:r>
              <a:rPr sz="9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consecutively,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report</a:t>
            </a:r>
            <a:r>
              <a:rPr sz="9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successful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05</a:t>
            </a:r>
            <a:endParaRPr sz="9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b="1" spc="-10" dirty="0">
                <a:solidFill>
                  <a:srgbClr val="272424"/>
                </a:solidFill>
                <a:latin typeface="Arial"/>
                <a:cs typeface="Arial"/>
              </a:rPr>
              <a:t>Continue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9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multiple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occurrences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required.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Here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"Algorithms"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appears</a:t>
            </a:r>
            <a:r>
              <a:rPr sz="9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twice.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5" name="object 1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1307591"/>
            <a:ext cx="173736" cy="17373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231382" y="1036065"/>
            <a:ext cx="2438400" cy="540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Arial"/>
                <a:cs typeface="Arial"/>
              </a:rPr>
              <a:t>Real-</a:t>
            </a:r>
            <a:r>
              <a:rPr sz="1100" b="1" spc="-25" dirty="0">
                <a:latin typeface="Arial"/>
                <a:cs typeface="Arial"/>
              </a:rPr>
              <a:t>World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Applications</a:t>
            </a:r>
            <a:endParaRPr sz="1100">
              <a:latin typeface="Arial"/>
              <a:cs typeface="Arial"/>
            </a:endParaRPr>
          </a:p>
          <a:p>
            <a:pPr marL="388620" marR="5080">
              <a:lnSpc>
                <a:spcPts val="1000"/>
              </a:lnSpc>
              <a:spcBef>
                <a:spcPts val="750"/>
              </a:spcBef>
            </a:pP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9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keywords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9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notes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9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study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material.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7" name="object 1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83980" y="1307591"/>
            <a:ext cx="173735" cy="17373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305035" y="1287271"/>
            <a:ext cx="1840864" cy="2895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200"/>
              </a:spcBef>
            </a:pP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names</a:t>
            </a:r>
            <a:r>
              <a:rPr sz="9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9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student</a:t>
            </a:r>
            <a:r>
              <a:rPr sz="9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record documents.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9" name="object 19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1805939"/>
            <a:ext cx="173736" cy="17373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607556" y="1784984"/>
            <a:ext cx="1925955" cy="2895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200"/>
              </a:spcBef>
            </a:pP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Finding</a:t>
            </a:r>
            <a:r>
              <a:rPr sz="9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specific</a:t>
            </a:r>
            <a:r>
              <a:rPr sz="9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terms</a:t>
            </a:r>
            <a:r>
              <a:rPr sz="9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9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reports</a:t>
            </a:r>
            <a:r>
              <a:rPr sz="9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and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papers.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1" name="object 21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83980" y="1805939"/>
            <a:ext cx="173735" cy="17373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305035" y="1784984"/>
            <a:ext cx="2155190" cy="2895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200"/>
              </a:spcBef>
            </a:pP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Building</a:t>
            </a:r>
            <a:r>
              <a:rPr sz="900" spc="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simple</a:t>
            </a:r>
            <a:r>
              <a:rPr sz="900" spc="1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document-searching</a:t>
            </a:r>
            <a:r>
              <a:rPr sz="900" spc="1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and </a:t>
            </a:r>
            <a:r>
              <a:rPr sz="900" dirty="0">
                <a:solidFill>
                  <a:srgbClr val="272424"/>
                </a:solidFill>
                <a:latin typeface="Microsoft Sans Serif"/>
                <a:cs typeface="Microsoft Sans Serif"/>
              </a:rPr>
              <a:t>indexing</a:t>
            </a:r>
            <a:r>
              <a:rPr sz="9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tools.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385013"/>
            <a:ext cx="76790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5" dirty="0"/>
              <a:t>Python</a:t>
            </a:r>
            <a:r>
              <a:rPr sz="2400" spc="-175" dirty="0"/>
              <a:t> </a:t>
            </a:r>
            <a:r>
              <a:rPr sz="2400" spc="-25" dirty="0"/>
              <a:t>Implementation</a:t>
            </a:r>
            <a:r>
              <a:rPr sz="2400" spc="-150" dirty="0"/>
              <a:t> </a:t>
            </a:r>
            <a:r>
              <a:rPr sz="2400" spc="-20" dirty="0"/>
              <a:t>of</a:t>
            </a:r>
            <a:r>
              <a:rPr sz="2400" spc="-150" dirty="0"/>
              <a:t> </a:t>
            </a:r>
            <a:r>
              <a:rPr sz="2400" dirty="0"/>
              <a:t>Brute-</a:t>
            </a:r>
            <a:r>
              <a:rPr sz="2400" spc="-65" dirty="0"/>
              <a:t>Force</a:t>
            </a:r>
            <a:r>
              <a:rPr sz="2400" spc="-170" dirty="0"/>
              <a:t> </a:t>
            </a:r>
            <a:r>
              <a:rPr sz="2400" spc="-80" dirty="0"/>
              <a:t>String</a:t>
            </a:r>
            <a:r>
              <a:rPr sz="2400" spc="-160" dirty="0"/>
              <a:t> </a:t>
            </a:r>
            <a:r>
              <a:rPr sz="2400" spc="-10" dirty="0"/>
              <a:t>Matching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661416" y="972311"/>
            <a:ext cx="10869295" cy="4415155"/>
          </a:xfrm>
          <a:custGeom>
            <a:avLst/>
            <a:gdLst/>
            <a:ahLst/>
            <a:cxnLst/>
            <a:rect l="l" t="t" r="r" b="b"/>
            <a:pathLst>
              <a:path w="10869295" h="4415155">
                <a:moveTo>
                  <a:pt x="10817098" y="0"/>
                </a:moveTo>
                <a:lnTo>
                  <a:pt x="52095" y="0"/>
                </a:lnTo>
                <a:lnTo>
                  <a:pt x="31820" y="4099"/>
                </a:lnTo>
                <a:lnTo>
                  <a:pt x="15260" y="15271"/>
                </a:lnTo>
                <a:lnTo>
                  <a:pt x="4094" y="31825"/>
                </a:lnTo>
                <a:lnTo>
                  <a:pt x="0" y="52070"/>
                </a:lnTo>
                <a:lnTo>
                  <a:pt x="0" y="4362958"/>
                </a:lnTo>
                <a:lnTo>
                  <a:pt x="4094" y="4383202"/>
                </a:lnTo>
                <a:lnTo>
                  <a:pt x="15260" y="4399756"/>
                </a:lnTo>
                <a:lnTo>
                  <a:pt x="31820" y="4410928"/>
                </a:lnTo>
                <a:lnTo>
                  <a:pt x="52095" y="4415028"/>
                </a:lnTo>
                <a:lnTo>
                  <a:pt x="10817098" y="4415028"/>
                </a:lnTo>
                <a:lnTo>
                  <a:pt x="10837342" y="4410928"/>
                </a:lnTo>
                <a:lnTo>
                  <a:pt x="10853896" y="4399756"/>
                </a:lnTo>
                <a:lnTo>
                  <a:pt x="10865068" y="4383202"/>
                </a:lnTo>
                <a:lnTo>
                  <a:pt x="10869167" y="4362958"/>
                </a:lnTo>
                <a:lnTo>
                  <a:pt x="10869167" y="52070"/>
                </a:lnTo>
                <a:lnTo>
                  <a:pt x="10865068" y="31825"/>
                </a:lnTo>
                <a:lnTo>
                  <a:pt x="10853896" y="15271"/>
                </a:lnTo>
                <a:lnTo>
                  <a:pt x="10837342" y="4099"/>
                </a:lnTo>
                <a:lnTo>
                  <a:pt x="10817098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1416" y="5737859"/>
            <a:ext cx="10869295" cy="645160"/>
          </a:xfrm>
          <a:custGeom>
            <a:avLst/>
            <a:gdLst/>
            <a:ahLst/>
            <a:cxnLst/>
            <a:rect l="l" t="t" r="r" b="b"/>
            <a:pathLst>
              <a:path w="10869295" h="645160">
                <a:moveTo>
                  <a:pt x="10817098" y="0"/>
                </a:moveTo>
                <a:lnTo>
                  <a:pt x="52070" y="0"/>
                </a:lnTo>
                <a:lnTo>
                  <a:pt x="31803" y="4092"/>
                </a:lnTo>
                <a:lnTo>
                  <a:pt x="15252" y="15252"/>
                </a:lnTo>
                <a:lnTo>
                  <a:pt x="4092" y="31803"/>
                </a:lnTo>
                <a:lnTo>
                  <a:pt x="0" y="52069"/>
                </a:lnTo>
                <a:lnTo>
                  <a:pt x="0" y="592581"/>
                </a:lnTo>
                <a:lnTo>
                  <a:pt x="4092" y="612848"/>
                </a:lnTo>
                <a:lnTo>
                  <a:pt x="15252" y="629399"/>
                </a:lnTo>
                <a:lnTo>
                  <a:pt x="31803" y="640559"/>
                </a:lnTo>
                <a:lnTo>
                  <a:pt x="52070" y="644651"/>
                </a:lnTo>
                <a:lnTo>
                  <a:pt x="10817098" y="644651"/>
                </a:lnTo>
                <a:lnTo>
                  <a:pt x="10837342" y="640559"/>
                </a:lnTo>
                <a:lnTo>
                  <a:pt x="10853896" y="629399"/>
                </a:lnTo>
                <a:lnTo>
                  <a:pt x="10865068" y="612848"/>
                </a:lnTo>
                <a:lnTo>
                  <a:pt x="10869167" y="592581"/>
                </a:lnTo>
                <a:lnTo>
                  <a:pt x="10869167" y="52069"/>
                </a:lnTo>
                <a:lnTo>
                  <a:pt x="10865068" y="31803"/>
                </a:lnTo>
                <a:lnTo>
                  <a:pt x="10853896" y="15252"/>
                </a:lnTo>
                <a:lnTo>
                  <a:pt x="10837342" y="4092"/>
                </a:lnTo>
                <a:lnTo>
                  <a:pt x="10817098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8716" y="1060526"/>
            <a:ext cx="3901440" cy="5175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3545" marR="1246505" indent="-262255">
              <a:lnSpc>
                <a:spcPct val="132600"/>
              </a:lnSpc>
              <a:spcBef>
                <a:spcPts val="100"/>
              </a:spcBef>
            </a:pP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def</a:t>
            </a:r>
            <a:r>
              <a:rPr sz="950" spc="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D63948"/>
                </a:solidFill>
                <a:latin typeface="Consolas"/>
                <a:cs typeface="Consolas"/>
              </a:rPr>
              <a:t>brute_force_search(text,</a:t>
            </a:r>
            <a:r>
              <a:rPr sz="950" spc="1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pattern): comparisons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9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0</a:t>
            </a:r>
            <a:endParaRPr sz="950">
              <a:latin typeface="Consolas"/>
              <a:cs typeface="Consolas"/>
            </a:endParaRPr>
          </a:p>
          <a:p>
            <a:pPr marL="684530" marR="526415" indent="-260985">
              <a:lnSpc>
                <a:spcPts val="1520"/>
              </a:lnSpc>
              <a:spcBef>
                <a:spcPts val="105"/>
              </a:spcBef>
            </a:pP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for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i</a:t>
            </a:r>
            <a:r>
              <a:rPr sz="9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in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range(len(text)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-</a:t>
            </a:r>
            <a:r>
              <a:rPr sz="9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len(pattern)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9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D63948"/>
                </a:solidFill>
                <a:latin typeface="Consolas"/>
                <a:cs typeface="Consolas"/>
              </a:rPr>
              <a:t>1):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found</a:t>
            </a:r>
            <a:r>
              <a:rPr sz="9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D63948"/>
                </a:solidFill>
                <a:latin typeface="Consolas"/>
                <a:cs typeface="Consolas"/>
              </a:rPr>
              <a:t>True</a:t>
            </a:r>
            <a:endParaRPr sz="950">
              <a:latin typeface="Consolas"/>
              <a:cs typeface="Consolas"/>
            </a:endParaRPr>
          </a:p>
          <a:p>
            <a:pPr marL="946150" marR="1311275" indent="-262255">
              <a:lnSpc>
                <a:spcPts val="1510"/>
              </a:lnSpc>
              <a:spcBef>
                <a:spcPts val="5"/>
              </a:spcBef>
            </a:pP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for</a:t>
            </a:r>
            <a:r>
              <a:rPr sz="9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j</a:t>
            </a:r>
            <a:r>
              <a:rPr sz="9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in</a:t>
            </a:r>
            <a:r>
              <a:rPr sz="9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range(len(pattern)): comparisons</a:t>
            </a:r>
            <a:r>
              <a:rPr sz="9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+=</a:t>
            </a:r>
            <a:r>
              <a:rPr sz="9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1</a:t>
            </a:r>
            <a:endParaRPr sz="950">
              <a:latin typeface="Consolas"/>
              <a:cs typeface="Consolas"/>
            </a:endParaRPr>
          </a:p>
          <a:p>
            <a:pPr marL="1208405" marR="1050925" indent="-262255">
              <a:lnSpc>
                <a:spcPts val="1510"/>
              </a:lnSpc>
              <a:spcBef>
                <a:spcPts val="15"/>
              </a:spcBef>
            </a:pP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text[i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j]</a:t>
            </a:r>
            <a:r>
              <a:rPr sz="9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!=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pattern[j]: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found</a:t>
            </a:r>
            <a:r>
              <a:rPr sz="950" spc="-6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9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D63948"/>
                </a:solidFill>
                <a:latin typeface="Consolas"/>
                <a:cs typeface="Consolas"/>
              </a:rPr>
              <a:t>False</a:t>
            </a:r>
            <a:endParaRPr sz="950">
              <a:latin typeface="Consolas"/>
              <a:cs typeface="Consolas"/>
            </a:endParaRPr>
          </a:p>
          <a:p>
            <a:pPr marL="1208405">
              <a:lnSpc>
                <a:spcPct val="100000"/>
              </a:lnSpc>
              <a:spcBef>
                <a:spcPts val="265"/>
              </a:spcBef>
            </a:pP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break</a:t>
            </a:r>
            <a:endParaRPr sz="950">
              <a:latin typeface="Consolas"/>
              <a:cs typeface="Consolas"/>
            </a:endParaRPr>
          </a:p>
          <a:p>
            <a:pPr marL="684530">
              <a:lnSpc>
                <a:spcPct val="100000"/>
              </a:lnSpc>
              <a:spcBef>
                <a:spcPts val="384"/>
              </a:spcBef>
            </a:pP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9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found:</a:t>
            </a:r>
            <a:endParaRPr sz="950">
              <a:latin typeface="Consolas"/>
              <a:cs typeface="Consolas"/>
            </a:endParaRPr>
          </a:p>
          <a:p>
            <a:pPr marL="423545" marR="1573530" indent="522605">
              <a:lnSpc>
                <a:spcPct val="132600"/>
              </a:lnSpc>
            </a:pP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return</a:t>
            </a:r>
            <a:r>
              <a:rPr sz="9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i,</a:t>
            </a:r>
            <a:r>
              <a:rPr sz="95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comparisons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return</a:t>
            </a:r>
            <a:r>
              <a:rPr sz="95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D63948"/>
                </a:solidFill>
                <a:latin typeface="Consolas"/>
                <a:cs typeface="Consolas"/>
              </a:rPr>
              <a:t>-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1,</a:t>
            </a:r>
            <a:r>
              <a:rPr sz="95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comparisons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950">
              <a:latin typeface="Consolas"/>
              <a:cs typeface="Consolas"/>
            </a:endParaRPr>
          </a:p>
          <a:p>
            <a:pPr marL="161290">
              <a:lnSpc>
                <a:spcPct val="100000"/>
              </a:lnSpc>
            </a:pP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text</a:t>
            </a:r>
            <a:r>
              <a:rPr sz="95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"COMPUTER</a:t>
            </a:r>
            <a:r>
              <a:rPr sz="950" spc="-6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DATA</a:t>
            </a:r>
            <a:r>
              <a:rPr sz="9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STRUCTURES"</a:t>
            </a:r>
            <a:endParaRPr sz="950">
              <a:latin typeface="Consolas"/>
              <a:cs typeface="Consolas"/>
            </a:endParaRPr>
          </a:p>
          <a:p>
            <a:pPr marL="161290">
              <a:lnSpc>
                <a:spcPct val="100000"/>
              </a:lnSpc>
              <a:spcBef>
                <a:spcPts val="370"/>
              </a:spcBef>
            </a:pP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pattern</a:t>
            </a:r>
            <a:r>
              <a:rPr sz="9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95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"DATA"</a:t>
            </a:r>
            <a:endParaRPr sz="950">
              <a:latin typeface="Consolas"/>
              <a:cs typeface="Consolas"/>
            </a:endParaRPr>
          </a:p>
          <a:p>
            <a:pPr marL="161290" marR="5080">
              <a:lnSpc>
                <a:spcPct val="132600"/>
              </a:lnSpc>
              <a:spcBef>
                <a:spcPts val="15"/>
              </a:spcBef>
            </a:pP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position,</a:t>
            </a:r>
            <a:r>
              <a:rPr sz="9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comparisons</a:t>
            </a:r>
            <a:r>
              <a:rPr sz="9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9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D63948"/>
                </a:solidFill>
                <a:latin typeface="Consolas"/>
                <a:cs typeface="Consolas"/>
              </a:rPr>
              <a:t>brute_force_search(text,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pattern)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9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position</a:t>
            </a:r>
            <a:r>
              <a:rPr sz="9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!=</a:t>
            </a:r>
            <a:r>
              <a:rPr sz="9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D63948"/>
                </a:solidFill>
                <a:latin typeface="Consolas"/>
                <a:cs typeface="Consolas"/>
              </a:rPr>
              <a:t>-1:</a:t>
            </a:r>
            <a:endParaRPr sz="950">
              <a:latin typeface="Consolas"/>
              <a:cs typeface="Consolas"/>
            </a:endParaRPr>
          </a:p>
          <a:p>
            <a:pPr marL="161290" marR="723900" indent="261620">
              <a:lnSpc>
                <a:spcPts val="1520"/>
              </a:lnSpc>
              <a:spcBef>
                <a:spcPts val="105"/>
              </a:spcBef>
            </a:pP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print("Pattern</a:t>
            </a:r>
            <a:r>
              <a:rPr sz="950" spc="-9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found</a:t>
            </a:r>
            <a:r>
              <a:rPr sz="950" spc="-8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at</a:t>
            </a:r>
            <a:r>
              <a:rPr sz="950" spc="-9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index:",</a:t>
            </a:r>
            <a:r>
              <a:rPr sz="950" spc="-8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position) else:</a:t>
            </a:r>
            <a:endParaRPr sz="950">
              <a:latin typeface="Consolas"/>
              <a:cs typeface="Consolas"/>
            </a:endParaRPr>
          </a:p>
          <a:p>
            <a:pPr marL="423545">
              <a:lnSpc>
                <a:spcPct val="100000"/>
              </a:lnSpc>
              <a:spcBef>
                <a:spcPts val="265"/>
              </a:spcBef>
            </a:pP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print("Pattern</a:t>
            </a:r>
            <a:r>
              <a:rPr sz="9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D63948"/>
                </a:solidFill>
                <a:latin typeface="Consolas"/>
                <a:cs typeface="Consolas"/>
              </a:rPr>
              <a:t>not</a:t>
            </a:r>
            <a:r>
              <a:rPr sz="9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found")</a:t>
            </a:r>
            <a:endParaRPr sz="950">
              <a:latin typeface="Consolas"/>
              <a:cs typeface="Consolas"/>
            </a:endParaRPr>
          </a:p>
          <a:p>
            <a:pPr marL="161290">
              <a:lnSpc>
                <a:spcPct val="100000"/>
              </a:lnSpc>
              <a:spcBef>
                <a:spcPts val="370"/>
              </a:spcBef>
            </a:pP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print("Total</a:t>
            </a:r>
            <a:r>
              <a:rPr sz="950" spc="-8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comparisons:",</a:t>
            </a:r>
            <a:r>
              <a:rPr sz="950" spc="-9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D63948"/>
                </a:solidFill>
                <a:latin typeface="Consolas"/>
                <a:cs typeface="Consolas"/>
              </a:rPr>
              <a:t>comparisons)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50" b="1" dirty="0">
                <a:solidFill>
                  <a:srgbClr val="272424"/>
                </a:solidFill>
                <a:latin typeface="Arial"/>
                <a:cs typeface="Arial"/>
              </a:rPr>
              <a:t>Expected</a:t>
            </a:r>
            <a:r>
              <a:rPr sz="950" b="1" spc="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272424"/>
                </a:solidFill>
                <a:latin typeface="Arial"/>
                <a:cs typeface="Arial"/>
              </a:rPr>
              <a:t>Output: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950">
              <a:latin typeface="Arial"/>
              <a:cs typeface="Arial"/>
            </a:endParaRPr>
          </a:p>
          <a:p>
            <a:pPr marL="161290" marR="2096135">
              <a:lnSpc>
                <a:spcPct val="132600"/>
              </a:lnSpc>
            </a:pPr>
            <a:r>
              <a:rPr sz="950" dirty="0">
                <a:solidFill>
                  <a:srgbClr val="005CC5"/>
                </a:solidFill>
                <a:latin typeface="Consolas"/>
                <a:cs typeface="Consolas"/>
              </a:rPr>
              <a:t>Pattern</a:t>
            </a:r>
            <a:r>
              <a:rPr sz="950" spc="-95" dirty="0">
                <a:solidFill>
                  <a:srgbClr val="005CC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5CC5"/>
                </a:solidFill>
                <a:latin typeface="Consolas"/>
                <a:cs typeface="Consolas"/>
              </a:rPr>
              <a:t>found</a:t>
            </a:r>
            <a:r>
              <a:rPr sz="950" spc="-85" dirty="0">
                <a:solidFill>
                  <a:srgbClr val="005CC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5CC5"/>
                </a:solidFill>
                <a:latin typeface="Consolas"/>
                <a:cs typeface="Consolas"/>
              </a:rPr>
              <a:t>at</a:t>
            </a:r>
            <a:r>
              <a:rPr sz="950" spc="-95" dirty="0">
                <a:solidFill>
                  <a:srgbClr val="005CC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5CC5"/>
                </a:solidFill>
                <a:latin typeface="Consolas"/>
                <a:cs typeface="Consolas"/>
              </a:rPr>
              <a:t>index:</a:t>
            </a:r>
            <a:r>
              <a:rPr sz="950" spc="-80" dirty="0">
                <a:solidFill>
                  <a:srgbClr val="005CC5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5CC5"/>
                </a:solidFill>
                <a:latin typeface="Consolas"/>
                <a:cs typeface="Consolas"/>
              </a:rPr>
              <a:t>9 </a:t>
            </a:r>
            <a:r>
              <a:rPr sz="950" dirty="0">
                <a:solidFill>
                  <a:srgbClr val="005CC5"/>
                </a:solidFill>
                <a:latin typeface="Consolas"/>
                <a:cs typeface="Consolas"/>
              </a:rPr>
              <a:t>Total</a:t>
            </a:r>
            <a:r>
              <a:rPr sz="950" spc="-90" dirty="0">
                <a:solidFill>
                  <a:srgbClr val="005CC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5CC5"/>
                </a:solidFill>
                <a:latin typeface="Consolas"/>
                <a:cs typeface="Consolas"/>
              </a:rPr>
              <a:t>comparisons:</a:t>
            </a:r>
            <a:r>
              <a:rPr sz="950" spc="-80" dirty="0">
                <a:solidFill>
                  <a:srgbClr val="005CC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005CC5"/>
                </a:solidFill>
                <a:latin typeface="Consolas"/>
                <a:cs typeface="Consolas"/>
              </a:rPr>
              <a:t>13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785240"/>
            <a:ext cx="724090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dirty="0"/>
              <a:t>Brute-</a:t>
            </a:r>
            <a:r>
              <a:rPr sz="2750" spc="-70" dirty="0"/>
              <a:t>Force</a:t>
            </a:r>
            <a:r>
              <a:rPr sz="2750" spc="-190" dirty="0"/>
              <a:t> </a:t>
            </a:r>
            <a:r>
              <a:rPr sz="2750" spc="-275" dirty="0"/>
              <a:t>—</a:t>
            </a:r>
            <a:r>
              <a:rPr sz="2750" spc="-210" dirty="0"/>
              <a:t> </a:t>
            </a:r>
            <a:r>
              <a:rPr sz="2750" spc="-25" dirty="0"/>
              <a:t>Code</a:t>
            </a:r>
            <a:r>
              <a:rPr sz="2750" spc="-204" dirty="0"/>
              <a:t> </a:t>
            </a:r>
            <a:r>
              <a:rPr sz="2750" spc="-90" dirty="0"/>
              <a:t>Explanation</a:t>
            </a:r>
            <a:r>
              <a:rPr sz="2750" spc="-165" dirty="0"/>
              <a:t> </a:t>
            </a:r>
            <a:r>
              <a:rPr sz="2750" spc="-30" dirty="0"/>
              <a:t>and</a:t>
            </a:r>
            <a:r>
              <a:rPr sz="2750" spc="-190" dirty="0"/>
              <a:t> </a:t>
            </a:r>
            <a:r>
              <a:rPr sz="2750" spc="-55" dirty="0"/>
              <a:t>Dry</a:t>
            </a:r>
            <a:r>
              <a:rPr sz="2750" spc="-215" dirty="0"/>
              <a:t> </a:t>
            </a:r>
            <a:r>
              <a:rPr sz="2750" spc="-40" dirty="0"/>
              <a:t>Run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648716" y="1479550"/>
            <a:ext cx="22910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40" dirty="0">
                <a:latin typeface="Arial"/>
                <a:cs typeface="Arial"/>
              </a:rPr>
              <a:t>Key</a:t>
            </a:r>
            <a:r>
              <a:rPr sz="1350" b="1" spc="-114" dirty="0">
                <a:latin typeface="Arial"/>
                <a:cs typeface="Arial"/>
              </a:rPr>
              <a:t> </a:t>
            </a:r>
            <a:r>
              <a:rPr sz="1350" b="1" spc="-20" dirty="0">
                <a:latin typeface="Arial"/>
                <a:cs typeface="Arial"/>
              </a:rPr>
              <a:t>Code</a:t>
            </a:r>
            <a:r>
              <a:rPr sz="1350" b="1" spc="-105" dirty="0">
                <a:latin typeface="Arial"/>
                <a:cs typeface="Arial"/>
              </a:rPr>
              <a:t> </a:t>
            </a:r>
            <a:r>
              <a:rPr sz="1350" b="1" spc="-45" dirty="0">
                <a:latin typeface="Arial"/>
                <a:cs typeface="Arial"/>
              </a:rPr>
              <a:t>Sections</a:t>
            </a:r>
            <a:r>
              <a:rPr sz="1350" b="1" spc="-90" dirty="0">
                <a:latin typeface="Arial"/>
                <a:cs typeface="Arial"/>
              </a:rPr>
              <a:t> </a:t>
            </a:r>
            <a:r>
              <a:rPr sz="1350" b="1" spc="-30" dirty="0">
                <a:latin typeface="Arial"/>
                <a:cs typeface="Arial"/>
              </a:rPr>
              <a:t>Explained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4" name="object 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1845564"/>
            <a:ext cx="2570988" cy="13167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4631" y="1949018"/>
            <a:ext cx="908050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272424"/>
                </a:solidFill>
                <a:latin typeface="Arial"/>
                <a:cs typeface="Arial"/>
              </a:rPr>
              <a:t>Outer</a:t>
            </a:r>
            <a:r>
              <a:rPr sz="135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272424"/>
                </a:solidFill>
                <a:latin typeface="Arial"/>
                <a:cs typeface="Arial"/>
              </a:rPr>
              <a:t>Loop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7216" y="2302509"/>
            <a:ext cx="1946275" cy="166370"/>
          </a:xfrm>
          <a:custGeom>
            <a:avLst/>
            <a:gdLst/>
            <a:ahLst/>
            <a:cxnLst/>
            <a:rect l="l" t="t" r="r" b="b"/>
            <a:pathLst>
              <a:path w="1946275" h="166369">
                <a:moveTo>
                  <a:pt x="1869948" y="0"/>
                </a:moveTo>
                <a:lnTo>
                  <a:pt x="0" y="0"/>
                </a:lnTo>
                <a:lnTo>
                  <a:pt x="0" y="166116"/>
                </a:lnTo>
                <a:lnTo>
                  <a:pt x="1869948" y="166116"/>
                </a:lnTo>
                <a:lnTo>
                  <a:pt x="1869948" y="0"/>
                </a:lnTo>
                <a:close/>
              </a:path>
              <a:path w="1946275" h="166369">
                <a:moveTo>
                  <a:pt x="1946186" y="0"/>
                </a:moveTo>
                <a:lnTo>
                  <a:pt x="1869986" y="0"/>
                </a:lnTo>
                <a:lnTo>
                  <a:pt x="1869986" y="166116"/>
                </a:lnTo>
                <a:lnTo>
                  <a:pt x="1946186" y="166116"/>
                </a:lnTo>
                <a:lnTo>
                  <a:pt x="1946186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4631" y="2279650"/>
            <a:ext cx="19729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for</a:t>
            </a:r>
            <a:r>
              <a:rPr sz="1100" spc="-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i</a:t>
            </a:r>
            <a:r>
              <a:rPr sz="1100" spc="-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in</a:t>
            </a:r>
            <a:r>
              <a:rPr sz="1100" spc="-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Consolas"/>
                <a:cs typeface="Consolas"/>
              </a:rPr>
              <a:t>range(len(text)</a:t>
            </a:r>
            <a:r>
              <a:rPr sz="1100" spc="-5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spc="-50" dirty="0">
                <a:solidFill>
                  <a:srgbClr val="272424"/>
                </a:solidFill>
                <a:latin typeface="Consolas"/>
                <a:cs typeface="Consolas"/>
              </a:rPr>
              <a:t>-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7216" y="2302509"/>
            <a:ext cx="2021205" cy="334010"/>
          </a:xfrm>
          <a:custGeom>
            <a:avLst/>
            <a:gdLst/>
            <a:ahLst/>
            <a:cxnLst/>
            <a:rect l="l" t="t" r="r" b="b"/>
            <a:pathLst>
              <a:path w="2021205" h="334010">
                <a:moveTo>
                  <a:pt x="1271016" y="161544"/>
                </a:moveTo>
                <a:lnTo>
                  <a:pt x="0" y="161544"/>
                </a:lnTo>
                <a:lnTo>
                  <a:pt x="0" y="333756"/>
                </a:lnTo>
                <a:lnTo>
                  <a:pt x="1271016" y="333756"/>
                </a:lnTo>
                <a:lnTo>
                  <a:pt x="1271016" y="161544"/>
                </a:lnTo>
                <a:close/>
              </a:path>
              <a:path w="2021205" h="334010">
                <a:moveTo>
                  <a:pt x="2020849" y="0"/>
                </a:moveTo>
                <a:lnTo>
                  <a:pt x="1946186" y="0"/>
                </a:lnTo>
                <a:lnTo>
                  <a:pt x="1946186" y="166116"/>
                </a:lnTo>
                <a:lnTo>
                  <a:pt x="2020849" y="166116"/>
                </a:lnTo>
                <a:lnTo>
                  <a:pt x="2020849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84631" y="2447289"/>
            <a:ext cx="12998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272424"/>
                </a:solidFill>
                <a:latin typeface="Consolas"/>
                <a:cs typeface="Consolas"/>
              </a:rPr>
              <a:t>len(pattern)</a:t>
            </a:r>
            <a:r>
              <a:rPr sz="1100" spc="-4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+</a:t>
            </a:r>
            <a:r>
              <a:rPr sz="1100" spc="-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Consolas"/>
                <a:cs typeface="Consolas"/>
              </a:rPr>
              <a:t>1)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4631" y="2611882"/>
            <a:ext cx="197040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Selects</a:t>
            </a:r>
            <a:r>
              <a:rPr sz="11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1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starting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position.</a:t>
            </a:r>
            <a:r>
              <a:rPr sz="11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Range</a:t>
            </a:r>
            <a:r>
              <a:rPr sz="11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n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−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m</a:t>
            </a:r>
            <a:r>
              <a:rPr sz="11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+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1.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1" name="object 11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800" y="1845564"/>
            <a:ext cx="2570988" cy="131673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576065" y="1949018"/>
            <a:ext cx="850265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45" dirty="0">
                <a:solidFill>
                  <a:srgbClr val="272424"/>
                </a:solidFill>
                <a:latin typeface="Arial"/>
                <a:cs typeface="Arial"/>
              </a:rPr>
              <a:t>Inner</a:t>
            </a:r>
            <a:r>
              <a:rPr sz="135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b="1" spc="-35" dirty="0">
                <a:solidFill>
                  <a:srgbClr val="272424"/>
                </a:solidFill>
                <a:latin typeface="Arial"/>
                <a:cs typeface="Arial"/>
              </a:rPr>
              <a:t>Loop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8384" y="2296414"/>
            <a:ext cx="2108200" cy="1727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for</a:t>
            </a:r>
            <a:r>
              <a:rPr sz="1100" spc="-4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j</a:t>
            </a:r>
            <a:r>
              <a:rPr sz="1100" spc="-3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in</a:t>
            </a:r>
            <a:r>
              <a:rPr sz="1100" spc="-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Consolas"/>
                <a:cs typeface="Consolas"/>
              </a:rPr>
              <a:t>range(len(pattern))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76065" y="2444242"/>
            <a:ext cx="209423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Compares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each</a:t>
            </a:r>
            <a:r>
              <a:rPr sz="11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1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1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1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corresponding </a:t>
            </a:r>
            <a:r>
              <a:rPr sz="11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1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5" name="object 15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1416" y="3281171"/>
            <a:ext cx="2570988" cy="130302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84631" y="3384930"/>
            <a:ext cx="66992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272424"/>
                </a:solidFill>
                <a:latin typeface="Arial"/>
                <a:cs typeface="Arial"/>
              </a:rPr>
              <a:t>Counter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7216" y="3731386"/>
            <a:ext cx="1209040" cy="1727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100" spc="-10" dirty="0">
                <a:solidFill>
                  <a:srgbClr val="272424"/>
                </a:solidFill>
                <a:latin typeface="Consolas"/>
                <a:cs typeface="Consolas"/>
              </a:rPr>
              <a:t>comparisons</a:t>
            </a:r>
            <a:r>
              <a:rPr sz="1100" spc="-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+=</a:t>
            </a:r>
            <a:r>
              <a:rPr sz="1100" spc="-4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spc="-50" dirty="0">
                <a:solidFill>
                  <a:srgbClr val="272424"/>
                </a:solidFill>
                <a:latin typeface="Consolas"/>
                <a:cs typeface="Consolas"/>
              </a:rPr>
              <a:t>1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4631" y="3879596"/>
            <a:ext cx="162179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Counts</a:t>
            </a:r>
            <a:r>
              <a:rPr sz="11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1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1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made</a:t>
            </a:r>
            <a:r>
              <a:rPr sz="11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1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9" name="object 19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2800" y="3281171"/>
            <a:ext cx="2570988" cy="130302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576065" y="3384930"/>
            <a:ext cx="80835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272424"/>
                </a:solidFill>
                <a:latin typeface="Arial"/>
                <a:cs typeface="Arial"/>
              </a:rPr>
              <a:t>Mismatch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88384" y="3737483"/>
            <a:ext cx="2245360" cy="166370"/>
          </a:xfrm>
          <a:custGeom>
            <a:avLst/>
            <a:gdLst/>
            <a:ahLst/>
            <a:cxnLst/>
            <a:rect l="l" t="t" r="r" b="b"/>
            <a:pathLst>
              <a:path w="2245360" h="166370">
                <a:moveTo>
                  <a:pt x="2244852" y="0"/>
                </a:moveTo>
                <a:lnTo>
                  <a:pt x="0" y="0"/>
                </a:lnTo>
                <a:lnTo>
                  <a:pt x="0" y="166116"/>
                </a:lnTo>
                <a:lnTo>
                  <a:pt x="2244852" y="166116"/>
                </a:lnTo>
                <a:lnTo>
                  <a:pt x="2244852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576065" y="3715003"/>
            <a:ext cx="21996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if</a:t>
            </a:r>
            <a:r>
              <a:rPr sz="1100" spc="-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text[i</a:t>
            </a:r>
            <a:r>
              <a:rPr sz="1100" spc="-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+</a:t>
            </a:r>
            <a:r>
              <a:rPr sz="1100" spc="-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j]</a:t>
            </a:r>
            <a:r>
              <a:rPr sz="1100" spc="-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272424"/>
                </a:solidFill>
                <a:latin typeface="Consolas"/>
                <a:cs typeface="Consolas"/>
              </a:rPr>
              <a:t>!=</a:t>
            </a:r>
            <a:r>
              <a:rPr sz="1100" spc="-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Consolas"/>
                <a:cs typeface="Consolas"/>
              </a:rPr>
              <a:t>pattern[j]: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588384" y="3899027"/>
            <a:ext cx="373380" cy="172720"/>
          </a:xfrm>
          <a:custGeom>
            <a:avLst/>
            <a:gdLst/>
            <a:ahLst/>
            <a:cxnLst/>
            <a:rect l="l" t="t" r="r" b="b"/>
            <a:pathLst>
              <a:path w="373379" h="172720">
                <a:moveTo>
                  <a:pt x="373379" y="0"/>
                </a:moveTo>
                <a:lnTo>
                  <a:pt x="0" y="0"/>
                </a:lnTo>
                <a:lnTo>
                  <a:pt x="0" y="172212"/>
                </a:lnTo>
                <a:lnTo>
                  <a:pt x="373379" y="172212"/>
                </a:lnTo>
                <a:lnTo>
                  <a:pt x="373379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576065" y="3882644"/>
            <a:ext cx="3987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72424"/>
                </a:solidFill>
                <a:latin typeface="Consolas"/>
                <a:cs typeface="Consolas"/>
              </a:rPr>
              <a:t>break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76065" y="4046931"/>
            <a:ext cx="213233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Stops</a:t>
            </a:r>
            <a:r>
              <a:rPr sz="11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inner</a:t>
            </a:r>
            <a:r>
              <a:rPr sz="11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loop</a:t>
            </a:r>
            <a:r>
              <a:rPr sz="11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immediately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on</a:t>
            </a:r>
            <a:r>
              <a:rPr sz="11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mismatch;</a:t>
            </a:r>
            <a:r>
              <a:rPr sz="11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shifts</a:t>
            </a:r>
            <a:r>
              <a:rPr sz="11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next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outer</a:t>
            </a:r>
            <a:r>
              <a:rPr sz="11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26" name="object 26" descr="preencoded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1416" y="4703064"/>
            <a:ext cx="2570988" cy="113385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84631" y="4807458"/>
            <a:ext cx="5308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endParaRPr sz="13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4631" y="5134736"/>
            <a:ext cx="1054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9992" y="5144515"/>
            <a:ext cx="392430" cy="18288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100" spc="-10" dirty="0">
                <a:solidFill>
                  <a:srgbClr val="272424"/>
                </a:solidFill>
                <a:latin typeface="Consolas"/>
                <a:cs typeface="Consolas"/>
              </a:rPr>
              <a:t>found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07413" y="5134736"/>
            <a:ext cx="5334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remains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61007" y="5144515"/>
            <a:ext cx="316230" cy="18288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100" spc="-20" dirty="0">
                <a:solidFill>
                  <a:srgbClr val="272424"/>
                </a:solidFill>
                <a:latin typeface="Consolas"/>
                <a:cs typeface="Consolas"/>
              </a:rPr>
              <a:t>True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82444" y="5134736"/>
            <a:ext cx="5759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100" spc="1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4631" y="5302377"/>
            <a:ext cx="21856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inner</a:t>
            </a:r>
            <a:r>
              <a:rPr sz="11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loop,</a:t>
            </a:r>
            <a:r>
              <a:rPr sz="11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1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1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matched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310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1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return</a:t>
            </a:r>
            <a:r>
              <a:rPr sz="11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starting</a:t>
            </a:r>
            <a:r>
              <a:rPr sz="11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index.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61608" y="1479550"/>
            <a:ext cx="4991735" cy="403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480"/>
              </a:lnSpc>
              <a:spcBef>
                <a:spcPts val="105"/>
              </a:spcBef>
            </a:pPr>
            <a:r>
              <a:rPr sz="1350" b="1" spc="-55" dirty="0">
                <a:latin typeface="Arial"/>
                <a:cs typeface="Arial"/>
              </a:rPr>
              <a:t>Visual</a:t>
            </a:r>
            <a:r>
              <a:rPr sz="1350" b="1" spc="-95" dirty="0">
                <a:latin typeface="Arial"/>
                <a:cs typeface="Arial"/>
              </a:rPr>
              <a:t> </a:t>
            </a:r>
            <a:r>
              <a:rPr sz="1350" b="1" spc="-35" dirty="0">
                <a:latin typeface="Arial"/>
                <a:cs typeface="Arial"/>
              </a:rPr>
              <a:t>Dry</a:t>
            </a:r>
            <a:r>
              <a:rPr sz="1350" b="1" spc="-95" dirty="0">
                <a:latin typeface="Arial"/>
                <a:cs typeface="Arial"/>
              </a:rPr>
              <a:t> Run</a:t>
            </a:r>
            <a:r>
              <a:rPr sz="1350" b="1" spc="-85" dirty="0">
                <a:latin typeface="Arial"/>
                <a:cs typeface="Arial"/>
              </a:rPr>
              <a:t> </a:t>
            </a:r>
            <a:r>
              <a:rPr sz="1350" b="1" spc="-135" dirty="0">
                <a:latin typeface="Arial"/>
                <a:cs typeface="Arial"/>
              </a:rPr>
              <a:t>—</a:t>
            </a:r>
            <a:r>
              <a:rPr sz="1350" b="1" spc="-100" dirty="0">
                <a:latin typeface="Arial"/>
                <a:cs typeface="Arial"/>
              </a:rPr>
              <a:t> </a:t>
            </a:r>
            <a:r>
              <a:rPr sz="1350" b="1" spc="-45" dirty="0">
                <a:latin typeface="Arial"/>
                <a:cs typeface="Arial"/>
              </a:rPr>
              <a:t>Text:</a:t>
            </a:r>
            <a:r>
              <a:rPr sz="1350" b="1" spc="-100" dirty="0">
                <a:latin typeface="Arial"/>
                <a:cs typeface="Arial"/>
              </a:rPr>
              <a:t> </a:t>
            </a:r>
            <a:r>
              <a:rPr sz="1350" b="1" spc="-114" dirty="0">
                <a:latin typeface="Arial"/>
                <a:cs typeface="Arial"/>
              </a:rPr>
              <a:t>"COMPUTER</a:t>
            </a:r>
            <a:r>
              <a:rPr sz="1350" b="1" spc="-100" dirty="0">
                <a:latin typeface="Arial"/>
                <a:cs typeface="Arial"/>
              </a:rPr>
              <a:t> </a:t>
            </a:r>
            <a:r>
              <a:rPr sz="1350" b="1" spc="-80" dirty="0">
                <a:latin typeface="Arial"/>
                <a:cs typeface="Arial"/>
              </a:rPr>
              <a:t>DATA</a:t>
            </a:r>
            <a:r>
              <a:rPr sz="1350" b="1" spc="-110" dirty="0">
                <a:latin typeface="Arial"/>
                <a:cs typeface="Arial"/>
              </a:rPr>
              <a:t> </a:t>
            </a:r>
            <a:r>
              <a:rPr sz="1350" b="1" spc="-140" dirty="0">
                <a:latin typeface="Arial"/>
                <a:cs typeface="Arial"/>
              </a:rPr>
              <a:t>STRUCTURES",</a:t>
            </a:r>
            <a:r>
              <a:rPr sz="1350" b="1" spc="-45" dirty="0">
                <a:latin typeface="Arial"/>
                <a:cs typeface="Arial"/>
              </a:rPr>
              <a:t> </a:t>
            </a:r>
            <a:r>
              <a:rPr sz="1350" b="1" spc="-10" dirty="0">
                <a:latin typeface="Arial"/>
                <a:cs typeface="Arial"/>
              </a:rPr>
              <a:t>Pattern: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ts val="1480"/>
              </a:lnSpc>
            </a:pPr>
            <a:r>
              <a:rPr sz="1350" b="1" spc="-10" dirty="0">
                <a:latin typeface="Arial"/>
                <a:cs typeface="Arial"/>
              </a:rPr>
              <a:t>"DATA"</a:t>
            </a:r>
            <a:endParaRPr sz="1350">
              <a:latin typeface="Arial"/>
              <a:cs typeface="Arial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6267322" y="2015617"/>
          <a:ext cx="5261608" cy="1622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305"/>
                <a:gridCol w="1578609"/>
                <a:gridCol w="1841500"/>
                <a:gridCol w="1052194"/>
              </a:tblGrid>
              <a:tr h="324485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b="1" spc="-5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D4CEC3"/>
                      </a:solidFill>
                      <a:prstDash val="solid"/>
                    </a:lnL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Window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Comparison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pc="9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COMP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r>
                        <a:rPr sz="11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100" spc="-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1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pc="-3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OMPU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1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1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1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1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00" spc="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9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DATA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D=D</a:t>
                      </a:r>
                      <a:r>
                        <a:rPr sz="1100" spc="-4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100" spc="-2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100" spc="-2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100" spc="-5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T=T</a:t>
                      </a:r>
                      <a:r>
                        <a:rPr sz="1100" spc="-5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100" spc="-6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100" spc="-2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100">
                        <a:latin typeface="Segoe UI Symbol"/>
                        <a:cs typeface="Segoe UI Symbol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100" b="1" spc="-6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325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100">
                        <a:latin typeface="Yu Gothic UI"/>
                        <a:cs typeface="Yu Gothic U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6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Advantages</a:t>
            </a:r>
            <a:r>
              <a:rPr spc="-265" dirty="0"/>
              <a:t> </a:t>
            </a:r>
            <a:r>
              <a:rPr spc="-20" dirty="0"/>
              <a:t>of</a:t>
            </a:r>
            <a:r>
              <a:rPr spc="-229" dirty="0"/>
              <a:t> </a:t>
            </a:r>
            <a:r>
              <a:rPr dirty="0"/>
              <a:t>Brute-</a:t>
            </a:r>
            <a:r>
              <a:rPr spc="-80" dirty="0"/>
              <a:t>Force</a:t>
            </a:r>
            <a:r>
              <a:rPr spc="-270" dirty="0"/>
              <a:t> </a:t>
            </a:r>
            <a:r>
              <a:rPr spc="-110" dirty="0"/>
              <a:t>String</a:t>
            </a:r>
            <a:r>
              <a:rPr spc="-280" dirty="0"/>
              <a:t> </a:t>
            </a:r>
            <a:r>
              <a:rPr spc="-10" dirty="0"/>
              <a:t>Matching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8368" y="1667255"/>
            <a:ext cx="5358765" cy="1746885"/>
            <a:chOff x="658368" y="1667255"/>
            <a:chExt cx="5358765" cy="1746885"/>
          </a:xfrm>
        </p:grpSpPr>
        <p:sp>
          <p:nvSpPr>
            <p:cNvPr id="4" name="object 4"/>
            <p:cNvSpPr/>
            <p:nvPr/>
          </p:nvSpPr>
          <p:spPr>
            <a:xfrm>
              <a:off x="661416" y="1670303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5282819" y="0"/>
                  </a:moveTo>
                  <a:lnTo>
                    <a:pt x="69456" y="0"/>
                  </a:lnTo>
                  <a:lnTo>
                    <a:pt x="42423" y="5461"/>
                  </a:lnTo>
                  <a:lnTo>
                    <a:pt x="20345" y="20351"/>
                  </a:lnTo>
                  <a:lnTo>
                    <a:pt x="5459" y="42433"/>
                  </a:lnTo>
                  <a:lnTo>
                    <a:pt x="0" y="69469"/>
                  </a:lnTo>
                  <a:lnTo>
                    <a:pt x="0" y="1670939"/>
                  </a:lnTo>
                  <a:lnTo>
                    <a:pt x="5459" y="1697974"/>
                  </a:lnTo>
                  <a:lnTo>
                    <a:pt x="20345" y="1720056"/>
                  </a:lnTo>
                  <a:lnTo>
                    <a:pt x="42423" y="1734947"/>
                  </a:lnTo>
                  <a:lnTo>
                    <a:pt x="69456" y="1740408"/>
                  </a:lnTo>
                  <a:lnTo>
                    <a:pt x="5282819" y="1740408"/>
                  </a:lnTo>
                  <a:lnTo>
                    <a:pt x="5309854" y="1734947"/>
                  </a:lnTo>
                  <a:lnTo>
                    <a:pt x="5331936" y="1720056"/>
                  </a:lnTo>
                  <a:lnTo>
                    <a:pt x="5346827" y="1697974"/>
                  </a:lnTo>
                  <a:lnTo>
                    <a:pt x="5352288" y="1670939"/>
                  </a:lnTo>
                  <a:lnTo>
                    <a:pt x="5352288" y="69469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1416" y="1670303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0" y="69469"/>
                  </a:moveTo>
                  <a:lnTo>
                    <a:pt x="5459" y="42433"/>
                  </a:lnTo>
                  <a:lnTo>
                    <a:pt x="20345" y="20351"/>
                  </a:lnTo>
                  <a:lnTo>
                    <a:pt x="42423" y="5461"/>
                  </a:lnTo>
                  <a:lnTo>
                    <a:pt x="69456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8" y="69469"/>
                  </a:lnTo>
                  <a:lnTo>
                    <a:pt x="5352288" y="1670939"/>
                  </a:lnTo>
                  <a:lnTo>
                    <a:pt x="5346827" y="1697974"/>
                  </a:lnTo>
                  <a:lnTo>
                    <a:pt x="5331936" y="1720056"/>
                  </a:lnTo>
                  <a:lnTo>
                    <a:pt x="5309854" y="1734947"/>
                  </a:lnTo>
                  <a:lnTo>
                    <a:pt x="5282819" y="1740408"/>
                  </a:lnTo>
                  <a:lnTo>
                    <a:pt x="69456" y="1740408"/>
                  </a:lnTo>
                  <a:lnTo>
                    <a:pt x="42423" y="1734947"/>
                  </a:lnTo>
                  <a:lnTo>
                    <a:pt x="20345" y="1720056"/>
                  </a:lnTo>
                  <a:lnTo>
                    <a:pt x="5459" y="1697974"/>
                  </a:lnTo>
                  <a:lnTo>
                    <a:pt x="0" y="1670939"/>
                  </a:lnTo>
                  <a:lnTo>
                    <a:pt x="0" y="6946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3628" y="1840991"/>
              <a:ext cx="495300" cy="497205"/>
            </a:xfrm>
            <a:custGeom>
              <a:avLst/>
              <a:gdLst/>
              <a:ahLst/>
              <a:cxnLst/>
              <a:rect l="l" t="t" r="r" b="b"/>
              <a:pathLst>
                <a:path w="495300" h="497205">
                  <a:moveTo>
                    <a:pt x="247650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1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3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50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2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300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263" y="1978151"/>
              <a:ext cx="224028" cy="22250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20623" y="2306615"/>
            <a:ext cx="491299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75" dirty="0">
                <a:solidFill>
                  <a:srgbClr val="272424"/>
                </a:solidFill>
                <a:latin typeface="Arial"/>
                <a:cs typeface="Arial"/>
              </a:rPr>
              <a:t>Easy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6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Understand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follows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65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mtClean="0">
                <a:solidFill>
                  <a:srgbClr val="272424"/>
                </a:solidFill>
                <a:latin typeface="Microsoft Sans Serif"/>
                <a:cs typeface="Microsoft Sans Serif"/>
              </a:rPr>
              <a:t>simple</a:t>
            </a:r>
            <a:r>
              <a:rPr sz="1300" spc="100" smtClean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process.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Any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beginner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follow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reason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about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its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correctness.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75247" y="1667255"/>
            <a:ext cx="5358765" cy="1746885"/>
            <a:chOff x="6175247" y="1667255"/>
            <a:chExt cx="5358765" cy="1746885"/>
          </a:xfrm>
        </p:grpSpPr>
        <p:sp>
          <p:nvSpPr>
            <p:cNvPr id="10" name="object 10"/>
            <p:cNvSpPr/>
            <p:nvPr/>
          </p:nvSpPr>
          <p:spPr>
            <a:xfrm>
              <a:off x="6178295" y="1670303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5282819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1670939"/>
                  </a:lnTo>
                  <a:lnTo>
                    <a:pt x="5461" y="1697974"/>
                  </a:lnTo>
                  <a:lnTo>
                    <a:pt x="20351" y="1720056"/>
                  </a:lnTo>
                  <a:lnTo>
                    <a:pt x="42433" y="1734947"/>
                  </a:lnTo>
                  <a:lnTo>
                    <a:pt x="69468" y="1740408"/>
                  </a:lnTo>
                  <a:lnTo>
                    <a:pt x="5282819" y="1740408"/>
                  </a:lnTo>
                  <a:lnTo>
                    <a:pt x="5309854" y="1734947"/>
                  </a:lnTo>
                  <a:lnTo>
                    <a:pt x="5331936" y="1720056"/>
                  </a:lnTo>
                  <a:lnTo>
                    <a:pt x="5346827" y="1697974"/>
                  </a:lnTo>
                  <a:lnTo>
                    <a:pt x="5352287" y="1670939"/>
                  </a:lnTo>
                  <a:lnTo>
                    <a:pt x="5352287" y="69469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78295" y="1670303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7" y="69469"/>
                  </a:lnTo>
                  <a:lnTo>
                    <a:pt x="5352287" y="1670939"/>
                  </a:lnTo>
                  <a:lnTo>
                    <a:pt x="5346827" y="1697974"/>
                  </a:lnTo>
                  <a:lnTo>
                    <a:pt x="5331936" y="1720056"/>
                  </a:lnTo>
                  <a:lnTo>
                    <a:pt x="5309854" y="1734947"/>
                  </a:lnTo>
                  <a:lnTo>
                    <a:pt x="5282819" y="1740408"/>
                  </a:lnTo>
                  <a:lnTo>
                    <a:pt x="69468" y="1740408"/>
                  </a:lnTo>
                  <a:lnTo>
                    <a:pt x="42433" y="1734947"/>
                  </a:lnTo>
                  <a:lnTo>
                    <a:pt x="20351" y="1720056"/>
                  </a:lnTo>
                  <a:lnTo>
                    <a:pt x="5461" y="1697974"/>
                  </a:lnTo>
                  <a:lnTo>
                    <a:pt x="0" y="1670939"/>
                  </a:lnTo>
                  <a:lnTo>
                    <a:pt x="0" y="69469"/>
                  </a:lnTo>
                  <a:close/>
                </a:path>
              </a:pathLst>
            </a:custGeom>
            <a:ln w="6095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50507" y="1840991"/>
              <a:ext cx="495300" cy="497205"/>
            </a:xfrm>
            <a:custGeom>
              <a:avLst/>
              <a:gdLst/>
              <a:ahLst/>
              <a:cxnLst/>
              <a:rect l="l" t="t" r="r" b="b"/>
              <a:pathLst>
                <a:path w="495300" h="497205">
                  <a:moveTo>
                    <a:pt x="247649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1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3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49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2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299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49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143" y="1978151"/>
              <a:ext cx="224027" cy="22250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338061" y="2306615"/>
            <a:ext cx="486981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75" dirty="0">
                <a:solidFill>
                  <a:srgbClr val="272424"/>
                </a:solidFill>
                <a:latin typeface="Arial"/>
                <a:cs typeface="Arial"/>
              </a:rPr>
              <a:t>Easy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6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Implement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loops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comparisons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required.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complex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structures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preprocessing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steps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needed.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8368" y="3572255"/>
            <a:ext cx="5358765" cy="1746885"/>
            <a:chOff x="658368" y="3572255"/>
            <a:chExt cx="5358765" cy="1746885"/>
          </a:xfrm>
        </p:grpSpPr>
        <p:sp>
          <p:nvSpPr>
            <p:cNvPr id="16" name="object 16"/>
            <p:cNvSpPr/>
            <p:nvPr/>
          </p:nvSpPr>
          <p:spPr>
            <a:xfrm>
              <a:off x="661416" y="3575303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5282819" y="0"/>
                  </a:moveTo>
                  <a:lnTo>
                    <a:pt x="69456" y="0"/>
                  </a:lnTo>
                  <a:lnTo>
                    <a:pt x="42423" y="5461"/>
                  </a:lnTo>
                  <a:lnTo>
                    <a:pt x="20345" y="20351"/>
                  </a:lnTo>
                  <a:lnTo>
                    <a:pt x="5459" y="42433"/>
                  </a:lnTo>
                  <a:lnTo>
                    <a:pt x="0" y="69469"/>
                  </a:lnTo>
                  <a:lnTo>
                    <a:pt x="0" y="1670939"/>
                  </a:lnTo>
                  <a:lnTo>
                    <a:pt x="5459" y="1697974"/>
                  </a:lnTo>
                  <a:lnTo>
                    <a:pt x="20345" y="1720056"/>
                  </a:lnTo>
                  <a:lnTo>
                    <a:pt x="42423" y="1734947"/>
                  </a:lnTo>
                  <a:lnTo>
                    <a:pt x="69456" y="1740408"/>
                  </a:lnTo>
                  <a:lnTo>
                    <a:pt x="5282819" y="1740408"/>
                  </a:lnTo>
                  <a:lnTo>
                    <a:pt x="5309854" y="1734947"/>
                  </a:lnTo>
                  <a:lnTo>
                    <a:pt x="5331936" y="1720056"/>
                  </a:lnTo>
                  <a:lnTo>
                    <a:pt x="5346827" y="1697974"/>
                  </a:lnTo>
                  <a:lnTo>
                    <a:pt x="5352288" y="1670939"/>
                  </a:lnTo>
                  <a:lnTo>
                    <a:pt x="5352288" y="69469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1416" y="3575303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0" y="69469"/>
                  </a:moveTo>
                  <a:lnTo>
                    <a:pt x="5459" y="42433"/>
                  </a:lnTo>
                  <a:lnTo>
                    <a:pt x="20345" y="20351"/>
                  </a:lnTo>
                  <a:lnTo>
                    <a:pt x="42423" y="5461"/>
                  </a:lnTo>
                  <a:lnTo>
                    <a:pt x="69456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8" y="69469"/>
                  </a:lnTo>
                  <a:lnTo>
                    <a:pt x="5352288" y="1670939"/>
                  </a:lnTo>
                  <a:lnTo>
                    <a:pt x="5346827" y="1697974"/>
                  </a:lnTo>
                  <a:lnTo>
                    <a:pt x="5331936" y="1720056"/>
                  </a:lnTo>
                  <a:lnTo>
                    <a:pt x="5309854" y="1734947"/>
                  </a:lnTo>
                  <a:lnTo>
                    <a:pt x="5282819" y="1740408"/>
                  </a:lnTo>
                  <a:lnTo>
                    <a:pt x="69456" y="1740408"/>
                  </a:lnTo>
                  <a:lnTo>
                    <a:pt x="42423" y="1734947"/>
                  </a:lnTo>
                  <a:lnTo>
                    <a:pt x="20345" y="1720056"/>
                  </a:lnTo>
                  <a:lnTo>
                    <a:pt x="5459" y="1697974"/>
                  </a:lnTo>
                  <a:lnTo>
                    <a:pt x="0" y="1670939"/>
                  </a:lnTo>
                  <a:lnTo>
                    <a:pt x="0" y="6946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3628" y="3747515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49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50" y="495299"/>
                  </a:lnTo>
                  <a:lnTo>
                    <a:pt x="297561" y="490268"/>
                  </a:lnTo>
                  <a:lnTo>
                    <a:pt x="344048" y="475839"/>
                  </a:lnTo>
                  <a:lnTo>
                    <a:pt x="386115" y="453006"/>
                  </a:lnTo>
                  <a:lnTo>
                    <a:pt x="422767" y="422767"/>
                  </a:lnTo>
                  <a:lnTo>
                    <a:pt x="453006" y="386115"/>
                  </a:lnTo>
                  <a:lnTo>
                    <a:pt x="475839" y="344048"/>
                  </a:lnTo>
                  <a:lnTo>
                    <a:pt x="490268" y="297561"/>
                  </a:lnTo>
                  <a:lnTo>
                    <a:pt x="495300" y="247649"/>
                  </a:lnTo>
                  <a:lnTo>
                    <a:pt x="490268" y="197738"/>
                  </a:lnTo>
                  <a:lnTo>
                    <a:pt x="475839" y="151251"/>
                  </a:lnTo>
                  <a:lnTo>
                    <a:pt x="453006" y="109184"/>
                  </a:lnTo>
                  <a:lnTo>
                    <a:pt x="422767" y="72532"/>
                  </a:lnTo>
                  <a:lnTo>
                    <a:pt x="386115" y="42293"/>
                  </a:lnTo>
                  <a:lnTo>
                    <a:pt x="344048" y="19460"/>
                  </a:lnTo>
                  <a:lnTo>
                    <a:pt x="297561" y="5031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9263" y="3883151"/>
              <a:ext cx="224028" cy="22402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20623" y="4213139"/>
            <a:ext cx="455866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No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40" dirty="0">
                <a:solidFill>
                  <a:srgbClr val="272424"/>
                </a:solidFill>
                <a:latin typeface="Arial"/>
                <a:cs typeface="Arial"/>
              </a:rPr>
              <a:t>Complex</a:t>
            </a:r>
            <a:r>
              <a:rPr sz="1600" b="1" spc="-8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Preprocessing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does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special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preprocessing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before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begins,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unlike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90">
                <a:solidFill>
                  <a:srgbClr val="272424"/>
                </a:solidFill>
                <a:latin typeface="Microsoft Sans Serif"/>
                <a:cs typeface="Microsoft Sans Serif"/>
              </a:rPr>
              <a:t>KMP</a:t>
            </a:r>
            <a:r>
              <a:rPr sz="1300" spc="3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smtClean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5247" y="3572255"/>
            <a:ext cx="5358765" cy="1746885"/>
            <a:chOff x="6175247" y="3572255"/>
            <a:chExt cx="5358765" cy="1746885"/>
          </a:xfrm>
        </p:grpSpPr>
        <p:sp>
          <p:nvSpPr>
            <p:cNvPr id="22" name="object 22"/>
            <p:cNvSpPr/>
            <p:nvPr/>
          </p:nvSpPr>
          <p:spPr>
            <a:xfrm>
              <a:off x="6178295" y="3575303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5282819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1670939"/>
                  </a:lnTo>
                  <a:lnTo>
                    <a:pt x="5461" y="1697974"/>
                  </a:lnTo>
                  <a:lnTo>
                    <a:pt x="20351" y="1720056"/>
                  </a:lnTo>
                  <a:lnTo>
                    <a:pt x="42433" y="1734947"/>
                  </a:lnTo>
                  <a:lnTo>
                    <a:pt x="69468" y="1740408"/>
                  </a:lnTo>
                  <a:lnTo>
                    <a:pt x="5282819" y="1740408"/>
                  </a:lnTo>
                  <a:lnTo>
                    <a:pt x="5309854" y="1734947"/>
                  </a:lnTo>
                  <a:lnTo>
                    <a:pt x="5331936" y="1720056"/>
                  </a:lnTo>
                  <a:lnTo>
                    <a:pt x="5346827" y="1697974"/>
                  </a:lnTo>
                  <a:lnTo>
                    <a:pt x="5352287" y="1670939"/>
                  </a:lnTo>
                  <a:lnTo>
                    <a:pt x="5352287" y="69469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78295" y="3575303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7" y="69469"/>
                  </a:lnTo>
                  <a:lnTo>
                    <a:pt x="5352287" y="1670939"/>
                  </a:lnTo>
                  <a:lnTo>
                    <a:pt x="5346827" y="1697974"/>
                  </a:lnTo>
                  <a:lnTo>
                    <a:pt x="5331936" y="1720056"/>
                  </a:lnTo>
                  <a:lnTo>
                    <a:pt x="5309854" y="1734947"/>
                  </a:lnTo>
                  <a:lnTo>
                    <a:pt x="5282819" y="1740408"/>
                  </a:lnTo>
                  <a:lnTo>
                    <a:pt x="69468" y="1740408"/>
                  </a:lnTo>
                  <a:lnTo>
                    <a:pt x="42433" y="1734947"/>
                  </a:lnTo>
                  <a:lnTo>
                    <a:pt x="20351" y="1720056"/>
                  </a:lnTo>
                  <a:lnTo>
                    <a:pt x="5461" y="1697974"/>
                  </a:lnTo>
                  <a:lnTo>
                    <a:pt x="0" y="1670939"/>
                  </a:lnTo>
                  <a:lnTo>
                    <a:pt x="0" y="69469"/>
                  </a:lnTo>
                  <a:close/>
                </a:path>
              </a:pathLst>
            </a:custGeom>
            <a:ln w="6095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50507" y="3747515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49" y="0"/>
                  </a:move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49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49" y="495299"/>
                  </a:lnTo>
                  <a:lnTo>
                    <a:pt x="297561" y="490268"/>
                  </a:lnTo>
                  <a:lnTo>
                    <a:pt x="344048" y="475839"/>
                  </a:lnTo>
                  <a:lnTo>
                    <a:pt x="386115" y="453006"/>
                  </a:lnTo>
                  <a:lnTo>
                    <a:pt x="422767" y="422767"/>
                  </a:lnTo>
                  <a:lnTo>
                    <a:pt x="453006" y="386115"/>
                  </a:lnTo>
                  <a:lnTo>
                    <a:pt x="475839" y="344048"/>
                  </a:lnTo>
                  <a:lnTo>
                    <a:pt x="490268" y="297561"/>
                  </a:lnTo>
                  <a:lnTo>
                    <a:pt x="495299" y="247649"/>
                  </a:lnTo>
                  <a:lnTo>
                    <a:pt x="490268" y="197738"/>
                  </a:lnTo>
                  <a:lnTo>
                    <a:pt x="475839" y="151251"/>
                  </a:lnTo>
                  <a:lnTo>
                    <a:pt x="453006" y="109184"/>
                  </a:lnTo>
                  <a:lnTo>
                    <a:pt x="422767" y="72532"/>
                  </a:lnTo>
                  <a:lnTo>
                    <a:pt x="386115" y="42293"/>
                  </a:lnTo>
                  <a:lnTo>
                    <a:pt x="344048" y="19460"/>
                  </a:lnTo>
                  <a:lnTo>
                    <a:pt x="297561" y="5031"/>
                  </a:lnTo>
                  <a:lnTo>
                    <a:pt x="247649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6143" y="3883151"/>
              <a:ext cx="224027" cy="22402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338061" y="4213139"/>
            <a:ext cx="4984750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Suitable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0" dirty="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75" dirty="0">
                <a:solidFill>
                  <a:srgbClr val="272424"/>
                </a:solidFill>
                <a:latin typeface="Arial"/>
                <a:cs typeface="Arial"/>
              </a:rPr>
              <a:t>Small</a:t>
            </a:r>
            <a:r>
              <a:rPr sz="16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Inputs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small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texts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patterns,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simple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approach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sufficient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and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perfectly</a:t>
            </a:r>
            <a:r>
              <a:rPr sz="1300" spc="2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acceptable.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8716" y="5469128"/>
            <a:ext cx="10866120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It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provides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an 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important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foundation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understanding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more advanced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string-matching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algorithms.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Without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understanding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brute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force,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motivation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KMP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clear.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7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Limitations</a:t>
            </a:r>
            <a:r>
              <a:rPr spc="-300" dirty="0"/>
              <a:t> </a:t>
            </a:r>
            <a:r>
              <a:rPr spc="-35" dirty="0"/>
              <a:t>and</a:t>
            </a:r>
            <a:r>
              <a:rPr spc="-275" dirty="0"/>
              <a:t> </a:t>
            </a:r>
            <a:r>
              <a:rPr spc="-95" dirty="0"/>
              <a:t>Disadvantages</a:t>
            </a:r>
            <a:r>
              <a:rPr spc="-285" dirty="0"/>
              <a:t> </a:t>
            </a:r>
            <a:r>
              <a:rPr spc="-30" dirty="0"/>
              <a:t>of</a:t>
            </a:r>
            <a:r>
              <a:rPr spc="-275" dirty="0"/>
              <a:t> </a:t>
            </a:r>
            <a:r>
              <a:rPr spc="-75" dirty="0"/>
              <a:t>Brute</a:t>
            </a:r>
            <a:r>
              <a:rPr spc="-290" dirty="0"/>
              <a:t> </a:t>
            </a:r>
            <a:r>
              <a:rPr spc="-10" dirty="0"/>
              <a:t>Force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1796795"/>
            <a:ext cx="5352288" cy="15346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9319" y="1785408"/>
            <a:ext cx="4488815" cy="113665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Repeated</a:t>
            </a:r>
            <a:r>
              <a:rPr sz="16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Comparisons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100"/>
              </a:lnSpc>
              <a:spcBef>
                <a:spcPts val="725"/>
              </a:spcBef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compared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repeatedly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across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windows.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Information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from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previous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is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completely</a:t>
            </a:r>
            <a:r>
              <a:rPr sz="1300" spc="3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discarded.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8296" y="1796795"/>
            <a:ext cx="5352288" cy="15346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27089" y="1785408"/>
            <a:ext cx="4796790" cy="135191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85" dirty="0">
                <a:solidFill>
                  <a:srgbClr val="272424"/>
                </a:solidFill>
                <a:latin typeface="Arial"/>
                <a:cs typeface="Arial"/>
              </a:rPr>
              <a:t>Slow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0" dirty="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sz="1600" b="1" spc="-1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55" dirty="0">
                <a:solidFill>
                  <a:srgbClr val="272424"/>
                </a:solidFill>
                <a:latin typeface="Arial"/>
                <a:cs typeface="Arial"/>
              </a:rPr>
              <a:t>Large</a:t>
            </a:r>
            <a:r>
              <a:rPr sz="1600" b="1" spc="-1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Documents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200"/>
              </a:lnSpc>
              <a:spcBef>
                <a:spcPts val="72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Checking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many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large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becomes expensive.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1,000,000-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100-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pattern,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up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100,000,000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comparisons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needed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worst</a:t>
            </a:r>
            <a:r>
              <a:rPr sz="1300" spc="1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case.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416" y="3497579"/>
            <a:ext cx="5352288" cy="131978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9319" y="3484812"/>
            <a:ext cx="4866640" cy="113792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55"/>
              </a:spcBef>
            </a:pP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Worst-</a:t>
            </a:r>
            <a:r>
              <a:rPr sz="1600" b="1" spc="-35" dirty="0">
                <a:solidFill>
                  <a:srgbClr val="272424"/>
                </a:solidFill>
                <a:latin typeface="Arial"/>
                <a:cs typeface="Arial"/>
              </a:rPr>
              <a:t>Case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40" dirty="0">
                <a:solidFill>
                  <a:srgbClr val="272424"/>
                </a:solidFill>
                <a:latin typeface="Arial"/>
                <a:cs typeface="Arial"/>
              </a:rPr>
              <a:t>Time</a:t>
            </a:r>
            <a:r>
              <a:rPr sz="16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Complexity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08100"/>
              </a:lnSpc>
              <a:spcBef>
                <a:spcPts val="725"/>
              </a:spcBef>
            </a:pP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n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m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pattern,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worst-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case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time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complexity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O(n</a:t>
            </a:r>
            <a:r>
              <a:rPr sz="13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×</a:t>
            </a:r>
            <a:r>
              <a:rPr sz="13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m)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This 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occurs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mismatches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happen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last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repeatedly.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8296" y="3497579"/>
            <a:ext cx="5352288" cy="131978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27089" y="3484812"/>
            <a:ext cx="4883150" cy="113792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No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40" dirty="0">
                <a:solidFill>
                  <a:srgbClr val="272424"/>
                </a:solidFill>
                <a:latin typeface="Arial"/>
                <a:cs typeface="Arial"/>
              </a:rPr>
              <a:t>Intelligent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Skipping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100"/>
              </a:lnSpc>
              <a:spcBef>
                <a:spcPts val="72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mismatch,</a:t>
            </a:r>
            <a:r>
              <a:rPr sz="1300" spc="1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basic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brute-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force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method</a:t>
            </a:r>
            <a:r>
              <a:rPr sz="1300" spc="1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simply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shifts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by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tries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again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even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could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logically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skip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multiple positions.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6823" y="5155799"/>
            <a:ext cx="10377170" cy="455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Can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we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use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additional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information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quickly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reject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positions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that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cannot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possibly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match?</a:t>
            </a:r>
            <a:r>
              <a:rPr sz="130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question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introduces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concept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1416" y="5003291"/>
            <a:ext cx="20320" cy="802005"/>
          </a:xfrm>
          <a:custGeom>
            <a:avLst/>
            <a:gdLst/>
            <a:ahLst/>
            <a:cxnLst/>
            <a:rect l="l" t="t" r="r" b="b"/>
            <a:pathLst>
              <a:path w="20320" h="802004">
                <a:moveTo>
                  <a:pt x="15379" y="0"/>
                </a:moveTo>
                <a:lnTo>
                  <a:pt x="4432" y="0"/>
                </a:lnTo>
                <a:lnTo>
                  <a:pt x="0" y="4444"/>
                </a:lnTo>
                <a:lnTo>
                  <a:pt x="0" y="9905"/>
                </a:lnTo>
                <a:lnTo>
                  <a:pt x="0" y="797191"/>
                </a:lnTo>
                <a:lnTo>
                  <a:pt x="4432" y="801623"/>
                </a:lnTo>
                <a:lnTo>
                  <a:pt x="15379" y="801623"/>
                </a:lnTo>
                <a:lnTo>
                  <a:pt x="19812" y="797191"/>
                </a:lnTo>
                <a:lnTo>
                  <a:pt x="19812" y="4444"/>
                </a:lnTo>
                <a:lnTo>
                  <a:pt x="15379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1416" y="463295"/>
            <a:ext cx="2386965" cy="251460"/>
          </a:xfrm>
          <a:custGeom>
            <a:avLst/>
            <a:gdLst/>
            <a:ahLst/>
            <a:cxnLst/>
            <a:rect l="l" t="t" r="r" b="b"/>
            <a:pathLst>
              <a:path w="2386965" h="251459">
                <a:moveTo>
                  <a:pt x="2330958" y="0"/>
                </a:moveTo>
                <a:lnTo>
                  <a:pt x="55575" y="0"/>
                </a:lnTo>
                <a:lnTo>
                  <a:pt x="33941" y="4369"/>
                </a:lnTo>
                <a:lnTo>
                  <a:pt x="16276" y="16287"/>
                </a:lnTo>
                <a:lnTo>
                  <a:pt x="4367" y="33968"/>
                </a:lnTo>
                <a:lnTo>
                  <a:pt x="0" y="55625"/>
                </a:lnTo>
                <a:lnTo>
                  <a:pt x="0" y="195833"/>
                </a:lnTo>
                <a:lnTo>
                  <a:pt x="4367" y="217491"/>
                </a:lnTo>
                <a:lnTo>
                  <a:pt x="16276" y="235172"/>
                </a:lnTo>
                <a:lnTo>
                  <a:pt x="33941" y="247090"/>
                </a:lnTo>
                <a:lnTo>
                  <a:pt x="55575" y="251459"/>
                </a:lnTo>
                <a:lnTo>
                  <a:pt x="2330958" y="251459"/>
                </a:lnTo>
                <a:lnTo>
                  <a:pt x="2352615" y="247090"/>
                </a:lnTo>
                <a:lnTo>
                  <a:pt x="2370296" y="235172"/>
                </a:lnTo>
                <a:lnTo>
                  <a:pt x="2382214" y="217491"/>
                </a:lnTo>
                <a:lnTo>
                  <a:pt x="2386584" y="195833"/>
                </a:lnTo>
                <a:lnTo>
                  <a:pt x="2386584" y="55625"/>
                </a:lnTo>
                <a:lnTo>
                  <a:pt x="2382214" y="33968"/>
                </a:lnTo>
                <a:lnTo>
                  <a:pt x="2370296" y="16287"/>
                </a:lnTo>
                <a:lnTo>
                  <a:pt x="2352615" y="4369"/>
                </a:lnTo>
                <a:lnTo>
                  <a:pt x="2330958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8080" y="485012"/>
            <a:ext cx="21424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</a:t>
            </a:r>
            <a:r>
              <a:rPr sz="10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5:</a:t>
            </a:r>
            <a:r>
              <a:rPr sz="10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272424"/>
                </a:solidFill>
                <a:latin typeface="Microsoft Sans Serif"/>
                <a:cs typeface="Microsoft Sans Serif"/>
              </a:rPr>
              <a:t>INTRODUCTION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0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716" y="663067"/>
            <a:ext cx="325755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45" dirty="0"/>
              <a:t> </a:t>
            </a:r>
            <a:r>
              <a:rPr spc="-145" dirty="0"/>
              <a:t>Is</a:t>
            </a:r>
            <a:r>
              <a:rPr spc="-215" dirty="0"/>
              <a:t> </a:t>
            </a:r>
            <a:r>
              <a:rPr spc="-135" dirty="0"/>
              <a:t>Hashing?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6823" y="1611248"/>
            <a:ext cx="84023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Hashing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technique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that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converts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into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numerical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value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called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value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using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function.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16" y="1441703"/>
            <a:ext cx="20320" cy="588645"/>
          </a:xfrm>
          <a:custGeom>
            <a:avLst/>
            <a:gdLst/>
            <a:ahLst/>
            <a:cxnLst/>
            <a:rect l="l" t="t" r="r" b="b"/>
            <a:pathLst>
              <a:path w="20320" h="588644">
                <a:moveTo>
                  <a:pt x="15379" y="0"/>
                </a:moveTo>
                <a:lnTo>
                  <a:pt x="4432" y="0"/>
                </a:lnTo>
                <a:lnTo>
                  <a:pt x="0" y="4445"/>
                </a:lnTo>
                <a:lnTo>
                  <a:pt x="0" y="9906"/>
                </a:lnTo>
                <a:lnTo>
                  <a:pt x="0" y="583819"/>
                </a:lnTo>
                <a:lnTo>
                  <a:pt x="4432" y="588263"/>
                </a:lnTo>
                <a:lnTo>
                  <a:pt x="15379" y="588263"/>
                </a:lnTo>
                <a:lnTo>
                  <a:pt x="19812" y="583819"/>
                </a:lnTo>
                <a:lnTo>
                  <a:pt x="19812" y="4445"/>
                </a:lnTo>
                <a:lnTo>
                  <a:pt x="15379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40" y="2401823"/>
            <a:ext cx="5077968" cy="30129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48302" y="4582795"/>
            <a:ext cx="91821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38125" marR="5080" indent="-226060">
              <a:lnSpc>
                <a:spcPts val="1500"/>
              </a:lnSpc>
              <a:spcBef>
                <a:spcPts val="400"/>
              </a:spcBef>
            </a:pPr>
            <a:r>
              <a:rPr sz="1500" b="1" spc="-35" dirty="0">
                <a:solidFill>
                  <a:srgbClr val="272424"/>
                </a:solidFill>
                <a:latin typeface="Arial"/>
                <a:cs typeface="Arial"/>
              </a:rPr>
              <a:t>Numerical </a:t>
            </a:r>
            <a:r>
              <a:rPr sz="15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0842" y="4582795"/>
            <a:ext cx="12712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5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5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272424"/>
                </a:solidFill>
                <a:latin typeface="Arial"/>
                <a:cs typeface="Arial"/>
              </a:rPr>
              <a:t>Function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9677" y="4679950"/>
            <a:ext cx="10401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272424"/>
                </a:solidFill>
                <a:latin typeface="Arial"/>
                <a:cs typeface="Arial"/>
              </a:rPr>
              <a:t>String</a:t>
            </a:r>
            <a:r>
              <a:rPr sz="15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272424"/>
                </a:solidFill>
                <a:latin typeface="Arial"/>
                <a:cs typeface="Arial"/>
              </a:rPr>
              <a:t>Input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716" y="5566997"/>
            <a:ext cx="5091430" cy="669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1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acts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like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numerical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fingerprint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or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signature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data.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Two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identical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always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a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deterministic</a:t>
            </a:r>
            <a:r>
              <a:rPr sz="1300" spc="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function.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2" name="object 12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5747" y="2756916"/>
            <a:ext cx="248411" cy="24841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292088" y="2318130"/>
            <a:ext cx="2439670" cy="876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latin typeface="Arial"/>
                <a:cs typeface="Arial"/>
              </a:rPr>
              <a:t>Key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Properties</a:t>
            </a:r>
            <a:endParaRPr sz="1600">
              <a:latin typeface="Arial"/>
              <a:cs typeface="Arial"/>
            </a:endParaRPr>
          </a:p>
          <a:p>
            <a:pPr marL="549910">
              <a:lnSpc>
                <a:spcPct val="100000"/>
              </a:lnSpc>
              <a:spcBef>
                <a:spcPts val="153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Converts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endParaRPr sz="1300">
              <a:latin typeface="Microsoft Sans Serif"/>
              <a:cs typeface="Microsoft Sans Serif"/>
            </a:endParaRPr>
          </a:p>
          <a:p>
            <a:pPr marL="54991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number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efficiently.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4" name="object 14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6088" y="2756916"/>
            <a:ext cx="246888" cy="24841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549130" y="2739624"/>
            <a:ext cx="1536065" cy="66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8200"/>
              </a:lnSpc>
              <a:spcBef>
                <a:spcPts val="100"/>
              </a:spcBef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Equal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always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equal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6" name="object 16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5747" y="3732276"/>
            <a:ext cx="248411" cy="24841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829425" y="3715283"/>
            <a:ext cx="1791970" cy="668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8100"/>
              </a:lnSpc>
              <a:spcBef>
                <a:spcPts val="10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usually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produce</a:t>
            </a:r>
            <a:r>
              <a:rPr sz="1300" spc="1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2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8" name="object 18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6088" y="3732276"/>
            <a:ext cx="246888" cy="24841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549130" y="3715283"/>
            <a:ext cx="1939289" cy="88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Occasionally,</a:t>
            </a:r>
            <a:r>
              <a:rPr sz="13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300" spc="1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produce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 hash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is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called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collision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92088" y="4761636"/>
            <a:ext cx="5239385" cy="8839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Important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Clarification: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collisions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possible,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equal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sometimes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strings.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Therefore,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character-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by-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still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required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606628"/>
            <a:ext cx="7591425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How</a:t>
            </a:r>
            <a:r>
              <a:rPr spc="-295" dirty="0"/>
              <a:t> </a:t>
            </a:r>
            <a:r>
              <a:rPr spc="-145" dirty="0"/>
              <a:t>Is</a:t>
            </a:r>
            <a:r>
              <a:rPr spc="-295" dirty="0"/>
              <a:t> </a:t>
            </a:r>
            <a:r>
              <a:rPr spc="-140" dirty="0"/>
              <a:t>Hashing</a:t>
            </a:r>
            <a:r>
              <a:rPr spc="-310" dirty="0"/>
              <a:t> </a:t>
            </a:r>
            <a:r>
              <a:rPr spc="-105" dirty="0"/>
              <a:t>Used</a:t>
            </a:r>
            <a:r>
              <a:rPr spc="-280" dirty="0"/>
              <a:t> </a:t>
            </a:r>
            <a:r>
              <a:rPr spc="-95" dirty="0"/>
              <a:t>in</a:t>
            </a:r>
            <a:r>
              <a:rPr spc="-295" dirty="0"/>
              <a:t> </a:t>
            </a:r>
            <a:r>
              <a:rPr spc="-105" dirty="0"/>
              <a:t>String</a:t>
            </a:r>
            <a:r>
              <a:rPr spc="-310" dirty="0"/>
              <a:t> </a:t>
            </a:r>
            <a:r>
              <a:rPr spc="-30" dirty="0"/>
              <a:t>Matching?</a:t>
            </a:r>
          </a:p>
        </p:txBody>
      </p:sp>
      <p:sp>
        <p:nvSpPr>
          <p:cNvPr id="3" name="object 3"/>
          <p:cNvSpPr/>
          <p:nvPr/>
        </p:nvSpPr>
        <p:spPr>
          <a:xfrm>
            <a:off x="661416" y="2090927"/>
            <a:ext cx="3512820" cy="18415"/>
          </a:xfrm>
          <a:custGeom>
            <a:avLst/>
            <a:gdLst/>
            <a:ahLst/>
            <a:cxnLst/>
            <a:rect l="l" t="t" r="r" b="b"/>
            <a:pathLst>
              <a:path w="3512820" h="18414">
                <a:moveTo>
                  <a:pt x="3512820" y="0"/>
                </a:moveTo>
                <a:lnTo>
                  <a:pt x="0" y="0"/>
                </a:lnTo>
                <a:lnTo>
                  <a:pt x="0" y="18287"/>
                </a:lnTo>
                <a:lnTo>
                  <a:pt x="3512820" y="18287"/>
                </a:lnTo>
                <a:lnTo>
                  <a:pt x="3512820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8716" y="2014153"/>
            <a:ext cx="3404870" cy="92456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600" b="1" spc="-1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1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Calculate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once,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before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begins.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38828" y="2090927"/>
            <a:ext cx="3512820" cy="18415"/>
          </a:xfrm>
          <a:custGeom>
            <a:avLst/>
            <a:gdLst/>
            <a:ahLst/>
            <a:cxnLst/>
            <a:rect l="l" t="t" r="r" b="b"/>
            <a:pathLst>
              <a:path w="3512820" h="18414">
                <a:moveTo>
                  <a:pt x="3512820" y="0"/>
                </a:moveTo>
                <a:lnTo>
                  <a:pt x="0" y="0"/>
                </a:lnTo>
                <a:lnTo>
                  <a:pt x="0" y="18287"/>
                </a:lnTo>
                <a:lnTo>
                  <a:pt x="3512820" y="18287"/>
                </a:lnTo>
                <a:lnTo>
                  <a:pt x="3512820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27397" y="2014153"/>
            <a:ext cx="3283585" cy="92456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spc="-35" dirty="0">
                <a:solidFill>
                  <a:srgbClr val="272424"/>
                </a:solidFill>
                <a:latin typeface="Arial"/>
                <a:cs typeface="Arial"/>
              </a:rPr>
              <a:t>Window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1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Calculate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current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(same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pattern).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716" y="1451863"/>
            <a:ext cx="8700135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Suppose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have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length.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Instead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comparing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immediately: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691254" algn="l"/>
                <a:tab pos="7369175" algn="l"/>
              </a:tabLst>
            </a:pP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01</a:t>
            </a:r>
            <a:r>
              <a:rPr sz="13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	</a:t>
            </a: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02</a:t>
            </a:r>
            <a:r>
              <a:rPr sz="13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	</a:t>
            </a: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03</a:t>
            </a:r>
            <a:endParaRPr sz="1300">
              <a:latin typeface="Malgun Gothic Semilight"/>
              <a:cs typeface="Malgun Gothic Semi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17764" y="2090927"/>
            <a:ext cx="3512820" cy="18415"/>
          </a:xfrm>
          <a:custGeom>
            <a:avLst/>
            <a:gdLst/>
            <a:ahLst/>
            <a:cxnLst/>
            <a:rect l="l" t="t" r="r" b="b"/>
            <a:pathLst>
              <a:path w="3512820" h="18414">
                <a:moveTo>
                  <a:pt x="3512820" y="0"/>
                </a:moveTo>
                <a:lnTo>
                  <a:pt x="0" y="0"/>
                </a:lnTo>
                <a:lnTo>
                  <a:pt x="0" y="18287"/>
                </a:lnTo>
                <a:lnTo>
                  <a:pt x="3512820" y="18287"/>
                </a:lnTo>
                <a:lnTo>
                  <a:pt x="3512820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05698" y="2014153"/>
            <a:ext cx="2912745" cy="92456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spc="-30" dirty="0">
                <a:solidFill>
                  <a:srgbClr val="272424"/>
                </a:solidFill>
                <a:latin typeface="Arial"/>
                <a:cs typeface="Arial"/>
              </a:rPr>
              <a:t>Compare</a:t>
            </a:r>
            <a:r>
              <a:rPr sz="16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Hashes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1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two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fast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numerical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716" y="3199002"/>
            <a:ext cx="2038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04</a:t>
            </a:r>
            <a:endParaRPr sz="1300">
              <a:latin typeface="Malgun Gothic Semilight"/>
              <a:cs typeface="Malgun Gothic Semi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1416" y="3456432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20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8716" y="3381924"/>
            <a:ext cx="4938395" cy="92392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Different</a:t>
            </a:r>
            <a:r>
              <a:rPr sz="16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cannot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equal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current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1300" spc="2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immediately.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6484" y="3199002"/>
            <a:ext cx="199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05</a:t>
            </a:r>
            <a:endParaRPr sz="1300">
              <a:latin typeface="Malgun Gothic Semilight"/>
              <a:cs typeface="Malgun Gothic Semiligh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78296" y="3456432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20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66484" y="3381924"/>
            <a:ext cx="5294630" cy="92392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Same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equal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Verify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actual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confirm.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58368" y="4620767"/>
            <a:ext cx="5358765" cy="1515110"/>
            <a:chOff x="658368" y="4620767"/>
            <a:chExt cx="5358765" cy="1515110"/>
          </a:xfrm>
        </p:grpSpPr>
        <p:sp>
          <p:nvSpPr>
            <p:cNvPr id="17" name="object 17"/>
            <p:cNvSpPr/>
            <p:nvPr/>
          </p:nvSpPr>
          <p:spPr>
            <a:xfrm>
              <a:off x="661416" y="4623815"/>
              <a:ext cx="5352415" cy="1508760"/>
            </a:xfrm>
            <a:custGeom>
              <a:avLst/>
              <a:gdLst/>
              <a:ahLst/>
              <a:cxnLst/>
              <a:rect l="l" t="t" r="r" b="b"/>
              <a:pathLst>
                <a:path w="5352415" h="1508760">
                  <a:moveTo>
                    <a:pt x="5282819" y="0"/>
                  </a:moveTo>
                  <a:lnTo>
                    <a:pt x="69430" y="0"/>
                  </a:lnTo>
                  <a:lnTo>
                    <a:pt x="42407" y="5460"/>
                  </a:lnTo>
                  <a:lnTo>
                    <a:pt x="20337" y="20351"/>
                  </a:lnTo>
                  <a:lnTo>
                    <a:pt x="5456" y="42433"/>
                  </a:lnTo>
                  <a:lnTo>
                    <a:pt x="0" y="69468"/>
                  </a:lnTo>
                  <a:lnTo>
                    <a:pt x="0" y="1439329"/>
                  </a:lnTo>
                  <a:lnTo>
                    <a:pt x="5456" y="1466352"/>
                  </a:lnTo>
                  <a:lnTo>
                    <a:pt x="20337" y="1488422"/>
                  </a:lnTo>
                  <a:lnTo>
                    <a:pt x="42407" y="1503303"/>
                  </a:lnTo>
                  <a:lnTo>
                    <a:pt x="69430" y="1508759"/>
                  </a:lnTo>
                  <a:lnTo>
                    <a:pt x="5282819" y="1508759"/>
                  </a:lnTo>
                  <a:lnTo>
                    <a:pt x="5309854" y="1503303"/>
                  </a:lnTo>
                  <a:lnTo>
                    <a:pt x="5331936" y="1488422"/>
                  </a:lnTo>
                  <a:lnTo>
                    <a:pt x="5346827" y="1466352"/>
                  </a:lnTo>
                  <a:lnTo>
                    <a:pt x="5352288" y="1439329"/>
                  </a:lnTo>
                  <a:lnTo>
                    <a:pt x="5352288" y="69468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0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1416" y="4623815"/>
              <a:ext cx="5352415" cy="1508760"/>
            </a:xfrm>
            <a:custGeom>
              <a:avLst/>
              <a:gdLst/>
              <a:ahLst/>
              <a:cxnLst/>
              <a:rect l="l" t="t" r="r" b="b"/>
              <a:pathLst>
                <a:path w="5352415" h="1508760">
                  <a:moveTo>
                    <a:pt x="0" y="69468"/>
                  </a:moveTo>
                  <a:lnTo>
                    <a:pt x="5456" y="42433"/>
                  </a:lnTo>
                  <a:lnTo>
                    <a:pt x="20337" y="20351"/>
                  </a:lnTo>
                  <a:lnTo>
                    <a:pt x="42407" y="5460"/>
                  </a:lnTo>
                  <a:lnTo>
                    <a:pt x="69430" y="0"/>
                  </a:lnTo>
                  <a:lnTo>
                    <a:pt x="5282819" y="0"/>
                  </a:lnTo>
                  <a:lnTo>
                    <a:pt x="5309854" y="5460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8" y="69468"/>
                  </a:lnTo>
                  <a:lnTo>
                    <a:pt x="5352288" y="1439329"/>
                  </a:lnTo>
                  <a:lnTo>
                    <a:pt x="5346827" y="1466352"/>
                  </a:lnTo>
                  <a:lnTo>
                    <a:pt x="5331936" y="1488422"/>
                  </a:lnTo>
                  <a:lnTo>
                    <a:pt x="5309854" y="1503303"/>
                  </a:lnTo>
                  <a:lnTo>
                    <a:pt x="5282819" y="1508759"/>
                  </a:lnTo>
                  <a:lnTo>
                    <a:pt x="69430" y="1508759"/>
                  </a:lnTo>
                  <a:lnTo>
                    <a:pt x="42407" y="1503303"/>
                  </a:lnTo>
                  <a:lnTo>
                    <a:pt x="20337" y="1488422"/>
                  </a:lnTo>
                  <a:lnTo>
                    <a:pt x="5456" y="1466352"/>
                  </a:lnTo>
                  <a:lnTo>
                    <a:pt x="0" y="1439329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0623" y="4600759"/>
            <a:ext cx="2017395" cy="113665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Values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Different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409" dirty="0">
                <a:solidFill>
                  <a:srgbClr val="272424"/>
                </a:solidFill>
                <a:latin typeface="Microsoft Sans Serif"/>
                <a:cs typeface="Microsoft Sans Serif"/>
              </a:rPr>
              <a:t>↓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Definitely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Not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Skip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next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75247" y="4620767"/>
            <a:ext cx="5358765" cy="1515110"/>
            <a:chOff x="6175247" y="4620767"/>
            <a:chExt cx="5358765" cy="1515110"/>
          </a:xfrm>
        </p:grpSpPr>
        <p:sp>
          <p:nvSpPr>
            <p:cNvPr id="21" name="object 21"/>
            <p:cNvSpPr/>
            <p:nvPr/>
          </p:nvSpPr>
          <p:spPr>
            <a:xfrm>
              <a:off x="6178295" y="4623815"/>
              <a:ext cx="5352415" cy="1508760"/>
            </a:xfrm>
            <a:custGeom>
              <a:avLst/>
              <a:gdLst/>
              <a:ahLst/>
              <a:cxnLst/>
              <a:rect l="l" t="t" r="r" b="b"/>
              <a:pathLst>
                <a:path w="5352415" h="1508760">
                  <a:moveTo>
                    <a:pt x="5282819" y="0"/>
                  </a:moveTo>
                  <a:lnTo>
                    <a:pt x="69468" y="0"/>
                  </a:lnTo>
                  <a:lnTo>
                    <a:pt x="42433" y="5460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1439329"/>
                  </a:lnTo>
                  <a:lnTo>
                    <a:pt x="5461" y="1466352"/>
                  </a:lnTo>
                  <a:lnTo>
                    <a:pt x="20351" y="1488422"/>
                  </a:lnTo>
                  <a:lnTo>
                    <a:pt x="42433" y="1503303"/>
                  </a:lnTo>
                  <a:lnTo>
                    <a:pt x="69468" y="1508759"/>
                  </a:lnTo>
                  <a:lnTo>
                    <a:pt x="5282819" y="1508759"/>
                  </a:lnTo>
                  <a:lnTo>
                    <a:pt x="5309854" y="1503303"/>
                  </a:lnTo>
                  <a:lnTo>
                    <a:pt x="5331936" y="1488422"/>
                  </a:lnTo>
                  <a:lnTo>
                    <a:pt x="5346827" y="1466352"/>
                  </a:lnTo>
                  <a:lnTo>
                    <a:pt x="5352287" y="1439329"/>
                  </a:lnTo>
                  <a:lnTo>
                    <a:pt x="5352287" y="69468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0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78295" y="4623815"/>
              <a:ext cx="5352415" cy="1508760"/>
            </a:xfrm>
            <a:custGeom>
              <a:avLst/>
              <a:gdLst/>
              <a:ahLst/>
              <a:cxnLst/>
              <a:rect l="l" t="t" r="r" b="b"/>
              <a:pathLst>
                <a:path w="5352415" h="1508760">
                  <a:moveTo>
                    <a:pt x="0" y="69468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0"/>
                  </a:lnTo>
                  <a:lnTo>
                    <a:pt x="69468" y="0"/>
                  </a:lnTo>
                  <a:lnTo>
                    <a:pt x="5282819" y="0"/>
                  </a:lnTo>
                  <a:lnTo>
                    <a:pt x="5309854" y="5460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7" y="69468"/>
                  </a:lnTo>
                  <a:lnTo>
                    <a:pt x="5352287" y="1439329"/>
                  </a:lnTo>
                  <a:lnTo>
                    <a:pt x="5346827" y="1466352"/>
                  </a:lnTo>
                  <a:lnTo>
                    <a:pt x="5331936" y="1488422"/>
                  </a:lnTo>
                  <a:lnTo>
                    <a:pt x="5309854" y="1503303"/>
                  </a:lnTo>
                  <a:lnTo>
                    <a:pt x="5282819" y="1508759"/>
                  </a:lnTo>
                  <a:lnTo>
                    <a:pt x="69468" y="1508759"/>
                  </a:lnTo>
                  <a:lnTo>
                    <a:pt x="42433" y="1503303"/>
                  </a:lnTo>
                  <a:lnTo>
                    <a:pt x="20351" y="1488422"/>
                  </a:lnTo>
                  <a:lnTo>
                    <a:pt x="5461" y="1466352"/>
                  </a:lnTo>
                  <a:lnTo>
                    <a:pt x="0" y="1439329"/>
                  </a:lnTo>
                  <a:lnTo>
                    <a:pt x="0" y="69468"/>
                  </a:lnTo>
                  <a:close/>
                </a:path>
              </a:pathLst>
            </a:custGeom>
            <a:ln w="6095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38061" y="4600759"/>
            <a:ext cx="2200275" cy="135128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Values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Same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409" dirty="0">
                <a:solidFill>
                  <a:srgbClr val="272424"/>
                </a:solidFill>
                <a:latin typeface="Microsoft Sans Serif"/>
                <a:cs typeface="Microsoft Sans Serif"/>
              </a:rPr>
              <a:t>↓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Possible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Actual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455" dirty="0">
                <a:solidFill>
                  <a:srgbClr val="272424"/>
                </a:solidFill>
                <a:latin typeface="Microsoft Sans Serif"/>
                <a:cs typeface="Microsoft Sans Serif"/>
              </a:rPr>
              <a:t>↓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Confirm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0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Hashing</a:t>
            </a:r>
            <a:r>
              <a:rPr spc="-305" dirty="0"/>
              <a:t> </a:t>
            </a:r>
            <a:r>
              <a:rPr spc="-95" dirty="0"/>
              <a:t>Example</a:t>
            </a:r>
            <a:r>
              <a:rPr spc="-300" dirty="0"/>
              <a:t> </a:t>
            </a:r>
            <a:r>
              <a:rPr spc="-555" dirty="0"/>
              <a:t>1:</a:t>
            </a:r>
            <a:r>
              <a:rPr spc="-285" dirty="0"/>
              <a:t> </a:t>
            </a:r>
            <a:r>
              <a:rPr spc="-110" dirty="0"/>
              <a:t>Searching</a:t>
            </a:r>
            <a:r>
              <a:rPr spc="-305" dirty="0"/>
              <a:t> </a:t>
            </a:r>
            <a:r>
              <a:rPr spc="-300" dirty="0"/>
              <a:t>"CAT"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1790445"/>
            <a:ext cx="5024755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84655" algn="l"/>
              </a:tabLst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DOG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CAT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RAT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	Pattern: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CAT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(length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3)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examines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containing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three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characters:</a:t>
            </a:r>
            <a:endParaRPr sz="13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5129" y="2602864"/>
          <a:ext cx="10868659" cy="2771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3605"/>
                <a:gridCol w="2717165"/>
                <a:gridCol w="3260725"/>
                <a:gridCol w="2717164"/>
              </a:tblGrid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Window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2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Text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5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Hash</a:t>
                      </a:r>
                      <a:r>
                        <a:rPr sz="1300" b="1" spc="-6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Match?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Action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10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DOG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Reject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Move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3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OG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Reject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Move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G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Reject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Move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Reject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300" spc="-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Move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640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100">
                        <a:lnSpc>
                          <a:spcPct val="100000"/>
                        </a:lnSpc>
                      </a:pPr>
                      <a:r>
                        <a:rPr sz="1300" spc="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CAT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300" b="1" spc="-2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 marR="36576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Verify</a:t>
                      </a:r>
                      <a:r>
                        <a:rPr sz="1300" spc="-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C=C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7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T=T</a:t>
                      </a:r>
                      <a:r>
                        <a:rPr sz="1300" spc="-7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300" b="1" spc="-6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9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48716" y="5563920"/>
            <a:ext cx="101180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Result: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CAT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found.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Most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rejected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through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before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any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character-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by-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work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done.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570736"/>
            <a:ext cx="702183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Hashing</a:t>
            </a:r>
            <a:r>
              <a:rPr spc="-295" dirty="0"/>
              <a:t> </a:t>
            </a:r>
            <a:r>
              <a:rPr spc="-95" dirty="0"/>
              <a:t>Example</a:t>
            </a:r>
            <a:r>
              <a:rPr spc="-290" dirty="0"/>
              <a:t> </a:t>
            </a:r>
            <a:r>
              <a:rPr spc="-190" dirty="0"/>
              <a:t>2:</a:t>
            </a:r>
            <a:r>
              <a:rPr spc="-254" dirty="0"/>
              <a:t> </a:t>
            </a:r>
            <a:r>
              <a:rPr spc="-114" dirty="0"/>
              <a:t>Searching</a:t>
            </a:r>
            <a:r>
              <a:rPr spc="-290" dirty="0"/>
              <a:t> "DATA"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2415667"/>
            <a:ext cx="4878705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64715" algn="l"/>
              </a:tabLst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BIG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ANALYSIS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	Pattern: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(length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4)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examines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four-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across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text: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2272" y="3224783"/>
            <a:ext cx="3533140" cy="1339850"/>
            <a:chOff x="652272" y="3224783"/>
            <a:chExt cx="3533140" cy="1339850"/>
          </a:xfrm>
        </p:grpSpPr>
        <p:sp>
          <p:nvSpPr>
            <p:cNvPr id="5" name="object 5"/>
            <p:cNvSpPr/>
            <p:nvPr/>
          </p:nvSpPr>
          <p:spPr>
            <a:xfrm>
              <a:off x="662178" y="3234689"/>
              <a:ext cx="3512820" cy="1320165"/>
            </a:xfrm>
            <a:custGeom>
              <a:avLst/>
              <a:gdLst/>
              <a:ahLst/>
              <a:cxnLst/>
              <a:rect l="l" t="t" r="r" b="b"/>
              <a:pathLst>
                <a:path w="3512820" h="1320164">
                  <a:moveTo>
                    <a:pt x="3443351" y="0"/>
                  </a:moveTo>
                  <a:lnTo>
                    <a:pt x="69468" y="0"/>
                  </a:lnTo>
                  <a:lnTo>
                    <a:pt x="42428" y="5461"/>
                  </a:lnTo>
                  <a:lnTo>
                    <a:pt x="20346" y="20351"/>
                  </a:lnTo>
                  <a:lnTo>
                    <a:pt x="5459" y="42433"/>
                  </a:lnTo>
                  <a:lnTo>
                    <a:pt x="0" y="69469"/>
                  </a:lnTo>
                  <a:lnTo>
                    <a:pt x="0" y="1250315"/>
                  </a:lnTo>
                  <a:lnTo>
                    <a:pt x="5459" y="1277350"/>
                  </a:lnTo>
                  <a:lnTo>
                    <a:pt x="20346" y="1299432"/>
                  </a:lnTo>
                  <a:lnTo>
                    <a:pt x="42428" y="1314323"/>
                  </a:lnTo>
                  <a:lnTo>
                    <a:pt x="69468" y="1319784"/>
                  </a:lnTo>
                  <a:lnTo>
                    <a:pt x="3443351" y="1319784"/>
                  </a:lnTo>
                  <a:lnTo>
                    <a:pt x="3470386" y="1314323"/>
                  </a:lnTo>
                  <a:lnTo>
                    <a:pt x="3492468" y="1299432"/>
                  </a:lnTo>
                  <a:lnTo>
                    <a:pt x="3507359" y="1277350"/>
                  </a:lnTo>
                  <a:lnTo>
                    <a:pt x="3512820" y="1250315"/>
                  </a:lnTo>
                  <a:lnTo>
                    <a:pt x="3512820" y="69469"/>
                  </a:lnTo>
                  <a:lnTo>
                    <a:pt x="3507359" y="42433"/>
                  </a:lnTo>
                  <a:lnTo>
                    <a:pt x="3492468" y="20351"/>
                  </a:lnTo>
                  <a:lnTo>
                    <a:pt x="3470386" y="5461"/>
                  </a:lnTo>
                  <a:lnTo>
                    <a:pt x="3443351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8" y="3234689"/>
              <a:ext cx="3512820" cy="1320165"/>
            </a:xfrm>
            <a:custGeom>
              <a:avLst/>
              <a:gdLst/>
              <a:ahLst/>
              <a:cxnLst/>
              <a:rect l="l" t="t" r="r" b="b"/>
              <a:pathLst>
                <a:path w="3512820" h="1320164">
                  <a:moveTo>
                    <a:pt x="0" y="69469"/>
                  </a:moveTo>
                  <a:lnTo>
                    <a:pt x="5459" y="42433"/>
                  </a:lnTo>
                  <a:lnTo>
                    <a:pt x="20346" y="20351"/>
                  </a:lnTo>
                  <a:lnTo>
                    <a:pt x="42428" y="5461"/>
                  </a:lnTo>
                  <a:lnTo>
                    <a:pt x="69468" y="0"/>
                  </a:lnTo>
                  <a:lnTo>
                    <a:pt x="3443351" y="0"/>
                  </a:lnTo>
                  <a:lnTo>
                    <a:pt x="3470386" y="5461"/>
                  </a:lnTo>
                  <a:lnTo>
                    <a:pt x="3492468" y="20351"/>
                  </a:lnTo>
                  <a:lnTo>
                    <a:pt x="3507359" y="42433"/>
                  </a:lnTo>
                  <a:lnTo>
                    <a:pt x="3512820" y="69469"/>
                  </a:lnTo>
                  <a:lnTo>
                    <a:pt x="3512820" y="1250315"/>
                  </a:lnTo>
                  <a:lnTo>
                    <a:pt x="3507359" y="1277350"/>
                  </a:lnTo>
                  <a:lnTo>
                    <a:pt x="3492468" y="1299432"/>
                  </a:lnTo>
                  <a:lnTo>
                    <a:pt x="3470386" y="1314323"/>
                  </a:lnTo>
                  <a:lnTo>
                    <a:pt x="3443351" y="1319784"/>
                  </a:lnTo>
                  <a:lnTo>
                    <a:pt x="69468" y="1319784"/>
                  </a:lnTo>
                  <a:lnTo>
                    <a:pt x="42428" y="1314323"/>
                  </a:lnTo>
                  <a:lnTo>
                    <a:pt x="20346" y="1299432"/>
                  </a:lnTo>
                  <a:lnTo>
                    <a:pt x="5459" y="1277350"/>
                  </a:lnTo>
                  <a:lnTo>
                    <a:pt x="0" y="1250315"/>
                  </a:lnTo>
                  <a:lnTo>
                    <a:pt x="0" y="69469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33119" y="3223077"/>
            <a:ext cx="278193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10" dirty="0">
                <a:solidFill>
                  <a:srgbClr val="272424"/>
                </a:solidFill>
                <a:latin typeface="Arial"/>
                <a:cs typeface="Arial"/>
              </a:rPr>
              <a:t>BIG</a:t>
            </a:r>
            <a:r>
              <a:rPr sz="1600" b="1" spc="-1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70" dirty="0">
                <a:solidFill>
                  <a:srgbClr val="272424"/>
                </a:solidFill>
                <a:latin typeface="Arial"/>
                <a:cs typeface="Arial"/>
              </a:rPr>
              <a:t>→</a:t>
            </a:r>
            <a:r>
              <a:rPr sz="1600" b="1" spc="-1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45" dirty="0">
                <a:solidFill>
                  <a:srgbClr val="272424"/>
                </a:solidFill>
                <a:latin typeface="Arial"/>
                <a:cs typeface="Arial"/>
              </a:rPr>
              <a:t>"BIG</a:t>
            </a:r>
            <a:r>
              <a:rPr sz="1600" b="1" spc="-1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"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1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85" dirty="0">
                <a:solidFill>
                  <a:srgbClr val="272424"/>
                </a:solidFill>
                <a:latin typeface="Microsoft Sans Serif"/>
                <a:cs typeface="Microsoft Sans Serif"/>
              </a:rPr>
              <a:t>"BIG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95" dirty="0">
                <a:solidFill>
                  <a:srgbClr val="272424"/>
                </a:solidFill>
                <a:latin typeface="Microsoft Sans Serif"/>
                <a:cs typeface="Microsoft Sans Serif"/>
              </a:rPr>
              <a:t>"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"DATA"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immediately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forward.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29684" y="3224783"/>
            <a:ext cx="3533140" cy="1339850"/>
            <a:chOff x="4329684" y="3224783"/>
            <a:chExt cx="3533140" cy="1339850"/>
          </a:xfrm>
        </p:grpSpPr>
        <p:sp>
          <p:nvSpPr>
            <p:cNvPr id="9" name="object 9"/>
            <p:cNvSpPr/>
            <p:nvPr/>
          </p:nvSpPr>
          <p:spPr>
            <a:xfrm>
              <a:off x="4339590" y="3234689"/>
              <a:ext cx="3512820" cy="1320165"/>
            </a:xfrm>
            <a:custGeom>
              <a:avLst/>
              <a:gdLst/>
              <a:ahLst/>
              <a:cxnLst/>
              <a:rect l="l" t="t" r="r" b="b"/>
              <a:pathLst>
                <a:path w="3512820" h="1320164">
                  <a:moveTo>
                    <a:pt x="3443351" y="0"/>
                  </a:moveTo>
                  <a:lnTo>
                    <a:pt x="69469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1250315"/>
                  </a:lnTo>
                  <a:lnTo>
                    <a:pt x="5461" y="1277350"/>
                  </a:lnTo>
                  <a:lnTo>
                    <a:pt x="20351" y="1299432"/>
                  </a:lnTo>
                  <a:lnTo>
                    <a:pt x="42433" y="1314323"/>
                  </a:lnTo>
                  <a:lnTo>
                    <a:pt x="69469" y="1319784"/>
                  </a:lnTo>
                  <a:lnTo>
                    <a:pt x="3443351" y="1319784"/>
                  </a:lnTo>
                  <a:lnTo>
                    <a:pt x="3470386" y="1314323"/>
                  </a:lnTo>
                  <a:lnTo>
                    <a:pt x="3492468" y="1299432"/>
                  </a:lnTo>
                  <a:lnTo>
                    <a:pt x="3507359" y="1277350"/>
                  </a:lnTo>
                  <a:lnTo>
                    <a:pt x="3512819" y="1250315"/>
                  </a:lnTo>
                  <a:lnTo>
                    <a:pt x="3512819" y="69469"/>
                  </a:lnTo>
                  <a:lnTo>
                    <a:pt x="3507359" y="42433"/>
                  </a:lnTo>
                  <a:lnTo>
                    <a:pt x="3492468" y="20351"/>
                  </a:lnTo>
                  <a:lnTo>
                    <a:pt x="3470386" y="5461"/>
                  </a:lnTo>
                  <a:lnTo>
                    <a:pt x="3443351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39590" y="3234689"/>
              <a:ext cx="3512820" cy="1320165"/>
            </a:xfrm>
            <a:custGeom>
              <a:avLst/>
              <a:gdLst/>
              <a:ahLst/>
              <a:cxnLst/>
              <a:rect l="l" t="t" r="r" b="b"/>
              <a:pathLst>
                <a:path w="3512820" h="1320164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9" y="0"/>
                  </a:lnTo>
                  <a:lnTo>
                    <a:pt x="3443351" y="0"/>
                  </a:lnTo>
                  <a:lnTo>
                    <a:pt x="3470386" y="5461"/>
                  </a:lnTo>
                  <a:lnTo>
                    <a:pt x="3492468" y="20351"/>
                  </a:lnTo>
                  <a:lnTo>
                    <a:pt x="3507359" y="42433"/>
                  </a:lnTo>
                  <a:lnTo>
                    <a:pt x="3512819" y="69469"/>
                  </a:lnTo>
                  <a:lnTo>
                    <a:pt x="3512819" y="1250315"/>
                  </a:lnTo>
                  <a:lnTo>
                    <a:pt x="3507359" y="1277350"/>
                  </a:lnTo>
                  <a:lnTo>
                    <a:pt x="3492468" y="1299432"/>
                  </a:lnTo>
                  <a:lnTo>
                    <a:pt x="3470386" y="1314323"/>
                  </a:lnTo>
                  <a:lnTo>
                    <a:pt x="3443351" y="1319784"/>
                  </a:lnTo>
                  <a:lnTo>
                    <a:pt x="69469" y="1319784"/>
                  </a:lnTo>
                  <a:lnTo>
                    <a:pt x="42433" y="1314323"/>
                  </a:lnTo>
                  <a:lnTo>
                    <a:pt x="20351" y="1299432"/>
                  </a:lnTo>
                  <a:lnTo>
                    <a:pt x="5461" y="1277350"/>
                  </a:lnTo>
                  <a:lnTo>
                    <a:pt x="0" y="1250315"/>
                  </a:lnTo>
                  <a:lnTo>
                    <a:pt x="0" y="69469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11802" y="3223077"/>
            <a:ext cx="180784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370" dirty="0">
                <a:solidFill>
                  <a:srgbClr val="272424"/>
                </a:solidFill>
                <a:latin typeface="Arial"/>
                <a:cs typeface="Arial"/>
              </a:rPr>
              <a:t>→</a:t>
            </a:r>
            <a:r>
              <a:rPr sz="1600" b="1" spc="-1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"IG</a:t>
            </a:r>
            <a:r>
              <a:rPr sz="1600" b="1" spc="-1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5" dirty="0">
                <a:solidFill>
                  <a:srgbClr val="272424"/>
                </a:solidFill>
                <a:latin typeface="Arial"/>
                <a:cs typeface="Arial"/>
              </a:rPr>
              <a:t>D"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1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forward.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08619" y="3224783"/>
            <a:ext cx="3533140" cy="1339850"/>
            <a:chOff x="8008619" y="3224783"/>
            <a:chExt cx="3533140" cy="1339850"/>
          </a:xfrm>
        </p:grpSpPr>
        <p:sp>
          <p:nvSpPr>
            <p:cNvPr id="13" name="object 13"/>
            <p:cNvSpPr/>
            <p:nvPr/>
          </p:nvSpPr>
          <p:spPr>
            <a:xfrm>
              <a:off x="8018525" y="3234689"/>
              <a:ext cx="3512820" cy="1320165"/>
            </a:xfrm>
            <a:custGeom>
              <a:avLst/>
              <a:gdLst/>
              <a:ahLst/>
              <a:cxnLst/>
              <a:rect l="l" t="t" r="r" b="b"/>
              <a:pathLst>
                <a:path w="3512820" h="1320164">
                  <a:moveTo>
                    <a:pt x="3443351" y="0"/>
                  </a:moveTo>
                  <a:lnTo>
                    <a:pt x="69469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0" y="42433"/>
                  </a:lnTo>
                  <a:lnTo>
                    <a:pt x="0" y="69469"/>
                  </a:lnTo>
                  <a:lnTo>
                    <a:pt x="0" y="1250315"/>
                  </a:lnTo>
                  <a:lnTo>
                    <a:pt x="5461" y="1277350"/>
                  </a:lnTo>
                  <a:lnTo>
                    <a:pt x="20351" y="1299432"/>
                  </a:lnTo>
                  <a:lnTo>
                    <a:pt x="42433" y="1314323"/>
                  </a:lnTo>
                  <a:lnTo>
                    <a:pt x="69469" y="1319784"/>
                  </a:lnTo>
                  <a:lnTo>
                    <a:pt x="3443351" y="1319784"/>
                  </a:lnTo>
                  <a:lnTo>
                    <a:pt x="3470386" y="1314323"/>
                  </a:lnTo>
                  <a:lnTo>
                    <a:pt x="3492468" y="1299432"/>
                  </a:lnTo>
                  <a:lnTo>
                    <a:pt x="3507358" y="1277350"/>
                  </a:lnTo>
                  <a:lnTo>
                    <a:pt x="3512820" y="1250315"/>
                  </a:lnTo>
                  <a:lnTo>
                    <a:pt x="3512820" y="69469"/>
                  </a:lnTo>
                  <a:lnTo>
                    <a:pt x="3507358" y="42433"/>
                  </a:lnTo>
                  <a:lnTo>
                    <a:pt x="3492468" y="20351"/>
                  </a:lnTo>
                  <a:lnTo>
                    <a:pt x="3470386" y="5461"/>
                  </a:lnTo>
                  <a:lnTo>
                    <a:pt x="3443351" y="0"/>
                  </a:lnTo>
                  <a:close/>
                </a:path>
              </a:pathLst>
            </a:custGeom>
            <a:solidFill>
              <a:srgbClr val="F9F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18525" y="3234689"/>
              <a:ext cx="3512820" cy="1320165"/>
            </a:xfrm>
            <a:custGeom>
              <a:avLst/>
              <a:gdLst/>
              <a:ahLst/>
              <a:cxnLst/>
              <a:rect l="l" t="t" r="r" b="b"/>
              <a:pathLst>
                <a:path w="3512820" h="1320164">
                  <a:moveTo>
                    <a:pt x="0" y="69469"/>
                  </a:moveTo>
                  <a:lnTo>
                    <a:pt x="5460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9" y="0"/>
                  </a:lnTo>
                  <a:lnTo>
                    <a:pt x="3443351" y="0"/>
                  </a:lnTo>
                  <a:lnTo>
                    <a:pt x="3470386" y="5461"/>
                  </a:lnTo>
                  <a:lnTo>
                    <a:pt x="3492468" y="20351"/>
                  </a:lnTo>
                  <a:lnTo>
                    <a:pt x="3507358" y="42433"/>
                  </a:lnTo>
                  <a:lnTo>
                    <a:pt x="3512820" y="69469"/>
                  </a:lnTo>
                  <a:lnTo>
                    <a:pt x="3512820" y="1250315"/>
                  </a:lnTo>
                  <a:lnTo>
                    <a:pt x="3507358" y="1277350"/>
                  </a:lnTo>
                  <a:lnTo>
                    <a:pt x="3492468" y="1299432"/>
                  </a:lnTo>
                  <a:lnTo>
                    <a:pt x="3470386" y="1314323"/>
                  </a:lnTo>
                  <a:lnTo>
                    <a:pt x="3443351" y="1319784"/>
                  </a:lnTo>
                  <a:lnTo>
                    <a:pt x="69469" y="1319784"/>
                  </a:lnTo>
                  <a:lnTo>
                    <a:pt x="42433" y="1314323"/>
                  </a:lnTo>
                  <a:lnTo>
                    <a:pt x="20351" y="1299432"/>
                  </a:lnTo>
                  <a:lnTo>
                    <a:pt x="5461" y="1277350"/>
                  </a:lnTo>
                  <a:lnTo>
                    <a:pt x="0" y="1250315"/>
                  </a:lnTo>
                  <a:lnTo>
                    <a:pt x="0" y="69469"/>
                  </a:lnTo>
                  <a:close/>
                </a:path>
              </a:pathLst>
            </a:custGeom>
            <a:ln w="19812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190103" y="3223077"/>
            <a:ext cx="2609215" cy="113665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370" dirty="0">
                <a:solidFill>
                  <a:srgbClr val="272424"/>
                </a:solidFill>
                <a:latin typeface="Arial"/>
                <a:cs typeface="Arial"/>
              </a:rPr>
              <a:t>→</a:t>
            </a:r>
            <a:r>
              <a:rPr sz="1600" b="1" spc="-1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"DATA"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100"/>
              </a:lnSpc>
              <a:spcBef>
                <a:spcPts val="72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65" dirty="0">
                <a:solidFill>
                  <a:srgbClr val="272424"/>
                </a:solidFill>
                <a:latin typeface="Microsoft Sans Serif"/>
                <a:cs typeface="Microsoft Sans Serif"/>
              </a:rPr>
              <a:t>"DATA"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"DATA"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272424"/>
                </a:solidFill>
                <a:latin typeface="Segoe UI Symbol"/>
                <a:cs typeface="Segoe UI Symbol"/>
              </a:rPr>
              <a:t>✓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Verify: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D=D</a:t>
            </a:r>
            <a:r>
              <a:rPr sz="1300" spc="-5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1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A=A</a:t>
            </a:r>
            <a:r>
              <a:rPr sz="1300" spc="-25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35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75" dirty="0">
                <a:solidFill>
                  <a:srgbClr val="272424"/>
                </a:solidFill>
                <a:latin typeface="Microsoft Sans Serif"/>
                <a:cs typeface="Microsoft Sans Serif"/>
              </a:rPr>
              <a:t>T=T</a:t>
            </a:r>
            <a:r>
              <a:rPr sz="1300" spc="-75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4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A=A</a:t>
            </a:r>
            <a:r>
              <a:rPr sz="1300" spc="-20" dirty="0">
                <a:solidFill>
                  <a:srgbClr val="272424"/>
                </a:solidFill>
                <a:latin typeface="Segoe UI Symbol"/>
                <a:cs typeface="Segoe UI Symbol"/>
              </a:rPr>
              <a:t>✓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found!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716" y="4706518"/>
            <a:ext cx="10793730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reduces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unnecessary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detailed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comparisons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that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clearly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different.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do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we</a:t>
            </a:r>
            <a:r>
              <a:rPr sz="1300" spc="-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invest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time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in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character-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by-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2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409194"/>
            <a:ext cx="56394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20" dirty="0"/>
              <a:t>Hashing</a:t>
            </a:r>
            <a:r>
              <a:rPr sz="2700" spc="-204" dirty="0"/>
              <a:t> </a:t>
            </a:r>
            <a:r>
              <a:rPr sz="2700" spc="-85" dirty="0"/>
              <a:t>Example</a:t>
            </a:r>
            <a:r>
              <a:rPr sz="2700" spc="-170" dirty="0"/>
              <a:t> </a:t>
            </a:r>
            <a:r>
              <a:rPr sz="2700" spc="-125" dirty="0"/>
              <a:t>3:</a:t>
            </a:r>
            <a:r>
              <a:rPr sz="2700" spc="-225" dirty="0"/>
              <a:t> </a:t>
            </a:r>
            <a:r>
              <a:rPr sz="2700" spc="-95" dirty="0"/>
              <a:t>Searching</a:t>
            </a:r>
            <a:r>
              <a:rPr sz="2700" spc="-180" dirty="0"/>
              <a:t> </a:t>
            </a:r>
            <a:r>
              <a:rPr sz="2700" spc="-300" dirty="0"/>
              <a:t>"ABC"</a:t>
            </a:r>
            <a:endParaRPr sz="2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1380744"/>
            <a:ext cx="691896" cy="42473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716" y="1059941"/>
            <a:ext cx="2846070" cy="4420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05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72424"/>
                </a:solidFill>
                <a:latin typeface="Arial"/>
                <a:cs typeface="Arial"/>
              </a:rPr>
              <a:t>XYZABCXYZ</a:t>
            </a:r>
            <a:r>
              <a:rPr sz="1050" b="1" spc="110" dirty="0">
                <a:solidFill>
                  <a:srgbClr val="272424"/>
                </a:solidFill>
                <a:latin typeface="Arial"/>
                <a:cs typeface="Arial"/>
              </a:rPr>
              <a:t>  </a:t>
            </a:r>
            <a:r>
              <a:rPr sz="1050" b="1" dirty="0">
                <a:solidFill>
                  <a:srgbClr val="272424"/>
                </a:solidFill>
                <a:latin typeface="Arial"/>
                <a:cs typeface="Arial"/>
              </a:rPr>
              <a:t>Pattern:</a:t>
            </a:r>
            <a:r>
              <a:rPr sz="105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b="1" spc="-45" dirty="0">
                <a:solidFill>
                  <a:srgbClr val="272424"/>
                </a:solidFill>
                <a:latin typeface="Arial"/>
                <a:cs typeface="Arial"/>
              </a:rPr>
              <a:t>ABC</a:t>
            </a:r>
            <a:r>
              <a:rPr sz="105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72424"/>
                </a:solidFill>
                <a:latin typeface="Arial"/>
                <a:cs typeface="Arial"/>
              </a:rPr>
              <a:t>(length</a:t>
            </a:r>
            <a:r>
              <a:rPr sz="105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05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b="1" spc="25" dirty="0">
                <a:solidFill>
                  <a:srgbClr val="272424"/>
                </a:solidFill>
                <a:latin typeface="Arial"/>
                <a:cs typeface="Arial"/>
              </a:rPr>
              <a:t>3)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50">
              <a:latin typeface="Arial"/>
              <a:cs typeface="Arial"/>
            </a:endParaRPr>
          </a:p>
          <a:p>
            <a:pPr marL="820419">
              <a:lnSpc>
                <a:spcPct val="100000"/>
              </a:lnSpc>
            </a:pPr>
            <a:r>
              <a:rPr sz="1350" b="1" spc="-25" dirty="0">
                <a:solidFill>
                  <a:srgbClr val="272424"/>
                </a:solidFill>
                <a:latin typeface="Arial"/>
                <a:cs typeface="Arial"/>
              </a:rPr>
              <a:t>XYZ</a:t>
            </a:r>
            <a:endParaRPr sz="1350">
              <a:latin typeface="Arial"/>
              <a:cs typeface="Arial"/>
            </a:endParaRPr>
          </a:p>
          <a:p>
            <a:pPr marL="820419" marR="977265">
              <a:lnSpc>
                <a:spcPts val="1250"/>
              </a:lnSpc>
              <a:spcBef>
                <a:spcPts val="580"/>
              </a:spcBef>
            </a:pPr>
            <a:r>
              <a:rPr sz="10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05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05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ABC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820419">
              <a:lnSpc>
                <a:spcPct val="100000"/>
              </a:lnSpc>
            </a:pPr>
            <a:r>
              <a:rPr sz="1350" b="1" spc="-25" dirty="0">
                <a:solidFill>
                  <a:srgbClr val="272424"/>
                </a:solidFill>
                <a:latin typeface="Arial"/>
                <a:cs typeface="Arial"/>
              </a:rPr>
              <a:t>YZA</a:t>
            </a:r>
            <a:endParaRPr sz="1350">
              <a:latin typeface="Arial"/>
              <a:cs typeface="Arial"/>
            </a:endParaRPr>
          </a:p>
          <a:p>
            <a:pPr marL="820419" marR="977265">
              <a:lnSpc>
                <a:spcPts val="1250"/>
              </a:lnSpc>
              <a:spcBef>
                <a:spcPts val="580"/>
              </a:spcBef>
            </a:pPr>
            <a:r>
              <a:rPr sz="10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05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05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ABC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820419">
              <a:lnSpc>
                <a:spcPct val="100000"/>
              </a:lnSpc>
            </a:pPr>
            <a:r>
              <a:rPr sz="1350" b="1" spc="-25" dirty="0">
                <a:solidFill>
                  <a:srgbClr val="272424"/>
                </a:solidFill>
                <a:latin typeface="Arial"/>
                <a:cs typeface="Arial"/>
              </a:rPr>
              <a:t>ZAB</a:t>
            </a:r>
            <a:endParaRPr sz="1350">
              <a:latin typeface="Arial"/>
              <a:cs typeface="Arial"/>
            </a:endParaRPr>
          </a:p>
          <a:p>
            <a:pPr marL="820419" marR="977265">
              <a:lnSpc>
                <a:spcPts val="1250"/>
              </a:lnSpc>
              <a:spcBef>
                <a:spcPts val="580"/>
              </a:spcBef>
            </a:pPr>
            <a:r>
              <a:rPr sz="10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05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05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ABC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820419">
              <a:lnSpc>
                <a:spcPct val="100000"/>
              </a:lnSpc>
              <a:spcBef>
                <a:spcPts val="5"/>
              </a:spcBef>
            </a:pPr>
            <a:r>
              <a:rPr sz="1350" b="1" spc="-25" dirty="0">
                <a:solidFill>
                  <a:srgbClr val="272424"/>
                </a:solidFill>
                <a:latin typeface="Arial"/>
                <a:cs typeface="Arial"/>
              </a:rPr>
              <a:t>ABC</a:t>
            </a:r>
            <a:endParaRPr sz="1350">
              <a:latin typeface="Arial"/>
              <a:cs typeface="Arial"/>
            </a:endParaRPr>
          </a:p>
          <a:p>
            <a:pPr marL="820419">
              <a:lnSpc>
                <a:spcPts val="1250"/>
              </a:lnSpc>
              <a:spcBef>
                <a:spcPts val="540"/>
              </a:spcBef>
            </a:pPr>
            <a:r>
              <a:rPr sz="10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05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05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ABC</a:t>
            </a:r>
            <a:r>
              <a:rPr sz="105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05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5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endParaRPr sz="1050">
              <a:latin typeface="Segoe UI Symbol"/>
              <a:cs typeface="Segoe UI Symbol"/>
            </a:endParaRPr>
          </a:p>
          <a:p>
            <a:pPr marL="820419">
              <a:lnSpc>
                <a:spcPts val="1250"/>
              </a:lnSpc>
            </a:pP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Verify</a:t>
            </a:r>
            <a:r>
              <a:rPr sz="10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24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0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Match!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820419">
              <a:lnSpc>
                <a:spcPct val="100000"/>
              </a:lnSpc>
            </a:pPr>
            <a:r>
              <a:rPr sz="1350" b="1" spc="-25" dirty="0">
                <a:solidFill>
                  <a:srgbClr val="272424"/>
                </a:solidFill>
                <a:latin typeface="Arial"/>
                <a:cs typeface="Arial"/>
              </a:rPr>
              <a:t>BCX</a:t>
            </a:r>
            <a:endParaRPr sz="1350">
              <a:latin typeface="Arial"/>
              <a:cs typeface="Arial"/>
            </a:endParaRPr>
          </a:p>
          <a:p>
            <a:pPr marL="820419">
              <a:lnSpc>
                <a:spcPts val="1255"/>
              </a:lnSpc>
              <a:spcBef>
                <a:spcPts val="530"/>
              </a:spcBef>
            </a:pPr>
            <a:r>
              <a:rPr sz="10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05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05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ABC</a:t>
            </a:r>
            <a:r>
              <a:rPr sz="10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endParaRPr sz="1050">
              <a:latin typeface="Microsoft Sans Serif"/>
              <a:cs typeface="Microsoft Sans Serif"/>
            </a:endParaRPr>
          </a:p>
          <a:p>
            <a:pPr marL="820419">
              <a:lnSpc>
                <a:spcPts val="1255"/>
              </a:lnSpc>
            </a:pP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589" y="5863844"/>
            <a:ext cx="10681335" cy="34544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155"/>
              </a:spcBef>
            </a:pPr>
            <a:r>
              <a:rPr sz="1050" b="1" spc="-20" dirty="0">
                <a:solidFill>
                  <a:srgbClr val="272424"/>
                </a:solidFill>
                <a:latin typeface="Arial"/>
                <a:cs typeface="Arial"/>
              </a:rPr>
              <a:t>Hashing</a:t>
            </a:r>
            <a:r>
              <a:rPr sz="1050" b="1" spc="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72424"/>
                </a:solidFill>
                <a:latin typeface="Arial"/>
                <a:cs typeface="Arial"/>
              </a:rPr>
              <a:t>acts</a:t>
            </a:r>
            <a:r>
              <a:rPr sz="105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272424"/>
                </a:solidFill>
                <a:latin typeface="Arial"/>
                <a:cs typeface="Arial"/>
              </a:rPr>
              <a:t>as</a:t>
            </a:r>
            <a:r>
              <a:rPr sz="105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050" b="1" spc="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72424"/>
                </a:solidFill>
                <a:latin typeface="Arial"/>
                <a:cs typeface="Arial"/>
              </a:rPr>
              <a:t>filter.</a:t>
            </a:r>
            <a:r>
              <a:rPr sz="1050" b="1" spc="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</a:t>
            </a:r>
            <a:r>
              <a:rPr sz="10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05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clearly</a:t>
            </a:r>
            <a:r>
              <a:rPr sz="105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05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0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05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0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05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rejected</a:t>
            </a:r>
            <a:r>
              <a:rPr sz="105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before</a:t>
            </a:r>
            <a:r>
              <a:rPr sz="105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performing</a:t>
            </a:r>
            <a:r>
              <a:rPr sz="105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complete</a:t>
            </a:r>
            <a:r>
              <a:rPr sz="105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character-</a:t>
            </a:r>
            <a:r>
              <a:rPr sz="105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by-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0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comparison.</a:t>
            </a:r>
            <a:r>
              <a:rPr sz="105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05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candidate</a:t>
            </a:r>
            <a:r>
              <a:rPr sz="105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undergo</a:t>
            </a:r>
            <a:r>
              <a:rPr sz="10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72424"/>
                </a:solidFill>
                <a:latin typeface="Microsoft Sans Serif"/>
                <a:cs typeface="Microsoft Sans Serif"/>
              </a:rPr>
              <a:t>full</a:t>
            </a:r>
            <a:r>
              <a:rPr sz="10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16" y="5759196"/>
            <a:ext cx="20320" cy="589915"/>
          </a:xfrm>
          <a:custGeom>
            <a:avLst/>
            <a:gdLst/>
            <a:ahLst/>
            <a:cxnLst/>
            <a:rect l="l" t="t" r="r" b="b"/>
            <a:pathLst>
              <a:path w="20320" h="589914">
                <a:moveTo>
                  <a:pt x="15379" y="0"/>
                </a:moveTo>
                <a:lnTo>
                  <a:pt x="4432" y="0"/>
                </a:lnTo>
                <a:lnTo>
                  <a:pt x="0" y="4432"/>
                </a:lnTo>
                <a:lnTo>
                  <a:pt x="0" y="9905"/>
                </a:lnTo>
                <a:lnTo>
                  <a:pt x="0" y="585355"/>
                </a:lnTo>
                <a:lnTo>
                  <a:pt x="4432" y="589787"/>
                </a:lnTo>
                <a:lnTo>
                  <a:pt x="15379" y="589787"/>
                </a:lnTo>
                <a:lnTo>
                  <a:pt x="19812" y="585355"/>
                </a:lnTo>
                <a:lnTo>
                  <a:pt x="19812" y="4432"/>
                </a:lnTo>
                <a:lnTo>
                  <a:pt x="15379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421589"/>
            <a:ext cx="918464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30" dirty="0"/>
              <a:t>Basic</a:t>
            </a:r>
            <a:r>
              <a:rPr sz="2900" spc="-270" dirty="0"/>
              <a:t> </a:t>
            </a:r>
            <a:r>
              <a:rPr sz="2900" spc="-65" dirty="0"/>
              <a:t>Python</a:t>
            </a:r>
            <a:r>
              <a:rPr sz="2900" spc="-245" dirty="0"/>
              <a:t> </a:t>
            </a:r>
            <a:r>
              <a:rPr sz="2900" spc="-30" dirty="0"/>
              <a:t>Implementation</a:t>
            </a:r>
            <a:r>
              <a:rPr sz="2900" spc="-260" dirty="0"/>
              <a:t> </a:t>
            </a:r>
            <a:r>
              <a:rPr sz="2900" spc="-20" dirty="0"/>
              <a:t>of</a:t>
            </a:r>
            <a:r>
              <a:rPr sz="2900" spc="-220" dirty="0"/>
              <a:t> </a:t>
            </a:r>
            <a:r>
              <a:rPr sz="2900" dirty="0"/>
              <a:t>Hash-</a:t>
            </a:r>
            <a:r>
              <a:rPr sz="2900" spc="-114" dirty="0"/>
              <a:t>Based</a:t>
            </a:r>
            <a:r>
              <a:rPr sz="2900" spc="-260" dirty="0"/>
              <a:t> </a:t>
            </a:r>
            <a:r>
              <a:rPr sz="2900" spc="-10" dirty="0"/>
              <a:t>Matching</a:t>
            </a:r>
            <a:endParaRPr sz="2900"/>
          </a:p>
        </p:txBody>
      </p:sp>
      <p:sp>
        <p:nvSpPr>
          <p:cNvPr id="3" name="object 3"/>
          <p:cNvSpPr/>
          <p:nvPr/>
        </p:nvSpPr>
        <p:spPr>
          <a:xfrm>
            <a:off x="661416" y="1167383"/>
            <a:ext cx="10869295" cy="4822190"/>
          </a:xfrm>
          <a:custGeom>
            <a:avLst/>
            <a:gdLst/>
            <a:ahLst/>
            <a:cxnLst/>
            <a:rect l="l" t="t" r="r" b="b"/>
            <a:pathLst>
              <a:path w="10869295" h="4822190">
                <a:moveTo>
                  <a:pt x="10806684" y="0"/>
                </a:moveTo>
                <a:lnTo>
                  <a:pt x="62534" y="0"/>
                </a:lnTo>
                <a:lnTo>
                  <a:pt x="38195" y="4905"/>
                </a:lnTo>
                <a:lnTo>
                  <a:pt x="18318" y="18287"/>
                </a:lnTo>
                <a:lnTo>
                  <a:pt x="4915" y="38147"/>
                </a:lnTo>
                <a:lnTo>
                  <a:pt x="0" y="62483"/>
                </a:lnTo>
                <a:lnTo>
                  <a:pt x="0" y="4759401"/>
                </a:lnTo>
                <a:lnTo>
                  <a:pt x="4915" y="4783740"/>
                </a:lnTo>
                <a:lnTo>
                  <a:pt x="18318" y="4803617"/>
                </a:lnTo>
                <a:lnTo>
                  <a:pt x="38195" y="4817020"/>
                </a:lnTo>
                <a:lnTo>
                  <a:pt x="62534" y="4821935"/>
                </a:lnTo>
                <a:lnTo>
                  <a:pt x="10806684" y="4821935"/>
                </a:lnTo>
                <a:lnTo>
                  <a:pt x="10831020" y="4817020"/>
                </a:lnTo>
                <a:lnTo>
                  <a:pt x="10850880" y="4803617"/>
                </a:lnTo>
                <a:lnTo>
                  <a:pt x="10864262" y="4783740"/>
                </a:lnTo>
                <a:lnTo>
                  <a:pt x="10869167" y="4759401"/>
                </a:lnTo>
                <a:lnTo>
                  <a:pt x="10869167" y="62483"/>
                </a:lnTo>
                <a:lnTo>
                  <a:pt x="10864262" y="38147"/>
                </a:lnTo>
                <a:lnTo>
                  <a:pt x="10850880" y="18287"/>
                </a:lnTo>
                <a:lnTo>
                  <a:pt x="10831020" y="4905"/>
                </a:lnTo>
                <a:lnTo>
                  <a:pt x="10806684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7328" y="1275385"/>
            <a:ext cx="4077335" cy="445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9565" marR="1039494" indent="-317500">
              <a:lnSpc>
                <a:spcPct val="133100"/>
              </a:lnSpc>
              <a:spcBef>
                <a:spcPts val="95"/>
              </a:spcBef>
            </a:pP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def</a:t>
            </a:r>
            <a:r>
              <a:rPr sz="1150" spc="-10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simple_hash_search(text,</a:t>
            </a:r>
            <a:r>
              <a:rPr sz="1150" spc="-10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pattern): pattern_hash</a:t>
            </a:r>
            <a:r>
              <a:rPr sz="11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11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hash(pattern) pattern_length</a:t>
            </a:r>
            <a:r>
              <a:rPr sz="11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1150" spc="-6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len(pattern)</a:t>
            </a:r>
            <a:endParaRPr sz="1150">
              <a:latin typeface="Consolas"/>
              <a:cs typeface="Consolas"/>
            </a:endParaRPr>
          </a:p>
          <a:p>
            <a:pPr marL="646430" marR="5080" indent="-317500">
              <a:lnSpc>
                <a:spcPct val="133000"/>
              </a:lnSpc>
              <a:spcBef>
                <a:spcPts val="5"/>
              </a:spcBef>
            </a:pP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for</a:t>
            </a:r>
            <a:r>
              <a:rPr sz="11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i</a:t>
            </a:r>
            <a:r>
              <a:rPr sz="11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in</a:t>
            </a:r>
            <a:r>
              <a:rPr sz="11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range(len(text)</a:t>
            </a:r>
            <a:r>
              <a:rPr sz="11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-</a:t>
            </a:r>
            <a:r>
              <a:rPr sz="11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pattern_length</a:t>
            </a:r>
            <a:r>
              <a:rPr sz="11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11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25" dirty="0">
                <a:solidFill>
                  <a:srgbClr val="D63948"/>
                </a:solidFill>
                <a:latin typeface="Consolas"/>
                <a:cs typeface="Consolas"/>
              </a:rPr>
              <a:t>1):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window</a:t>
            </a:r>
            <a:r>
              <a:rPr sz="11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115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text[i:i</a:t>
            </a:r>
            <a:r>
              <a:rPr sz="115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115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pattern_length]</a:t>
            </a:r>
            <a:endParaRPr sz="1150">
              <a:latin typeface="Consolas"/>
              <a:cs typeface="Consolas"/>
            </a:endParaRPr>
          </a:p>
          <a:p>
            <a:pPr marL="646430">
              <a:lnSpc>
                <a:spcPct val="100000"/>
              </a:lnSpc>
              <a:spcBef>
                <a:spcPts val="455"/>
              </a:spcBef>
            </a:pP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#</a:t>
            </a:r>
            <a:r>
              <a:rPr sz="1150" spc="-8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Compare</a:t>
            </a:r>
            <a:r>
              <a:rPr sz="1150" spc="-8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hash</a:t>
            </a:r>
            <a:r>
              <a:rPr sz="1150" spc="-8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values</a:t>
            </a:r>
            <a:r>
              <a:rPr sz="11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20" dirty="0">
                <a:solidFill>
                  <a:srgbClr val="D63948"/>
                </a:solidFill>
                <a:latin typeface="Consolas"/>
                <a:cs typeface="Consolas"/>
              </a:rPr>
              <a:t>first</a:t>
            </a:r>
            <a:endParaRPr sz="1150">
              <a:latin typeface="Consolas"/>
              <a:cs typeface="Consolas"/>
            </a:endParaRPr>
          </a:p>
          <a:p>
            <a:pPr marL="965200" marR="877569" indent="-318770">
              <a:lnSpc>
                <a:spcPct val="132700"/>
              </a:lnSpc>
              <a:spcBef>
                <a:spcPts val="5"/>
              </a:spcBef>
            </a:pP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11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hash(window)</a:t>
            </a:r>
            <a:r>
              <a:rPr sz="11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==</a:t>
            </a:r>
            <a:r>
              <a:rPr sz="11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pattern_hash: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#</a:t>
            </a:r>
            <a:r>
              <a:rPr sz="1150" spc="-9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Verify</a:t>
            </a:r>
            <a:r>
              <a:rPr sz="1150" spc="-8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the</a:t>
            </a:r>
            <a:r>
              <a:rPr sz="1150" spc="-8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actual</a:t>
            </a:r>
            <a:r>
              <a:rPr sz="1150" spc="-8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strings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115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window</a:t>
            </a:r>
            <a:r>
              <a:rPr sz="1150" spc="-6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==</a:t>
            </a:r>
            <a:r>
              <a:rPr sz="1150" spc="-6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pattern:</a:t>
            </a:r>
            <a:endParaRPr sz="1150">
              <a:latin typeface="Consolas"/>
              <a:cs typeface="Consolas"/>
            </a:endParaRPr>
          </a:p>
          <a:p>
            <a:pPr marL="1282065">
              <a:lnSpc>
                <a:spcPct val="100000"/>
              </a:lnSpc>
              <a:spcBef>
                <a:spcPts val="455"/>
              </a:spcBef>
            </a:pP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return</a:t>
            </a:r>
            <a:r>
              <a:rPr sz="1150" spc="-10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50" dirty="0">
                <a:solidFill>
                  <a:srgbClr val="D63948"/>
                </a:solidFill>
                <a:latin typeface="Consolas"/>
                <a:cs typeface="Consolas"/>
              </a:rPr>
              <a:t>i</a:t>
            </a:r>
            <a:endParaRPr sz="1150">
              <a:latin typeface="Consolas"/>
              <a:cs typeface="Consolas"/>
            </a:endParaRPr>
          </a:p>
          <a:p>
            <a:pPr marL="329565">
              <a:lnSpc>
                <a:spcPct val="100000"/>
              </a:lnSpc>
              <a:spcBef>
                <a:spcPts val="455"/>
              </a:spcBef>
            </a:pP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return</a:t>
            </a:r>
            <a:r>
              <a:rPr sz="1150" spc="-10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-</a:t>
            </a:r>
            <a:r>
              <a:rPr sz="1150" spc="-50" dirty="0">
                <a:solidFill>
                  <a:srgbClr val="D63948"/>
                </a:solidFill>
                <a:latin typeface="Consolas"/>
                <a:cs typeface="Consolas"/>
              </a:rPr>
              <a:t>1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1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text</a:t>
            </a:r>
            <a:r>
              <a:rPr sz="115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115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"BIG</a:t>
            </a:r>
            <a:r>
              <a:rPr sz="11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DATA</a:t>
            </a:r>
            <a:r>
              <a:rPr sz="115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ANALYSIS"</a:t>
            </a:r>
            <a:endParaRPr sz="11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pattern</a:t>
            </a:r>
            <a:r>
              <a:rPr sz="1150" spc="-8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11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"DATA"</a:t>
            </a:r>
            <a:endParaRPr sz="1150">
              <a:latin typeface="Consolas"/>
              <a:cs typeface="Consolas"/>
            </a:endParaRPr>
          </a:p>
          <a:p>
            <a:pPr marL="12700" marR="561975">
              <a:lnSpc>
                <a:spcPct val="133000"/>
              </a:lnSpc>
            </a:pP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position</a:t>
            </a:r>
            <a:r>
              <a:rPr sz="1150" spc="-10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1150" spc="-10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simple_hash_search(text,</a:t>
            </a:r>
            <a:r>
              <a:rPr sz="1150" spc="-10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pattern)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11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position</a:t>
            </a:r>
            <a:r>
              <a:rPr sz="1150" spc="-6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!=</a:t>
            </a:r>
            <a:r>
              <a:rPr sz="115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25" dirty="0">
                <a:solidFill>
                  <a:srgbClr val="D63948"/>
                </a:solidFill>
                <a:latin typeface="Consolas"/>
                <a:cs typeface="Consolas"/>
              </a:rPr>
              <a:t>-1:</a:t>
            </a:r>
            <a:endParaRPr sz="1150">
              <a:latin typeface="Consolas"/>
              <a:cs typeface="Consolas"/>
            </a:endParaRPr>
          </a:p>
          <a:p>
            <a:pPr marL="12700" marR="405130" indent="316865">
              <a:lnSpc>
                <a:spcPct val="133000"/>
              </a:lnSpc>
            </a:pP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print("Pattern</a:t>
            </a:r>
            <a:r>
              <a:rPr sz="1150" spc="-8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found</a:t>
            </a:r>
            <a:r>
              <a:rPr sz="1150" spc="-9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at</a:t>
            </a:r>
            <a:r>
              <a:rPr sz="1150" spc="-9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index:",</a:t>
            </a:r>
            <a:r>
              <a:rPr sz="1150" spc="-8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position) else:</a:t>
            </a:r>
            <a:endParaRPr sz="1150">
              <a:latin typeface="Consolas"/>
              <a:cs typeface="Consolas"/>
            </a:endParaRPr>
          </a:p>
          <a:p>
            <a:pPr marL="329565">
              <a:lnSpc>
                <a:spcPct val="100000"/>
              </a:lnSpc>
              <a:spcBef>
                <a:spcPts val="455"/>
              </a:spcBef>
            </a:pP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print("Pattern</a:t>
            </a:r>
            <a:r>
              <a:rPr sz="1150" spc="-10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D63948"/>
                </a:solidFill>
                <a:latin typeface="Consolas"/>
                <a:cs typeface="Consolas"/>
              </a:rPr>
              <a:t>not</a:t>
            </a:r>
            <a:r>
              <a:rPr sz="1150" spc="-11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D63948"/>
                </a:solidFill>
                <a:latin typeface="Consolas"/>
                <a:cs typeface="Consolas"/>
              </a:rPr>
              <a:t>found")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716" y="6118352"/>
            <a:ext cx="12839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Expected</a:t>
            </a:r>
            <a:r>
              <a:rPr sz="1150" b="1" spc="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Output: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9195" y="6128156"/>
            <a:ext cx="2000250" cy="19050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solidFill>
                  <a:srgbClr val="272424"/>
                </a:solidFill>
                <a:latin typeface="Consolas"/>
                <a:cs typeface="Consolas"/>
              </a:rPr>
              <a:t>Pattern</a:t>
            </a:r>
            <a:r>
              <a:rPr sz="1150" spc="-7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272424"/>
                </a:solidFill>
                <a:latin typeface="Consolas"/>
                <a:cs typeface="Consolas"/>
              </a:rPr>
              <a:t>found</a:t>
            </a:r>
            <a:r>
              <a:rPr sz="1150" spc="-9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272424"/>
                </a:solidFill>
                <a:latin typeface="Consolas"/>
                <a:cs typeface="Consolas"/>
              </a:rPr>
              <a:t>at</a:t>
            </a:r>
            <a:r>
              <a:rPr sz="1150" spc="-8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272424"/>
                </a:solidFill>
                <a:latin typeface="Consolas"/>
                <a:cs typeface="Consolas"/>
              </a:rPr>
              <a:t>index:</a:t>
            </a:r>
            <a:r>
              <a:rPr sz="1150" spc="-8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50" spc="-50" dirty="0">
                <a:solidFill>
                  <a:srgbClr val="272424"/>
                </a:solidFill>
                <a:latin typeface="Consolas"/>
                <a:cs typeface="Consolas"/>
              </a:rPr>
              <a:t>4</a:t>
            </a:r>
            <a:endParaRPr sz="11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115949"/>
            <a:ext cx="929894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Explanation</a:t>
            </a:r>
            <a:r>
              <a:rPr spc="-295" dirty="0"/>
              <a:t> </a:t>
            </a:r>
            <a:r>
              <a:rPr spc="-30" dirty="0"/>
              <a:t>of</a:t>
            </a:r>
            <a:r>
              <a:rPr spc="-260" dirty="0"/>
              <a:t> </a:t>
            </a:r>
            <a:r>
              <a:rPr spc="-155" dirty="0"/>
              <a:t>Basic</a:t>
            </a:r>
            <a:r>
              <a:rPr spc="-295" dirty="0"/>
              <a:t> </a:t>
            </a:r>
            <a:r>
              <a:rPr dirty="0"/>
              <a:t>Hash-</a:t>
            </a:r>
            <a:r>
              <a:rPr spc="-130" dirty="0"/>
              <a:t>Based</a:t>
            </a:r>
            <a:r>
              <a:rPr spc="-305" dirty="0"/>
              <a:t> </a:t>
            </a:r>
            <a:r>
              <a:rPr spc="-10" dirty="0"/>
              <a:t>Implementation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1978151"/>
            <a:ext cx="5352288" cy="11231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2019" y="2119248"/>
            <a:ext cx="2951480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0"/>
              </a:lnSpc>
            </a:pPr>
            <a:r>
              <a:rPr sz="1600" spc="-45" dirty="0">
                <a:solidFill>
                  <a:srgbClr val="272424"/>
                </a:solidFill>
                <a:latin typeface="Consolas"/>
                <a:cs typeface="Consolas"/>
              </a:rPr>
              <a:t>pattern_hash</a:t>
            </a:r>
            <a:r>
              <a:rPr sz="1600" spc="-12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=</a:t>
            </a:r>
            <a:r>
              <a:rPr sz="1600" spc="-12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272424"/>
                </a:solidFill>
                <a:latin typeface="Consolas"/>
                <a:cs typeface="Consolas"/>
              </a:rPr>
              <a:t>hash(pattern)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9319" y="2453157"/>
            <a:ext cx="4834255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Calculates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once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before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loop.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is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compute 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time.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8296" y="1978151"/>
            <a:ext cx="5352288" cy="11231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39027" y="2119248"/>
            <a:ext cx="3685540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60"/>
              </a:lnSpc>
            </a:pPr>
            <a:r>
              <a:rPr sz="1600" spc="-30" dirty="0">
                <a:solidFill>
                  <a:srgbClr val="272424"/>
                </a:solidFill>
                <a:latin typeface="Consolas"/>
                <a:cs typeface="Consolas"/>
              </a:rPr>
              <a:t>window</a:t>
            </a:r>
            <a:r>
              <a:rPr sz="1600" spc="-13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=</a:t>
            </a:r>
            <a:r>
              <a:rPr sz="1600" spc="-14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40" dirty="0">
                <a:solidFill>
                  <a:srgbClr val="272424"/>
                </a:solidFill>
                <a:latin typeface="Consolas"/>
                <a:cs typeface="Consolas"/>
              </a:rPr>
              <a:t>text[i:i</a:t>
            </a:r>
            <a:r>
              <a:rPr sz="1600" spc="-13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+</a:t>
            </a:r>
            <a:r>
              <a:rPr sz="1600" spc="-13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272424"/>
                </a:solidFill>
                <a:latin typeface="Consolas"/>
                <a:cs typeface="Consolas"/>
              </a:rPr>
              <a:t>pattern_length]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7089" y="2453157"/>
            <a:ext cx="4845685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Extracts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substring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from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having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pattern.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current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being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examined.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3265932"/>
            <a:ext cx="5352288" cy="11247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22019" y="3408298"/>
            <a:ext cx="3265170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4"/>
              </a:lnSpc>
            </a:pP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if</a:t>
            </a:r>
            <a:r>
              <a:rPr sz="1600" spc="-16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45" dirty="0">
                <a:solidFill>
                  <a:srgbClr val="272424"/>
                </a:solidFill>
                <a:latin typeface="Consolas"/>
                <a:cs typeface="Consolas"/>
              </a:rPr>
              <a:t>hash(window)</a:t>
            </a:r>
            <a:r>
              <a:rPr sz="1600" spc="-1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==</a:t>
            </a:r>
            <a:r>
              <a:rPr sz="1600" spc="-1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272424"/>
                </a:solidFill>
                <a:latin typeface="Consolas"/>
                <a:cs typeface="Consolas"/>
              </a:rPr>
              <a:t>pattern_hash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9319" y="3742461"/>
            <a:ext cx="4914265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pattern.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If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skip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immediately.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proceed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verify.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2" name="object 1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8296" y="3265932"/>
            <a:ext cx="5352288" cy="112471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439027" y="3408298"/>
            <a:ext cx="2111375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64"/>
              </a:lnSpc>
            </a:pP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if</a:t>
            </a:r>
            <a:r>
              <a:rPr sz="1600" spc="-16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35" dirty="0">
                <a:solidFill>
                  <a:srgbClr val="272424"/>
                </a:solidFill>
                <a:latin typeface="Consolas"/>
                <a:cs typeface="Consolas"/>
              </a:rPr>
              <a:t>window</a:t>
            </a:r>
            <a:r>
              <a:rPr sz="1600" spc="-15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==</a:t>
            </a:r>
            <a:r>
              <a:rPr sz="1600" spc="-15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45" dirty="0">
                <a:solidFill>
                  <a:srgbClr val="272424"/>
                </a:solidFill>
                <a:latin typeface="Consolas"/>
                <a:cs typeface="Consolas"/>
              </a:rPr>
              <a:t>pattern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27089" y="3742461"/>
            <a:ext cx="4610100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Verifies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actual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strings.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Necessary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collisions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(different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hash)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1416" y="4576571"/>
            <a:ext cx="10869295" cy="1049020"/>
            <a:chOff x="661416" y="4576571"/>
            <a:chExt cx="10869295" cy="1049020"/>
          </a:xfrm>
        </p:grpSpPr>
        <p:sp>
          <p:nvSpPr>
            <p:cNvPr id="16" name="object 16"/>
            <p:cNvSpPr/>
            <p:nvPr/>
          </p:nvSpPr>
          <p:spPr>
            <a:xfrm>
              <a:off x="661416" y="4576571"/>
              <a:ext cx="10869295" cy="1049020"/>
            </a:xfrm>
            <a:custGeom>
              <a:avLst/>
              <a:gdLst/>
              <a:ahLst/>
              <a:cxnLst/>
              <a:rect l="l" t="t" r="r" b="b"/>
              <a:pathLst>
                <a:path w="10869295" h="1049020">
                  <a:moveTo>
                    <a:pt x="10799699" y="0"/>
                  </a:moveTo>
                  <a:lnTo>
                    <a:pt x="69494" y="0"/>
                  </a:lnTo>
                  <a:lnTo>
                    <a:pt x="42444" y="5461"/>
                  </a:lnTo>
                  <a:lnTo>
                    <a:pt x="20354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979042"/>
                  </a:lnTo>
                  <a:lnTo>
                    <a:pt x="5461" y="1006078"/>
                  </a:lnTo>
                  <a:lnTo>
                    <a:pt x="20354" y="1028160"/>
                  </a:lnTo>
                  <a:lnTo>
                    <a:pt x="42444" y="1043050"/>
                  </a:lnTo>
                  <a:lnTo>
                    <a:pt x="69494" y="1048511"/>
                  </a:lnTo>
                  <a:lnTo>
                    <a:pt x="10799699" y="1048511"/>
                  </a:lnTo>
                  <a:lnTo>
                    <a:pt x="10826734" y="1043050"/>
                  </a:lnTo>
                  <a:lnTo>
                    <a:pt x="10848816" y="1028160"/>
                  </a:lnTo>
                  <a:lnTo>
                    <a:pt x="10863707" y="1006078"/>
                  </a:lnTo>
                  <a:lnTo>
                    <a:pt x="10869167" y="979042"/>
                  </a:lnTo>
                  <a:lnTo>
                    <a:pt x="10869167" y="69468"/>
                  </a:lnTo>
                  <a:lnTo>
                    <a:pt x="10863707" y="42433"/>
                  </a:lnTo>
                  <a:lnTo>
                    <a:pt x="10848816" y="20351"/>
                  </a:lnTo>
                  <a:lnTo>
                    <a:pt x="10826734" y="5461"/>
                  </a:lnTo>
                  <a:lnTo>
                    <a:pt x="10799699" y="0"/>
                  </a:lnTo>
                  <a:close/>
                </a:path>
              </a:pathLst>
            </a:custGeom>
            <a:solidFill>
              <a:srgbClr val="F7D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6008" y="4791455"/>
              <a:ext cx="207264" cy="16459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86078" y="4766817"/>
            <a:ext cx="101580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Important</a:t>
            </a:r>
            <a:r>
              <a:rPr sz="1300" b="1" spc="-1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Note:</a:t>
            </a:r>
            <a:r>
              <a:rPr sz="1300" b="1" spc="45" dirty="0">
                <a:latin typeface="Arial"/>
                <a:cs typeface="Arial"/>
              </a:rPr>
              <a:t> </a:t>
            </a:r>
            <a:r>
              <a:rPr sz="1300" spc="-20" dirty="0">
                <a:latin typeface="Microsoft Sans Serif"/>
                <a:cs typeface="Microsoft Sans Serif"/>
              </a:rPr>
              <a:t>This</a:t>
            </a:r>
            <a:r>
              <a:rPr sz="1300" spc="6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program</a:t>
            </a:r>
            <a:r>
              <a:rPr sz="1300" spc="6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demonstrates</a:t>
            </a:r>
            <a:r>
              <a:rPr sz="1300" spc="12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the</a:t>
            </a:r>
            <a:r>
              <a:rPr sz="1300" spc="70" dirty="0">
                <a:latin typeface="Microsoft Sans Serif"/>
                <a:cs typeface="Microsoft Sans Serif"/>
              </a:rPr>
              <a:t> </a:t>
            </a:r>
            <a:r>
              <a:rPr sz="1300" spc="55" dirty="0">
                <a:latin typeface="Microsoft Sans Serif"/>
                <a:cs typeface="Microsoft Sans Serif"/>
              </a:rPr>
              <a:t>concept </a:t>
            </a:r>
            <a:r>
              <a:rPr sz="1300" spc="50" dirty="0">
                <a:latin typeface="Microsoft Sans Serif"/>
                <a:cs typeface="Microsoft Sans Serif"/>
              </a:rPr>
              <a:t>of</a:t>
            </a:r>
            <a:r>
              <a:rPr sz="1300" spc="7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hash-based</a:t>
            </a:r>
            <a:r>
              <a:rPr sz="1300" spc="10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string</a:t>
            </a:r>
            <a:r>
              <a:rPr sz="1300" spc="7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matching.</a:t>
            </a:r>
            <a:r>
              <a:rPr sz="1300" spc="100" dirty="0">
                <a:latin typeface="Microsoft Sans Serif"/>
                <a:cs typeface="Microsoft Sans Serif"/>
              </a:rPr>
              <a:t> </a:t>
            </a:r>
            <a:r>
              <a:rPr sz="1300" spc="-20" dirty="0">
                <a:latin typeface="Microsoft Sans Serif"/>
                <a:cs typeface="Microsoft Sans Serif"/>
              </a:rPr>
              <a:t>The</a:t>
            </a:r>
            <a:r>
              <a:rPr sz="1300" spc="55" dirty="0">
                <a:latin typeface="Microsoft Sans Serif"/>
                <a:cs typeface="Microsoft Sans Serif"/>
              </a:rPr>
              <a:t> </a:t>
            </a:r>
            <a:r>
              <a:rPr sz="1300" spc="50" dirty="0">
                <a:latin typeface="Microsoft Sans Serif"/>
                <a:cs typeface="Microsoft Sans Serif"/>
              </a:rPr>
              <a:t>Rabin–</a:t>
            </a:r>
            <a:r>
              <a:rPr sz="1300" dirty="0">
                <a:latin typeface="Microsoft Sans Serif"/>
                <a:cs typeface="Microsoft Sans Serif"/>
              </a:rPr>
              <a:t>Karp</a:t>
            </a:r>
            <a:r>
              <a:rPr sz="1300" spc="10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algorithm</a:t>
            </a:r>
            <a:r>
              <a:rPr sz="1300" spc="9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uses</a:t>
            </a:r>
            <a:r>
              <a:rPr sz="1300" spc="7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</a:t>
            </a:r>
            <a:r>
              <a:rPr sz="1300" spc="95" dirty="0"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latin typeface="Arial"/>
                <a:cs typeface="Arial"/>
              </a:rPr>
              <a:t>controlled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18068" y="4990338"/>
            <a:ext cx="543560" cy="215265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175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25"/>
              </a:spcBef>
            </a:pPr>
            <a:r>
              <a:rPr sz="1300" spc="-20" dirty="0">
                <a:latin typeface="Consolas"/>
                <a:cs typeface="Consolas"/>
              </a:rPr>
              <a:t>hash()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82330" y="4981397"/>
            <a:ext cx="26771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Microsoft Sans Serif"/>
                <a:cs typeface="Microsoft Sans Serif"/>
              </a:rPr>
              <a:t>function.</a:t>
            </a:r>
            <a:r>
              <a:rPr sz="1300" spc="114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The</a:t>
            </a:r>
            <a:r>
              <a:rPr sz="1300" spc="80" dirty="0">
                <a:latin typeface="Microsoft Sans Serif"/>
                <a:cs typeface="Microsoft Sans Serif"/>
              </a:rPr>
              <a:t> </a:t>
            </a:r>
            <a:r>
              <a:rPr sz="1300" spc="65" dirty="0">
                <a:latin typeface="Microsoft Sans Serif"/>
                <a:cs typeface="Microsoft Sans Serif"/>
              </a:rPr>
              <a:t>built-</a:t>
            </a:r>
            <a:r>
              <a:rPr sz="1300" dirty="0">
                <a:latin typeface="Microsoft Sans Serif"/>
                <a:cs typeface="Microsoft Sans Serif"/>
              </a:rPr>
              <a:t>in</a:t>
            </a:r>
            <a:r>
              <a:rPr sz="1300" spc="10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function</a:t>
            </a:r>
            <a:r>
              <a:rPr sz="1300" spc="105" dirty="0">
                <a:latin typeface="Microsoft Sans Serif"/>
                <a:cs typeface="Microsoft Sans Serif"/>
              </a:rPr>
              <a:t> </a:t>
            </a:r>
            <a:r>
              <a:rPr sz="1300" spc="-20" dirty="0">
                <a:latin typeface="Microsoft Sans Serif"/>
                <a:cs typeface="Microsoft Sans Serif"/>
              </a:rPr>
              <a:t>does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6078" y="4965197"/>
            <a:ext cx="6703059" cy="4533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300" b="1" spc="-20" dirty="0">
                <a:latin typeface="Arial"/>
                <a:cs typeface="Arial"/>
              </a:rPr>
              <a:t>hash</a:t>
            </a:r>
            <a:r>
              <a:rPr sz="1300" b="1" spc="-1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function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and</a:t>
            </a:r>
            <a:r>
              <a:rPr sz="1300" spc="60" dirty="0">
                <a:latin typeface="Microsoft Sans Serif"/>
                <a:cs typeface="Microsoft Sans Serif"/>
              </a:rPr>
              <a:t> </a:t>
            </a:r>
            <a:r>
              <a:rPr sz="1300" b="1" spc="-25" dirty="0">
                <a:latin typeface="Arial"/>
                <a:cs typeface="Arial"/>
              </a:rPr>
              <a:t>rolling </a:t>
            </a:r>
            <a:r>
              <a:rPr sz="1300" b="1" spc="-20" dirty="0">
                <a:latin typeface="Arial"/>
                <a:cs typeface="Arial"/>
              </a:rPr>
              <a:t>hash</a:t>
            </a:r>
            <a:r>
              <a:rPr sz="1300" b="1" spc="-1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technique</a:t>
            </a:r>
            <a:r>
              <a:rPr sz="1300" b="1" spc="10" dirty="0">
                <a:latin typeface="Arial"/>
                <a:cs typeface="Arial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rather</a:t>
            </a:r>
            <a:r>
              <a:rPr sz="1300" spc="7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than</a:t>
            </a:r>
            <a:r>
              <a:rPr sz="1300" spc="7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simply</a:t>
            </a:r>
            <a:r>
              <a:rPr sz="1300" spc="7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relying</a:t>
            </a:r>
            <a:r>
              <a:rPr sz="1300" spc="65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on</a:t>
            </a:r>
            <a:r>
              <a:rPr sz="1300" spc="7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Python's</a:t>
            </a:r>
            <a:r>
              <a:rPr sz="1300" spc="100" dirty="0">
                <a:latin typeface="Microsoft Sans Serif"/>
                <a:cs typeface="Microsoft Sans Serif"/>
              </a:rPr>
              <a:t> </a:t>
            </a:r>
            <a:r>
              <a:rPr sz="1300" spc="65" dirty="0">
                <a:latin typeface="Microsoft Sans Serif"/>
                <a:cs typeface="Microsoft Sans Serif"/>
              </a:rPr>
              <a:t>built-</a:t>
            </a:r>
            <a:r>
              <a:rPr sz="1300" spc="-25" dirty="0">
                <a:latin typeface="Microsoft Sans Serif"/>
                <a:cs typeface="Microsoft Sans Serif"/>
              </a:rPr>
              <a:t>in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5" dirty="0">
                <a:latin typeface="Microsoft Sans Serif"/>
                <a:cs typeface="Microsoft Sans Serif"/>
              </a:rPr>
              <a:t>not</a:t>
            </a:r>
            <a:r>
              <a:rPr sz="1300" spc="130" dirty="0">
                <a:latin typeface="Microsoft Sans Serif"/>
                <a:cs typeface="Microsoft Sans Serif"/>
              </a:rPr>
              <a:t> </a:t>
            </a:r>
            <a:r>
              <a:rPr sz="1300" spc="45" dirty="0">
                <a:latin typeface="Microsoft Sans Serif"/>
                <a:cs typeface="Microsoft Sans Serif"/>
              </a:rPr>
              <a:t>support</a:t>
            </a:r>
            <a:r>
              <a:rPr sz="1300" spc="10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efficient</a:t>
            </a:r>
            <a:r>
              <a:rPr sz="1300" spc="100" dirty="0">
                <a:latin typeface="Microsoft Sans Serif"/>
                <a:cs typeface="Microsoft Sans Serif"/>
              </a:rPr>
              <a:t> </a:t>
            </a:r>
            <a:r>
              <a:rPr sz="1300" dirty="0">
                <a:latin typeface="Microsoft Sans Serif"/>
                <a:cs typeface="Microsoft Sans Serif"/>
              </a:rPr>
              <a:t>incremental</a:t>
            </a:r>
            <a:r>
              <a:rPr sz="1300" spc="14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updates.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1416" y="621791"/>
            <a:ext cx="2186940" cy="251460"/>
          </a:xfrm>
          <a:custGeom>
            <a:avLst/>
            <a:gdLst/>
            <a:ahLst/>
            <a:cxnLst/>
            <a:rect l="l" t="t" r="r" b="b"/>
            <a:pathLst>
              <a:path w="2186940" h="251459">
                <a:moveTo>
                  <a:pt x="2131314" y="0"/>
                </a:moveTo>
                <a:lnTo>
                  <a:pt x="55575" y="0"/>
                </a:lnTo>
                <a:lnTo>
                  <a:pt x="33941" y="4369"/>
                </a:lnTo>
                <a:lnTo>
                  <a:pt x="16276" y="16287"/>
                </a:lnTo>
                <a:lnTo>
                  <a:pt x="4367" y="33968"/>
                </a:lnTo>
                <a:lnTo>
                  <a:pt x="0" y="55625"/>
                </a:lnTo>
                <a:lnTo>
                  <a:pt x="0" y="195834"/>
                </a:lnTo>
                <a:lnTo>
                  <a:pt x="4367" y="217491"/>
                </a:lnTo>
                <a:lnTo>
                  <a:pt x="16276" y="235172"/>
                </a:lnTo>
                <a:lnTo>
                  <a:pt x="33941" y="247090"/>
                </a:lnTo>
                <a:lnTo>
                  <a:pt x="55575" y="251460"/>
                </a:lnTo>
                <a:lnTo>
                  <a:pt x="2131314" y="251460"/>
                </a:lnTo>
                <a:lnTo>
                  <a:pt x="2152971" y="247090"/>
                </a:lnTo>
                <a:lnTo>
                  <a:pt x="2170652" y="235172"/>
                </a:lnTo>
                <a:lnTo>
                  <a:pt x="2182570" y="217491"/>
                </a:lnTo>
                <a:lnTo>
                  <a:pt x="2186940" y="195834"/>
                </a:lnTo>
                <a:lnTo>
                  <a:pt x="2186940" y="55625"/>
                </a:lnTo>
                <a:lnTo>
                  <a:pt x="2182570" y="33968"/>
                </a:lnTo>
                <a:lnTo>
                  <a:pt x="2170652" y="16287"/>
                </a:lnTo>
                <a:lnTo>
                  <a:pt x="2152971" y="4369"/>
                </a:lnTo>
                <a:lnTo>
                  <a:pt x="2131314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8080" y="643585"/>
            <a:ext cx="195198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 6:</a:t>
            </a:r>
            <a:r>
              <a:rPr sz="10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RABIN–</a:t>
            </a:r>
            <a:r>
              <a:rPr sz="1000" spc="-95" dirty="0">
                <a:solidFill>
                  <a:srgbClr val="272424"/>
                </a:solidFill>
                <a:latin typeface="Microsoft Sans Serif"/>
                <a:cs typeface="Microsoft Sans Serif"/>
              </a:rPr>
              <a:t>KARP</a:t>
            </a:r>
            <a:r>
              <a:rPr sz="10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716" y="822198"/>
            <a:ext cx="6607809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70" dirty="0"/>
              <a:t> </a:t>
            </a:r>
            <a:r>
              <a:rPr spc="-145" dirty="0"/>
              <a:t>Is</a:t>
            </a:r>
            <a:r>
              <a:rPr spc="-245" dirty="0"/>
              <a:t> </a:t>
            </a:r>
            <a:r>
              <a:rPr spc="50" dirty="0"/>
              <a:t>the</a:t>
            </a:r>
            <a:r>
              <a:rPr spc="-265" dirty="0"/>
              <a:t> </a:t>
            </a:r>
            <a:r>
              <a:rPr spc="-90" dirty="0"/>
              <a:t>Rabin–</a:t>
            </a:r>
            <a:r>
              <a:rPr spc="-114" dirty="0"/>
              <a:t>Karp</a:t>
            </a:r>
            <a:r>
              <a:rPr spc="-290" dirty="0"/>
              <a:t> </a:t>
            </a:r>
            <a:r>
              <a:rPr spc="-75" dirty="0"/>
              <a:t>Algorithm?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6823" y="1753005"/>
            <a:ext cx="10015220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Rabin–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Karp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70" dirty="0">
                <a:solidFill>
                  <a:srgbClr val="272424"/>
                </a:solidFill>
                <a:latin typeface="Arial"/>
                <a:cs typeface="Arial"/>
              </a:rPr>
              <a:t>pattern-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algorithm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that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uses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hashing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compare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45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with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substrings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text,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followed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by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verification when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values</a:t>
            </a:r>
            <a:r>
              <a:rPr sz="130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match.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16" y="1601724"/>
            <a:ext cx="20320" cy="802005"/>
          </a:xfrm>
          <a:custGeom>
            <a:avLst/>
            <a:gdLst/>
            <a:ahLst/>
            <a:cxnLst/>
            <a:rect l="l" t="t" r="r" b="b"/>
            <a:pathLst>
              <a:path w="20320" h="802005">
                <a:moveTo>
                  <a:pt x="15379" y="0"/>
                </a:moveTo>
                <a:lnTo>
                  <a:pt x="4432" y="0"/>
                </a:lnTo>
                <a:lnTo>
                  <a:pt x="0" y="4445"/>
                </a:lnTo>
                <a:lnTo>
                  <a:pt x="0" y="9905"/>
                </a:lnTo>
                <a:lnTo>
                  <a:pt x="0" y="797178"/>
                </a:lnTo>
                <a:lnTo>
                  <a:pt x="4432" y="801624"/>
                </a:lnTo>
                <a:lnTo>
                  <a:pt x="15379" y="801624"/>
                </a:lnTo>
                <a:lnTo>
                  <a:pt x="19812" y="797178"/>
                </a:lnTo>
                <a:lnTo>
                  <a:pt x="19812" y="4445"/>
                </a:lnTo>
                <a:lnTo>
                  <a:pt x="15379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58368" y="2586227"/>
            <a:ext cx="5358765" cy="1746885"/>
            <a:chOff x="658368" y="2586227"/>
            <a:chExt cx="5358765" cy="1746885"/>
          </a:xfrm>
        </p:grpSpPr>
        <p:sp>
          <p:nvSpPr>
            <p:cNvPr id="8" name="object 8"/>
            <p:cNvSpPr/>
            <p:nvPr/>
          </p:nvSpPr>
          <p:spPr>
            <a:xfrm>
              <a:off x="661416" y="2589275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5282819" y="0"/>
                  </a:moveTo>
                  <a:lnTo>
                    <a:pt x="69456" y="0"/>
                  </a:lnTo>
                  <a:lnTo>
                    <a:pt x="42423" y="5461"/>
                  </a:lnTo>
                  <a:lnTo>
                    <a:pt x="20345" y="20351"/>
                  </a:lnTo>
                  <a:lnTo>
                    <a:pt x="5459" y="42433"/>
                  </a:lnTo>
                  <a:lnTo>
                    <a:pt x="0" y="69469"/>
                  </a:lnTo>
                  <a:lnTo>
                    <a:pt x="0" y="1670939"/>
                  </a:lnTo>
                  <a:lnTo>
                    <a:pt x="5459" y="1697974"/>
                  </a:lnTo>
                  <a:lnTo>
                    <a:pt x="20345" y="1720056"/>
                  </a:lnTo>
                  <a:lnTo>
                    <a:pt x="42423" y="1734946"/>
                  </a:lnTo>
                  <a:lnTo>
                    <a:pt x="69456" y="1740408"/>
                  </a:lnTo>
                  <a:lnTo>
                    <a:pt x="5282819" y="1740408"/>
                  </a:lnTo>
                  <a:lnTo>
                    <a:pt x="5309854" y="1734946"/>
                  </a:lnTo>
                  <a:lnTo>
                    <a:pt x="5331936" y="1720056"/>
                  </a:lnTo>
                  <a:lnTo>
                    <a:pt x="5346827" y="1697974"/>
                  </a:lnTo>
                  <a:lnTo>
                    <a:pt x="5352288" y="1670939"/>
                  </a:lnTo>
                  <a:lnTo>
                    <a:pt x="5352288" y="69469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1416" y="2589275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0" y="69469"/>
                  </a:moveTo>
                  <a:lnTo>
                    <a:pt x="5459" y="42433"/>
                  </a:lnTo>
                  <a:lnTo>
                    <a:pt x="20345" y="20351"/>
                  </a:lnTo>
                  <a:lnTo>
                    <a:pt x="42423" y="5461"/>
                  </a:lnTo>
                  <a:lnTo>
                    <a:pt x="69456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8" y="69469"/>
                  </a:lnTo>
                  <a:lnTo>
                    <a:pt x="5352288" y="1670939"/>
                  </a:lnTo>
                  <a:lnTo>
                    <a:pt x="5346827" y="1697974"/>
                  </a:lnTo>
                  <a:lnTo>
                    <a:pt x="5331936" y="1720056"/>
                  </a:lnTo>
                  <a:lnTo>
                    <a:pt x="5309854" y="1734946"/>
                  </a:lnTo>
                  <a:lnTo>
                    <a:pt x="5282819" y="1740408"/>
                  </a:lnTo>
                  <a:lnTo>
                    <a:pt x="69456" y="1740408"/>
                  </a:lnTo>
                  <a:lnTo>
                    <a:pt x="42423" y="1734946"/>
                  </a:lnTo>
                  <a:lnTo>
                    <a:pt x="20345" y="1720056"/>
                  </a:lnTo>
                  <a:lnTo>
                    <a:pt x="5459" y="1697974"/>
                  </a:lnTo>
                  <a:lnTo>
                    <a:pt x="0" y="1670939"/>
                  </a:lnTo>
                  <a:lnTo>
                    <a:pt x="0" y="6946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3628" y="2761487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50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50" y="495300"/>
                  </a:lnTo>
                  <a:lnTo>
                    <a:pt x="297561" y="490268"/>
                  </a:lnTo>
                  <a:lnTo>
                    <a:pt x="344048" y="475839"/>
                  </a:lnTo>
                  <a:lnTo>
                    <a:pt x="386115" y="453006"/>
                  </a:lnTo>
                  <a:lnTo>
                    <a:pt x="422767" y="422767"/>
                  </a:lnTo>
                  <a:lnTo>
                    <a:pt x="453006" y="386115"/>
                  </a:lnTo>
                  <a:lnTo>
                    <a:pt x="475839" y="344048"/>
                  </a:lnTo>
                  <a:lnTo>
                    <a:pt x="490268" y="297561"/>
                  </a:lnTo>
                  <a:lnTo>
                    <a:pt x="495300" y="247650"/>
                  </a:lnTo>
                  <a:lnTo>
                    <a:pt x="490268" y="197738"/>
                  </a:lnTo>
                  <a:lnTo>
                    <a:pt x="475839" y="151251"/>
                  </a:lnTo>
                  <a:lnTo>
                    <a:pt x="453006" y="109184"/>
                  </a:lnTo>
                  <a:lnTo>
                    <a:pt x="422767" y="72532"/>
                  </a:lnTo>
                  <a:lnTo>
                    <a:pt x="386115" y="42293"/>
                  </a:lnTo>
                  <a:lnTo>
                    <a:pt x="344048" y="19460"/>
                  </a:lnTo>
                  <a:lnTo>
                    <a:pt x="297561" y="5031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263" y="2897123"/>
              <a:ext cx="224028" cy="22402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20623" y="3226477"/>
            <a:ext cx="4472940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35" dirty="0">
                <a:solidFill>
                  <a:srgbClr val="272424"/>
                </a:solidFill>
                <a:latin typeface="Arial"/>
                <a:cs typeface="Arial"/>
              </a:rPr>
              <a:t>Hashing-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numerical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before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detailed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filter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non-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300" spc="2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75247" y="2586227"/>
            <a:ext cx="5358765" cy="1746885"/>
            <a:chOff x="6175247" y="2586227"/>
            <a:chExt cx="5358765" cy="1746885"/>
          </a:xfrm>
        </p:grpSpPr>
        <p:sp>
          <p:nvSpPr>
            <p:cNvPr id="14" name="object 14"/>
            <p:cNvSpPr/>
            <p:nvPr/>
          </p:nvSpPr>
          <p:spPr>
            <a:xfrm>
              <a:off x="6178295" y="2589275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5282819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1670939"/>
                  </a:lnTo>
                  <a:lnTo>
                    <a:pt x="5461" y="1697974"/>
                  </a:lnTo>
                  <a:lnTo>
                    <a:pt x="20351" y="1720056"/>
                  </a:lnTo>
                  <a:lnTo>
                    <a:pt x="42433" y="1734946"/>
                  </a:lnTo>
                  <a:lnTo>
                    <a:pt x="69468" y="1740408"/>
                  </a:lnTo>
                  <a:lnTo>
                    <a:pt x="5282819" y="1740408"/>
                  </a:lnTo>
                  <a:lnTo>
                    <a:pt x="5309854" y="1734946"/>
                  </a:lnTo>
                  <a:lnTo>
                    <a:pt x="5331936" y="1720056"/>
                  </a:lnTo>
                  <a:lnTo>
                    <a:pt x="5346827" y="1697974"/>
                  </a:lnTo>
                  <a:lnTo>
                    <a:pt x="5352287" y="1670939"/>
                  </a:lnTo>
                  <a:lnTo>
                    <a:pt x="5352287" y="69469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78295" y="2589275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7" y="69469"/>
                  </a:lnTo>
                  <a:lnTo>
                    <a:pt x="5352287" y="1670939"/>
                  </a:lnTo>
                  <a:lnTo>
                    <a:pt x="5346827" y="1697974"/>
                  </a:lnTo>
                  <a:lnTo>
                    <a:pt x="5331936" y="1720056"/>
                  </a:lnTo>
                  <a:lnTo>
                    <a:pt x="5309854" y="1734946"/>
                  </a:lnTo>
                  <a:lnTo>
                    <a:pt x="5282819" y="1740408"/>
                  </a:lnTo>
                  <a:lnTo>
                    <a:pt x="69468" y="1740408"/>
                  </a:lnTo>
                  <a:lnTo>
                    <a:pt x="42433" y="1734946"/>
                  </a:lnTo>
                  <a:lnTo>
                    <a:pt x="20351" y="1720056"/>
                  </a:lnTo>
                  <a:lnTo>
                    <a:pt x="5461" y="1697974"/>
                  </a:lnTo>
                  <a:lnTo>
                    <a:pt x="0" y="1670939"/>
                  </a:lnTo>
                  <a:lnTo>
                    <a:pt x="0" y="69469"/>
                  </a:lnTo>
                  <a:close/>
                </a:path>
              </a:pathLst>
            </a:custGeom>
            <a:ln w="6095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50507" y="2761487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49" y="0"/>
                  </a:move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50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49" y="495300"/>
                  </a:lnTo>
                  <a:lnTo>
                    <a:pt x="297561" y="490268"/>
                  </a:lnTo>
                  <a:lnTo>
                    <a:pt x="344048" y="475839"/>
                  </a:lnTo>
                  <a:lnTo>
                    <a:pt x="386115" y="453006"/>
                  </a:lnTo>
                  <a:lnTo>
                    <a:pt x="422767" y="422767"/>
                  </a:lnTo>
                  <a:lnTo>
                    <a:pt x="453006" y="386115"/>
                  </a:lnTo>
                  <a:lnTo>
                    <a:pt x="475839" y="344048"/>
                  </a:lnTo>
                  <a:lnTo>
                    <a:pt x="490268" y="297561"/>
                  </a:lnTo>
                  <a:lnTo>
                    <a:pt x="495299" y="247650"/>
                  </a:lnTo>
                  <a:lnTo>
                    <a:pt x="490268" y="197738"/>
                  </a:lnTo>
                  <a:lnTo>
                    <a:pt x="475839" y="151251"/>
                  </a:lnTo>
                  <a:lnTo>
                    <a:pt x="453006" y="109184"/>
                  </a:lnTo>
                  <a:lnTo>
                    <a:pt x="422767" y="72532"/>
                  </a:lnTo>
                  <a:lnTo>
                    <a:pt x="386115" y="42293"/>
                  </a:lnTo>
                  <a:lnTo>
                    <a:pt x="344048" y="19460"/>
                  </a:lnTo>
                  <a:lnTo>
                    <a:pt x="297561" y="5031"/>
                  </a:lnTo>
                  <a:lnTo>
                    <a:pt x="247649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143" y="2897123"/>
              <a:ext cx="224027" cy="22402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338061" y="3226477"/>
            <a:ext cx="470471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85" dirty="0">
                <a:solidFill>
                  <a:srgbClr val="272424"/>
                </a:solidFill>
                <a:latin typeface="Arial"/>
                <a:cs typeface="Arial"/>
              </a:rPr>
              <a:t>Sliding</a:t>
            </a:r>
            <a:r>
              <a:rPr sz="16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Window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pattern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slides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through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time.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8368" y="4492752"/>
            <a:ext cx="5358765" cy="1746885"/>
            <a:chOff x="658368" y="4492752"/>
            <a:chExt cx="5358765" cy="1746885"/>
          </a:xfrm>
        </p:grpSpPr>
        <p:sp>
          <p:nvSpPr>
            <p:cNvPr id="20" name="object 20"/>
            <p:cNvSpPr/>
            <p:nvPr/>
          </p:nvSpPr>
          <p:spPr>
            <a:xfrm>
              <a:off x="661416" y="4495800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5282819" y="0"/>
                  </a:moveTo>
                  <a:lnTo>
                    <a:pt x="69456" y="0"/>
                  </a:lnTo>
                  <a:lnTo>
                    <a:pt x="42423" y="5461"/>
                  </a:lnTo>
                  <a:lnTo>
                    <a:pt x="20345" y="20351"/>
                  </a:lnTo>
                  <a:lnTo>
                    <a:pt x="5459" y="42433"/>
                  </a:lnTo>
                  <a:lnTo>
                    <a:pt x="0" y="69468"/>
                  </a:lnTo>
                  <a:lnTo>
                    <a:pt x="0" y="1670951"/>
                  </a:lnTo>
                  <a:lnTo>
                    <a:pt x="5459" y="1697984"/>
                  </a:lnTo>
                  <a:lnTo>
                    <a:pt x="20345" y="1720062"/>
                  </a:lnTo>
                  <a:lnTo>
                    <a:pt x="42423" y="1734948"/>
                  </a:lnTo>
                  <a:lnTo>
                    <a:pt x="69456" y="1740408"/>
                  </a:lnTo>
                  <a:lnTo>
                    <a:pt x="5282819" y="1740408"/>
                  </a:lnTo>
                  <a:lnTo>
                    <a:pt x="5309854" y="1734948"/>
                  </a:lnTo>
                  <a:lnTo>
                    <a:pt x="5331936" y="1720062"/>
                  </a:lnTo>
                  <a:lnTo>
                    <a:pt x="5346827" y="1697984"/>
                  </a:lnTo>
                  <a:lnTo>
                    <a:pt x="5352288" y="1670951"/>
                  </a:lnTo>
                  <a:lnTo>
                    <a:pt x="5352288" y="69468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1416" y="4495800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0" y="69468"/>
                  </a:moveTo>
                  <a:lnTo>
                    <a:pt x="5459" y="42433"/>
                  </a:lnTo>
                  <a:lnTo>
                    <a:pt x="20345" y="20351"/>
                  </a:lnTo>
                  <a:lnTo>
                    <a:pt x="42423" y="5461"/>
                  </a:lnTo>
                  <a:lnTo>
                    <a:pt x="69456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8" y="69468"/>
                  </a:lnTo>
                  <a:lnTo>
                    <a:pt x="5352288" y="1670951"/>
                  </a:lnTo>
                  <a:lnTo>
                    <a:pt x="5346827" y="1697984"/>
                  </a:lnTo>
                  <a:lnTo>
                    <a:pt x="5331936" y="1720062"/>
                  </a:lnTo>
                  <a:lnTo>
                    <a:pt x="5309854" y="1734948"/>
                  </a:lnTo>
                  <a:lnTo>
                    <a:pt x="5282819" y="1740408"/>
                  </a:lnTo>
                  <a:lnTo>
                    <a:pt x="69456" y="1740408"/>
                  </a:lnTo>
                  <a:lnTo>
                    <a:pt x="42423" y="1734948"/>
                  </a:lnTo>
                  <a:lnTo>
                    <a:pt x="20345" y="1720062"/>
                  </a:lnTo>
                  <a:lnTo>
                    <a:pt x="5459" y="1697984"/>
                  </a:lnTo>
                  <a:lnTo>
                    <a:pt x="0" y="1670951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3628" y="4666488"/>
              <a:ext cx="495300" cy="497205"/>
            </a:xfrm>
            <a:custGeom>
              <a:avLst/>
              <a:gdLst/>
              <a:ahLst/>
              <a:cxnLst/>
              <a:rect l="l" t="t" r="r" b="b"/>
              <a:pathLst>
                <a:path w="495300" h="497204">
                  <a:moveTo>
                    <a:pt x="247650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0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3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50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3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300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9263" y="4803648"/>
              <a:ext cx="224028" cy="22250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20623" y="5132434"/>
            <a:ext cx="4862830" cy="92392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Rolling</a:t>
            </a:r>
            <a:r>
              <a:rPr sz="16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Uses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rolling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techniques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update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efficiently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as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full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recalculation.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75247" y="4492752"/>
            <a:ext cx="5358765" cy="1746885"/>
            <a:chOff x="6175247" y="4492752"/>
            <a:chExt cx="5358765" cy="1746885"/>
          </a:xfrm>
        </p:grpSpPr>
        <p:sp>
          <p:nvSpPr>
            <p:cNvPr id="26" name="object 26"/>
            <p:cNvSpPr/>
            <p:nvPr/>
          </p:nvSpPr>
          <p:spPr>
            <a:xfrm>
              <a:off x="6178295" y="4495800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5282819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1670951"/>
                  </a:lnTo>
                  <a:lnTo>
                    <a:pt x="5461" y="1697984"/>
                  </a:lnTo>
                  <a:lnTo>
                    <a:pt x="20351" y="1720062"/>
                  </a:lnTo>
                  <a:lnTo>
                    <a:pt x="42433" y="1734948"/>
                  </a:lnTo>
                  <a:lnTo>
                    <a:pt x="69468" y="1740408"/>
                  </a:lnTo>
                  <a:lnTo>
                    <a:pt x="5282819" y="1740408"/>
                  </a:lnTo>
                  <a:lnTo>
                    <a:pt x="5309854" y="1734948"/>
                  </a:lnTo>
                  <a:lnTo>
                    <a:pt x="5331936" y="1720062"/>
                  </a:lnTo>
                  <a:lnTo>
                    <a:pt x="5346827" y="1697984"/>
                  </a:lnTo>
                  <a:lnTo>
                    <a:pt x="5352287" y="1670951"/>
                  </a:lnTo>
                  <a:lnTo>
                    <a:pt x="5352287" y="69468"/>
                  </a:lnTo>
                  <a:lnTo>
                    <a:pt x="5346827" y="42433"/>
                  </a:lnTo>
                  <a:lnTo>
                    <a:pt x="5331936" y="20351"/>
                  </a:lnTo>
                  <a:lnTo>
                    <a:pt x="5309854" y="5461"/>
                  </a:lnTo>
                  <a:lnTo>
                    <a:pt x="5282819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78295" y="4495800"/>
              <a:ext cx="5352415" cy="1740535"/>
            </a:xfrm>
            <a:custGeom>
              <a:avLst/>
              <a:gdLst/>
              <a:ahLst/>
              <a:cxnLst/>
              <a:rect l="l" t="t" r="r" b="b"/>
              <a:pathLst>
                <a:path w="5352415" h="1740535">
                  <a:moveTo>
                    <a:pt x="0" y="69468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5282819" y="0"/>
                  </a:lnTo>
                  <a:lnTo>
                    <a:pt x="5309854" y="5461"/>
                  </a:lnTo>
                  <a:lnTo>
                    <a:pt x="5331936" y="20351"/>
                  </a:lnTo>
                  <a:lnTo>
                    <a:pt x="5346827" y="42433"/>
                  </a:lnTo>
                  <a:lnTo>
                    <a:pt x="5352287" y="69468"/>
                  </a:lnTo>
                  <a:lnTo>
                    <a:pt x="5352287" y="1670951"/>
                  </a:lnTo>
                  <a:lnTo>
                    <a:pt x="5346827" y="1697984"/>
                  </a:lnTo>
                  <a:lnTo>
                    <a:pt x="5331936" y="1720062"/>
                  </a:lnTo>
                  <a:lnTo>
                    <a:pt x="5309854" y="1734948"/>
                  </a:lnTo>
                  <a:lnTo>
                    <a:pt x="5282819" y="1740408"/>
                  </a:lnTo>
                  <a:lnTo>
                    <a:pt x="69468" y="1740408"/>
                  </a:lnTo>
                  <a:lnTo>
                    <a:pt x="42433" y="1734948"/>
                  </a:lnTo>
                  <a:lnTo>
                    <a:pt x="20351" y="1720062"/>
                  </a:lnTo>
                  <a:lnTo>
                    <a:pt x="5461" y="1697984"/>
                  </a:lnTo>
                  <a:lnTo>
                    <a:pt x="0" y="1670951"/>
                  </a:lnTo>
                  <a:lnTo>
                    <a:pt x="0" y="69468"/>
                  </a:lnTo>
                  <a:close/>
                </a:path>
              </a:pathLst>
            </a:custGeom>
            <a:ln w="6095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50507" y="4666488"/>
              <a:ext cx="495300" cy="497205"/>
            </a:xfrm>
            <a:custGeom>
              <a:avLst/>
              <a:gdLst/>
              <a:ahLst/>
              <a:cxnLst/>
              <a:rect l="l" t="t" r="r" b="b"/>
              <a:pathLst>
                <a:path w="495300" h="497204">
                  <a:moveTo>
                    <a:pt x="247649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0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3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49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3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299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49" y="0"/>
                  </a:lnTo>
                  <a:close/>
                </a:path>
              </a:pathLst>
            </a:custGeom>
            <a:solidFill>
              <a:srgbClr val="DF7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6143" y="4803648"/>
              <a:ext cx="224027" cy="22250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338061" y="5132434"/>
            <a:ext cx="4923155" cy="92392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Verification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match,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verifies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actual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handle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collisions.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732790"/>
            <a:ext cx="552577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290" dirty="0"/>
              <a:t> </a:t>
            </a:r>
            <a:r>
              <a:rPr spc="-110" dirty="0"/>
              <a:t>Do</a:t>
            </a:r>
            <a:r>
              <a:rPr spc="-290" dirty="0"/>
              <a:t> </a:t>
            </a:r>
            <a:r>
              <a:rPr spc="95" dirty="0"/>
              <a:t>We</a:t>
            </a:r>
            <a:r>
              <a:rPr spc="-280" dirty="0"/>
              <a:t> </a:t>
            </a:r>
            <a:r>
              <a:rPr spc="-135" dirty="0"/>
              <a:t>Use</a:t>
            </a:r>
            <a:r>
              <a:rPr spc="-270" dirty="0"/>
              <a:t> </a:t>
            </a:r>
            <a:r>
              <a:rPr spc="-90" dirty="0"/>
              <a:t>Rabin–</a:t>
            </a:r>
            <a:r>
              <a:rPr spc="-95" dirty="0"/>
              <a:t>Karp?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61416" y="1594103"/>
            <a:ext cx="5352415" cy="1816735"/>
            <a:chOff x="661416" y="1594103"/>
            <a:chExt cx="5352415" cy="1816735"/>
          </a:xfrm>
        </p:grpSpPr>
        <p:pic>
          <p:nvPicPr>
            <p:cNvPr id="4" name="object 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6" y="1594103"/>
              <a:ext cx="5352288" cy="1816608"/>
            </a:xfrm>
            <a:prstGeom prst="rect">
              <a:avLst/>
            </a:prstGeom>
          </p:spPr>
        </p:pic>
        <p:pic>
          <p:nvPicPr>
            <p:cNvPr id="5" name="object 5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2592" y="1734311"/>
              <a:ext cx="248411" cy="24841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3119" y="2078904"/>
            <a:ext cx="4895850" cy="113665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Quick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Comparison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100"/>
              </a:lnSpc>
              <a:spcBef>
                <a:spcPts val="72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quickly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many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that do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match,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avoiding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expensive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character-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by-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work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clearly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2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8296" y="1594103"/>
            <a:ext cx="5352415" cy="1816735"/>
            <a:chOff x="6178296" y="1594103"/>
            <a:chExt cx="5352415" cy="1816735"/>
          </a:xfrm>
        </p:grpSpPr>
        <p:pic>
          <p:nvPicPr>
            <p:cNvPr id="8" name="object 8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8296" y="1594103"/>
              <a:ext cx="5352288" cy="1816608"/>
            </a:xfrm>
            <a:prstGeom prst="rect">
              <a:avLst/>
            </a:prstGeom>
          </p:spPr>
        </p:pic>
        <p:pic>
          <p:nvPicPr>
            <p:cNvPr id="9" name="object 9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0996" y="1734311"/>
              <a:ext cx="246888" cy="24841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350889" y="2078904"/>
            <a:ext cx="4699635" cy="113665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0" dirty="0">
                <a:solidFill>
                  <a:srgbClr val="272424"/>
                </a:solidFill>
                <a:latin typeface="Arial"/>
                <a:cs typeface="Arial"/>
              </a:rPr>
              <a:t>Reduced</a:t>
            </a:r>
            <a:r>
              <a:rPr sz="16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Unnecessary</a:t>
            </a:r>
            <a:r>
              <a:rPr sz="16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Comparisons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100"/>
              </a:lnSpc>
              <a:spcBef>
                <a:spcPts val="72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Detailed</a:t>
            </a:r>
            <a:r>
              <a:rPr sz="1300" spc="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mainly</a:t>
            </a:r>
            <a:r>
              <a:rPr sz="1300" spc="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performed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relatively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rare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event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good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functions.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1416" y="3575303"/>
            <a:ext cx="5352415" cy="1816735"/>
            <a:chOff x="661416" y="3575303"/>
            <a:chExt cx="5352415" cy="1816735"/>
          </a:xfrm>
        </p:grpSpPr>
        <p:pic>
          <p:nvPicPr>
            <p:cNvPr id="12" name="object 12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6" y="3575303"/>
              <a:ext cx="5352288" cy="1816608"/>
            </a:xfrm>
            <a:prstGeom prst="rect">
              <a:avLst/>
            </a:prstGeom>
          </p:spPr>
        </p:pic>
        <p:pic>
          <p:nvPicPr>
            <p:cNvPr id="13" name="object 13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2592" y="3715511"/>
              <a:ext cx="248411" cy="24841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33119" y="4060642"/>
            <a:ext cx="4900930" cy="113665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45"/>
              </a:spcBef>
            </a:pP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Rolling</a:t>
            </a:r>
            <a:r>
              <a:rPr sz="16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08100"/>
              </a:lnSpc>
              <a:spcBef>
                <a:spcPts val="725"/>
              </a:spcBef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updated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incrementally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moves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15" dirty="0">
                <a:solidFill>
                  <a:srgbClr val="272424"/>
                </a:solidFill>
                <a:latin typeface="Microsoft Sans Serif"/>
                <a:cs typeface="Microsoft Sans Serif"/>
              </a:rPr>
              <a:t>—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removing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old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adding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new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instead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of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recalculating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everything.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78296" y="3575303"/>
            <a:ext cx="5352415" cy="1816735"/>
            <a:chOff x="6178296" y="3575303"/>
            <a:chExt cx="5352415" cy="1816735"/>
          </a:xfrm>
        </p:grpSpPr>
        <p:pic>
          <p:nvPicPr>
            <p:cNvPr id="16" name="object 1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8296" y="3575303"/>
              <a:ext cx="5352288" cy="1816608"/>
            </a:xfrm>
            <a:prstGeom prst="rect">
              <a:avLst/>
            </a:prstGeom>
          </p:spPr>
        </p:pic>
        <p:pic>
          <p:nvPicPr>
            <p:cNvPr id="17" name="object 17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30996" y="3715511"/>
              <a:ext cx="246888" cy="24841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350889" y="4060642"/>
            <a:ext cx="4800600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30" dirty="0">
                <a:solidFill>
                  <a:srgbClr val="272424"/>
                </a:solidFill>
                <a:latin typeface="Arial"/>
                <a:cs typeface="Arial"/>
              </a:rPr>
              <a:t>Multiple</a:t>
            </a:r>
            <a:r>
              <a:rPr sz="16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Occurrences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15"/>
              </a:spcBef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naturally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continues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scanning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identify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occurrence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8716" y="5544445"/>
            <a:ext cx="10352405" cy="455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Rabin–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Karp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introduced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75" dirty="0">
                <a:solidFill>
                  <a:srgbClr val="272424"/>
                </a:solidFill>
                <a:latin typeface="Arial"/>
                <a:cs typeface="Arial"/>
              </a:rPr>
              <a:t>brute-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force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may perform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many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unnecessary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comparisons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provides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preliminary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test.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5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Rabin–</a:t>
            </a:r>
            <a:r>
              <a:rPr spc="-114" dirty="0"/>
              <a:t>Karp</a:t>
            </a:r>
            <a:r>
              <a:rPr spc="-305" dirty="0"/>
              <a:t> </a:t>
            </a:r>
            <a:r>
              <a:rPr spc="-100" dirty="0"/>
              <a:t>Example</a:t>
            </a:r>
            <a:r>
              <a:rPr spc="-295" dirty="0"/>
              <a:t> </a:t>
            </a:r>
            <a:r>
              <a:rPr spc="-555" dirty="0"/>
              <a:t>1:</a:t>
            </a:r>
            <a:r>
              <a:rPr spc="-275" dirty="0"/>
              <a:t> </a:t>
            </a:r>
            <a:r>
              <a:rPr spc="-114" dirty="0"/>
              <a:t>Searching</a:t>
            </a:r>
            <a:r>
              <a:rPr spc="-310" dirty="0"/>
              <a:t> </a:t>
            </a:r>
            <a:r>
              <a:rPr spc="-295" dirty="0"/>
              <a:t>"DATA"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79063" y="1723466"/>
            <a:ext cx="11449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Pattern: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716" y="1723466"/>
            <a:ext cx="2913380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COMPUTER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STRUCTURES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1416" y="2362200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19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66484" y="2104136"/>
            <a:ext cx="199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78296" y="2362200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19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1416" y="3514344"/>
            <a:ext cx="5352415" cy="18415"/>
          </a:xfrm>
          <a:custGeom>
            <a:avLst/>
            <a:gdLst/>
            <a:ahLst/>
            <a:cxnLst/>
            <a:rect l="l" t="t" r="r" b="b"/>
            <a:pathLst>
              <a:path w="5352415" h="18414">
                <a:moveTo>
                  <a:pt x="5352288" y="0"/>
                </a:moveTo>
                <a:lnTo>
                  <a:pt x="0" y="0"/>
                </a:lnTo>
                <a:lnTo>
                  <a:pt x="0" y="18287"/>
                </a:lnTo>
                <a:lnTo>
                  <a:pt x="5352288" y="18287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716" y="2287341"/>
            <a:ext cx="4278630" cy="186055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Compute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Calculate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once.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03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Compare</a:t>
            </a:r>
            <a:r>
              <a:rPr sz="16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Hashes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"COMP"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"DATA"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forward.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6484" y="3256026"/>
            <a:ext cx="199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78296" y="3514344"/>
            <a:ext cx="5352415" cy="18415"/>
          </a:xfrm>
          <a:custGeom>
            <a:avLst/>
            <a:gdLst/>
            <a:ahLst/>
            <a:cxnLst/>
            <a:rect l="l" t="t" r="r" b="b"/>
            <a:pathLst>
              <a:path w="5352415" h="18414">
                <a:moveTo>
                  <a:pt x="5352288" y="0"/>
                </a:moveTo>
                <a:lnTo>
                  <a:pt x="0" y="0"/>
                </a:lnTo>
                <a:lnTo>
                  <a:pt x="0" y="18287"/>
                </a:lnTo>
                <a:lnTo>
                  <a:pt x="5352288" y="18287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1416" y="4879847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20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8716" y="4526340"/>
            <a:ext cx="3329940" cy="98806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05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600" b="1" spc="-40" dirty="0">
                <a:solidFill>
                  <a:srgbClr val="272424"/>
                </a:solidFill>
                <a:latin typeface="Arial"/>
                <a:cs typeface="Arial"/>
              </a:rPr>
              <a:t>Continue</a:t>
            </a:r>
            <a:r>
              <a:rPr sz="16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Sliding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</a:t>
            </a:r>
            <a:r>
              <a:rPr sz="1300" spc="1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until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becomes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"DATA".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6484" y="4623053"/>
            <a:ext cx="199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Arial MT"/>
                <a:cs typeface="Arial MT"/>
              </a:rPr>
              <a:t>06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78296" y="4879847"/>
            <a:ext cx="5352415" cy="20320"/>
          </a:xfrm>
          <a:custGeom>
            <a:avLst/>
            <a:gdLst/>
            <a:ahLst/>
            <a:cxnLst/>
            <a:rect l="l" t="t" r="r" b="b"/>
            <a:pathLst>
              <a:path w="5352415" h="20320">
                <a:moveTo>
                  <a:pt x="5352288" y="0"/>
                </a:moveTo>
                <a:lnTo>
                  <a:pt x="0" y="0"/>
                </a:lnTo>
                <a:lnTo>
                  <a:pt x="0" y="19812"/>
                </a:lnTo>
                <a:lnTo>
                  <a:pt x="5352288" y="19812"/>
                </a:lnTo>
                <a:lnTo>
                  <a:pt x="535228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66484" y="2287341"/>
            <a:ext cx="5337810" cy="344233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55" dirty="0">
                <a:solidFill>
                  <a:srgbClr val="272424"/>
                </a:solidFill>
                <a:latin typeface="Arial"/>
                <a:cs typeface="Arial"/>
              </a:rPr>
              <a:t>First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5" dirty="0">
                <a:solidFill>
                  <a:srgbClr val="272424"/>
                </a:solidFill>
                <a:latin typeface="Arial"/>
                <a:cs typeface="Arial"/>
              </a:rPr>
              <a:t>Window</a:t>
            </a:r>
            <a:r>
              <a:rPr sz="16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Take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4: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80" dirty="0">
                <a:solidFill>
                  <a:srgbClr val="272424"/>
                </a:solidFill>
                <a:latin typeface="Microsoft Sans Serif"/>
                <a:cs typeface="Microsoft Sans Serif"/>
              </a:rPr>
              <a:t>"COMP".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Calculate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its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hash.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Update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600" b="1" spc="-1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(Rolling)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Remove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0" dirty="0">
                <a:solidFill>
                  <a:srgbClr val="272424"/>
                </a:solidFill>
                <a:latin typeface="Microsoft Sans Serif"/>
                <a:cs typeface="Microsoft Sans Serif"/>
              </a:rPr>
              <a:t>"C",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shift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remaining,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add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new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incremental update.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r>
              <a:rPr sz="16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Found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-65" dirty="0">
                <a:solidFill>
                  <a:srgbClr val="272424"/>
                </a:solidFill>
                <a:latin typeface="Microsoft Sans Serif"/>
                <a:cs typeface="Microsoft Sans Serif"/>
              </a:rPr>
              <a:t>"DATA"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Verify: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D=D</a:t>
            </a:r>
            <a:r>
              <a:rPr sz="1300" spc="-45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A=A</a:t>
            </a:r>
            <a:r>
              <a:rPr sz="1300" spc="-25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3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75" dirty="0">
                <a:solidFill>
                  <a:srgbClr val="272424"/>
                </a:solidFill>
                <a:latin typeface="Microsoft Sans Serif"/>
                <a:cs typeface="Microsoft Sans Serif"/>
              </a:rPr>
              <a:t>T=T</a:t>
            </a:r>
            <a:r>
              <a:rPr sz="1300" spc="-75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45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A=A</a:t>
            </a:r>
            <a:r>
              <a:rPr sz="1300" spc="-25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300" spc="-4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Found!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253490"/>
            <a:ext cx="793623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Rabin–</a:t>
            </a:r>
            <a:r>
              <a:rPr spc="-114" dirty="0"/>
              <a:t>Karp</a:t>
            </a:r>
            <a:r>
              <a:rPr spc="-325" dirty="0"/>
              <a:t> </a:t>
            </a:r>
            <a:r>
              <a:rPr spc="-100" dirty="0"/>
              <a:t>Example</a:t>
            </a:r>
            <a:r>
              <a:rPr spc="-310" dirty="0"/>
              <a:t> </a:t>
            </a:r>
            <a:r>
              <a:rPr spc="-190" dirty="0"/>
              <a:t>2:</a:t>
            </a:r>
            <a:r>
              <a:rPr spc="-280" dirty="0"/>
              <a:t> </a:t>
            </a:r>
            <a:r>
              <a:rPr spc="-295" dirty="0"/>
              <a:t>"ANA"</a:t>
            </a:r>
            <a:r>
              <a:rPr spc="-310" dirty="0"/>
              <a:t> </a:t>
            </a:r>
            <a:r>
              <a:rPr spc="-95" dirty="0"/>
              <a:t>in</a:t>
            </a:r>
            <a:r>
              <a:rPr spc="-290" dirty="0"/>
              <a:t> </a:t>
            </a:r>
            <a:r>
              <a:rPr spc="-285" dirty="0"/>
              <a:t>"BANANA"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2098293"/>
            <a:ext cx="11506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BANANA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6938" y="2098293"/>
            <a:ext cx="19913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Pattern: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ANA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(length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3)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55129" y="2509773"/>
          <a:ext cx="10868023" cy="2155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3605"/>
                <a:gridCol w="2173605"/>
                <a:gridCol w="2173605"/>
                <a:gridCol w="2173604"/>
                <a:gridCol w="2173604"/>
              </a:tblGrid>
              <a:tr h="429259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Window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3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300" b="1" spc="-5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Window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5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Hash</a:t>
                      </a:r>
                      <a:r>
                        <a:rPr sz="1300" b="1" spc="-6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Match?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Verification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10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BAN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9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Required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300" spc="-3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300" b="1" spc="-2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N=N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300" b="1" spc="-4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300" b="1" spc="-2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Index</a:t>
                      </a:r>
                      <a:r>
                        <a:rPr sz="1300" b="1" spc="-5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3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300" b="1" spc="-1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9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NAN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9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Required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29259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2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N=N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300" b="1" spc="-3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300" b="1" spc="-1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Index</a:t>
                      </a:r>
                      <a:r>
                        <a:rPr sz="1300" b="1" spc="-4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300" b="1" spc="-1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9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48716" y="4854955"/>
            <a:ext cx="7602855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45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ANA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occurs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twice:</a:t>
            </a:r>
            <a:r>
              <a:rPr sz="13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at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index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4" dirty="0">
                <a:solidFill>
                  <a:srgbClr val="272424"/>
                </a:solidFill>
                <a:latin typeface="Arial"/>
                <a:cs typeface="Arial"/>
              </a:rPr>
              <a:t>1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index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3.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found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at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positions:</a:t>
            </a:r>
            <a:r>
              <a:rPr sz="1300" b="1" spc="-100" dirty="0">
                <a:solidFill>
                  <a:srgbClr val="272424"/>
                </a:solidFill>
                <a:latin typeface="Arial"/>
                <a:cs typeface="Arial"/>
              </a:rPr>
              <a:t> [1,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3].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Rabin–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Karp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continues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scanning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occurrences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403301"/>
            <a:ext cx="97605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80" dirty="0"/>
              <a:t>Rabin–</a:t>
            </a:r>
            <a:r>
              <a:rPr sz="3000" spc="-110" dirty="0"/>
              <a:t>Karp</a:t>
            </a:r>
            <a:r>
              <a:rPr sz="3000" spc="-195" dirty="0"/>
              <a:t> </a:t>
            </a:r>
            <a:r>
              <a:rPr sz="3000" spc="-95" dirty="0"/>
              <a:t>Example</a:t>
            </a:r>
            <a:r>
              <a:rPr sz="3000" spc="-229" dirty="0"/>
              <a:t> </a:t>
            </a:r>
            <a:r>
              <a:rPr sz="3000" spc="-135" dirty="0"/>
              <a:t>3:</a:t>
            </a:r>
            <a:r>
              <a:rPr sz="3000" spc="-240" dirty="0"/>
              <a:t> </a:t>
            </a:r>
            <a:r>
              <a:rPr sz="3000" spc="-110" dirty="0"/>
              <a:t>Searching</a:t>
            </a:r>
            <a:r>
              <a:rPr sz="3000" spc="-215" dirty="0"/>
              <a:t> </a:t>
            </a:r>
            <a:r>
              <a:rPr sz="3000" dirty="0"/>
              <a:t>a</a:t>
            </a:r>
            <a:r>
              <a:rPr sz="3000" spc="-229" dirty="0"/>
              <a:t> </a:t>
            </a:r>
            <a:r>
              <a:rPr sz="3000" spc="-20" dirty="0"/>
              <a:t>Word</a:t>
            </a:r>
            <a:r>
              <a:rPr sz="3000" spc="-225" dirty="0"/>
              <a:t> </a:t>
            </a:r>
            <a:r>
              <a:rPr sz="3000" spc="-100" dirty="0"/>
              <a:t>in</a:t>
            </a:r>
            <a:r>
              <a:rPr sz="3000" spc="-225" dirty="0"/>
              <a:t> </a:t>
            </a:r>
            <a:r>
              <a:rPr sz="3000" dirty="0"/>
              <a:t>a</a:t>
            </a:r>
            <a:r>
              <a:rPr sz="3000" spc="-235" dirty="0"/>
              <a:t> </a:t>
            </a:r>
            <a:r>
              <a:rPr sz="3000" spc="-10" dirty="0"/>
              <a:t>Document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48716" y="1168146"/>
            <a:ext cx="5956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88815" algn="l"/>
              </a:tabLst>
            </a:pP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2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272424"/>
                </a:solidFill>
                <a:latin typeface="Arial"/>
                <a:cs typeface="Arial"/>
              </a:rPr>
              <a:t>ALGORITHMS</a:t>
            </a:r>
            <a:r>
              <a:rPr sz="12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95" dirty="0">
                <a:solidFill>
                  <a:srgbClr val="272424"/>
                </a:solidFill>
                <a:latin typeface="Arial"/>
                <a:cs typeface="Arial"/>
              </a:rPr>
              <a:t>ARE</a:t>
            </a:r>
            <a:r>
              <a:rPr sz="12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272424"/>
                </a:solidFill>
                <a:latin typeface="Arial"/>
                <a:cs typeface="Arial"/>
              </a:rPr>
              <a:t>IMPORTANT </a:t>
            </a:r>
            <a:r>
              <a:rPr sz="1200" b="1" spc="-10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2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272424"/>
                </a:solidFill>
                <a:latin typeface="Arial"/>
                <a:cs typeface="Arial"/>
              </a:rPr>
              <a:t>COMPUTER</a:t>
            </a:r>
            <a:r>
              <a:rPr sz="12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72424"/>
                </a:solidFill>
                <a:latin typeface="Arial"/>
                <a:cs typeface="Arial"/>
              </a:rPr>
              <a:t>SCIENCE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	Pattern:</a:t>
            </a:r>
            <a:r>
              <a:rPr sz="12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272424"/>
                </a:solidFill>
                <a:latin typeface="Arial"/>
                <a:cs typeface="Arial"/>
              </a:rPr>
              <a:t>COMPUTER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7" y="2029967"/>
            <a:ext cx="231647" cy="2331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8716" y="1628902"/>
            <a:ext cx="5085080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latin typeface="Arial"/>
                <a:cs typeface="Arial"/>
              </a:rPr>
              <a:t>How</a:t>
            </a:r>
            <a:r>
              <a:rPr sz="1500" b="1" spc="-10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the</a:t>
            </a:r>
            <a:r>
              <a:rPr sz="1500" b="1" spc="-85" dirty="0">
                <a:latin typeface="Arial"/>
                <a:cs typeface="Arial"/>
              </a:rPr>
              <a:t> </a:t>
            </a:r>
            <a:r>
              <a:rPr sz="1500" b="1" spc="-45" dirty="0">
                <a:latin typeface="Arial"/>
                <a:cs typeface="Arial"/>
              </a:rPr>
              <a:t>Algorithm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Proceeds</a:t>
            </a:r>
            <a:endParaRPr sz="1500">
              <a:latin typeface="Arial"/>
              <a:cs typeface="Arial"/>
            </a:endParaRPr>
          </a:p>
          <a:p>
            <a:pPr marL="514984">
              <a:lnSpc>
                <a:spcPct val="100000"/>
              </a:lnSpc>
              <a:spcBef>
                <a:spcPts val="1325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8</a:t>
            </a:r>
            <a:r>
              <a:rPr sz="12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(=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len("COMPUTER"))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slides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through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7" y="2767583"/>
            <a:ext cx="231647" cy="2331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51331" y="2764028"/>
            <a:ext cx="3625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"ALGORITH"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65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2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65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 Reject</a:t>
            </a:r>
            <a:r>
              <a:rPr sz="12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quickly.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7" y="3505200"/>
            <a:ext cx="231647" cy="2331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51331" y="3501897"/>
            <a:ext cx="3651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"LGORITHM"</a:t>
            </a:r>
            <a:r>
              <a:rPr sz="12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65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Hash</a:t>
            </a:r>
            <a:r>
              <a:rPr sz="12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≠</a:t>
            </a:r>
            <a:r>
              <a:rPr sz="12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65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quickly.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10" name="object 10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7" y="4242815"/>
            <a:ext cx="231647" cy="23317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51331" y="4239895"/>
            <a:ext cx="4454525" cy="4006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25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Most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rejected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via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2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340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no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full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work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needed.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12" name="object 1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7" y="4981955"/>
            <a:ext cx="231647" cy="23164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51331" y="4977765"/>
            <a:ext cx="3928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solidFill>
                  <a:srgbClr val="272424"/>
                </a:solidFill>
                <a:latin typeface="Microsoft Sans Serif"/>
                <a:cs typeface="Microsoft Sans Serif"/>
              </a:rPr>
              <a:t>"COMPUTER"</a:t>
            </a:r>
            <a:r>
              <a:rPr sz="12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65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 =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2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65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Verify</a:t>
            </a:r>
            <a:r>
              <a:rPr sz="12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14" name="object 1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7" y="5719571"/>
            <a:ext cx="231647" cy="23164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51331" y="5715406"/>
            <a:ext cx="4748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C=C</a:t>
            </a:r>
            <a:r>
              <a:rPr sz="1200" spc="-2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200" spc="-1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O=O</a:t>
            </a:r>
            <a:r>
              <a:rPr sz="1200" spc="-25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200" spc="-1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M=M</a:t>
            </a:r>
            <a:r>
              <a:rPr sz="1200" spc="-1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200" spc="2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200" spc="-85" dirty="0">
                <a:solidFill>
                  <a:srgbClr val="272424"/>
                </a:solidFill>
                <a:latin typeface="Microsoft Sans Serif"/>
                <a:cs typeface="Microsoft Sans Serif"/>
              </a:rPr>
              <a:t>P=P</a:t>
            </a:r>
            <a:r>
              <a:rPr sz="1200" spc="-85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200" spc="5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2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U=U</a:t>
            </a:r>
            <a:r>
              <a:rPr sz="1200" spc="-7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200" spc="-2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272424"/>
                </a:solidFill>
                <a:latin typeface="Microsoft Sans Serif"/>
                <a:cs typeface="Microsoft Sans Serif"/>
              </a:rPr>
              <a:t>T=T</a:t>
            </a:r>
            <a:r>
              <a:rPr sz="1200" spc="-6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20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2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E=E</a:t>
            </a:r>
            <a:r>
              <a:rPr sz="1200" spc="-9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200" spc="-15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200" spc="-110" dirty="0">
                <a:solidFill>
                  <a:srgbClr val="272424"/>
                </a:solidFill>
                <a:latin typeface="Microsoft Sans Serif"/>
                <a:cs typeface="Microsoft Sans Serif"/>
              </a:rPr>
              <a:t>R=R</a:t>
            </a:r>
            <a:r>
              <a:rPr sz="1200" spc="-110" dirty="0">
                <a:solidFill>
                  <a:srgbClr val="272424"/>
                </a:solidFill>
                <a:latin typeface="Segoe UI Symbol"/>
                <a:cs typeface="Segoe UI Symbol"/>
              </a:rPr>
              <a:t>✓</a:t>
            </a:r>
            <a:r>
              <a:rPr sz="120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200" spc="-265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2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2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72424"/>
                </a:solidFill>
                <a:latin typeface="Arial"/>
                <a:cs typeface="Arial"/>
              </a:rPr>
              <a:t>Found!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79820" y="1545336"/>
            <a:ext cx="5468620" cy="4800600"/>
          </a:xfrm>
          <a:custGeom>
            <a:avLst/>
            <a:gdLst/>
            <a:ahLst/>
            <a:cxnLst/>
            <a:rect l="l" t="t" r="r" b="b"/>
            <a:pathLst>
              <a:path w="5468620" h="4800600">
                <a:moveTo>
                  <a:pt x="5356733" y="0"/>
                </a:moveTo>
                <a:lnTo>
                  <a:pt x="111378" y="0"/>
                </a:lnTo>
                <a:lnTo>
                  <a:pt x="68044" y="8759"/>
                </a:lnTo>
                <a:lnTo>
                  <a:pt x="32638" y="32639"/>
                </a:lnTo>
                <a:lnTo>
                  <a:pt x="8759" y="68044"/>
                </a:lnTo>
                <a:lnTo>
                  <a:pt x="0" y="111378"/>
                </a:lnTo>
                <a:lnTo>
                  <a:pt x="0" y="4689233"/>
                </a:lnTo>
                <a:lnTo>
                  <a:pt x="8759" y="4732582"/>
                </a:lnTo>
                <a:lnTo>
                  <a:pt x="32638" y="4767981"/>
                </a:lnTo>
                <a:lnTo>
                  <a:pt x="68044" y="4791848"/>
                </a:lnTo>
                <a:lnTo>
                  <a:pt x="111378" y="4800600"/>
                </a:lnTo>
                <a:lnTo>
                  <a:pt x="5356733" y="4800600"/>
                </a:lnTo>
                <a:lnTo>
                  <a:pt x="5400067" y="4791848"/>
                </a:lnTo>
                <a:lnTo>
                  <a:pt x="5435473" y="4767981"/>
                </a:lnTo>
                <a:lnTo>
                  <a:pt x="5459352" y="4732582"/>
                </a:lnTo>
                <a:lnTo>
                  <a:pt x="5468111" y="4689233"/>
                </a:lnTo>
                <a:lnTo>
                  <a:pt x="5468111" y="111378"/>
                </a:lnTo>
                <a:lnTo>
                  <a:pt x="5459352" y="68044"/>
                </a:lnTo>
                <a:lnTo>
                  <a:pt x="5435472" y="32638"/>
                </a:lnTo>
                <a:lnTo>
                  <a:pt x="5400067" y="8759"/>
                </a:lnTo>
                <a:lnTo>
                  <a:pt x="5356733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22314" y="1628902"/>
            <a:ext cx="5163185" cy="116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0" dirty="0">
                <a:solidFill>
                  <a:srgbClr val="F9F6EF"/>
                </a:solidFill>
                <a:latin typeface="Arial"/>
                <a:cs typeface="Arial"/>
              </a:rPr>
              <a:t>Connection</a:t>
            </a:r>
            <a:r>
              <a:rPr sz="1500" b="1" spc="-11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9F6EF"/>
                </a:solidFill>
                <a:latin typeface="Arial"/>
                <a:cs typeface="Arial"/>
              </a:rPr>
              <a:t>to</a:t>
            </a:r>
            <a:r>
              <a:rPr sz="1500" b="1" spc="-8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500" b="1" spc="-75" dirty="0">
                <a:solidFill>
                  <a:srgbClr val="F9F6EF"/>
                </a:solidFill>
                <a:latin typeface="Arial"/>
                <a:cs typeface="Arial"/>
              </a:rPr>
              <a:t>Real</a:t>
            </a:r>
            <a:r>
              <a:rPr sz="1500" b="1" spc="-11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F9F6EF"/>
                </a:solidFill>
                <a:latin typeface="Arial"/>
                <a:cs typeface="Arial"/>
              </a:rPr>
              <a:t>World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05000"/>
              </a:lnSpc>
              <a:spcBef>
                <a:spcPts val="1110"/>
              </a:spcBef>
            </a:pPr>
            <a:r>
              <a:rPr sz="12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This</a:t>
            </a:r>
            <a:r>
              <a:rPr sz="1200" spc="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is</a:t>
            </a:r>
            <a:r>
              <a:rPr sz="1200" spc="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exactly</a:t>
            </a:r>
            <a:r>
              <a:rPr sz="1200" spc="4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how</a:t>
            </a:r>
            <a:r>
              <a:rPr sz="1200" spc="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searching</a:t>
            </a:r>
            <a:r>
              <a:rPr sz="12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for</a:t>
            </a:r>
            <a:r>
              <a:rPr sz="12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a</a:t>
            </a:r>
            <a:r>
              <a:rPr sz="1200" spc="4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word</a:t>
            </a:r>
            <a:r>
              <a:rPr sz="1200" spc="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inside</a:t>
            </a:r>
            <a:r>
              <a:rPr sz="1200" spc="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a</a:t>
            </a:r>
            <a:r>
              <a:rPr sz="1200" spc="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large</a:t>
            </a:r>
            <a:r>
              <a:rPr sz="1200" spc="6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text</a:t>
            </a:r>
            <a:r>
              <a:rPr sz="1200" spc="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document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works.</a:t>
            </a:r>
            <a:r>
              <a:rPr sz="1200" spc="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When</a:t>
            </a:r>
            <a:r>
              <a:rPr sz="1200" spc="1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you</a:t>
            </a:r>
            <a:r>
              <a:rPr sz="1200" spc="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press</a:t>
            </a:r>
            <a:r>
              <a:rPr sz="1200" spc="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Ctrl+F</a:t>
            </a:r>
            <a:r>
              <a:rPr sz="1200" spc="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and</a:t>
            </a:r>
            <a:r>
              <a:rPr sz="1200" spc="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65" dirty="0">
                <a:solidFill>
                  <a:srgbClr val="F9F6EF"/>
                </a:solidFill>
                <a:latin typeface="Microsoft Sans Serif"/>
                <a:cs typeface="Microsoft Sans Serif"/>
              </a:rPr>
              <a:t>type</a:t>
            </a:r>
            <a:r>
              <a:rPr sz="1200" spc="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-90" dirty="0">
                <a:solidFill>
                  <a:srgbClr val="F9F6EF"/>
                </a:solidFill>
                <a:latin typeface="Microsoft Sans Serif"/>
                <a:cs typeface="Microsoft Sans Serif"/>
              </a:rPr>
              <a:t>"COMPUTER",</a:t>
            </a:r>
            <a:r>
              <a:rPr sz="1200" spc="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200" spc="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search</a:t>
            </a:r>
            <a:r>
              <a:rPr sz="12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algorithm </a:t>
            </a:r>
            <a:r>
              <a:rPr sz="1200" spc="10" dirty="0">
                <a:solidFill>
                  <a:srgbClr val="F9F6EF"/>
                </a:solidFill>
                <a:latin typeface="Microsoft Sans Serif"/>
                <a:cs typeface="Microsoft Sans Serif"/>
              </a:rPr>
              <a:t>slides</a:t>
            </a:r>
            <a:r>
              <a:rPr sz="1200" spc="7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F9F6EF"/>
                </a:solidFill>
                <a:latin typeface="Microsoft Sans Serif"/>
                <a:cs typeface="Microsoft Sans Serif"/>
              </a:rPr>
              <a:t>through</a:t>
            </a:r>
            <a:r>
              <a:rPr sz="1200" spc="9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200" spc="9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F9F6EF"/>
                </a:solidFill>
                <a:latin typeface="Microsoft Sans Serif"/>
                <a:cs typeface="Microsoft Sans Serif"/>
              </a:rPr>
              <a:t>document</a:t>
            </a:r>
            <a:r>
              <a:rPr sz="1200" spc="11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F9F6EF"/>
                </a:solidFill>
                <a:latin typeface="Microsoft Sans Serif"/>
                <a:cs typeface="Microsoft Sans Serif"/>
              </a:rPr>
              <a:t>text,</a:t>
            </a:r>
            <a:r>
              <a:rPr sz="1200" spc="8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F9F6EF"/>
                </a:solidFill>
                <a:latin typeface="Microsoft Sans Serif"/>
                <a:cs typeface="Microsoft Sans Serif"/>
              </a:rPr>
              <a:t>using</a:t>
            </a:r>
            <a:r>
              <a:rPr sz="1200" spc="9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F9F6EF"/>
                </a:solidFill>
                <a:latin typeface="Microsoft Sans Serif"/>
                <a:cs typeface="Microsoft Sans Serif"/>
              </a:rPr>
              <a:t>efficient</a:t>
            </a:r>
            <a:r>
              <a:rPr sz="1200" spc="1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F9F6EF"/>
                </a:solidFill>
                <a:latin typeface="Microsoft Sans Serif"/>
                <a:cs typeface="Microsoft Sans Serif"/>
              </a:rPr>
              <a:t>comparison</a:t>
            </a:r>
            <a:r>
              <a:rPr sz="1200" spc="10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techniques</a:t>
            </a:r>
            <a:r>
              <a:rPr sz="1200" spc="50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to</a:t>
            </a:r>
            <a:r>
              <a:rPr sz="12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quickly</a:t>
            </a:r>
            <a:r>
              <a:rPr sz="1200" spc="4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locate</a:t>
            </a:r>
            <a:r>
              <a:rPr sz="12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2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word</a:t>
            </a:r>
            <a:r>
              <a:rPr sz="1200" spc="7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340" dirty="0">
                <a:solidFill>
                  <a:srgbClr val="F9F6EF"/>
                </a:solidFill>
                <a:latin typeface="Microsoft Sans Serif"/>
                <a:cs typeface="Microsoft Sans Serif"/>
              </a:rPr>
              <a:t>—</a:t>
            </a:r>
            <a:r>
              <a:rPr sz="12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even</a:t>
            </a:r>
            <a:r>
              <a:rPr sz="1200" spc="6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in</a:t>
            </a:r>
            <a:r>
              <a:rPr sz="12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a</a:t>
            </a:r>
            <a:r>
              <a:rPr sz="12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very</a:t>
            </a:r>
            <a:r>
              <a:rPr sz="12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large</a:t>
            </a:r>
            <a:r>
              <a:rPr sz="1200" spc="6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file.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404241"/>
            <a:ext cx="3799204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dirty="0"/>
              <a:t>What</a:t>
            </a:r>
            <a:r>
              <a:rPr sz="2850" spc="-220" dirty="0"/>
              <a:t> </a:t>
            </a:r>
            <a:r>
              <a:rPr sz="2850" spc="-120" dirty="0"/>
              <a:t>Is</a:t>
            </a:r>
            <a:r>
              <a:rPr sz="2850" spc="-195" dirty="0"/>
              <a:t> </a:t>
            </a:r>
            <a:r>
              <a:rPr sz="2850" dirty="0"/>
              <a:t>a</a:t>
            </a:r>
            <a:r>
              <a:rPr sz="2850" spc="-195" dirty="0"/>
              <a:t> </a:t>
            </a:r>
            <a:r>
              <a:rPr sz="2850" spc="-160" dirty="0"/>
              <a:t>Rolling</a:t>
            </a:r>
            <a:r>
              <a:rPr sz="2850" spc="-240" dirty="0"/>
              <a:t> </a:t>
            </a:r>
            <a:r>
              <a:rPr sz="2850" spc="-100" dirty="0"/>
              <a:t>Hash?</a:t>
            </a:r>
            <a:endParaRPr sz="2850"/>
          </a:p>
        </p:txBody>
      </p:sp>
      <p:sp>
        <p:nvSpPr>
          <p:cNvPr id="3" name="object 3"/>
          <p:cNvSpPr txBox="1"/>
          <p:nvPr/>
        </p:nvSpPr>
        <p:spPr>
          <a:xfrm>
            <a:off x="648716" y="1142491"/>
            <a:ext cx="5126990" cy="10204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5" dirty="0">
                <a:latin typeface="Arial"/>
                <a:cs typeface="Arial"/>
              </a:rPr>
              <a:t>The</a:t>
            </a:r>
            <a:r>
              <a:rPr sz="1400" b="1" spc="-95" dirty="0">
                <a:latin typeface="Arial"/>
                <a:cs typeface="Arial"/>
              </a:rPr>
              <a:t> </a:t>
            </a:r>
            <a:r>
              <a:rPr sz="1400" b="1" spc="-45" dirty="0">
                <a:latin typeface="Arial"/>
                <a:cs typeface="Arial"/>
              </a:rPr>
              <a:t>Problem</a:t>
            </a:r>
            <a:r>
              <a:rPr sz="1400" b="1" spc="-9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Without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sz="1400" b="1" spc="-85" dirty="0">
                <a:latin typeface="Arial"/>
                <a:cs typeface="Arial"/>
              </a:rPr>
              <a:t>Rolling</a:t>
            </a:r>
            <a:r>
              <a:rPr sz="1400" b="1" spc="-9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Hash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Suppose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current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b="1" spc="-35" dirty="0">
                <a:solidFill>
                  <a:srgbClr val="272424"/>
                </a:solidFill>
                <a:latin typeface="Arial"/>
                <a:cs typeface="Arial"/>
              </a:rPr>
              <a:t>ABCD</a:t>
            </a:r>
            <a:r>
              <a:rPr sz="1150" b="1" spc="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next</a:t>
            </a:r>
            <a:r>
              <a:rPr sz="11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BCDE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 marL="12700" marR="5080">
              <a:lnSpc>
                <a:spcPct val="102600"/>
              </a:lnSpc>
              <a:spcBef>
                <a:spcPts val="895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naive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approach</a:t>
            </a:r>
            <a:r>
              <a:rPr sz="115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would</a:t>
            </a:r>
            <a:r>
              <a:rPr sz="11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recalculate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entire</a:t>
            </a:r>
            <a:r>
              <a:rPr sz="115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15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15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272424"/>
                </a:solidFill>
                <a:latin typeface="Arial"/>
                <a:cs typeface="Arial"/>
              </a:rPr>
              <a:t>BCDE</a:t>
            </a:r>
            <a:r>
              <a:rPr sz="1150" b="1" spc="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from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scratch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70" dirty="0">
                <a:solidFill>
                  <a:srgbClr val="272424"/>
                </a:solidFill>
                <a:latin typeface="Microsoft Sans Serif"/>
                <a:cs typeface="Microsoft Sans Serif"/>
              </a:rPr>
              <a:t>—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redundant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work,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since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BCD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was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already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processed.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1416" y="2351532"/>
            <a:ext cx="5256530" cy="18415"/>
          </a:xfrm>
          <a:custGeom>
            <a:avLst/>
            <a:gdLst/>
            <a:ahLst/>
            <a:cxnLst/>
            <a:rect l="l" t="t" r="r" b="b"/>
            <a:pathLst>
              <a:path w="5256530" h="18414">
                <a:moveTo>
                  <a:pt x="5252212" y="0"/>
                </a:moveTo>
                <a:lnTo>
                  <a:pt x="4089" y="0"/>
                </a:lnTo>
                <a:lnTo>
                  <a:pt x="0" y="4063"/>
                </a:lnTo>
                <a:lnTo>
                  <a:pt x="0" y="9143"/>
                </a:lnTo>
                <a:lnTo>
                  <a:pt x="0" y="14223"/>
                </a:lnTo>
                <a:lnTo>
                  <a:pt x="4089" y="18287"/>
                </a:lnTo>
                <a:lnTo>
                  <a:pt x="5252212" y="18287"/>
                </a:lnTo>
                <a:lnTo>
                  <a:pt x="5256276" y="14223"/>
                </a:lnTo>
                <a:lnTo>
                  <a:pt x="5256276" y="4063"/>
                </a:lnTo>
                <a:lnTo>
                  <a:pt x="5252212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8716" y="2494864"/>
            <a:ext cx="13912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85" dirty="0">
                <a:latin typeface="Arial"/>
                <a:cs typeface="Arial"/>
              </a:rPr>
              <a:t>Rolling</a:t>
            </a:r>
            <a:r>
              <a:rPr sz="1400" b="1" spc="-105" dirty="0">
                <a:latin typeface="Arial"/>
                <a:cs typeface="Arial"/>
              </a:rPr>
              <a:t> </a:t>
            </a:r>
            <a:r>
              <a:rPr sz="1400" b="1" spc="-60" dirty="0">
                <a:latin typeface="Arial"/>
                <a:cs typeface="Arial"/>
              </a:rPr>
              <a:t>Hash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Idea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544" y="2881883"/>
            <a:ext cx="4730496" cy="17754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21173" y="4200905"/>
            <a:ext cx="5683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35" dirty="0">
                <a:solidFill>
                  <a:srgbClr val="272424"/>
                </a:solidFill>
                <a:latin typeface="Arial"/>
                <a:cs typeface="Arial"/>
              </a:rPr>
              <a:t>New:</a:t>
            </a:r>
            <a:r>
              <a:rPr sz="85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850" b="1" spc="-45" dirty="0">
                <a:solidFill>
                  <a:srgbClr val="272424"/>
                </a:solidFill>
                <a:latin typeface="Arial"/>
                <a:cs typeface="Arial"/>
              </a:rPr>
              <a:t>BCDE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6982" y="4200905"/>
            <a:ext cx="3168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272424"/>
                </a:solidFill>
                <a:latin typeface="Arial"/>
                <a:cs typeface="Arial"/>
              </a:rPr>
              <a:t>Add</a:t>
            </a:r>
            <a:r>
              <a:rPr sz="85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850" b="1" spc="-50" dirty="0">
                <a:solidFill>
                  <a:srgbClr val="272424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2064" y="4200905"/>
            <a:ext cx="51943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272424"/>
                </a:solidFill>
                <a:latin typeface="Arial"/>
                <a:cs typeface="Arial"/>
              </a:rPr>
              <a:t>Keep</a:t>
            </a:r>
            <a:r>
              <a:rPr sz="85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272424"/>
                </a:solidFill>
                <a:latin typeface="Arial"/>
                <a:cs typeface="Arial"/>
              </a:rPr>
              <a:t>BCD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4682" y="4200905"/>
            <a:ext cx="5245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30" dirty="0">
                <a:solidFill>
                  <a:srgbClr val="272424"/>
                </a:solidFill>
                <a:latin typeface="Arial"/>
                <a:cs typeface="Arial"/>
              </a:rPr>
              <a:t>Remove</a:t>
            </a:r>
            <a:r>
              <a:rPr sz="85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850" b="1" spc="-50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7894" y="4200905"/>
            <a:ext cx="53149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272424"/>
                </a:solidFill>
                <a:latin typeface="Arial"/>
                <a:cs typeface="Arial"/>
              </a:rPr>
              <a:t>Old:</a:t>
            </a:r>
            <a:r>
              <a:rPr sz="85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850" b="1" spc="-35" dirty="0">
                <a:solidFill>
                  <a:srgbClr val="272424"/>
                </a:solidFill>
                <a:latin typeface="Arial"/>
                <a:cs typeface="Arial"/>
              </a:rPr>
              <a:t>ABCD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68973" y="1142491"/>
            <a:ext cx="283019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Step-</a:t>
            </a:r>
            <a:r>
              <a:rPr sz="1400" b="1" spc="90" dirty="0">
                <a:latin typeface="Arial"/>
                <a:cs typeface="Arial"/>
              </a:rPr>
              <a:t>by-</a:t>
            </a:r>
            <a:r>
              <a:rPr sz="1400" b="1" spc="-10" dirty="0">
                <a:latin typeface="Arial"/>
                <a:cs typeface="Arial"/>
              </a:rPr>
              <a:t>Step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85" dirty="0">
                <a:latin typeface="Arial"/>
                <a:cs typeface="Arial"/>
              </a:rPr>
              <a:t>Rolling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Hash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Update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50" spc="-25" dirty="0">
                <a:solidFill>
                  <a:srgbClr val="272424"/>
                </a:solidFill>
                <a:latin typeface="Arial MT"/>
                <a:cs typeface="Arial MT"/>
              </a:rPr>
              <a:t>01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80403" y="1722120"/>
            <a:ext cx="5256530" cy="20320"/>
          </a:xfrm>
          <a:custGeom>
            <a:avLst/>
            <a:gdLst/>
            <a:ahLst/>
            <a:cxnLst/>
            <a:rect l="l" t="t" r="r" b="b"/>
            <a:pathLst>
              <a:path w="5256530" h="20319">
                <a:moveTo>
                  <a:pt x="5256276" y="0"/>
                </a:moveTo>
                <a:lnTo>
                  <a:pt x="0" y="0"/>
                </a:lnTo>
                <a:lnTo>
                  <a:pt x="0" y="19812"/>
                </a:lnTo>
                <a:lnTo>
                  <a:pt x="5256276" y="19812"/>
                </a:lnTo>
                <a:lnTo>
                  <a:pt x="5256276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68973" y="1776222"/>
            <a:ext cx="4356100" cy="548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272424"/>
                </a:solidFill>
                <a:latin typeface="Arial"/>
                <a:cs typeface="Arial"/>
              </a:rPr>
              <a:t>Remove</a:t>
            </a:r>
            <a:r>
              <a:rPr sz="14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Outgoing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Remove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contribution</a:t>
            </a:r>
            <a:r>
              <a:rPr sz="115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5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15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leaving</a:t>
            </a:r>
            <a:r>
              <a:rPr sz="115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15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(A).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68973" y="2530297"/>
            <a:ext cx="17843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25" dirty="0">
                <a:solidFill>
                  <a:srgbClr val="272424"/>
                </a:solidFill>
                <a:latin typeface="Arial MT"/>
                <a:cs typeface="Arial MT"/>
              </a:rPr>
              <a:t>02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80403" y="2759964"/>
            <a:ext cx="5256530" cy="18415"/>
          </a:xfrm>
          <a:custGeom>
            <a:avLst/>
            <a:gdLst/>
            <a:ahLst/>
            <a:cxnLst/>
            <a:rect l="l" t="t" r="r" b="b"/>
            <a:pathLst>
              <a:path w="5256530" h="18414">
                <a:moveTo>
                  <a:pt x="5256276" y="0"/>
                </a:moveTo>
                <a:lnTo>
                  <a:pt x="0" y="0"/>
                </a:lnTo>
                <a:lnTo>
                  <a:pt x="0" y="18287"/>
                </a:lnTo>
                <a:lnTo>
                  <a:pt x="5256276" y="18287"/>
                </a:lnTo>
                <a:lnTo>
                  <a:pt x="5256276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68973" y="2813050"/>
            <a:ext cx="5278120" cy="113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Update</a:t>
            </a:r>
            <a:r>
              <a:rPr sz="14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Remaining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1019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Update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15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contribution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5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remaining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(BCD)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based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on</a:t>
            </a:r>
            <a:r>
              <a:rPr sz="115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their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new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150" spc="-25" dirty="0">
                <a:solidFill>
                  <a:srgbClr val="272424"/>
                </a:solidFill>
                <a:latin typeface="Arial MT"/>
                <a:cs typeface="Arial MT"/>
              </a:rPr>
              <a:t>03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80403" y="3976115"/>
            <a:ext cx="5256530" cy="18415"/>
          </a:xfrm>
          <a:custGeom>
            <a:avLst/>
            <a:gdLst/>
            <a:ahLst/>
            <a:cxnLst/>
            <a:rect l="l" t="t" r="r" b="b"/>
            <a:pathLst>
              <a:path w="5256530" h="18414">
                <a:moveTo>
                  <a:pt x="5256276" y="0"/>
                </a:moveTo>
                <a:lnTo>
                  <a:pt x="0" y="0"/>
                </a:lnTo>
                <a:lnTo>
                  <a:pt x="0" y="18287"/>
                </a:lnTo>
                <a:lnTo>
                  <a:pt x="5256276" y="18287"/>
                </a:lnTo>
                <a:lnTo>
                  <a:pt x="5256276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68973" y="4029836"/>
            <a:ext cx="447865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272424"/>
                </a:solidFill>
                <a:latin typeface="Arial"/>
                <a:cs typeface="Arial"/>
              </a:rPr>
              <a:t>Add</a:t>
            </a:r>
            <a:r>
              <a:rPr sz="140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Incoming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Add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contribution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new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entering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(E).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80403" y="5012435"/>
            <a:ext cx="5256530" cy="20320"/>
          </a:xfrm>
          <a:custGeom>
            <a:avLst/>
            <a:gdLst/>
            <a:ahLst/>
            <a:cxnLst/>
            <a:rect l="l" t="t" r="r" b="b"/>
            <a:pathLst>
              <a:path w="5256530" h="20320">
                <a:moveTo>
                  <a:pt x="5256276" y="0"/>
                </a:moveTo>
                <a:lnTo>
                  <a:pt x="0" y="0"/>
                </a:lnTo>
                <a:lnTo>
                  <a:pt x="0" y="19812"/>
                </a:lnTo>
                <a:lnTo>
                  <a:pt x="5256276" y="19812"/>
                </a:lnTo>
                <a:lnTo>
                  <a:pt x="5256276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268973" y="4696413"/>
            <a:ext cx="4874895" cy="153225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150" spc="-25" dirty="0">
                <a:solidFill>
                  <a:srgbClr val="272424"/>
                </a:solidFill>
                <a:latin typeface="Arial MT"/>
                <a:cs typeface="Arial MT"/>
              </a:rPr>
              <a:t>04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400" b="1" spc="-30" dirty="0">
                <a:solidFill>
                  <a:srgbClr val="272424"/>
                </a:solidFill>
                <a:latin typeface="Arial"/>
                <a:cs typeface="Arial"/>
              </a:rPr>
              <a:t>Apply</a:t>
            </a:r>
            <a:r>
              <a:rPr sz="14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2424"/>
                </a:solidFill>
                <a:latin typeface="Arial"/>
                <a:cs typeface="Arial"/>
              </a:rPr>
              <a:t>Modulo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Apply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modulo</a:t>
            </a:r>
            <a:r>
              <a:rPr sz="11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operation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keep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manageable.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12700" marR="5080">
              <a:lnSpc>
                <a:spcPct val="101699"/>
              </a:lnSpc>
            </a:pPr>
            <a:r>
              <a:rPr sz="1150" b="1" spc="-30" dirty="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 process</a:t>
            </a:r>
            <a:r>
              <a:rPr sz="115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15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updating</a:t>
            </a:r>
            <a:r>
              <a:rPr sz="115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15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hash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while</a:t>
            </a:r>
            <a:r>
              <a:rPr sz="115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15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window</a:t>
            </a:r>
            <a:r>
              <a:rPr sz="115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moves</a:t>
            </a:r>
            <a:r>
              <a:rPr sz="115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30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called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272424"/>
                </a:solidFill>
                <a:latin typeface="Arial"/>
                <a:cs typeface="Arial"/>
              </a:rPr>
              <a:t>a </a:t>
            </a:r>
            <a:r>
              <a:rPr sz="1150" b="1" spc="-40" dirty="0">
                <a:solidFill>
                  <a:srgbClr val="272424"/>
                </a:solidFill>
                <a:latin typeface="Arial"/>
                <a:cs typeface="Arial"/>
              </a:rPr>
              <a:t>Rolling</a:t>
            </a:r>
            <a:r>
              <a:rPr sz="1150" b="1" spc="-20" dirty="0">
                <a:solidFill>
                  <a:srgbClr val="272424"/>
                </a:solidFill>
                <a:latin typeface="Arial"/>
                <a:cs typeface="Arial"/>
              </a:rPr>
              <a:t> Hash.</a:t>
            </a:r>
            <a:r>
              <a:rPr sz="115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makes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Rabin–Karp</a:t>
            </a:r>
            <a:r>
              <a:rPr sz="11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efficient.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157173"/>
            <a:ext cx="6303010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Real-</a:t>
            </a:r>
            <a:r>
              <a:rPr spc="-95" dirty="0"/>
              <a:t>Life</a:t>
            </a:r>
            <a:r>
              <a:rPr spc="-300" dirty="0"/>
              <a:t> </a:t>
            </a:r>
            <a:r>
              <a:rPr spc="-120" dirty="0"/>
              <a:t>Analogy</a:t>
            </a:r>
            <a:r>
              <a:rPr spc="-295" dirty="0"/>
              <a:t> </a:t>
            </a:r>
            <a:r>
              <a:rPr spc="-45" dirty="0"/>
              <a:t>for</a:t>
            </a:r>
            <a:r>
              <a:rPr spc="-270" dirty="0"/>
              <a:t> </a:t>
            </a:r>
            <a:r>
              <a:rPr spc="-195" dirty="0"/>
              <a:t>Rolling</a:t>
            </a:r>
            <a:r>
              <a:rPr spc="-305" dirty="0"/>
              <a:t> </a:t>
            </a:r>
            <a:r>
              <a:rPr spc="-30" dirty="0"/>
              <a:t>Hash</a:t>
            </a:r>
          </a:p>
        </p:txBody>
      </p:sp>
      <p:sp>
        <p:nvSpPr>
          <p:cNvPr id="3" name="object 3"/>
          <p:cNvSpPr/>
          <p:nvPr/>
        </p:nvSpPr>
        <p:spPr>
          <a:xfrm>
            <a:off x="542544" y="1937004"/>
            <a:ext cx="5471160" cy="3645535"/>
          </a:xfrm>
          <a:custGeom>
            <a:avLst/>
            <a:gdLst/>
            <a:ahLst/>
            <a:cxnLst/>
            <a:rect l="l" t="t" r="r" b="b"/>
            <a:pathLst>
              <a:path w="5471160" h="3645535">
                <a:moveTo>
                  <a:pt x="5352160" y="0"/>
                </a:moveTo>
                <a:lnTo>
                  <a:pt x="119062" y="0"/>
                </a:lnTo>
                <a:lnTo>
                  <a:pt x="72716" y="9360"/>
                </a:lnTo>
                <a:lnTo>
                  <a:pt x="34871" y="34877"/>
                </a:lnTo>
                <a:lnTo>
                  <a:pt x="9355" y="72705"/>
                </a:lnTo>
                <a:lnTo>
                  <a:pt x="0" y="118999"/>
                </a:lnTo>
                <a:lnTo>
                  <a:pt x="0" y="3526409"/>
                </a:lnTo>
                <a:lnTo>
                  <a:pt x="9355" y="3572702"/>
                </a:lnTo>
                <a:lnTo>
                  <a:pt x="34871" y="3610530"/>
                </a:lnTo>
                <a:lnTo>
                  <a:pt x="72716" y="3636047"/>
                </a:lnTo>
                <a:lnTo>
                  <a:pt x="119062" y="3645408"/>
                </a:lnTo>
                <a:lnTo>
                  <a:pt x="5352160" y="3645408"/>
                </a:lnTo>
                <a:lnTo>
                  <a:pt x="5398454" y="3636047"/>
                </a:lnTo>
                <a:lnTo>
                  <a:pt x="5436282" y="3610530"/>
                </a:lnTo>
                <a:lnTo>
                  <a:pt x="5461799" y="3572702"/>
                </a:lnTo>
                <a:lnTo>
                  <a:pt x="5471159" y="3526409"/>
                </a:lnTo>
                <a:lnTo>
                  <a:pt x="5471159" y="118999"/>
                </a:lnTo>
                <a:lnTo>
                  <a:pt x="5461799" y="72705"/>
                </a:lnTo>
                <a:lnTo>
                  <a:pt x="5436282" y="34877"/>
                </a:lnTo>
                <a:lnTo>
                  <a:pt x="5398454" y="9360"/>
                </a:lnTo>
                <a:lnTo>
                  <a:pt x="5352160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5045" y="2039238"/>
            <a:ext cx="5132705" cy="33928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F9F6EF"/>
                </a:solidFill>
                <a:latin typeface="Arial"/>
                <a:cs typeface="Arial"/>
              </a:rPr>
              <a:t>The</a:t>
            </a:r>
            <a:r>
              <a:rPr sz="1600" b="1" spc="-12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F9F6EF"/>
                </a:solidFill>
                <a:latin typeface="Arial"/>
                <a:cs typeface="Arial"/>
              </a:rPr>
              <a:t>Student</a:t>
            </a:r>
            <a:r>
              <a:rPr sz="1600" b="1" spc="-10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600" b="1" spc="-35" dirty="0">
                <a:solidFill>
                  <a:srgbClr val="F9F6EF"/>
                </a:solidFill>
                <a:latin typeface="Arial"/>
                <a:cs typeface="Arial"/>
              </a:rPr>
              <a:t>Window</a:t>
            </a:r>
            <a:r>
              <a:rPr sz="1600" b="1" spc="-114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9F6EF"/>
                </a:solidFill>
                <a:latin typeface="Arial"/>
                <a:cs typeface="Arial"/>
              </a:rPr>
              <a:t>Analogy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Imagine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a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moving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window</a:t>
            </a:r>
            <a:r>
              <a:rPr sz="13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F9F6EF"/>
                </a:solidFill>
                <a:latin typeface="Microsoft Sans Serif"/>
                <a:cs typeface="Microsoft Sans Serif"/>
              </a:rPr>
              <a:t>that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always</a:t>
            </a:r>
            <a:r>
              <a:rPr sz="13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shows</a:t>
            </a:r>
            <a:r>
              <a:rPr sz="13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exactly</a:t>
            </a:r>
            <a:r>
              <a:rPr sz="13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four</a:t>
            </a:r>
            <a:r>
              <a:rPr sz="1300" spc="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students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standing</a:t>
            </a:r>
            <a:r>
              <a:rPr sz="1300" spc="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in</a:t>
            </a:r>
            <a:r>
              <a:rPr sz="1300" spc="1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a</a:t>
            </a:r>
            <a:r>
              <a:rPr sz="1300" spc="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9F6EF"/>
                </a:solidFill>
                <a:latin typeface="Microsoft Sans Serif"/>
                <a:cs typeface="Microsoft Sans Serif"/>
              </a:rPr>
              <a:t>row.</a:t>
            </a:r>
            <a:endParaRPr sz="1300">
              <a:latin typeface="Microsoft Sans Serif"/>
              <a:cs typeface="Microsoft Sans Serif"/>
            </a:endParaRPr>
          </a:p>
          <a:p>
            <a:pPr marL="12700" marR="1240155">
              <a:lnSpc>
                <a:spcPct val="108500"/>
              </a:lnSpc>
              <a:spcBef>
                <a:spcPts val="1190"/>
              </a:spcBef>
            </a:pPr>
            <a:r>
              <a:rPr sz="1300" b="1" dirty="0">
                <a:solidFill>
                  <a:srgbClr val="F9F6EF"/>
                </a:solidFill>
                <a:latin typeface="Arial"/>
                <a:cs typeface="Arial"/>
              </a:rPr>
              <a:t>Step</a:t>
            </a:r>
            <a:r>
              <a:rPr sz="1300" b="1" spc="-6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b="1" spc="-200" dirty="0">
                <a:solidFill>
                  <a:srgbClr val="F9F6EF"/>
                </a:solidFill>
                <a:latin typeface="Arial"/>
                <a:cs typeface="Arial"/>
              </a:rPr>
              <a:t>1:</a:t>
            </a:r>
            <a:r>
              <a:rPr sz="1300" b="1" spc="-3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Window</a:t>
            </a:r>
            <a:r>
              <a:rPr sz="1300" spc="-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shows: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 Aman</a:t>
            </a:r>
            <a:r>
              <a:rPr sz="1300" spc="1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|</a:t>
            </a:r>
            <a:r>
              <a:rPr sz="1300" spc="-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Simran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|</a:t>
            </a:r>
            <a:r>
              <a:rPr sz="1300" spc="-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Rohit</a:t>
            </a:r>
            <a:r>
              <a:rPr sz="1300" spc="1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|</a:t>
            </a:r>
            <a:r>
              <a:rPr sz="1300" spc="-1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Rahul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(Count</a:t>
            </a:r>
            <a:r>
              <a:rPr sz="1300" spc="6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=</a:t>
            </a:r>
            <a:r>
              <a:rPr sz="1300" spc="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4</a:t>
            </a:r>
            <a:r>
              <a:rPr sz="1300" spc="2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students)</a:t>
            </a:r>
            <a:endParaRPr sz="1300">
              <a:latin typeface="Microsoft Sans Serif"/>
              <a:cs typeface="Microsoft Sans Serif"/>
            </a:endParaRPr>
          </a:p>
          <a:p>
            <a:pPr marL="12700" marR="2428240">
              <a:lnSpc>
                <a:spcPct val="104500"/>
              </a:lnSpc>
              <a:spcBef>
                <a:spcPts val="1250"/>
              </a:spcBef>
            </a:pPr>
            <a:r>
              <a:rPr sz="1300" b="1" dirty="0">
                <a:solidFill>
                  <a:srgbClr val="F9F6EF"/>
                </a:solidFill>
                <a:latin typeface="Arial"/>
                <a:cs typeface="Arial"/>
              </a:rPr>
              <a:t>Step</a:t>
            </a:r>
            <a:r>
              <a:rPr sz="1300" b="1" spc="-2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b="1" spc="-55" dirty="0">
                <a:solidFill>
                  <a:srgbClr val="F9F6EF"/>
                </a:solidFill>
                <a:latin typeface="Arial"/>
                <a:cs typeface="Arial"/>
              </a:rPr>
              <a:t>2:</a:t>
            </a:r>
            <a:r>
              <a:rPr sz="1300" b="1" spc="2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300" spc="4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window</a:t>
            </a:r>
            <a:r>
              <a:rPr sz="13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moves</a:t>
            </a:r>
            <a:r>
              <a:rPr sz="1300" spc="7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forward.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Aman</a:t>
            </a:r>
            <a:r>
              <a:rPr sz="1300" spc="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50" i="1" spc="-30" dirty="0">
                <a:solidFill>
                  <a:srgbClr val="F9F6EF"/>
                </a:solidFill>
                <a:latin typeface="Arial"/>
                <a:cs typeface="Arial"/>
              </a:rPr>
              <a:t>leaves</a:t>
            </a:r>
            <a:r>
              <a:rPr sz="1350" i="1" spc="1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300" spc="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window.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Neha</a:t>
            </a:r>
            <a:r>
              <a:rPr sz="1300" spc="1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50" i="1" dirty="0">
                <a:solidFill>
                  <a:srgbClr val="F9F6EF"/>
                </a:solidFill>
                <a:latin typeface="Arial"/>
                <a:cs typeface="Arial"/>
              </a:rPr>
              <a:t>enters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300" spc="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window.</a:t>
            </a:r>
            <a:endParaRPr sz="1300">
              <a:latin typeface="Microsoft Sans Serif"/>
              <a:cs typeface="Microsoft Sans Serif"/>
            </a:endParaRPr>
          </a:p>
          <a:p>
            <a:pPr marL="12700" marR="1431290">
              <a:lnSpc>
                <a:spcPct val="108500"/>
              </a:lnSpc>
              <a:spcBef>
                <a:spcPts val="1180"/>
              </a:spcBef>
            </a:pPr>
            <a:r>
              <a:rPr sz="1300" b="1" dirty="0">
                <a:solidFill>
                  <a:srgbClr val="F9F6EF"/>
                </a:solidFill>
                <a:latin typeface="Arial"/>
                <a:cs typeface="Arial"/>
              </a:rPr>
              <a:t>Step</a:t>
            </a:r>
            <a:r>
              <a:rPr sz="1300" b="1" spc="-8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b="1" spc="-30" dirty="0">
                <a:solidFill>
                  <a:srgbClr val="F9F6EF"/>
                </a:solidFill>
                <a:latin typeface="Arial"/>
                <a:cs typeface="Arial"/>
              </a:rPr>
              <a:t>3:</a:t>
            </a:r>
            <a:r>
              <a:rPr sz="1300" b="1" spc="-4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New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window:</a:t>
            </a:r>
            <a:r>
              <a:rPr sz="1300" spc="-1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Simran</a:t>
            </a:r>
            <a:r>
              <a:rPr sz="1300" spc="-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|</a:t>
            </a:r>
            <a:r>
              <a:rPr sz="1300" spc="-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Rohit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|</a:t>
            </a:r>
            <a:r>
              <a:rPr sz="1300" spc="-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F9F6EF"/>
                </a:solidFill>
                <a:latin typeface="Microsoft Sans Serif"/>
                <a:cs typeface="Microsoft Sans Serif"/>
              </a:rPr>
              <a:t>Rahul</a:t>
            </a:r>
            <a:r>
              <a:rPr sz="1300" spc="-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|</a:t>
            </a:r>
            <a:r>
              <a:rPr sz="1300" spc="-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9F6EF"/>
                </a:solidFill>
                <a:latin typeface="Microsoft Sans Serif"/>
                <a:cs typeface="Microsoft Sans Serif"/>
              </a:rPr>
              <a:t>Neha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(Still</a:t>
            </a:r>
            <a:r>
              <a:rPr sz="1300" spc="-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4</a:t>
            </a:r>
            <a:r>
              <a:rPr sz="1300" spc="-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students)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Instead</a:t>
            </a:r>
            <a:r>
              <a:rPr sz="1300" spc="8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of</a:t>
            </a:r>
            <a:r>
              <a:rPr sz="13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counting</a:t>
            </a:r>
            <a:r>
              <a:rPr sz="1300" spc="9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all</a:t>
            </a:r>
            <a:r>
              <a:rPr sz="1300" spc="8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four</a:t>
            </a:r>
            <a:r>
              <a:rPr sz="1300" spc="7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students</a:t>
            </a:r>
            <a:r>
              <a:rPr sz="1300" spc="9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again</a:t>
            </a:r>
            <a:r>
              <a:rPr sz="1300" spc="8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from</a:t>
            </a:r>
            <a:r>
              <a:rPr sz="1300" spc="7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scratch,</a:t>
            </a:r>
            <a:r>
              <a:rPr sz="1300" spc="7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we</a:t>
            </a:r>
            <a:r>
              <a:rPr sz="1300" spc="9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solidFill>
                  <a:srgbClr val="F9F6EF"/>
                </a:solidFill>
                <a:latin typeface="Arial"/>
                <a:cs typeface="Arial"/>
              </a:rPr>
              <a:t>update</a:t>
            </a:r>
            <a:r>
              <a:rPr sz="13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: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remove</a:t>
            </a:r>
            <a:r>
              <a:rPr sz="13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40" dirty="0">
                <a:solidFill>
                  <a:srgbClr val="F9F6EF"/>
                </a:solidFill>
                <a:latin typeface="Microsoft Sans Serif"/>
                <a:cs typeface="Microsoft Sans Serif"/>
              </a:rPr>
              <a:t>1,</a:t>
            </a:r>
            <a:r>
              <a:rPr sz="13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9F6EF"/>
                </a:solidFill>
                <a:latin typeface="Microsoft Sans Serif"/>
                <a:cs typeface="Microsoft Sans Serif"/>
              </a:rPr>
              <a:t>add</a:t>
            </a:r>
            <a:r>
              <a:rPr sz="13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1.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2088" y="2039238"/>
            <a:ext cx="5073650" cy="2617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Arial"/>
                <a:cs typeface="Arial"/>
              </a:rPr>
              <a:t>Connection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spc="-105" dirty="0">
                <a:latin typeface="Arial"/>
                <a:cs typeface="Arial"/>
              </a:rPr>
              <a:t>Rolling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Hash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Rolling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follows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same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idea: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300">
              <a:latin typeface="Arial"/>
              <a:cs typeface="Arial"/>
            </a:endParaRPr>
          </a:p>
          <a:p>
            <a:pPr marL="276225" indent="-263525">
              <a:lnSpc>
                <a:spcPct val="100000"/>
              </a:lnSpc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Instead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recalculating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entire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new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from</a:t>
            </a:r>
            <a:endParaRPr sz="1300">
              <a:latin typeface="Microsoft Sans Serif"/>
              <a:cs typeface="Microsoft Sans Serif"/>
            </a:endParaRPr>
          </a:p>
          <a:p>
            <a:pPr marL="276225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scratch...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20"/>
              </a:spcBef>
              <a:buChar char="•"/>
              <a:tabLst>
                <a:tab pos="276225" algn="l"/>
              </a:tabLst>
            </a:pP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We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remove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contribution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outgoing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character...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35"/>
              </a:spcBef>
              <a:buChar char="•"/>
              <a:tabLst>
                <a:tab pos="276225" algn="l"/>
              </a:tabLst>
            </a:pP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We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add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contribution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incoming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character...</a:t>
            </a:r>
            <a:endParaRPr sz="1300">
              <a:latin typeface="Microsoft Sans Serif"/>
              <a:cs typeface="Microsoft Sans Serif"/>
            </a:endParaRPr>
          </a:p>
          <a:p>
            <a:pPr marL="276225" indent="-263525">
              <a:lnSpc>
                <a:spcPct val="100000"/>
              </a:lnSpc>
              <a:spcBef>
                <a:spcPts val="120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update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incrementally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12700" marR="154305">
              <a:lnSpc>
                <a:spcPct val="108500"/>
              </a:lnSpc>
              <a:spcBef>
                <a:spcPts val="5"/>
              </a:spcBef>
            </a:pP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makes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each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transition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O(1)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operation</a:t>
            </a:r>
            <a:r>
              <a:rPr sz="130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rather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than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O(m),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significantly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improving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overall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efficiency.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Hash</a:t>
            </a:r>
            <a:r>
              <a:rPr spc="-305" dirty="0"/>
              <a:t> </a:t>
            </a:r>
            <a:r>
              <a:rPr spc="-120" dirty="0"/>
              <a:t>Collision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6823" y="1685924"/>
            <a:ext cx="64046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Collision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occurs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when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two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different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strings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produce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same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value.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1416" y="1516380"/>
            <a:ext cx="20320" cy="586740"/>
          </a:xfrm>
          <a:custGeom>
            <a:avLst/>
            <a:gdLst/>
            <a:ahLst/>
            <a:cxnLst/>
            <a:rect l="l" t="t" r="r" b="b"/>
            <a:pathLst>
              <a:path w="20320" h="586739">
                <a:moveTo>
                  <a:pt x="15379" y="0"/>
                </a:moveTo>
                <a:lnTo>
                  <a:pt x="4432" y="0"/>
                </a:lnTo>
                <a:lnTo>
                  <a:pt x="0" y="4445"/>
                </a:lnTo>
                <a:lnTo>
                  <a:pt x="0" y="9906"/>
                </a:lnTo>
                <a:lnTo>
                  <a:pt x="0" y="582295"/>
                </a:lnTo>
                <a:lnTo>
                  <a:pt x="4432" y="586740"/>
                </a:lnTo>
                <a:lnTo>
                  <a:pt x="15379" y="586740"/>
                </a:lnTo>
                <a:lnTo>
                  <a:pt x="19812" y="582295"/>
                </a:lnTo>
                <a:lnTo>
                  <a:pt x="19812" y="4445"/>
                </a:lnTo>
                <a:lnTo>
                  <a:pt x="15379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8716" y="2392806"/>
            <a:ext cx="5178425" cy="203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Why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b="1" spc="-80" dirty="0">
                <a:latin typeface="Arial"/>
                <a:cs typeface="Arial"/>
              </a:rPr>
              <a:t>Collisions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Happen</a:t>
            </a:r>
            <a:endParaRPr sz="1600">
              <a:latin typeface="Arial"/>
              <a:cs typeface="Arial"/>
            </a:endParaRPr>
          </a:p>
          <a:p>
            <a:pPr marL="12700" marR="88900">
              <a:lnSpc>
                <a:spcPct val="106000"/>
              </a:lnSpc>
              <a:spcBef>
                <a:spcPts val="127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function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maps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potentially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infinite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inputs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finite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range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of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numerical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values.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50" i="1" spc="-10" dirty="0">
                <a:solidFill>
                  <a:srgbClr val="272424"/>
                </a:solidFill>
                <a:latin typeface="Arial"/>
                <a:cs typeface="Arial"/>
              </a:rPr>
              <a:t>pigeonhole</a:t>
            </a:r>
            <a:r>
              <a:rPr sz="1350" i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50" i="1" dirty="0">
                <a:solidFill>
                  <a:srgbClr val="272424"/>
                </a:solidFill>
                <a:latin typeface="Arial"/>
                <a:cs typeface="Arial"/>
              </a:rPr>
              <a:t>principle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,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some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inputs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must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map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output.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600" b="1" spc="-55" dirty="0">
                <a:latin typeface="Arial"/>
                <a:cs typeface="Arial"/>
              </a:rPr>
              <a:t>Example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of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-125" dirty="0">
                <a:latin typeface="Arial"/>
                <a:cs typeface="Arial"/>
              </a:rPr>
              <a:t> </a:t>
            </a:r>
            <a:r>
              <a:rPr sz="1600" b="1" spc="-75" dirty="0">
                <a:latin typeface="Arial"/>
                <a:cs typeface="Arial"/>
              </a:rPr>
              <a:t>Collision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(Conceptual)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124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Suppose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(hypothetically)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that 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hash("ABCD")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hash("WXYZ")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42.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These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clearly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 strings,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but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their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identical.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2088" y="2392806"/>
            <a:ext cx="1363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latin typeface="Arial"/>
                <a:cs typeface="Arial"/>
              </a:rPr>
              <a:t>Decision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55" dirty="0">
                <a:latin typeface="Arial"/>
                <a:cs typeface="Arial"/>
              </a:rPr>
              <a:t>Logic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00215" y="2845307"/>
            <a:ext cx="2540635" cy="2441575"/>
            <a:chOff x="6300215" y="2845307"/>
            <a:chExt cx="2540635" cy="2441575"/>
          </a:xfrm>
        </p:grpSpPr>
        <p:sp>
          <p:nvSpPr>
            <p:cNvPr id="8" name="object 8"/>
            <p:cNvSpPr/>
            <p:nvPr/>
          </p:nvSpPr>
          <p:spPr>
            <a:xfrm>
              <a:off x="6303263" y="2848355"/>
              <a:ext cx="2534920" cy="2435860"/>
            </a:xfrm>
            <a:custGeom>
              <a:avLst/>
              <a:gdLst/>
              <a:ahLst/>
              <a:cxnLst/>
              <a:rect l="l" t="t" r="r" b="b"/>
              <a:pathLst>
                <a:path w="2534920" h="2435860">
                  <a:moveTo>
                    <a:pt x="2464942" y="0"/>
                  </a:moveTo>
                  <a:lnTo>
                    <a:pt x="69469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2365883"/>
                  </a:lnTo>
                  <a:lnTo>
                    <a:pt x="5461" y="2392918"/>
                  </a:lnTo>
                  <a:lnTo>
                    <a:pt x="20351" y="2415000"/>
                  </a:lnTo>
                  <a:lnTo>
                    <a:pt x="42433" y="2429891"/>
                  </a:lnTo>
                  <a:lnTo>
                    <a:pt x="69469" y="2435352"/>
                  </a:lnTo>
                  <a:lnTo>
                    <a:pt x="2464942" y="2435352"/>
                  </a:lnTo>
                  <a:lnTo>
                    <a:pt x="2491978" y="2429891"/>
                  </a:lnTo>
                  <a:lnTo>
                    <a:pt x="2514060" y="2415000"/>
                  </a:lnTo>
                  <a:lnTo>
                    <a:pt x="2528951" y="2392918"/>
                  </a:lnTo>
                  <a:lnTo>
                    <a:pt x="2534412" y="2365883"/>
                  </a:lnTo>
                  <a:lnTo>
                    <a:pt x="2534412" y="69469"/>
                  </a:lnTo>
                  <a:lnTo>
                    <a:pt x="2528950" y="42433"/>
                  </a:lnTo>
                  <a:lnTo>
                    <a:pt x="2514060" y="20351"/>
                  </a:lnTo>
                  <a:lnTo>
                    <a:pt x="2491978" y="5461"/>
                  </a:lnTo>
                  <a:lnTo>
                    <a:pt x="2464942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03263" y="2848355"/>
              <a:ext cx="2534920" cy="2435860"/>
            </a:xfrm>
            <a:custGeom>
              <a:avLst/>
              <a:gdLst/>
              <a:ahLst/>
              <a:cxnLst/>
              <a:rect l="l" t="t" r="r" b="b"/>
              <a:pathLst>
                <a:path w="2534920" h="2435860">
                  <a:moveTo>
                    <a:pt x="0" y="69469"/>
                  </a:moveTo>
                  <a:lnTo>
                    <a:pt x="5461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9" y="0"/>
                  </a:lnTo>
                  <a:lnTo>
                    <a:pt x="2464942" y="0"/>
                  </a:lnTo>
                  <a:lnTo>
                    <a:pt x="2491978" y="5461"/>
                  </a:lnTo>
                  <a:lnTo>
                    <a:pt x="2514060" y="20351"/>
                  </a:lnTo>
                  <a:lnTo>
                    <a:pt x="2528950" y="42433"/>
                  </a:lnTo>
                  <a:lnTo>
                    <a:pt x="2534412" y="69469"/>
                  </a:lnTo>
                  <a:lnTo>
                    <a:pt x="2534412" y="2365883"/>
                  </a:lnTo>
                  <a:lnTo>
                    <a:pt x="2528951" y="2392918"/>
                  </a:lnTo>
                  <a:lnTo>
                    <a:pt x="2514060" y="2415000"/>
                  </a:lnTo>
                  <a:lnTo>
                    <a:pt x="2491978" y="2429891"/>
                  </a:lnTo>
                  <a:lnTo>
                    <a:pt x="2464942" y="2435352"/>
                  </a:lnTo>
                  <a:lnTo>
                    <a:pt x="69469" y="2435352"/>
                  </a:lnTo>
                  <a:lnTo>
                    <a:pt x="42433" y="2429891"/>
                  </a:lnTo>
                  <a:lnTo>
                    <a:pt x="20351" y="2415000"/>
                  </a:lnTo>
                  <a:lnTo>
                    <a:pt x="5461" y="2392918"/>
                  </a:lnTo>
                  <a:lnTo>
                    <a:pt x="0" y="2365883"/>
                  </a:lnTo>
                  <a:lnTo>
                    <a:pt x="0" y="69469"/>
                  </a:lnTo>
                  <a:close/>
                </a:path>
              </a:pathLst>
            </a:custGeom>
            <a:ln w="6095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63665" y="2957322"/>
            <a:ext cx="2016760" cy="1497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Different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Values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300" spc="405" dirty="0">
                <a:solidFill>
                  <a:srgbClr val="272424"/>
                </a:solidFill>
                <a:latin typeface="Microsoft Sans Serif"/>
                <a:cs typeface="Microsoft Sans Serif"/>
              </a:rPr>
              <a:t>↓</a:t>
            </a:r>
            <a:endParaRPr sz="1300">
              <a:latin typeface="Microsoft Sans Serif"/>
              <a:cs typeface="Microsoft Sans Serif"/>
            </a:endParaRPr>
          </a:p>
          <a:p>
            <a:pPr marL="12700" marR="389255">
              <a:lnSpc>
                <a:spcPct val="107700"/>
              </a:lnSpc>
              <a:spcBef>
                <a:spcPts val="1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definitely different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  <a:p>
            <a:pPr marL="12700" marR="608330">
              <a:lnSpc>
                <a:spcPct val="107700"/>
              </a:lnSpc>
              <a:spcBef>
                <a:spcPts val="1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 immediately.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99219" y="2845307"/>
            <a:ext cx="2540635" cy="2441575"/>
            <a:chOff x="8999219" y="2845307"/>
            <a:chExt cx="2540635" cy="2441575"/>
          </a:xfrm>
        </p:grpSpPr>
        <p:sp>
          <p:nvSpPr>
            <p:cNvPr id="12" name="object 12"/>
            <p:cNvSpPr/>
            <p:nvPr/>
          </p:nvSpPr>
          <p:spPr>
            <a:xfrm>
              <a:off x="9002267" y="2848355"/>
              <a:ext cx="2534920" cy="2435860"/>
            </a:xfrm>
            <a:custGeom>
              <a:avLst/>
              <a:gdLst/>
              <a:ahLst/>
              <a:cxnLst/>
              <a:rect l="l" t="t" r="r" b="b"/>
              <a:pathLst>
                <a:path w="2534920" h="2435860">
                  <a:moveTo>
                    <a:pt x="2464942" y="0"/>
                  </a:moveTo>
                  <a:lnTo>
                    <a:pt x="69468" y="0"/>
                  </a:lnTo>
                  <a:lnTo>
                    <a:pt x="42433" y="5461"/>
                  </a:lnTo>
                  <a:lnTo>
                    <a:pt x="20351" y="20351"/>
                  </a:lnTo>
                  <a:lnTo>
                    <a:pt x="5460" y="42433"/>
                  </a:lnTo>
                  <a:lnTo>
                    <a:pt x="0" y="69469"/>
                  </a:lnTo>
                  <a:lnTo>
                    <a:pt x="0" y="2365883"/>
                  </a:lnTo>
                  <a:lnTo>
                    <a:pt x="5460" y="2392918"/>
                  </a:lnTo>
                  <a:lnTo>
                    <a:pt x="20351" y="2415000"/>
                  </a:lnTo>
                  <a:lnTo>
                    <a:pt x="42433" y="2429891"/>
                  </a:lnTo>
                  <a:lnTo>
                    <a:pt x="69468" y="2435352"/>
                  </a:lnTo>
                  <a:lnTo>
                    <a:pt x="2464942" y="2435352"/>
                  </a:lnTo>
                  <a:lnTo>
                    <a:pt x="2491978" y="2429891"/>
                  </a:lnTo>
                  <a:lnTo>
                    <a:pt x="2514060" y="2415000"/>
                  </a:lnTo>
                  <a:lnTo>
                    <a:pt x="2528951" y="2392918"/>
                  </a:lnTo>
                  <a:lnTo>
                    <a:pt x="2534411" y="2365883"/>
                  </a:lnTo>
                  <a:lnTo>
                    <a:pt x="2534411" y="69469"/>
                  </a:lnTo>
                  <a:lnTo>
                    <a:pt x="2528951" y="42433"/>
                  </a:lnTo>
                  <a:lnTo>
                    <a:pt x="2514060" y="20351"/>
                  </a:lnTo>
                  <a:lnTo>
                    <a:pt x="2491978" y="5461"/>
                  </a:lnTo>
                  <a:lnTo>
                    <a:pt x="2464942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02267" y="2848355"/>
              <a:ext cx="2534920" cy="2435860"/>
            </a:xfrm>
            <a:custGeom>
              <a:avLst/>
              <a:gdLst/>
              <a:ahLst/>
              <a:cxnLst/>
              <a:rect l="l" t="t" r="r" b="b"/>
              <a:pathLst>
                <a:path w="2534920" h="2435860">
                  <a:moveTo>
                    <a:pt x="0" y="69469"/>
                  </a:moveTo>
                  <a:lnTo>
                    <a:pt x="5460" y="42433"/>
                  </a:lnTo>
                  <a:lnTo>
                    <a:pt x="20351" y="20351"/>
                  </a:lnTo>
                  <a:lnTo>
                    <a:pt x="42433" y="5461"/>
                  </a:lnTo>
                  <a:lnTo>
                    <a:pt x="69468" y="0"/>
                  </a:lnTo>
                  <a:lnTo>
                    <a:pt x="2464942" y="0"/>
                  </a:lnTo>
                  <a:lnTo>
                    <a:pt x="2491978" y="5461"/>
                  </a:lnTo>
                  <a:lnTo>
                    <a:pt x="2514060" y="20351"/>
                  </a:lnTo>
                  <a:lnTo>
                    <a:pt x="2528951" y="42433"/>
                  </a:lnTo>
                  <a:lnTo>
                    <a:pt x="2534411" y="69469"/>
                  </a:lnTo>
                  <a:lnTo>
                    <a:pt x="2534411" y="2365883"/>
                  </a:lnTo>
                  <a:lnTo>
                    <a:pt x="2528951" y="2392918"/>
                  </a:lnTo>
                  <a:lnTo>
                    <a:pt x="2514060" y="2415000"/>
                  </a:lnTo>
                  <a:lnTo>
                    <a:pt x="2491978" y="2429891"/>
                  </a:lnTo>
                  <a:lnTo>
                    <a:pt x="2464942" y="2435352"/>
                  </a:lnTo>
                  <a:lnTo>
                    <a:pt x="69468" y="2435352"/>
                  </a:lnTo>
                  <a:lnTo>
                    <a:pt x="42433" y="2429891"/>
                  </a:lnTo>
                  <a:lnTo>
                    <a:pt x="20351" y="2415000"/>
                  </a:lnTo>
                  <a:lnTo>
                    <a:pt x="5460" y="2392918"/>
                  </a:lnTo>
                  <a:lnTo>
                    <a:pt x="0" y="2365883"/>
                  </a:lnTo>
                  <a:lnTo>
                    <a:pt x="0" y="6946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63050" y="2957322"/>
            <a:ext cx="1913255" cy="2139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Same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600" b="1" spc="-1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Values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300" spc="405" dirty="0">
                <a:solidFill>
                  <a:srgbClr val="272424"/>
                </a:solidFill>
                <a:latin typeface="Microsoft Sans Serif"/>
                <a:cs typeface="Microsoft Sans Serif"/>
              </a:rPr>
              <a:t>↓</a:t>
            </a:r>
            <a:endParaRPr sz="1300">
              <a:latin typeface="Microsoft Sans Serif"/>
              <a:cs typeface="Microsoft Sans Serif"/>
            </a:endParaRPr>
          </a:p>
          <a:p>
            <a:pPr marL="12700" marR="247650">
              <a:lnSpc>
                <a:spcPct val="107700"/>
              </a:lnSpc>
              <a:spcBef>
                <a:spcPts val="1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possible match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  <a:p>
            <a:pPr marL="12700" marR="518795">
              <a:lnSpc>
                <a:spcPct val="107700"/>
              </a:lnSpc>
              <a:spcBef>
                <a:spcPts val="1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Perform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 verification.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5" dirty="0">
                <a:solidFill>
                  <a:srgbClr val="272424"/>
                </a:solidFill>
                <a:latin typeface="Microsoft Sans Serif"/>
                <a:cs typeface="Microsoft Sans Serif"/>
              </a:rPr>
              <a:t>↓</a:t>
            </a:r>
            <a:endParaRPr sz="1300">
              <a:latin typeface="Microsoft Sans Serif"/>
              <a:cs typeface="Microsoft Sans Serif"/>
            </a:endParaRPr>
          </a:p>
          <a:p>
            <a:pPr marL="12700" marR="5080">
              <a:lnSpc>
                <a:spcPct val="107700"/>
              </a:lnSpc>
              <a:spcBef>
                <a:spcPts val="1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Confirm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or</a:t>
            </a:r>
            <a:r>
              <a:rPr sz="1300" b="1" spc="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detect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716" y="5622137"/>
            <a:ext cx="10565130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exactly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why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Rabin–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Karp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performs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character-</a:t>
            </a:r>
            <a:r>
              <a:rPr sz="1300" b="1" spc="114" dirty="0">
                <a:solidFill>
                  <a:srgbClr val="272424"/>
                </a:solidFill>
                <a:latin typeface="Arial"/>
                <a:cs typeface="Arial"/>
              </a:rPr>
              <a:t>by-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character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verification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after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match.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necessary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but 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not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sufficient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condition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389001"/>
            <a:ext cx="46774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" dirty="0"/>
              <a:t>Complete</a:t>
            </a:r>
            <a:r>
              <a:rPr sz="1650" spc="-140" dirty="0"/>
              <a:t> </a:t>
            </a:r>
            <a:r>
              <a:rPr sz="1650" spc="-45" dirty="0"/>
              <a:t>Python</a:t>
            </a:r>
            <a:r>
              <a:rPr sz="1650" spc="-70" dirty="0"/>
              <a:t> </a:t>
            </a:r>
            <a:r>
              <a:rPr sz="1650" spc="-25" dirty="0"/>
              <a:t>Implementation</a:t>
            </a:r>
            <a:r>
              <a:rPr sz="1650" spc="-114" dirty="0"/>
              <a:t> </a:t>
            </a:r>
            <a:r>
              <a:rPr sz="1650" spc="-25" dirty="0"/>
              <a:t>of</a:t>
            </a:r>
            <a:r>
              <a:rPr sz="1650" spc="-85" dirty="0"/>
              <a:t> </a:t>
            </a:r>
            <a:r>
              <a:rPr sz="1650" spc="-50" dirty="0"/>
              <a:t>Rabin–</a:t>
            </a:r>
            <a:r>
              <a:rPr sz="1650" spc="-20" dirty="0"/>
              <a:t>Karp</a:t>
            </a:r>
            <a:endParaRPr sz="1650"/>
          </a:p>
        </p:txBody>
      </p:sp>
      <p:sp>
        <p:nvSpPr>
          <p:cNvPr id="3" name="object 3"/>
          <p:cNvSpPr/>
          <p:nvPr/>
        </p:nvSpPr>
        <p:spPr>
          <a:xfrm>
            <a:off x="661416" y="757427"/>
            <a:ext cx="10869295" cy="5511165"/>
          </a:xfrm>
          <a:custGeom>
            <a:avLst/>
            <a:gdLst/>
            <a:ahLst/>
            <a:cxnLst/>
            <a:rect l="l" t="t" r="r" b="b"/>
            <a:pathLst>
              <a:path w="10869295" h="5511165">
                <a:moveTo>
                  <a:pt x="10833227" y="0"/>
                </a:moveTo>
                <a:lnTo>
                  <a:pt x="35979" y="0"/>
                </a:lnTo>
                <a:lnTo>
                  <a:pt x="21972" y="2829"/>
                </a:lnTo>
                <a:lnTo>
                  <a:pt x="10536" y="10540"/>
                </a:lnTo>
                <a:lnTo>
                  <a:pt x="2826" y="21967"/>
                </a:lnTo>
                <a:lnTo>
                  <a:pt x="0" y="35941"/>
                </a:lnTo>
                <a:lnTo>
                  <a:pt x="0" y="5474804"/>
                </a:lnTo>
                <a:lnTo>
                  <a:pt x="2826" y="5488811"/>
                </a:lnTo>
                <a:lnTo>
                  <a:pt x="10536" y="5500247"/>
                </a:lnTo>
                <a:lnTo>
                  <a:pt x="21972" y="5507957"/>
                </a:lnTo>
                <a:lnTo>
                  <a:pt x="35979" y="5510784"/>
                </a:lnTo>
                <a:lnTo>
                  <a:pt x="10833227" y="5510784"/>
                </a:lnTo>
                <a:lnTo>
                  <a:pt x="10847200" y="5507957"/>
                </a:lnTo>
                <a:lnTo>
                  <a:pt x="10858626" y="5500247"/>
                </a:lnTo>
                <a:lnTo>
                  <a:pt x="10866338" y="5488811"/>
                </a:lnTo>
                <a:lnTo>
                  <a:pt x="10869167" y="5474804"/>
                </a:lnTo>
                <a:lnTo>
                  <a:pt x="10869167" y="35941"/>
                </a:lnTo>
                <a:lnTo>
                  <a:pt x="10866338" y="21967"/>
                </a:lnTo>
                <a:lnTo>
                  <a:pt x="10858627" y="10541"/>
                </a:lnTo>
                <a:lnTo>
                  <a:pt x="10847200" y="2829"/>
                </a:lnTo>
                <a:lnTo>
                  <a:pt x="10833227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1738" y="815416"/>
            <a:ext cx="3182620" cy="5164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1808480" indent="-180340">
              <a:lnSpc>
                <a:spcPct val="132300"/>
              </a:lnSpc>
              <a:spcBef>
                <a:spcPts val="100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def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rabin_karp(text,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pattern):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n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len(text)</a:t>
            </a:r>
            <a:endParaRPr sz="650">
              <a:latin typeface="Consolas"/>
              <a:cs typeface="Consolas"/>
            </a:endParaRPr>
          </a:p>
          <a:p>
            <a:pPr marL="192405" marR="2260600">
              <a:lnSpc>
                <a:spcPct val="132300"/>
              </a:lnSpc>
              <a:spcBef>
                <a:spcPts val="10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m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 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len(pattern)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m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&gt;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n:</a:t>
            </a:r>
            <a:endParaRPr sz="650">
              <a:latin typeface="Consolas"/>
              <a:cs typeface="Consolas"/>
            </a:endParaRPr>
          </a:p>
          <a:p>
            <a:pPr marL="192405" marR="2394585" indent="180975">
              <a:lnSpc>
                <a:spcPct val="132300"/>
              </a:lnSpc>
              <a:spcBef>
                <a:spcPts val="15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return</a:t>
            </a:r>
            <a:r>
              <a:rPr sz="6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[]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base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256</a:t>
            </a:r>
            <a:endParaRPr sz="650">
              <a:latin typeface="Consolas"/>
              <a:cs typeface="Consolas"/>
            </a:endParaRPr>
          </a:p>
          <a:p>
            <a:pPr marL="192405">
              <a:lnSpc>
                <a:spcPct val="100000"/>
              </a:lnSpc>
              <a:spcBef>
                <a:spcPts val="260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prime</a:t>
            </a:r>
            <a:r>
              <a:rPr sz="6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101</a:t>
            </a:r>
            <a:endParaRPr sz="650">
              <a:latin typeface="Consolas"/>
              <a:cs typeface="Consolas"/>
            </a:endParaRPr>
          </a:p>
          <a:p>
            <a:pPr marL="192405">
              <a:lnSpc>
                <a:spcPct val="100000"/>
              </a:lnSpc>
              <a:spcBef>
                <a:spcPts val="254"/>
              </a:spcBef>
            </a:pP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pattern_hash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0</a:t>
            </a:r>
            <a:endParaRPr sz="650">
              <a:latin typeface="Consolas"/>
              <a:cs typeface="Consolas"/>
            </a:endParaRPr>
          </a:p>
          <a:p>
            <a:pPr marL="192405">
              <a:lnSpc>
                <a:spcPct val="100000"/>
              </a:lnSpc>
              <a:spcBef>
                <a:spcPts val="265"/>
              </a:spcBef>
            </a:pP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window_hash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0</a:t>
            </a:r>
            <a:endParaRPr sz="650">
              <a:latin typeface="Consolas"/>
              <a:cs typeface="Consolas"/>
            </a:endParaRPr>
          </a:p>
          <a:p>
            <a:pPr marL="192405" marR="2214880">
              <a:lnSpc>
                <a:spcPct val="132300"/>
              </a:lnSpc>
            </a:pP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highest_power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1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matches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[]</a:t>
            </a:r>
            <a:endParaRPr sz="6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650">
              <a:latin typeface="Consolas"/>
              <a:cs typeface="Consolas"/>
            </a:endParaRPr>
          </a:p>
          <a:p>
            <a:pPr marL="192405" marR="1628139">
              <a:lnSpc>
                <a:spcPct val="133800"/>
              </a:lnSpc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#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Calculate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base^(m-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1)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%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prime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for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</a:t>
            </a:r>
            <a:r>
              <a:rPr sz="6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in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range(m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-</a:t>
            </a:r>
            <a:r>
              <a:rPr sz="6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1):</a:t>
            </a:r>
            <a:endParaRPr sz="650">
              <a:latin typeface="Consolas"/>
              <a:cs typeface="Consolas"/>
            </a:endParaRPr>
          </a:p>
          <a:p>
            <a:pPr marL="373380">
              <a:lnSpc>
                <a:spcPct val="100000"/>
              </a:lnSpc>
              <a:spcBef>
                <a:spcPts val="254"/>
              </a:spcBef>
            </a:pP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highest_power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(highest_power</a:t>
            </a:r>
            <a:r>
              <a:rPr sz="6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*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base)</a:t>
            </a:r>
            <a:r>
              <a:rPr sz="6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%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prime</a:t>
            </a:r>
            <a:endParaRPr sz="6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650">
              <a:latin typeface="Consolas"/>
              <a:cs typeface="Consolas"/>
            </a:endParaRPr>
          </a:p>
          <a:p>
            <a:pPr marL="192405" marR="1583055">
              <a:lnSpc>
                <a:spcPct val="133800"/>
              </a:lnSpc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#</a:t>
            </a:r>
            <a:r>
              <a:rPr sz="65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Calculate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initial</a:t>
            </a:r>
            <a:r>
              <a:rPr sz="6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hash</a:t>
            </a:r>
            <a:r>
              <a:rPr sz="6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values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for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in</a:t>
            </a:r>
            <a:r>
              <a:rPr sz="6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range(m):</a:t>
            </a:r>
            <a:endParaRPr sz="650">
              <a:latin typeface="Consolas"/>
              <a:cs typeface="Consolas"/>
            </a:endParaRPr>
          </a:p>
          <a:p>
            <a:pPr marL="373380" marR="5080">
              <a:lnSpc>
                <a:spcPts val="1040"/>
              </a:lnSpc>
              <a:spcBef>
                <a:spcPts val="75"/>
              </a:spcBef>
              <a:tabLst>
                <a:tab pos="2854325" algn="l"/>
              </a:tabLst>
            </a:pP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pattern_hash</a:t>
            </a:r>
            <a:r>
              <a:rPr sz="6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(base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*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pattern_hash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ord(pattern[i]))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%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prime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window_hash</a:t>
            </a:r>
            <a:r>
              <a:rPr sz="650" spc="2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(base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*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window_hash</a:t>
            </a:r>
            <a:r>
              <a:rPr sz="650" spc="2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ord(text[i]))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	%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prime</a:t>
            </a:r>
            <a:endParaRPr sz="6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650">
              <a:latin typeface="Consolas"/>
              <a:cs typeface="Consolas"/>
            </a:endParaRPr>
          </a:p>
          <a:p>
            <a:pPr marL="192405" marR="1492885">
              <a:lnSpc>
                <a:spcPct val="132300"/>
              </a:lnSpc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#</a:t>
            </a:r>
            <a:r>
              <a:rPr sz="6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Slide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the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pattern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over</a:t>
            </a:r>
            <a:r>
              <a:rPr sz="6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the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text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for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in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range(n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-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m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1):</a:t>
            </a:r>
            <a:endParaRPr sz="650">
              <a:latin typeface="Consolas"/>
              <a:cs typeface="Consolas"/>
            </a:endParaRPr>
          </a:p>
          <a:p>
            <a:pPr marL="553085" marR="1356995" indent="-180340">
              <a:lnSpc>
                <a:spcPts val="1040"/>
              </a:lnSpc>
              <a:spcBef>
                <a:spcPts val="70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pattern_hash</a:t>
            </a:r>
            <a:r>
              <a:rPr sz="6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==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window_hash: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650" spc="-4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text[i:i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6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m]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==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pattern:</a:t>
            </a:r>
            <a:endParaRPr sz="650">
              <a:latin typeface="Consolas"/>
              <a:cs typeface="Consolas"/>
            </a:endParaRPr>
          </a:p>
          <a:p>
            <a:pPr marL="734695">
              <a:lnSpc>
                <a:spcPct val="100000"/>
              </a:lnSpc>
              <a:spcBef>
                <a:spcPts val="180"/>
              </a:spcBef>
            </a:pP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matches.append(i)</a:t>
            </a:r>
            <a:endParaRPr sz="650">
              <a:latin typeface="Consolas"/>
              <a:cs typeface="Consolas"/>
            </a:endParaRPr>
          </a:p>
          <a:p>
            <a:pPr marL="373380">
              <a:lnSpc>
                <a:spcPct val="100000"/>
              </a:lnSpc>
              <a:spcBef>
                <a:spcPts val="265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</a:t>
            </a:r>
            <a:r>
              <a:rPr sz="650" spc="-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&lt;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n</a:t>
            </a:r>
            <a:r>
              <a:rPr sz="650" spc="-1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-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m:</a:t>
            </a:r>
            <a:endParaRPr sz="650">
              <a:latin typeface="Consolas"/>
              <a:cs typeface="Consolas"/>
            </a:endParaRPr>
          </a:p>
          <a:p>
            <a:pPr marL="553085">
              <a:lnSpc>
                <a:spcPct val="100000"/>
              </a:lnSpc>
              <a:spcBef>
                <a:spcPts val="250"/>
              </a:spcBef>
            </a:pP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window_hash</a:t>
            </a:r>
            <a:r>
              <a:rPr sz="650" spc="-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50" dirty="0">
                <a:solidFill>
                  <a:srgbClr val="D63948"/>
                </a:solidFill>
                <a:latin typeface="Consolas"/>
                <a:cs typeface="Consolas"/>
              </a:rPr>
              <a:t>(</a:t>
            </a:r>
            <a:endParaRPr sz="650">
              <a:latin typeface="Consolas"/>
              <a:cs typeface="Consolas"/>
            </a:endParaRPr>
          </a:p>
          <a:p>
            <a:pPr marL="734695">
              <a:lnSpc>
                <a:spcPct val="100000"/>
              </a:lnSpc>
              <a:spcBef>
                <a:spcPts val="265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base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*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(window_hash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-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ord(text[i])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*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highest_power)</a:t>
            </a:r>
            <a:endParaRPr sz="650">
              <a:latin typeface="Consolas"/>
              <a:cs typeface="Consolas"/>
            </a:endParaRPr>
          </a:p>
          <a:p>
            <a:pPr marL="734695">
              <a:lnSpc>
                <a:spcPct val="100000"/>
              </a:lnSpc>
              <a:spcBef>
                <a:spcPts val="254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ord(text[i</a:t>
            </a:r>
            <a:r>
              <a:rPr sz="650" spc="-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+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m])</a:t>
            </a:r>
            <a:endParaRPr sz="650">
              <a:latin typeface="Consolas"/>
              <a:cs typeface="Consolas"/>
            </a:endParaRPr>
          </a:p>
          <a:p>
            <a:pPr marL="553085">
              <a:lnSpc>
                <a:spcPct val="100000"/>
              </a:lnSpc>
              <a:spcBef>
                <a:spcPts val="265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)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%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prime</a:t>
            </a:r>
            <a:endParaRPr sz="650">
              <a:latin typeface="Consolas"/>
              <a:cs typeface="Consolas"/>
            </a:endParaRPr>
          </a:p>
          <a:p>
            <a:pPr marL="734695" marR="1537970" indent="-181610">
              <a:lnSpc>
                <a:spcPts val="1040"/>
              </a:lnSpc>
              <a:spcBef>
                <a:spcPts val="70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if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window_hash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&lt;</a:t>
            </a:r>
            <a:r>
              <a:rPr sz="650" spc="-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0: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window_hash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+=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prime</a:t>
            </a:r>
            <a:endParaRPr sz="650">
              <a:latin typeface="Consolas"/>
              <a:cs typeface="Consolas"/>
            </a:endParaRPr>
          </a:p>
          <a:p>
            <a:pPr marL="192405">
              <a:lnSpc>
                <a:spcPct val="100000"/>
              </a:lnSpc>
              <a:spcBef>
                <a:spcPts val="175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return</a:t>
            </a:r>
            <a:r>
              <a:rPr sz="650" spc="-7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matches</a:t>
            </a:r>
            <a:endParaRPr sz="6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650">
              <a:latin typeface="Consolas"/>
              <a:cs typeface="Consolas"/>
            </a:endParaRPr>
          </a:p>
          <a:p>
            <a:pPr marL="12700" marR="2350135">
              <a:lnSpc>
                <a:spcPct val="132400"/>
              </a:lnSpc>
              <a:spcBef>
                <a:spcPts val="5"/>
              </a:spcBef>
              <a:tabLst>
                <a:tab pos="373380" algn="l"/>
              </a:tabLst>
            </a:pP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text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	=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"BANANA"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pattern</a:t>
            </a:r>
            <a:r>
              <a:rPr sz="6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"ANA"</a:t>
            </a:r>
            <a:endParaRPr sz="650">
              <a:latin typeface="Consolas"/>
              <a:cs typeface="Consolas"/>
            </a:endParaRPr>
          </a:p>
          <a:p>
            <a:pPr marL="12700" marR="1177925">
              <a:lnSpc>
                <a:spcPct val="132600"/>
              </a:lnSpc>
              <a:spcBef>
                <a:spcPts val="10"/>
              </a:spcBef>
            </a:pP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result</a:t>
            </a:r>
            <a:r>
              <a:rPr sz="650" spc="31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rabin_karp(text,</a:t>
            </a:r>
            <a:r>
              <a:rPr sz="650" spc="-3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pattern) print("Pattern</a:t>
            </a:r>
            <a:r>
              <a:rPr sz="650" spc="-4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found</a:t>
            </a:r>
            <a:r>
              <a:rPr sz="650" spc="-2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D63948"/>
                </a:solidFill>
                <a:latin typeface="Consolas"/>
                <a:cs typeface="Consolas"/>
              </a:rPr>
              <a:t>at</a:t>
            </a:r>
            <a:r>
              <a:rPr sz="650" spc="-2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positions:",</a:t>
            </a:r>
            <a:r>
              <a:rPr sz="650" spc="-3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D63948"/>
                </a:solidFill>
                <a:latin typeface="Consolas"/>
                <a:cs typeface="Consolas"/>
              </a:rPr>
              <a:t>result)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716" y="6286296"/>
            <a:ext cx="72771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b="1" dirty="0">
                <a:solidFill>
                  <a:srgbClr val="272424"/>
                </a:solidFill>
                <a:latin typeface="Arial"/>
                <a:cs typeface="Arial"/>
              </a:rPr>
              <a:t>Expected</a:t>
            </a:r>
            <a:r>
              <a:rPr sz="65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650" b="1" spc="-10" dirty="0">
                <a:solidFill>
                  <a:srgbClr val="272424"/>
                </a:solidFill>
                <a:latin typeface="Arial"/>
                <a:cs typeface="Arial"/>
              </a:rPr>
              <a:t>Output: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1411" y="6295987"/>
            <a:ext cx="1533525" cy="108585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650" dirty="0">
                <a:solidFill>
                  <a:srgbClr val="272424"/>
                </a:solidFill>
                <a:latin typeface="Consolas"/>
                <a:cs typeface="Consolas"/>
              </a:rPr>
              <a:t>Pattern</a:t>
            </a:r>
            <a:r>
              <a:rPr sz="650" spc="-2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272424"/>
                </a:solidFill>
                <a:latin typeface="Consolas"/>
                <a:cs typeface="Consolas"/>
              </a:rPr>
              <a:t>found</a:t>
            </a:r>
            <a:r>
              <a:rPr sz="650" spc="-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272424"/>
                </a:solidFill>
                <a:latin typeface="Consolas"/>
                <a:cs typeface="Consolas"/>
              </a:rPr>
              <a:t>at</a:t>
            </a:r>
            <a:r>
              <a:rPr sz="650" spc="-5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650" spc="-10" dirty="0">
                <a:solidFill>
                  <a:srgbClr val="272424"/>
                </a:solidFill>
                <a:latin typeface="Consolas"/>
                <a:cs typeface="Consolas"/>
              </a:rPr>
              <a:t>positions:</a:t>
            </a:r>
            <a:r>
              <a:rPr sz="650" spc="-2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650" dirty="0">
                <a:solidFill>
                  <a:srgbClr val="272424"/>
                </a:solidFill>
                <a:latin typeface="Consolas"/>
                <a:cs typeface="Consolas"/>
              </a:rPr>
              <a:t>[1,</a:t>
            </a:r>
            <a:r>
              <a:rPr sz="650" spc="-4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650" spc="-25" dirty="0">
                <a:solidFill>
                  <a:srgbClr val="272424"/>
                </a:solidFill>
                <a:latin typeface="Consolas"/>
                <a:cs typeface="Consolas"/>
              </a:rPr>
              <a:t>3]</a:t>
            </a:r>
            <a:endParaRPr sz="6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3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Rabin–</a:t>
            </a:r>
            <a:r>
              <a:rPr spc="-114" dirty="0"/>
              <a:t>Karp</a:t>
            </a:r>
            <a:r>
              <a:rPr spc="-300" dirty="0"/>
              <a:t> </a:t>
            </a:r>
            <a:r>
              <a:rPr spc="-325" dirty="0"/>
              <a:t>—</a:t>
            </a:r>
            <a:r>
              <a:rPr spc="-260" dirty="0"/>
              <a:t> </a:t>
            </a:r>
            <a:r>
              <a:rPr spc="-90" dirty="0"/>
              <a:t>Initialization</a:t>
            </a:r>
            <a:r>
              <a:rPr spc="-300" dirty="0"/>
              <a:t> </a:t>
            </a:r>
            <a:r>
              <a:rPr spc="-55" dirty="0"/>
              <a:t>Explained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1842516"/>
            <a:ext cx="5352288" cy="11231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2019" y="1972055"/>
            <a:ext cx="1378585" cy="26543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n</a:t>
            </a:r>
            <a:r>
              <a:rPr sz="1600" spc="-10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=</a:t>
            </a:r>
            <a:r>
              <a:rPr sz="1600" spc="-114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272424"/>
                </a:solidFill>
                <a:latin typeface="Consolas"/>
                <a:cs typeface="Consolas"/>
              </a:rPr>
              <a:t>len(text)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6226" y="1964562"/>
            <a:ext cx="382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3388" y="1972055"/>
            <a:ext cx="1694180" cy="26543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m</a:t>
            </a:r>
            <a:r>
              <a:rPr sz="1600" spc="-114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=</a:t>
            </a:r>
            <a:r>
              <a:rPr sz="1600" spc="-10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272424"/>
                </a:solidFill>
                <a:latin typeface="Consolas"/>
                <a:cs typeface="Consolas"/>
              </a:rPr>
              <a:t>len(pattern)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9319" y="2317117"/>
            <a:ext cx="4706620" cy="45656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Store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pattern.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Used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throughout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loop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ranges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extraction.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8296" y="1842516"/>
            <a:ext cx="5352288" cy="11231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439027" y="1984248"/>
            <a:ext cx="2006600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60"/>
              </a:lnSpc>
            </a:pP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if</a:t>
            </a:r>
            <a:r>
              <a:rPr sz="1600" spc="-1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m</a:t>
            </a:r>
            <a:r>
              <a:rPr sz="1600" spc="-1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&gt;</a:t>
            </a:r>
            <a:r>
              <a:rPr sz="1600" spc="-1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n:</a:t>
            </a:r>
            <a:r>
              <a:rPr sz="1600" spc="-1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35" dirty="0">
                <a:solidFill>
                  <a:srgbClr val="272424"/>
                </a:solidFill>
                <a:latin typeface="Consolas"/>
                <a:cs typeface="Consolas"/>
              </a:rPr>
              <a:t>return</a:t>
            </a:r>
            <a:r>
              <a:rPr sz="1600" spc="-13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272424"/>
                </a:solidFill>
                <a:latin typeface="Consolas"/>
                <a:cs typeface="Consolas"/>
              </a:rPr>
              <a:t>[]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27089" y="2317117"/>
            <a:ext cx="4194810" cy="45656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longer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than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text,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logically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impossible.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Return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empty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immediately.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1" name="object 11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416" y="3131820"/>
            <a:ext cx="5352288" cy="133807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22019" y="3273297"/>
            <a:ext cx="1061720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4"/>
              </a:lnSpc>
            </a:pPr>
            <a:r>
              <a:rPr sz="1600" spc="-20" dirty="0">
                <a:solidFill>
                  <a:srgbClr val="272424"/>
                </a:solidFill>
                <a:latin typeface="Consolas"/>
                <a:cs typeface="Consolas"/>
              </a:rPr>
              <a:t>base</a:t>
            </a:r>
            <a:r>
              <a:rPr sz="1600" spc="-1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=</a:t>
            </a:r>
            <a:r>
              <a:rPr sz="1600" spc="-1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45" dirty="0">
                <a:solidFill>
                  <a:srgbClr val="272424"/>
                </a:solidFill>
                <a:latin typeface="Consolas"/>
                <a:cs typeface="Consolas"/>
              </a:rPr>
              <a:t>256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9319" y="3607460"/>
            <a:ext cx="4304665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Used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base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calculation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representing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number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ASCII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set.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4" name="object 14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8296" y="3131820"/>
            <a:ext cx="5352288" cy="133807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439027" y="3273297"/>
            <a:ext cx="1166495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64"/>
              </a:lnSpc>
            </a:pPr>
            <a:r>
              <a:rPr sz="1600" spc="-25" dirty="0">
                <a:solidFill>
                  <a:srgbClr val="272424"/>
                </a:solidFill>
                <a:latin typeface="Consolas"/>
                <a:cs typeface="Consolas"/>
              </a:rPr>
              <a:t>prime</a:t>
            </a:r>
            <a:r>
              <a:rPr sz="1600" spc="-14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=</a:t>
            </a:r>
            <a:r>
              <a:rPr sz="1600" spc="-1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40" dirty="0">
                <a:solidFill>
                  <a:srgbClr val="272424"/>
                </a:solidFill>
                <a:latin typeface="Consolas"/>
                <a:cs typeface="Consolas"/>
              </a:rPr>
              <a:t>101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27089" y="3607460"/>
            <a:ext cx="4861560" cy="668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10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prime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number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used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keep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within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manageable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range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reduce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collisions.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Modular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arithmetic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prevents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integer overflow.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7" name="object 1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4636008"/>
            <a:ext cx="5352288" cy="112318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22019" y="4765166"/>
            <a:ext cx="1275080" cy="26543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1600" spc="-50" dirty="0">
                <a:solidFill>
                  <a:srgbClr val="272424"/>
                </a:solidFill>
                <a:latin typeface="Consolas"/>
                <a:cs typeface="Consolas"/>
              </a:rPr>
              <a:t>pattern_hash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11070" y="4758309"/>
            <a:ext cx="382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8232" y="4765166"/>
            <a:ext cx="1169670" cy="26543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1600" spc="-50" dirty="0">
                <a:solidFill>
                  <a:srgbClr val="272424"/>
                </a:solidFill>
                <a:latin typeface="Consolas"/>
                <a:cs typeface="Consolas"/>
              </a:rPr>
              <a:t>window_hash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09319" y="5111984"/>
            <a:ext cx="4907915" cy="455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Store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pattern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current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respectively.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Both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0.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22" name="object 2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8296" y="4636008"/>
            <a:ext cx="5352288" cy="112318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439027" y="4777359"/>
            <a:ext cx="1271905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64"/>
              </a:lnSpc>
            </a:pPr>
            <a:r>
              <a:rPr sz="1600" spc="-35" dirty="0">
                <a:solidFill>
                  <a:srgbClr val="272424"/>
                </a:solidFill>
                <a:latin typeface="Consolas"/>
                <a:cs typeface="Consolas"/>
              </a:rPr>
              <a:t>matches</a:t>
            </a:r>
            <a:r>
              <a:rPr sz="1600" spc="-14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72424"/>
                </a:solidFill>
                <a:latin typeface="Consolas"/>
                <a:cs typeface="Consolas"/>
              </a:rPr>
              <a:t>=</a:t>
            </a:r>
            <a:r>
              <a:rPr sz="1600" spc="-13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272424"/>
                </a:solidFill>
                <a:latin typeface="Consolas"/>
                <a:cs typeface="Consolas"/>
              </a:rPr>
              <a:t>[]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27089" y="5111984"/>
            <a:ext cx="4843145" cy="455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empty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that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stores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starting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where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found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670051"/>
            <a:ext cx="6600825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spc="-90" dirty="0"/>
              <a:t>Rabin–</a:t>
            </a:r>
            <a:r>
              <a:rPr sz="3050" spc="-114" dirty="0"/>
              <a:t>Karp</a:t>
            </a:r>
            <a:r>
              <a:rPr sz="3050" spc="-220" dirty="0"/>
              <a:t> </a:t>
            </a:r>
            <a:r>
              <a:rPr sz="3050" spc="-305" dirty="0"/>
              <a:t>—</a:t>
            </a:r>
            <a:r>
              <a:rPr sz="3050" spc="-250" dirty="0"/>
              <a:t> </a:t>
            </a:r>
            <a:r>
              <a:rPr sz="3050" spc="-85" dirty="0"/>
              <a:t>Initial</a:t>
            </a:r>
            <a:r>
              <a:rPr sz="3050" spc="-229" dirty="0"/>
              <a:t> </a:t>
            </a:r>
            <a:r>
              <a:rPr sz="3050" spc="-120" dirty="0"/>
              <a:t>Hash</a:t>
            </a:r>
            <a:r>
              <a:rPr sz="3050" spc="-229" dirty="0"/>
              <a:t> </a:t>
            </a:r>
            <a:r>
              <a:rPr sz="3050" spc="-35" dirty="0"/>
              <a:t>Calculation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648716" y="1484757"/>
            <a:ext cx="1009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latin typeface="Arial"/>
                <a:cs typeface="Arial"/>
              </a:rPr>
              <a:t>Computing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6400" y="1494155"/>
            <a:ext cx="1300480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500" spc="-50" dirty="0">
                <a:solidFill>
                  <a:srgbClr val="272424"/>
                </a:solidFill>
                <a:latin typeface="Consolas"/>
                <a:cs typeface="Consolas"/>
              </a:rPr>
              <a:t>highest_power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1416" y="1923288"/>
            <a:ext cx="5242560" cy="817244"/>
          </a:xfrm>
          <a:custGeom>
            <a:avLst/>
            <a:gdLst/>
            <a:ahLst/>
            <a:cxnLst/>
            <a:rect l="l" t="t" r="r" b="b"/>
            <a:pathLst>
              <a:path w="5242560" h="817244">
                <a:moveTo>
                  <a:pt x="5176520" y="0"/>
                </a:moveTo>
                <a:lnTo>
                  <a:pt x="65989" y="0"/>
                </a:lnTo>
                <a:lnTo>
                  <a:pt x="40301" y="5193"/>
                </a:lnTo>
                <a:lnTo>
                  <a:pt x="19326" y="19351"/>
                </a:lnTo>
                <a:lnTo>
                  <a:pt x="5185" y="40344"/>
                </a:lnTo>
                <a:lnTo>
                  <a:pt x="0" y="66039"/>
                </a:lnTo>
                <a:lnTo>
                  <a:pt x="0" y="750824"/>
                </a:lnTo>
                <a:lnTo>
                  <a:pt x="5185" y="776519"/>
                </a:lnTo>
                <a:lnTo>
                  <a:pt x="19326" y="797512"/>
                </a:lnTo>
                <a:lnTo>
                  <a:pt x="40301" y="811670"/>
                </a:lnTo>
                <a:lnTo>
                  <a:pt x="65989" y="816863"/>
                </a:lnTo>
                <a:lnTo>
                  <a:pt x="5176520" y="816863"/>
                </a:lnTo>
                <a:lnTo>
                  <a:pt x="5202215" y="811670"/>
                </a:lnTo>
                <a:lnTo>
                  <a:pt x="5223208" y="797512"/>
                </a:lnTo>
                <a:lnTo>
                  <a:pt x="5237366" y="776519"/>
                </a:lnTo>
                <a:lnTo>
                  <a:pt x="5242560" y="750824"/>
                </a:lnTo>
                <a:lnTo>
                  <a:pt x="5242560" y="66039"/>
                </a:lnTo>
                <a:lnTo>
                  <a:pt x="5237366" y="40344"/>
                </a:lnTo>
                <a:lnTo>
                  <a:pt x="5223208" y="19351"/>
                </a:lnTo>
                <a:lnTo>
                  <a:pt x="5202215" y="5193"/>
                </a:lnTo>
                <a:lnTo>
                  <a:pt x="5176520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9740" y="2897123"/>
            <a:ext cx="1484630" cy="200025"/>
          </a:xfrm>
          <a:custGeom>
            <a:avLst/>
            <a:gdLst/>
            <a:ahLst/>
            <a:cxnLst/>
            <a:rect l="l" t="t" r="r" b="b"/>
            <a:pathLst>
              <a:path w="1484630" h="200025">
                <a:moveTo>
                  <a:pt x="1484363" y="0"/>
                </a:moveTo>
                <a:lnTo>
                  <a:pt x="658368" y="0"/>
                </a:lnTo>
                <a:lnTo>
                  <a:pt x="576072" y="0"/>
                </a:lnTo>
                <a:lnTo>
                  <a:pt x="0" y="0"/>
                </a:lnTo>
                <a:lnTo>
                  <a:pt x="0" y="199644"/>
                </a:lnTo>
                <a:lnTo>
                  <a:pt x="576072" y="199644"/>
                </a:lnTo>
                <a:lnTo>
                  <a:pt x="658368" y="199644"/>
                </a:lnTo>
                <a:lnTo>
                  <a:pt x="1484363" y="199644"/>
                </a:lnTo>
                <a:lnTo>
                  <a:pt x="1484363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8716" y="2038858"/>
            <a:ext cx="5154295" cy="125285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565"/>
              </a:spcBef>
            </a:pPr>
            <a:r>
              <a:rPr sz="1200" dirty="0">
                <a:solidFill>
                  <a:srgbClr val="D63948"/>
                </a:solidFill>
                <a:latin typeface="Consolas"/>
                <a:cs typeface="Consolas"/>
              </a:rPr>
              <a:t>for</a:t>
            </a:r>
            <a:r>
              <a:rPr sz="120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63948"/>
                </a:solidFill>
                <a:latin typeface="Consolas"/>
                <a:cs typeface="Consolas"/>
              </a:rPr>
              <a:t>i</a:t>
            </a:r>
            <a:r>
              <a:rPr sz="120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63948"/>
                </a:solidFill>
                <a:latin typeface="Consolas"/>
                <a:cs typeface="Consolas"/>
              </a:rPr>
              <a:t>in</a:t>
            </a:r>
            <a:r>
              <a:rPr sz="120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63948"/>
                </a:solidFill>
                <a:latin typeface="Consolas"/>
                <a:cs typeface="Consolas"/>
              </a:rPr>
              <a:t>range(m</a:t>
            </a:r>
            <a:r>
              <a:rPr sz="1200" spc="-5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63948"/>
                </a:solidFill>
                <a:latin typeface="Consolas"/>
                <a:cs typeface="Consolas"/>
              </a:rPr>
              <a:t>-</a:t>
            </a:r>
            <a:r>
              <a:rPr sz="1200" spc="-5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D63948"/>
                </a:solidFill>
                <a:latin typeface="Consolas"/>
                <a:cs typeface="Consolas"/>
              </a:rPr>
              <a:t>1):</a:t>
            </a:r>
            <a:endParaRPr sz="1200">
              <a:latin typeface="Consolas"/>
              <a:cs typeface="Consolas"/>
            </a:endParaRPr>
          </a:p>
          <a:p>
            <a:pPr marL="530225">
              <a:lnSpc>
                <a:spcPct val="100000"/>
              </a:lnSpc>
              <a:spcBef>
                <a:spcPts val="470"/>
              </a:spcBef>
            </a:pPr>
            <a:r>
              <a:rPr sz="1200" spc="-10" dirty="0">
                <a:solidFill>
                  <a:srgbClr val="D63948"/>
                </a:solidFill>
                <a:latin typeface="Consolas"/>
                <a:cs typeface="Consolas"/>
              </a:rPr>
              <a:t>highest_power</a:t>
            </a:r>
            <a:r>
              <a:rPr sz="120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63948"/>
                </a:solidFill>
                <a:latin typeface="Consolas"/>
                <a:cs typeface="Consolas"/>
              </a:rPr>
              <a:t>=</a:t>
            </a:r>
            <a:r>
              <a:rPr sz="1200" spc="-8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D63948"/>
                </a:solidFill>
                <a:latin typeface="Consolas"/>
                <a:cs typeface="Consolas"/>
              </a:rPr>
              <a:t>(highest_power</a:t>
            </a:r>
            <a:r>
              <a:rPr sz="120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63948"/>
                </a:solidFill>
                <a:latin typeface="Consolas"/>
                <a:cs typeface="Consolas"/>
              </a:rPr>
              <a:t>*</a:t>
            </a:r>
            <a:r>
              <a:rPr sz="1200" spc="-65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63948"/>
                </a:solidFill>
                <a:latin typeface="Consolas"/>
                <a:cs typeface="Consolas"/>
              </a:rPr>
              <a:t>base)</a:t>
            </a:r>
            <a:r>
              <a:rPr sz="1200" spc="-7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63948"/>
                </a:solidFill>
                <a:latin typeface="Consolas"/>
                <a:cs typeface="Consolas"/>
              </a:rPr>
              <a:t>%</a:t>
            </a:r>
            <a:r>
              <a:rPr sz="1200" spc="-80" dirty="0">
                <a:solidFill>
                  <a:srgbClr val="D6394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D63948"/>
                </a:solidFill>
                <a:latin typeface="Consolas"/>
                <a:cs typeface="Consolas"/>
              </a:rPr>
              <a:t>prime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computes</a:t>
            </a:r>
            <a:r>
              <a:rPr sz="12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30" dirty="0">
                <a:solidFill>
                  <a:srgbClr val="272424"/>
                </a:solidFill>
                <a:latin typeface="Consolas"/>
                <a:cs typeface="Consolas"/>
              </a:rPr>
              <a:t>base^(m-</a:t>
            </a:r>
            <a:r>
              <a:rPr sz="1200" dirty="0">
                <a:solidFill>
                  <a:srgbClr val="272424"/>
                </a:solidFill>
                <a:latin typeface="Consolas"/>
                <a:cs typeface="Consolas"/>
              </a:rPr>
              <a:t>1)</a:t>
            </a:r>
            <a:r>
              <a:rPr sz="1200" spc="10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72424"/>
                </a:solidFill>
                <a:latin typeface="Consolas"/>
                <a:cs typeface="Consolas"/>
              </a:rPr>
              <a:t>%</a:t>
            </a:r>
            <a:r>
              <a:rPr sz="1200" spc="7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spc="-30" dirty="0">
                <a:solidFill>
                  <a:srgbClr val="272424"/>
                </a:solidFill>
                <a:latin typeface="Consolas"/>
                <a:cs typeface="Consolas"/>
              </a:rPr>
              <a:t>prime</a:t>
            </a:r>
            <a:r>
              <a:rPr sz="12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r>
              <a:rPr sz="12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needed</a:t>
            </a:r>
            <a:r>
              <a:rPr sz="12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remove</a:t>
            </a:r>
            <a:r>
              <a:rPr sz="12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contribution</a:t>
            </a:r>
            <a:r>
              <a:rPr sz="12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20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200" b="1" spc="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72424"/>
                </a:solidFill>
                <a:latin typeface="Arial"/>
                <a:cs typeface="Arial"/>
              </a:rPr>
              <a:t>outgoing</a:t>
            </a:r>
            <a:r>
              <a:rPr sz="120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character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slides</a:t>
            </a:r>
            <a:r>
              <a:rPr sz="12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forward.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1416" y="3718559"/>
            <a:ext cx="5242560" cy="20320"/>
          </a:xfrm>
          <a:custGeom>
            <a:avLst/>
            <a:gdLst/>
            <a:ahLst/>
            <a:cxnLst/>
            <a:rect l="l" t="t" r="r" b="b"/>
            <a:pathLst>
              <a:path w="5242560" h="20320">
                <a:moveTo>
                  <a:pt x="5238115" y="0"/>
                </a:moveTo>
                <a:lnTo>
                  <a:pt x="4432" y="0"/>
                </a:lnTo>
                <a:lnTo>
                  <a:pt x="0" y="4444"/>
                </a:lnTo>
                <a:lnTo>
                  <a:pt x="0" y="9906"/>
                </a:lnTo>
                <a:lnTo>
                  <a:pt x="0" y="15366"/>
                </a:lnTo>
                <a:lnTo>
                  <a:pt x="4432" y="19812"/>
                </a:lnTo>
                <a:lnTo>
                  <a:pt x="5238115" y="19812"/>
                </a:lnTo>
                <a:lnTo>
                  <a:pt x="5242560" y="15366"/>
                </a:lnTo>
                <a:lnTo>
                  <a:pt x="5242560" y="4444"/>
                </a:lnTo>
                <a:lnTo>
                  <a:pt x="5238115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1416" y="4308347"/>
            <a:ext cx="5242560" cy="1069975"/>
          </a:xfrm>
          <a:custGeom>
            <a:avLst/>
            <a:gdLst/>
            <a:ahLst/>
            <a:cxnLst/>
            <a:rect l="l" t="t" r="r" b="b"/>
            <a:pathLst>
              <a:path w="5242560" h="1069975">
                <a:moveTo>
                  <a:pt x="5176520" y="0"/>
                </a:moveTo>
                <a:lnTo>
                  <a:pt x="66078" y="0"/>
                </a:lnTo>
                <a:lnTo>
                  <a:pt x="40360" y="5193"/>
                </a:lnTo>
                <a:lnTo>
                  <a:pt x="19356" y="19351"/>
                </a:lnTo>
                <a:lnTo>
                  <a:pt x="5193" y="40344"/>
                </a:lnTo>
                <a:lnTo>
                  <a:pt x="0" y="66039"/>
                </a:lnTo>
                <a:lnTo>
                  <a:pt x="0" y="1003807"/>
                </a:lnTo>
                <a:lnTo>
                  <a:pt x="5193" y="1029503"/>
                </a:lnTo>
                <a:lnTo>
                  <a:pt x="19356" y="1050496"/>
                </a:lnTo>
                <a:lnTo>
                  <a:pt x="40360" y="1064654"/>
                </a:lnTo>
                <a:lnTo>
                  <a:pt x="66078" y="1069848"/>
                </a:lnTo>
                <a:lnTo>
                  <a:pt x="5176520" y="1069848"/>
                </a:lnTo>
                <a:lnTo>
                  <a:pt x="5202215" y="1064654"/>
                </a:lnTo>
                <a:lnTo>
                  <a:pt x="5223208" y="1050496"/>
                </a:lnTo>
                <a:lnTo>
                  <a:pt x="5237366" y="1029503"/>
                </a:lnTo>
                <a:lnTo>
                  <a:pt x="5242560" y="1003807"/>
                </a:lnTo>
                <a:lnTo>
                  <a:pt x="5242560" y="66039"/>
                </a:lnTo>
                <a:lnTo>
                  <a:pt x="5237366" y="40344"/>
                </a:lnTo>
                <a:lnTo>
                  <a:pt x="5223208" y="19351"/>
                </a:lnTo>
                <a:lnTo>
                  <a:pt x="5202215" y="5193"/>
                </a:lnTo>
                <a:lnTo>
                  <a:pt x="5176520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7916" y="3884167"/>
            <a:ext cx="5165725" cy="204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500" b="1" spc="-30" dirty="0">
                <a:latin typeface="Arial"/>
                <a:cs typeface="Arial"/>
              </a:rPr>
              <a:t>Computing</a:t>
            </a:r>
            <a:r>
              <a:rPr sz="1500" b="1" spc="-100" dirty="0">
                <a:latin typeface="Arial"/>
                <a:cs typeface="Arial"/>
              </a:rPr>
              <a:t> </a:t>
            </a:r>
            <a:r>
              <a:rPr sz="1500" b="1" spc="-40" dirty="0">
                <a:latin typeface="Arial"/>
                <a:cs typeface="Arial"/>
              </a:rPr>
              <a:t>Initial</a:t>
            </a:r>
            <a:r>
              <a:rPr sz="1500" b="1" spc="-9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Hashes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00">
              <a:latin typeface="Arial"/>
              <a:cs typeface="Arial"/>
            </a:endParaRPr>
          </a:p>
          <a:p>
            <a:pPr marL="252095">
              <a:lnSpc>
                <a:spcPct val="100000"/>
              </a:lnSpc>
            </a:pP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for</a:t>
            </a:r>
            <a:r>
              <a:rPr sz="1200" spc="-5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i</a:t>
            </a:r>
            <a:r>
              <a:rPr sz="1200" spc="-5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in</a:t>
            </a:r>
            <a:r>
              <a:rPr sz="1200" spc="-4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range(m):</a:t>
            </a:r>
            <a:endParaRPr sz="1200">
              <a:latin typeface="Consolas"/>
              <a:cs typeface="Consolas"/>
            </a:endParaRPr>
          </a:p>
          <a:p>
            <a:pPr marL="581025">
              <a:lnSpc>
                <a:spcPct val="100000"/>
              </a:lnSpc>
              <a:spcBef>
                <a:spcPts val="465"/>
              </a:spcBef>
            </a:pP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pattern_hash</a:t>
            </a:r>
            <a:r>
              <a:rPr sz="1200" spc="-6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=</a:t>
            </a:r>
            <a:r>
              <a:rPr sz="1200" spc="-6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(base</a:t>
            </a:r>
            <a:r>
              <a:rPr sz="1200" spc="-6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*</a:t>
            </a:r>
            <a:r>
              <a:rPr sz="1200" spc="-8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pattern_hash</a:t>
            </a:r>
            <a:r>
              <a:rPr sz="1200" spc="-7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+</a:t>
            </a:r>
            <a:r>
              <a:rPr sz="1200" spc="-7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ord(pattern[i]))</a:t>
            </a:r>
            <a:endParaRPr sz="1200">
              <a:latin typeface="Consolas"/>
              <a:cs typeface="Consolas"/>
            </a:endParaRPr>
          </a:p>
          <a:p>
            <a:pPr marL="252095">
              <a:lnSpc>
                <a:spcPct val="100000"/>
              </a:lnSpc>
              <a:spcBef>
                <a:spcPts val="484"/>
              </a:spcBef>
            </a:pP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%</a:t>
            </a:r>
            <a:r>
              <a:rPr sz="1200" spc="-3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prime</a:t>
            </a:r>
            <a:endParaRPr sz="1200">
              <a:latin typeface="Consolas"/>
              <a:cs typeface="Consolas"/>
            </a:endParaRPr>
          </a:p>
          <a:p>
            <a:pPr marL="581025">
              <a:lnSpc>
                <a:spcPct val="100000"/>
              </a:lnSpc>
              <a:spcBef>
                <a:spcPts val="470"/>
              </a:spcBef>
            </a:pP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window_hash</a:t>
            </a:r>
            <a:r>
              <a:rPr sz="1200" spc="-75" dirty="0">
                <a:solidFill>
                  <a:srgbClr val="23292D"/>
                </a:solidFill>
                <a:latin typeface="Consolas"/>
                <a:cs typeface="Consolas"/>
              </a:rPr>
              <a:t> 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=</a:t>
            </a:r>
            <a:r>
              <a:rPr sz="1200" spc="-8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(base</a:t>
            </a:r>
            <a:r>
              <a:rPr sz="1200" spc="-7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*</a:t>
            </a:r>
            <a:r>
              <a:rPr sz="1200" spc="-8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window_hash</a:t>
            </a:r>
            <a:r>
              <a:rPr sz="1200" spc="-80" dirty="0">
                <a:solidFill>
                  <a:srgbClr val="23292D"/>
                </a:solidFill>
                <a:latin typeface="Consolas"/>
                <a:cs typeface="Consolas"/>
              </a:rPr>
              <a:t> 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+</a:t>
            </a:r>
            <a:r>
              <a:rPr sz="1200" spc="-8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ord(text[i]))</a:t>
            </a:r>
            <a:endParaRPr sz="1200">
              <a:latin typeface="Consolas"/>
              <a:cs typeface="Consolas"/>
            </a:endParaRPr>
          </a:p>
          <a:p>
            <a:pPr marL="63500" marR="55880">
              <a:lnSpc>
                <a:spcPct val="106700"/>
              </a:lnSpc>
              <a:spcBef>
                <a:spcPts val="925"/>
              </a:spcBef>
            </a:pPr>
            <a:r>
              <a:rPr sz="1200" spc="-125" dirty="0">
                <a:solidFill>
                  <a:srgbClr val="272424"/>
                </a:solidFill>
                <a:latin typeface="Microsoft Sans Serif"/>
                <a:cs typeface="Microsoft Sans Serif"/>
              </a:rPr>
              <a:t>Bot</a:t>
            </a:r>
            <a:r>
              <a:rPr sz="1800" spc="-187" baseline="25462" dirty="0">
                <a:solidFill>
                  <a:srgbClr val="23292D"/>
                </a:solidFill>
                <a:latin typeface="Consolas"/>
                <a:cs typeface="Consolas"/>
              </a:rPr>
              <a:t>%</a:t>
            </a:r>
            <a:r>
              <a:rPr sz="1200" spc="-125" dirty="0">
                <a:solidFill>
                  <a:srgbClr val="272424"/>
                </a:solidFill>
                <a:latin typeface="Microsoft Sans Serif"/>
                <a:cs typeface="Microsoft Sans Serif"/>
              </a:rPr>
              <a:t>h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spc="-862" baseline="25462" dirty="0">
                <a:solidFill>
                  <a:srgbClr val="23292D"/>
                </a:solidFill>
                <a:latin typeface="Consolas"/>
                <a:cs typeface="Consolas"/>
              </a:rPr>
              <a:t>p</a:t>
            </a:r>
            <a:r>
              <a:rPr sz="1200" spc="-125" dirty="0">
                <a:solidFill>
                  <a:srgbClr val="272424"/>
                </a:solidFill>
                <a:latin typeface="Microsoft Sans Serif"/>
                <a:cs typeface="Microsoft Sans Serif"/>
              </a:rPr>
              <a:t>h</a:t>
            </a:r>
            <a:r>
              <a:rPr sz="1800" spc="-802" baseline="25462" dirty="0">
                <a:solidFill>
                  <a:srgbClr val="23292D"/>
                </a:solidFill>
                <a:latin typeface="Consolas"/>
                <a:cs typeface="Consolas"/>
              </a:rPr>
              <a:t>r</a:t>
            </a:r>
            <a:r>
              <a:rPr sz="1200" spc="-14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800" spc="-817" baseline="25462" dirty="0">
                <a:solidFill>
                  <a:srgbClr val="23292D"/>
                </a:solidFill>
                <a:latin typeface="Consolas"/>
                <a:cs typeface="Consolas"/>
              </a:rPr>
              <a:t>i</a:t>
            </a:r>
            <a:r>
              <a:rPr sz="1200" spc="-75" dirty="0">
                <a:solidFill>
                  <a:srgbClr val="272424"/>
                </a:solidFill>
                <a:latin typeface="Microsoft Sans Serif"/>
                <a:cs typeface="Microsoft Sans Serif"/>
              </a:rPr>
              <a:t>s</a:t>
            </a:r>
            <a:r>
              <a:rPr sz="1800" spc="-907" baseline="25462" dirty="0">
                <a:solidFill>
                  <a:srgbClr val="23292D"/>
                </a:solidFill>
                <a:latin typeface="Consolas"/>
                <a:cs typeface="Consolas"/>
              </a:rPr>
              <a:t>m</a:t>
            </a:r>
            <a:r>
              <a:rPr sz="1200" spc="-100" dirty="0">
                <a:solidFill>
                  <a:srgbClr val="272424"/>
                </a:solidFill>
                <a:latin typeface="Microsoft Sans Serif"/>
                <a:cs typeface="Microsoft Sans Serif"/>
              </a:rPr>
              <a:t>h</a:t>
            </a:r>
            <a:r>
              <a:rPr sz="1800" spc="-855" baseline="25462" dirty="0">
                <a:solidFill>
                  <a:srgbClr val="23292D"/>
                </a:solidFill>
                <a:latin typeface="Consolas"/>
                <a:cs typeface="Consolas"/>
              </a:rPr>
              <a:t>e</a:t>
            </a:r>
            <a:r>
              <a:rPr sz="12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e</a:t>
            </a:r>
            <a:r>
              <a:rPr sz="12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s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2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built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2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2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using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polynomial</a:t>
            </a:r>
            <a:r>
              <a:rPr sz="12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rolling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formula.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2054" y="1484757"/>
            <a:ext cx="977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latin typeface="Arial"/>
                <a:cs typeface="Arial"/>
              </a:rPr>
              <a:t>The</a:t>
            </a:r>
            <a:r>
              <a:rPr sz="1500" b="1" spc="-120" dirty="0">
                <a:latin typeface="Arial"/>
                <a:cs typeface="Arial"/>
              </a:rPr>
              <a:t> </a:t>
            </a:r>
            <a:r>
              <a:rPr sz="1500" b="1" spc="-80" dirty="0">
                <a:latin typeface="Arial"/>
                <a:cs typeface="Arial"/>
              </a:rPr>
              <a:t>Role</a:t>
            </a:r>
            <a:r>
              <a:rPr sz="1500" b="1" spc="-140" dirty="0">
                <a:latin typeface="Arial"/>
                <a:cs typeface="Arial"/>
              </a:rPr>
              <a:t> </a:t>
            </a:r>
            <a:r>
              <a:rPr sz="1500" b="1" spc="-25" dirty="0">
                <a:latin typeface="Arial"/>
                <a:cs typeface="Arial"/>
              </a:rPr>
              <a:t>of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9893" y="1494155"/>
            <a:ext cx="508000" cy="24892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175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25"/>
              </a:spcBef>
            </a:pPr>
            <a:r>
              <a:rPr sz="1500" spc="-50" dirty="0">
                <a:solidFill>
                  <a:srgbClr val="272424"/>
                </a:solidFill>
                <a:latin typeface="Consolas"/>
                <a:cs typeface="Consolas"/>
              </a:rPr>
              <a:t>ord()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93865" y="1893697"/>
            <a:ext cx="1247140" cy="200025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175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25"/>
              </a:spcBef>
            </a:pPr>
            <a:r>
              <a:rPr sz="1200" spc="-20" dirty="0">
                <a:solidFill>
                  <a:srgbClr val="272424"/>
                </a:solidFill>
                <a:latin typeface="Consolas"/>
                <a:cs typeface="Consolas"/>
              </a:rPr>
              <a:t>ord(pattern[i])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0691" y="1884426"/>
            <a:ext cx="3191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converts</a:t>
            </a:r>
            <a:r>
              <a:rPr sz="1200" spc="1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2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200" spc="1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into</a:t>
            </a:r>
            <a:r>
              <a:rPr sz="12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its</a:t>
            </a:r>
            <a:r>
              <a:rPr sz="1200" spc="1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numerical</a:t>
            </a:r>
            <a:r>
              <a:rPr sz="120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272424"/>
                </a:solidFill>
                <a:latin typeface="Arial"/>
                <a:cs typeface="Arial"/>
              </a:rPr>
              <a:t>ASCII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82054" y="2079193"/>
            <a:ext cx="11595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72424"/>
                </a:solidFill>
                <a:latin typeface="Arial"/>
                <a:cs typeface="Arial"/>
              </a:rPr>
              <a:t>representation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287515" y="2470404"/>
          <a:ext cx="5242560" cy="1952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1280"/>
                <a:gridCol w="2621280"/>
              </a:tblGrid>
              <a:tr h="39052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Character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D4CEC3"/>
                      </a:solidFill>
                      <a:prstDash val="solid"/>
                    </a:lnL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b="1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ord()</a:t>
                      </a:r>
                      <a:r>
                        <a:rPr sz="1200" b="1" spc="-3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65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66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78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3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68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282054" y="4580329"/>
            <a:ext cx="4452620" cy="41529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treated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2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numbers,</a:t>
            </a:r>
            <a:r>
              <a:rPr sz="12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allowing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mathematical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computation.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425576"/>
            <a:ext cx="819658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75" dirty="0"/>
              <a:t>Rabin–</a:t>
            </a:r>
            <a:r>
              <a:rPr sz="2900" spc="-105" dirty="0"/>
              <a:t>Karp</a:t>
            </a:r>
            <a:r>
              <a:rPr sz="2900" spc="-265" dirty="0"/>
              <a:t> </a:t>
            </a:r>
            <a:r>
              <a:rPr sz="2900" spc="-290" dirty="0"/>
              <a:t>—</a:t>
            </a:r>
            <a:r>
              <a:rPr sz="2900" spc="-225" dirty="0"/>
              <a:t> </a:t>
            </a:r>
            <a:r>
              <a:rPr sz="2900" spc="-110" dirty="0"/>
              <a:t>Hash</a:t>
            </a:r>
            <a:r>
              <a:rPr sz="2900" spc="-265" dirty="0"/>
              <a:t> </a:t>
            </a:r>
            <a:r>
              <a:rPr sz="2900" spc="-85" dirty="0"/>
              <a:t>Comparison</a:t>
            </a:r>
            <a:r>
              <a:rPr sz="2900" spc="-280" dirty="0"/>
              <a:t> </a:t>
            </a:r>
            <a:r>
              <a:rPr sz="2900" spc="-30" dirty="0"/>
              <a:t>and</a:t>
            </a:r>
            <a:r>
              <a:rPr sz="2900" spc="-240" dirty="0"/>
              <a:t> </a:t>
            </a:r>
            <a:r>
              <a:rPr sz="2900" spc="-10" dirty="0"/>
              <a:t>Verification</a:t>
            </a:r>
            <a:endParaRPr sz="2900"/>
          </a:p>
        </p:txBody>
      </p:sp>
      <p:sp>
        <p:nvSpPr>
          <p:cNvPr id="3" name="object 3"/>
          <p:cNvSpPr/>
          <p:nvPr/>
        </p:nvSpPr>
        <p:spPr>
          <a:xfrm>
            <a:off x="661416" y="1574291"/>
            <a:ext cx="5253355" cy="536575"/>
          </a:xfrm>
          <a:custGeom>
            <a:avLst/>
            <a:gdLst/>
            <a:ahLst/>
            <a:cxnLst/>
            <a:rect l="l" t="t" r="r" b="b"/>
            <a:pathLst>
              <a:path w="5253355" h="536575">
                <a:moveTo>
                  <a:pt x="5190617" y="0"/>
                </a:moveTo>
                <a:lnTo>
                  <a:pt x="62598" y="0"/>
                </a:lnTo>
                <a:lnTo>
                  <a:pt x="38233" y="4925"/>
                </a:lnTo>
                <a:lnTo>
                  <a:pt x="18335" y="18351"/>
                </a:lnTo>
                <a:lnTo>
                  <a:pt x="4919" y="38254"/>
                </a:lnTo>
                <a:lnTo>
                  <a:pt x="0" y="62611"/>
                </a:lnTo>
                <a:lnTo>
                  <a:pt x="0" y="473837"/>
                </a:lnTo>
                <a:lnTo>
                  <a:pt x="4919" y="498193"/>
                </a:lnTo>
                <a:lnTo>
                  <a:pt x="18335" y="518096"/>
                </a:lnTo>
                <a:lnTo>
                  <a:pt x="38233" y="531522"/>
                </a:lnTo>
                <a:lnTo>
                  <a:pt x="62598" y="536448"/>
                </a:lnTo>
                <a:lnTo>
                  <a:pt x="5190617" y="536448"/>
                </a:lnTo>
                <a:lnTo>
                  <a:pt x="5214973" y="531522"/>
                </a:lnTo>
                <a:lnTo>
                  <a:pt x="5234876" y="518096"/>
                </a:lnTo>
                <a:lnTo>
                  <a:pt x="5248302" y="498193"/>
                </a:lnTo>
                <a:lnTo>
                  <a:pt x="5253228" y="473837"/>
                </a:lnTo>
                <a:lnTo>
                  <a:pt x="5253228" y="62611"/>
                </a:lnTo>
                <a:lnTo>
                  <a:pt x="5248302" y="38254"/>
                </a:lnTo>
                <a:lnTo>
                  <a:pt x="5234876" y="18351"/>
                </a:lnTo>
                <a:lnTo>
                  <a:pt x="5214973" y="4925"/>
                </a:lnTo>
                <a:lnTo>
                  <a:pt x="5190617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7328" y="1739849"/>
            <a:ext cx="248539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032E61"/>
                </a:solidFill>
                <a:latin typeface="Consolas"/>
                <a:cs typeface="Consolas"/>
              </a:rPr>
              <a:t>if</a:t>
            </a:r>
            <a:r>
              <a:rPr sz="1150" spc="-75" dirty="0">
                <a:solidFill>
                  <a:srgbClr val="032E61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032E61"/>
                </a:solidFill>
                <a:latin typeface="Consolas"/>
                <a:cs typeface="Consolas"/>
              </a:rPr>
              <a:t>pattern_hash</a:t>
            </a:r>
            <a:r>
              <a:rPr sz="1150" spc="-75" dirty="0">
                <a:solidFill>
                  <a:srgbClr val="032E61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032E61"/>
                </a:solidFill>
                <a:latin typeface="Consolas"/>
                <a:cs typeface="Consolas"/>
              </a:rPr>
              <a:t>==</a:t>
            </a:r>
            <a:r>
              <a:rPr sz="1150" spc="-65" dirty="0">
                <a:solidFill>
                  <a:srgbClr val="032E61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032E61"/>
                </a:solidFill>
                <a:latin typeface="Consolas"/>
                <a:cs typeface="Consolas"/>
              </a:rPr>
              <a:t>window_hash: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716" y="2238501"/>
            <a:ext cx="5023485" cy="3810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65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indicates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possible</a:t>
            </a:r>
            <a:r>
              <a:rPr sz="115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.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preliminary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filter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270" dirty="0">
                <a:solidFill>
                  <a:srgbClr val="272424"/>
                </a:solidFill>
                <a:latin typeface="Microsoft Sans Serif"/>
                <a:cs typeface="Microsoft Sans Serif"/>
              </a:rPr>
              <a:t>—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fast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numerical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16" y="2816351"/>
            <a:ext cx="5253355" cy="20320"/>
          </a:xfrm>
          <a:custGeom>
            <a:avLst/>
            <a:gdLst/>
            <a:ahLst/>
            <a:cxnLst/>
            <a:rect l="l" t="t" r="r" b="b"/>
            <a:pathLst>
              <a:path w="5253355" h="20319">
                <a:moveTo>
                  <a:pt x="5248783" y="0"/>
                </a:moveTo>
                <a:lnTo>
                  <a:pt x="4432" y="0"/>
                </a:lnTo>
                <a:lnTo>
                  <a:pt x="0" y="4445"/>
                </a:lnTo>
                <a:lnTo>
                  <a:pt x="0" y="9906"/>
                </a:lnTo>
                <a:lnTo>
                  <a:pt x="0" y="15367"/>
                </a:lnTo>
                <a:lnTo>
                  <a:pt x="4432" y="19812"/>
                </a:lnTo>
                <a:lnTo>
                  <a:pt x="5248783" y="19812"/>
                </a:lnTo>
                <a:lnTo>
                  <a:pt x="5253228" y="15367"/>
                </a:lnTo>
                <a:lnTo>
                  <a:pt x="5253228" y="4445"/>
                </a:lnTo>
                <a:lnTo>
                  <a:pt x="5248783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8716" y="2964561"/>
            <a:ext cx="18935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-25" dirty="0">
                <a:latin typeface="Arial"/>
                <a:cs typeface="Arial"/>
              </a:rPr>
              <a:t>Character </a:t>
            </a:r>
            <a:r>
              <a:rPr sz="1450" b="1" spc="-10" dirty="0">
                <a:latin typeface="Arial"/>
                <a:cs typeface="Arial"/>
              </a:rPr>
              <a:t>Verification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1416" y="3360420"/>
            <a:ext cx="5253355" cy="536575"/>
          </a:xfrm>
          <a:custGeom>
            <a:avLst/>
            <a:gdLst/>
            <a:ahLst/>
            <a:cxnLst/>
            <a:rect l="l" t="t" r="r" b="b"/>
            <a:pathLst>
              <a:path w="5253355" h="536575">
                <a:moveTo>
                  <a:pt x="5190617" y="0"/>
                </a:moveTo>
                <a:lnTo>
                  <a:pt x="62598" y="0"/>
                </a:lnTo>
                <a:lnTo>
                  <a:pt x="38233" y="4925"/>
                </a:lnTo>
                <a:lnTo>
                  <a:pt x="18335" y="18351"/>
                </a:lnTo>
                <a:lnTo>
                  <a:pt x="4919" y="38254"/>
                </a:lnTo>
                <a:lnTo>
                  <a:pt x="0" y="62610"/>
                </a:lnTo>
                <a:lnTo>
                  <a:pt x="0" y="473836"/>
                </a:lnTo>
                <a:lnTo>
                  <a:pt x="4919" y="498193"/>
                </a:lnTo>
                <a:lnTo>
                  <a:pt x="18335" y="518096"/>
                </a:lnTo>
                <a:lnTo>
                  <a:pt x="38233" y="531522"/>
                </a:lnTo>
                <a:lnTo>
                  <a:pt x="62598" y="536447"/>
                </a:lnTo>
                <a:lnTo>
                  <a:pt x="5190617" y="536447"/>
                </a:lnTo>
                <a:lnTo>
                  <a:pt x="5214973" y="531522"/>
                </a:lnTo>
                <a:lnTo>
                  <a:pt x="5234876" y="518096"/>
                </a:lnTo>
                <a:lnTo>
                  <a:pt x="5248302" y="498193"/>
                </a:lnTo>
                <a:lnTo>
                  <a:pt x="5253228" y="473836"/>
                </a:lnTo>
                <a:lnTo>
                  <a:pt x="5253228" y="62610"/>
                </a:lnTo>
                <a:lnTo>
                  <a:pt x="5248302" y="38254"/>
                </a:lnTo>
                <a:lnTo>
                  <a:pt x="5234876" y="18351"/>
                </a:lnTo>
                <a:lnTo>
                  <a:pt x="5214973" y="4925"/>
                </a:lnTo>
                <a:lnTo>
                  <a:pt x="5190617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1416" y="4785359"/>
            <a:ext cx="5253355" cy="20320"/>
          </a:xfrm>
          <a:custGeom>
            <a:avLst/>
            <a:gdLst/>
            <a:ahLst/>
            <a:cxnLst/>
            <a:rect l="l" t="t" r="r" b="b"/>
            <a:pathLst>
              <a:path w="5253355" h="20320">
                <a:moveTo>
                  <a:pt x="5248783" y="0"/>
                </a:moveTo>
                <a:lnTo>
                  <a:pt x="4432" y="0"/>
                </a:lnTo>
                <a:lnTo>
                  <a:pt x="0" y="4444"/>
                </a:lnTo>
                <a:lnTo>
                  <a:pt x="0" y="9906"/>
                </a:lnTo>
                <a:lnTo>
                  <a:pt x="0" y="15366"/>
                </a:lnTo>
                <a:lnTo>
                  <a:pt x="4432" y="19812"/>
                </a:lnTo>
                <a:lnTo>
                  <a:pt x="5248783" y="19812"/>
                </a:lnTo>
                <a:lnTo>
                  <a:pt x="5253228" y="15366"/>
                </a:lnTo>
                <a:lnTo>
                  <a:pt x="5253228" y="4444"/>
                </a:lnTo>
                <a:lnTo>
                  <a:pt x="5248783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1416" y="5329428"/>
            <a:ext cx="5253355" cy="536575"/>
          </a:xfrm>
          <a:custGeom>
            <a:avLst/>
            <a:gdLst/>
            <a:ahLst/>
            <a:cxnLst/>
            <a:rect l="l" t="t" r="r" b="b"/>
            <a:pathLst>
              <a:path w="5253355" h="536575">
                <a:moveTo>
                  <a:pt x="5190617" y="0"/>
                </a:moveTo>
                <a:lnTo>
                  <a:pt x="62598" y="0"/>
                </a:lnTo>
                <a:lnTo>
                  <a:pt x="38233" y="4925"/>
                </a:lnTo>
                <a:lnTo>
                  <a:pt x="18335" y="18351"/>
                </a:lnTo>
                <a:lnTo>
                  <a:pt x="4919" y="38254"/>
                </a:lnTo>
                <a:lnTo>
                  <a:pt x="0" y="62611"/>
                </a:lnTo>
                <a:lnTo>
                  <a:pt x="0" y="473849"/>
                </a:lnTo>
                <a:lnTo>
                  <a:pt x="4919" y="498214"/>
                </a:lnTo>
                <a:lnTo>
                  <a:pt x="18335" y="518112"/>
                </a:lnTo>
                <a:lnTo>
                  <a:pt x="38233" y="531528"/>
                </a:lnTo>
                <a:lnTo>
                  <a:pt x="62598" y="536448"/>
                </a:lnTo>
                <a:lnTo>
                  <a:pt x="5190617" y="536448"/>
                </a:lnTo>
                <a:lnTo>
                  <a:pt x="5214973" y="531528"/>
                </a:lnTo>
                <a:lnTo>
                  <a:pt x="5234876" y="518112"/>
                </a:lnTo>
                <a:lnTo>
                  <a:pt x="5248302" y="498214"/>
                </a:lnTo>
                <a:lnTo>
                  <a:pt x="5253228" y="473849"/>
                </a:lnTo>
                <a:lnTo>
                  <a:pt x="5253228" y="62611"/>
                </a:lnTo>
                <a:lnTo>
                  <a:pt x="5248302" y="38254"/>
                </a:lnTo>
                <a:lnTo>
                  <a:pt x="5234876" y="18351"/>
                </a:lnTo>
                <a:lnTo>
                  <a:pt x="5214973" y="4925"/>
                </a:lnTo>
                <a:lnTo>
                  <a:pt x="5190617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8716" y="3526282"/>
            <a:ext cx="5217160" cy="217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3292D"/>
                </a:solidFill>
                <a:latin typeface="Consolas"/>
                <a:cs typeface="Consolas"/>
              </a:rPr>
              <a:t>if</a:t>
            </a:r>
            <a:r>
              <a:rPr sz="1150" spc="-6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23292D"/>
                </a:solidFill>
                <a:latin typeface="Consolas"/>
                <a:cs typeface="Consolas"/>
              </a:rPr>
              <a:t>text[i:i</a:t>
            </a:r>
            <a:r>
              <a:rPr sz="1150" spc="-4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23292D"/>
                </a:solidFill>
                <a:latin typeface="Consolas"/>
                <a:cs typeface="Consolas"/>
              </a:rPr>
              <a:t>+</a:t>
            </a:r>
            <a:r>
              <a:rPr sz="1150" spc="-6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23292D"/>
                </a:solidFill>
                <a:latin typeface="Consolas"/>
                <a:cs typeface="Consolas"/>
              </a:rPr>
              <a:t>m]</a:t>
            </a:r>
            <a:r>
              <a:rPr sz="1150" spc="-6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23292D"/>
                </a:solidFill>
                <a:latin typeface="Consolas"/>
                <a:cs typeface="Consolas"/>
              </a:rPr>
              <a:t>==</a:t>
            </a:r>
            <a:r>
              <a:rPr sz="1150" spc="-4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150" spc="-10" dirty="0">
                <a:solidFill>
                  <a:srgbClr val="23292D"/>
                </a:solidFill>
                <a:latin typeface="Consolas"/>
                <a:cs typeface="Consolas"/>
              </a:rPr>
              <a:t>pattern: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150">
              <a:latin typeface="Consolas"/>
              <a:cs typeface="Consolas"/>
            </a:endParaRPr>
          </a:p>
          <a:p>
            <a:pPr marL="12700" marR="5080">
              <a:lnSpc>
                <a:spcPct val="103000"/>
              </a:lnSpc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Verifies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actual</a:t>
            </a:r>
            <a:r>
              <a:rPr sz="115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position.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step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necessary</a:t>
            </a:r>
            <a:r>
              <a:rPr sz="115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because hash</a:t>
            </a:r>
            <a:r>
              <a:rPr sz="1150" b="1" spc="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72424"/>
                </a:solidFill>
                <a:latin typeface="Arial"/>
                <a:cs typeface="Arial"/>
              </a:rPr>
              <a:t>collisions</a:t>
            </a:r>
            <a:r>
              <a:rPr sz="115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are</a:t>
            </a:r>
            <a:r>
              <a:rPr sz="115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possible</a:t>
            </a:r>
            <a:r>
              <a:rPr sz="115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spc="320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two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produce</a:t>
            </a:r>
            <a:r>
              <a:rPr sz="11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50" b="1" spc="-60" dirty="0">
                <a:latin typeface="Arial"/>
                <a:cs typeface="Arial"/>
              </a:rPr>
              <a:t>Storing</a:t>
            </a:r>
            <a:r>
              <a:rPr sz="1450" b="1" spc="-5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the</a:t>
            </a:r>
            <a:r>
              <a:rPr sz="1450" b="1" spc="-80" dirty="0">
                <a:latin typeface="Arial"/>
                <a:cs typeface="Arial"/>
              </a:rPr>
              <a:t> </a:t>
            </a:r>
            <a:r>
              <a:rPr sz="1450" b="1" spc="-20" dirty="0">
                <a:latin typeface="Arial"/>
                <a:cs typeface="Arial"/>
              </a:rPr>
              <a:t>Match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45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</a:pPr>
            <a:r>
              <a:rPr sz="1150" spc="-10" dirty="0">
                <a:solidFill>
                  <a:srgbClr val="23292D"/>
                </a:solidFill>
                <a:latin typeface="Consolas"/>
                <a:cs typeface="Consolas"/>
              </a:rPr>
              <a:t>matches.append(i)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42003" y="6004140"/>
            <a:ext cx="79375" cy="190500"/>
          </a:xfrm>
          <a:custGeom>
            <a:avLst/>
            <a:gdLst/>
            <a:ahLst/>
            <a:cxnLst/>
            <a:rect l="l" t="t" r="r" b="b"/>
            <a:pathLst>
              <a:path w="79375" h="190500">
                <a:moveTo>
                  <a:pt x="79248" y="0"/>
                </a:moveTo>
                <a:lnTo>
                  <a:pt x="0" y="0"/>
                </a:lnTo>
                <a:lnTo>
                  <a:pt x="0" y="190500"/>
                </a:lnTo>
                <a:lnTo>
                  <a:pt x="79248" y="190500"/>
                </a:lnTo>
                <a:lnTo>
                  <a:pt x="79248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8716" y="5994298"/>
            <a:ext cx="431165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1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</a:t>
            </a:r>
            <a:r>
              <a:rPr sz="115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successful,</a:t>
            </a:r>
            <a:r>
              <a:rPr sz="115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starting</a:t>
            </a:r>
            <a:r>
              <a:rPr sz="11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11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Consolas"/>
                <a:cs typeface="Consolas"/>
              </a:rPr>
              <a:t>i</a:t>
            </a:r>
            <a:r>
              <a:rPr sz="1150" spc="-2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stored</a:t>
            </a:r>
            <a:r>
              <a:rPr sz="11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80432" y="6004140"/>
            <a:ext cx="567690" cy="19050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150" spc="-10" dirty="0">
                <a:solidFill>
                  <a:srgbClr val="272424"/>
                </a:solidFill>
                <a:latin typeface="Consolas"/>
                <a:cs typeface="Consolas"/>
              </a:rPr>
              <a:t>matches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61203" y="5994298"/>
            <a:ext cx="246379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list.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716" y="1178433"/>
            <a:ext cx="695515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34990" algn="l"/>
              </a:tabLst>
            </a:pPr>
            <a:r>
              <a:rPr sz="1450" b="1" spc="-70" dirty="0">
                <a:latin typeface="Arial"/>
                <a:cs typeface="Arial"/>
              </a:rPr>
              <a:t>Hash</a:t>
            </a:r>
            <a:r>
              <a:rPr sz="1450" b="1" spc="-85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Comparison</a:t>
            </a:r>
            <a:r>
              <a:rPr sz="1450" b="1" dirty="0">
                <a:latin typeface="Arial"/>
                <a:cs typeface="Arial"/>
              </a:rPr>
              <a:t>	</a:t>
            </a:r>
            <a:r>
              <a:rPr sz="1450" b="1" spc="-75" dirty="0">
                <a:latin typeface="Arial"/>
                <a:cs typeface="Arial"/>
              </a:rPr>
              <a:t>Logic </a:t>
            </a:r>
            <a:r>
              <a:rPr sz="1450" b="1" spc="-20" dirty="0">
                <a:latin typeface="Arial"/>
                <a:cs typeface="Arial"/>
              </a:rPr>
              <a:t>Summary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80403" y="1571244"/>
            <a:ext cx="2566670" cy="1371600"/>
            <a:chOff x="6280403" y="1571244"/>
            <a:chExt cx="2566670" cy="1371600"/>
          </a:xfrm>
        </p:grpSpPr>
        <p:sp>
          <p:nvSpPr>
            <p:cNvPr id="18" name="object 18"/>
            <p:cNvSpPr/>
            <p:nvPr/>
          </p:nvSpPr>
          <p:spPr>
            <a:xfrm>
              <a:off x="6283451" y="1574292"/>
              <a:ext cx="2560320" cy="1365885"/>
            </a:xfrm>
            <a:custGeom>
              <a:avLst/>
              <a:gdLst/>
              <a:ahLst/>
              <a:cxnLst/>
              <a:rect l="l" t="t" r="r" b="b"/>
              <a:pathLst>
                <a:path w="2560320" h="1365885">
                  <a:moveTo>
                    <a:pt x="2497836" y="0"/>
                  </a:moveTo>
                  <a:lnTo>
                    <a:pt x="62484" y="0"/>
                  </a:lnTo>
                  <a:lnTo>
                    <a:pt x="38147" y="4905"/>
                  </a:lnTo>
                  <a:lnTo>
                    <a:pt x="18287" y="18287"/>
                  </a:lnTo>
                  <a:lnTo>
                    <a:pt x="4905" y="38147"/>
                  </a:lnTo>
                  <a:lnTo>
                    <a:pt x="0" y="62484"/>
                  </a:lnTo>
                  <a:lnTo>
                    <a:pt x="0" y="1303020"/>
                  </a:lnTo>
                  <a:lnTo>
                    <a:pt x="4905" y="1327356"/>
                  </a:lnTo>
                  <a:lnTo>
                    <a:pt x="18287" y="1347215"/>
                  </a:lnTo>
                  <a:lnTo>
                    <a:pt x="38147" y="1360598"/>
                  </a:lnTo>
                  <a:lnTo>
                    <a:pt x="62484" y="1365504"/>
                  </a:lnTo>
                  <a:lnTo>
                    <a:pt x="2497836" y="1365504"/>
                  </a:lnTo>
                  <a:lnTo>
                    <a:pt x="2522172" y="1360598"/>
                  </a:lnTo>
                  <a:lnTo>
                    <a:pt x="2542031" y="1347216"/>
                  </a:lnTo>
                  <a:lnTo>
                    <a:pt x="2555414" y="1327356"/>
                  </a:lnTo>
                  <a:lnTo>
                    <a:pt x="2560320" y="1303020"/>
                  </a:lnTo>
                  <a:lnTo>
                    <a:pt x="2560320" y="62484"/>
                  </a:lnTo>
                  <a:lnTo>
                    <a:pt x="2555414" y="38147"/>
                  </a:lnTo>
                  <a:lnTo>
                    <a:pt x="2542032" y="18288"/>
                  </a:lnTo>
                  <a:lnTo>
                    <a:pt x="2522172" y="4905"/>
                  </a:lnTo>
                  <a:lnTo>
                    <a:pt x="249783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83451" y="1574292"/>
              <a:ext cx="2560320" cy="1365885"/>
            </a:xfrm>
            <a:custGeom>
              <a:avLst/>
              <a:gdLst/>
              <a:ahLst/>
              <a:cxnLst/>
              <a:rect l="l" t="t" r="r" b="b"/>
              <a:pathLst>
                <a:path w="2560320" h="1365885">
                  <a:moveTo>
                    <a:pt x="0" y="62484"/>
                  </a:moveTo>
                  <a:lnTo>
                    <a:pt x="4905" y="38147"/>
                  </a:lnTo>
                  <a:lnTo>
                    <a:pt x="18287" y="18287"/>
                  </a:lnTo>
                  <a:lnTo>
                    <a:pt x="38147" y="4905"/>
                  </a:lnTo>
                  <a:lnTo>
                    <a:pt x="62484" y="0"/>
                  </a:lnTo>
                  <a:lnTo>
                    <a:pt x="2497836" y="0"/>
                  </a:lnTo>
                  <a:lnTo>
                    <a:pt x="2522172" y="4905"/>
                  </a:lnTo>
                  <a:lnTo>
                    <a:pt x="2542032" y="18288"/>
                  </a:lnTo>
                  <a:lnTo>
                    <a:pt x="2555414" y="38147"/>
                  </a:lnTo>
                  <a:lnTo>
                    <a:pt x="2560320" y="62484"/>
                  </a:lnTo>
                  <a:lnTo>
                    <a:pt x="2560320" y="1303020"/>
                  </a:lnTo>
                  <a:lnTo>
                    <a:pt x="2555414" y="1327356"/>
                  </a:lnTo>
                  <a:lnTo>
                    <a:pt x="2542031" y="1347216"/>
                  </a:lnTo>
                  <a:lnTo>
                    <a:pt x="2522172" y="1360598"/>
                  </a:lnTo>
                  <a:lnTo>
                    <a:pt x="2497836" y="1365504"/>
                  </a:lnTo>
                  <a:lnTo>
                    <a:pt x="62484" y="1365504"/>
                  </a:lnTo>
                  <a:lnTo>
                    <a:pt x="38147" y="1360598"/>
                  </a:lnTo>
                  <a:lnTo>
                    <a:pt x="18287" y="1347215"/>
                  </a:lnTo>
                  <a:lnTo>
                    <a:pt x="4905" y="1327356"/>
                  </a:lnTo>
                  <a:lnTo>
                    <a:pt x="0" y="1303020"/>
                  </a:lnTo>
                  <a:lnTo>
                    <a:pt x="0" y="62484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27089" y="1670430"/>
            <a:ext cx="2027555" cy="109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-7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45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272424"/>
                </a:solidFill>
                <a:latin typeface="Arial"/>
                <a:cs typeface="Arial"/>
              </a:rPr>
              <a:t>Different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3099"/>
              </a:lnSpc>
              <a:spcBef>
                <a:spcPts val="1025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15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definitely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different.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No</a:t>
            </a:r>
            <a:r>
              <a:rPr sz="115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1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 needed.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</a:t>
            </a:r>
            <a:r>
              <a:rPr sz="115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next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973311" y="1571244"/>
            <a:ext cx="2566670" cy="1371600"/>
            <a:chOff x="8973311" y="1571244"/>
            <a:chExt cx="2566670" cy="1371600"/>
          </a:xfrm>
        </p:grpSpPr>
        <p:sp>
          <p:nvSpPr>
            <p:cNvPr id="22" name="object 22"/>
            <p:cNvSpPr/>
            <p:nvPr/>
          </p:nvSpPr>
          <p:spPr>
            <a:xfrm>
              <a:off x="8976359" y="1574292"/>
              <a:ext cx="2560320" cy="1365885"/>
            </a:xfrm>
            <a:custGeom>
              <a:avLst/>
              <a:gdLst/>
              <a:ahLst/>
              <a:cxnLst/>
              <a:rect l="l" t="t" r="r" b="b"/>
              <a:pathLst>
                <a:path w="2560320" h="1365885">
                  <a:moveTo>
                    <a:pt x="2497836" y="0"/>
                  </a:moveTo>
                  <a:lnTo>
                    <a:pt x="62484" y="0"/>
                  </a:lnTo>
                  <a:lnTo>
                    <a:pt x="38147" y="4905"/>
                  </a:lnTo>
                  <a:lnTo>
                    <a:pt x="18288" y="18287"/>
                  </a:lnTo>
                  <a:lnTo>
                    <a:pt x="4905" y="38147"/>
                  </a:lnTo>
                  <a:lnTo>
                    <a:pt x="0" y="62484"/>
                  </a:lnTo>
                  <a:lnTo>
                    <a:pt x="0" y="1303020"/>
                  </a:lnTo>
                  <a:lnTo>
                    <a:pt x="4905" y="1327356"/>
                  </a:lnTo>
                  <a:lnTo>
                    <a:pt x="18288" y="1347215"/>
                  </a:lnTo>
                  <a:lnTo>
                    <a:pt x="38147" y="1360598"/>
                  </a:lnTo>
                  <a:lnTo>
                    <a:pt x="62484" y="1365504"/>
                  </a:lnTo>
                  <a:lnTo>
                    <a:pt x="2497836" y="1365504"/>
                  </a:lnTo>
                  <a:lnTo>
                    <a:pt x="2522172" y="1360598"/>
                  </a:lnTo>
                  <a:lnTo>
                    <a:pt x="2542032" y="1347216"/>
                  </a:lnTo>
                  <a:lnTo>
                    <a:pt x="2555414" y="1327356"/>
                  </a:lnTo>
                  <a:lnTo>
                    <a:pt x="2560320" y="1303020"/>
                  </a:lnTo>
                  <a:lnTo>
                    <a:pt x="2560320" y="62484"/>
                  </a:lnTo>
                  <a:lnTo>
                    <a:pt x="2555414" y="38147"/>
                  </a:lnTo>
                  <a:lnTo>
                    <a:pt x="2542032" y="18288"/>
                  </a:lnTo>
                  <a:lnTo>
                    <a:pt x="2522172" y="4905"/>
                  </a:lnTo>
                  <a:lnTo>
                    <a:pt x="249783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976359" y="1574292"/>
              <a:ext cx="2560320" cy="1365885"/>
            </a:xfrm>
            <a:custGeom>
              <a:avLst/>
              <a:gdLst/>
              <a:ahLst/>
              <a:cxnLst/>
              <a:rect l="l" t="t" r="r" b="b"/>
              <a:pathLst>
                <a:path w="2560320" h="1365885">
                  <a:moveTo>
                    <a:pt x="0" y="62484"/>
                  </a:moveTo>
                  <a:lnTo>
                    <a:pt x="4905" y="38147"/>
                  </a:lnTo>
                  <a:lnTo>
                    <a:pt x="18288" y="18287"/>
                  </a:lnTo>
                  <a:lnTo>
                    <a:pt x="38147" y="4905"/>
                  </a:lnTo>
                  <a:lnTo>
                    <a:pt x="62484" y="0"/>
                  </a:lnTo>
                  <a:lnTo>
                    <a:pt x="2497836" y="0"/>
                  </a:lnTo>
                  <a:lnTo>
                    <a:pt x="2522172" y="4905"/>
                  </a:lnTo>
                  <a:lnTo>
                    <a:pt x="2542032" y="18288"/>
                  </a:lnTo>
                  <a:lnTo>
                    <a:pt x="2555414" y="38147"/>
                  </a:lnTo>
                  <a:lnTo>
                    <a:pt x="2560320" y="62484"/>
                  </a:lnTo>
                  <a:lnTo>
                    <a:pt x="2560320" y="1303020"/>
                  </a:lnTo>
                  <a:lnTo>
                    <a:pt x="2555414" y="1327356"/>
                  </a:lnTo>
                  <a:lnTo>
                    <a:pt x="2542032" y="1347216"/>
                  </a:lnTo>
                  <a:lnTo>
                    <a:pt x="2522172" y="1360598"/>
                  </a:lnTo>
                  <a:lnTo>
                    <a:pt x="2497836" y="1365504"/>
                  </a:lnTo>
                  <a:lnTo>
                    <a:pt x="62484" y="1365504"/>
                  </a:lnTo>
                  <a:lnTo>
                    <a:pt x="38147" y="1360598"/>
                  </a:lnTo>
                  <a:lnTo>
                    <a:pt x="18288" y="1347215"/>
                  </a:lnTo>
                  <a:lnTo>
                    <a:pt x="4905" y="1327356"/>
                  </a:lnTo>
                  <a:lnTo>
                    <a:pt x="0" y="1303020"/>
                  </a:lnTo>
                  <a:lnTo>
                    <a:pt x="0" y="62484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120631" y="1670430"/>
            <a:ext cx="2237740" cy="109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-7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45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450" b="1" spc="-20" dirty="0">
                <a:solidFill>
                  <a:srgbClr val="272424"/>
                </a:solidFill>
                <a:latin typeface="Arial"/>
                <a:cs typeface="Arial"/>
              </a:rPr>
              <a:t>Same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15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actual</a:t>
            </a:r>
            <a:r>
              <a:rPr sz="115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characters.</a:t>
            </a:r>
            <a:endParaRPr sz="1150">
              <a:latin typeface="Microsoft Sans Serif"/>
              <a:cs typeface="Microsoft Sans Serif"/>
            </a:endParaRPr>
          </a:p>
          <a:p>
            <a:pPr marL="12700" marR="5080">
              <a:lnSpc>
                <a:spcPct val="102600"/>
              </a:lnSpc>
              <a:spcBef>
                <a:spcPts val="15"/>
              </a:spcBef>
            </a:pP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Both</a:t>
            </a:r>
            <a:r>
              <a:rPr sz="115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conditions</a:t>
            </a:r>
            <a:r>
              <a:rPr sz="115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must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pass</a:t>
            </a:r>
            <a:r>
              <a:rPr sz="115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1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a 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confirmed</a:t>
            </a:r>
            <a:r>
              <a:rPr sz="1150" spc="1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71640" y="3068192"/>
            <a:ext cx="397764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15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r>
              <a:rPr sz="115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≠</a:t>
            </a:r>
            <a:r>
              <a:rPr sz="115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Guaranteed</a:t>
            </a:r>
            <a:r>
              <a:rPr sz="1150" b="1" spc="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String</a:t>
            </a:r>
            <a:r>
              <a:rPr sz="1150" b="1" spc="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150" b="1" spc="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r>
              <a:rPr sz="115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72424"/>
                </a:solidFill>
                <a:latin typeface="Arial"/>
                <a:cs typeface="Arial"/>
              </a:rPr>
              <a:t>+</a:t>
            </a:r>
            <a:r>
              <a:rPr sz="115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Character</a:t>
            </a:r>
            <a:r>
              <a:rPr sz="1150" b="1" spc="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Verification</a:t>
            </a:r>
            <a:r>
              <a:rPr sz="115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15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72424"/>
                </a:solidFill>
                <a:latin typeface="Arial"/>
                <a:cs typeface="Arial"/>
              </a:rPr>
              <a:t>Confirmed</a:t>
            </a:r>
            <a:r>
              <a:rPr sz="115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396236"/>
            <a:ext cx="6125210" cy="82994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3050" spc="-90" dirty="0"/>
              <a:t>Rabin–</a:t>
            </a:r>
            <a:r>
              <a:rPr sz="3050" spc="-114" dirty="0"/>
              <a:t>Karp</a:t>
            </a:r>
            <a:r>
              <a:rPr sz="3050" spc="-215" dirty="0"/>
              <a:t> </a:t>
            </a:r>
            <a:r>
              <a:rPr sz="3050" spc="-305" dirty="0"/>
              <a:t>—</a:t>
            </a:r>
            <a:r>
              <a:rPr sz="3050" spc="-250" dirty="0"/>
              <a:t> </a:t>
            </a:r>
            <a:r>
              <a:rPr sz="3050" spc="-185" dirty="0"/>
              <a:t>Rolling</a:t>
            </a:r>
            <a:r>
              <a:rPr sz="3050" spc="-229" dirty="0"/>
              <a:t> </a:t>
            </a:r>
            <a:r>
              <a:rPr sz="3050" spc="-120" dirty="0"/>
              <a:t>Hash</a:t>
            </a:r>
            <a:r>
              <a:rPr sz="3050" spc="-229" dirty="0"/>
              <a:t> </a:t>
            </a:r>
            <a:r>
              <a:rPr sz="3050" spc="-10" dirty="0"/>
              <a:t>Update</a:t>
            </a:r>
            <a:endParaRPr sz="3050"/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500" spc="-40" dirty="0"/>
              <a:t>The</a:t>
            </a:r>
            <a:r>
              <a:rPr sz="1500" spc="-95" dirty="0"/>
              <a:t> </a:t>
            </a:r>
            <a:r>
              <a:rPr sz="1500" spc="-90" dirty="0"/>
              <a:t>Rolling</a:t>
            </a:r>
            <a:r>
              <a:rPr sz="1500" spc="-145" dirty="0"/>
              <a:t> </a:t>
            </a:r>
            <a:r>
              <a:rPr sz="1500" spc="-65" dirty="0"/>
              <a:t>Hash</a:t>
            </a:r>
            <a:r>
              <a:rPr sz="1500" spc="-85" dirty="0"/>
              <a:t> </a:t>
            </a:r>
            <a:r>
              <a:rPr sz="1500" spc="-10" dirty="0"/>
              <a:t>Formula</a:t>
            </a:r>
            <a:endParaRPr sz="1500"/>
          </a:p>
        </p:txBody>
      </p:sp>
      <p:sp>
        <p:nvSpPr>
          <p:cNvPr id="3" name="object 3"/>
          <p:cNvSpPr/>
          <p:nvPr/>
        </p:nvSpPr>
        <p:spPr>
          <a:xfrm>
            <a:off x="661416" y="1453896"/>
            <a:ext cx="10869295" cy="1823085"/>
          </a:xfrm>
          <a:custGeom>
            <a:avLst/>
            <a:gdLst/>
            <a:ahLst/>
            <a:cxnLst/>
            <a:rect l="l" t="t" r="r" b="b"/>
            <a:pathLst>
              <a:path w="10869295" h="1823085">
                <a:moveTo>
                  <a:pt x="10803128" y="0"/>
                </a:moveTo>
                <a:lnTo>
                  <a:pt x="65989" y="0"/>
                </a:lnTo>
                <a:lnTo>
                  <a:pt x="40306" y="5193"/>
                </a:lnTo>
                <a:lnTo>
                  <a:pt x="19330" y="19351"/>
                </a:lnTo>
                <a:lnTo>
                  <a:pt x="5186" y="40344"/>
                </a:lnTo>
                <a:lnTo>
                  <a:pt x="0" y="66039"/>
                </a:lnTo>
                <a:lnTo>
                  <a:pt x="0" y="1756664"/>
                </a:lnTo>
                <a:lnTo>
                  <a:pt x="5186" y="1782359"/>
                </a:lnTo>
                <a:lnTo>
                  <a:pt x="19330" y="1803352"/>
                </a:lnTo>
                <a:lnTo>
                  <a:pt x="40306" y="1817510"/>
                </a:lnTo>
                <a:lnTo>
                  <a:pt x="65989" y="1822703"/>
                </a:lnTo>
                <a:lnTo>
                  <a:pt x="10803128" y="1822703"/>
                </a:lnTo>
                <a:lnTo>
                  <a:pt x="10828823" y="1817510"/>
                </a:lnTo>
                <a:lnTo>
                  <a:pt x="10849816" y="1803352"/>
                </a:lnTo>
                <a:lnTo>
                  <a:pt x="10863974" y="1782359"/>
                </a:lnTo>
                <a:lnTo>
                  <a:pt x="10869167" y="1756664"/>
                </a:lnTo>
                <a:lnTo>
                  <a:pt x="10869167" y="66039"/>
                </a:lnTo>
                <a:lnTo>
                  <a:pt x="10863974" y="40344"/>
                </a:lnTo>
                <a:lnTo>
                  <a:pt x="10849816" y="19351"/>
                </a:lnTo>
                <a:lnTo>
                  <a:pt x="10828823" y="5193"/>
                </a:lnTo>
                <a:lnTo>
                  <a:pt x="10803128" y="0"/>
                </a:lnTo>
                <a:close/>
              </a:path>
            </a:pathLst>
          </a:custGeom>
          <a:solidFill>
            <a:srgbClr val="EC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7387" y="1569211"/>
            <a:ext cx="4572000" cy="148463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window_hash</a:t>
            </a:r>
            <a:r>
              <a:rPr sz="1200" spc="-7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=</a:t>
            </a:r>
            <a:r>
              <a:rPr sz="1200" spc="-7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50" dirty="0">
                <a:solidFill>
                  <a:srgbClr val="23292D"/>
                </a:solidFill>
                <a:latin typeface="Consolas"/>
                <a:cs typeface="Consolas"/>
              </a:rPr>
              <a:t>(</a:t>
            </a:r>
            <a:endParaRPr sz="12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  <a:spcBef>
                <a:spcPts val="470"/>
              </a:spcBef>
            </a:pP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base</a:t>
            </a:r>
            <a:r>
              <a:rPr sz="1200" spc="-6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*</a:t>
            </a:r>
            <a:r>
              <a:rPr sz="1200" spc="-6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(window_hash</a:t>
            </a:r>
            <a:r>
              <a:rPr sz="1200" spc="-6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-</a:t>
            </a:r>
            <a:r>
              <a:rPr sz="1200" spc="-5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ord(text[i])</a:t>
            </a:r>
            <a:r>
              <a:rPr sz="1200" spc="-6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*</a:t>
            </a:r>
            <a:r>
              <a:rPr sz="1200" spc="-6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highest_power)</a:t>
            </a:r>
            <a:endParaRPr sz="12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  <a:spcBef>
                <a:spcPts val="480"/>
              </a:spcBef>
            </a:pP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+</a:t>
            </a:r>
            <a:r>
              <a:rPr sz="1200" spc="-5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ord(text[i</a:t>
            </a:r>
            <a:r>
              <a:rPr sz="1200" spc="-4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+</a:t>
            </a:r>
            <a:r>
              <a:rPr sz="1200" spc="-4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23292D"/>
                </a:solidFill>
                <a:latin typeface="Consolas"/>
                <a:cs typeface="Consolas"/>
              </a:rPr>
              <a:t>m])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)</a:t>
            </a:r>
            <a:r>
              <a:rPr sz="1200" spc="-3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%</a:t>
            </a:r>
            <a:r>
              <a:rPr sz="1200" spc="-3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prime</a:t>
            </a:r>
            <a:endParaRPr sz="1200">
              <a:latin typeface="Consolas"/>
              <a:cs typeface="Consolas"/>
            </a:endParaRPr>
          </a:p>
          <a:p>
            <a:pPr marL="341630" marR="2568575" indent="-329565">
              <a:lnSpc>
                <a:spcPct val="133300"/>
              </a:lnSpc>
            </a:pP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if</a:t>
            </a:r>
            <a:r>
              <a:rPr sz="1200" spc="-6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window_hash</a:t>
            </a:r>
            <a:r>
              <a:rPr sz="1200" spc="-6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&lt;</a:t>
            </a:r>
            <a:r>
              <a:rPr sz="1200" spc="-5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35" dirty="0">
                <a:solidFill>
                  <a:srgbClr val="23292D"/>
                </a:solidFill>
                <a:latin typeface="Consolas"/>
                <a:cs typeface="Consolas"/>
              </a:rPr>
              <a:t>0: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window_hash</a:t>
            </a:r>
            <a:r>
              <a:rPr sz="1200" spc="-75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3292D"/>
                </a:solidFill>
                <a:latin typeface="Consolas"/>
                <a:cs typeface="Consolas"/>
              </a:rPr>
              <a:t>+=</a:t>
            </a:r>
            <a:r>
              <a:rPr sz="1200" spc="-70" dirty="0">
                <a:solidFill>
                  <a:srgbClr val="23292D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3292D"/>
                </a:solidFill>
                <a:latin typeface="Consolas"/>
                <a:cs typeface="Consolas"/>
              </a:rPr>
              <a:t>prime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716" y="3409950"/>
            <a:ext cx="187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72424"/>
                </a:solidFill>
                <a:latin typeface="Arial MT"/>
                <a:cs typeface="Arial MT"/>
              </a:rPr>
              <a:t>01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16" y="3653028"/>
            <a:ext cx="5360035" cy="18415"/>
          </a:xfrm>
          <a:custGeom>
            <a:avLst/>
            <a:gdLst/>
            <a:ahLst/>
            <a:cxnLst/>
            <a:rect l="l" t="t" r="r" b="b"/>
            <a:pathLst>
              <a:path w="5360035" h="18414">
                <a:moveTo>
                  <a:pt x="5359908" y="0"/>
                </a:moveTo>
                <a:lnTo>
                  <a:pt x="0" y="0"/>
                </a:lnTo>
                <a:lnTo>
                  <a:pt x="0" y="18288"/>
                </a:lnTo>
                <a:lnTo>
                  <a:pt x="5359908" y="18288"/>
                </a:lnTo>
                <a:lnTo>
                  <a:pt x="535990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8716" y="3708654"/>
            <a:ext cx="2505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272424"/>
                </a:solidFill>
                <a:latin typeface="Arial"/>
                <a:cs typeface="Arial"/>
              </a:rPr>
              <a:t>Remove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5" dirty="0">
                <a:solidFill>
                  <a:srgbClr val="272424"/>
                </a:solidFill>
                <a:latin typeface="Arial"/>
                <a:cs typeface="Arial"/>
              </a:rPr>
              <a:t>Outgoing</a:t>
            </a:r>
            <a:r>
              <a:rPr sz="15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Character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1479" y="4053459"/>
            <a:ext cx="3482975" cy="186055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200" spc="-10" dirty="0">
                <a:solidFill>
                  <a:srgbClr val="272424"/>
                </a:solidFill>
                <a:latin typeface="Consolas"/>
                <a:cs typeface="Consolas"/>
              </a:rPr>
              <a:t>window_hash</a:t>
            </a:r>
            <a:r>
              <a:rPr sz="1200" spc="-7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72424"/>
                </a:solidFill>
                <a:latin typeface="Consolas"/>
                <a:cs typeface="Consolas"/>
              </a:rPr>
              <a:t>-</a:t>
            </a:r>
            <a:r>
              <a:rPr sz="1200" spc="-6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Consolas"/>
                <a:cs typeface="Consolas"/>
              </a:rPr>
              <a:t>ord(text[i])</a:t>
            </a:r>
            <a:r>
              <a:rPr sz="1200" spc="-6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72424"/>
                </a:solidFill>
                <a:latin typeface="Consolas"/>
                <a:cs typeface="Consolas"/>
              </a:rPr>
              <a:t>*</a:t>
            </a:r>
            <a:r>
              <a:rPr sz="1200" spc="-6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Consolas"/>
                <a:cs typeface="Consolas"/>
              </a:rPr>
              <a:t>highest_power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716" y="4230751"/>
            <a:ext cx="3044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Subtracts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contribution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15511" y="4239386"/>
            <a:ext cx="589280" cy="200025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81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30"/>
              </a:spcBef>
            </a:pPr>
            <a:r>
              <a:rPr sz="1200" spc="-20" dirty="0">
                <a:solidFill>
                  <a:srgbClr val="272424"/>
                </a:solidFill>
                <a:latin typeface="Consolas"/>
                <a:cs typeface="Consolas"/>
              </a:rPr>
              <a:t>text[i]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20666" y="4230751"/>
            <a:ext cx="1253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that</a:t>
            </a:r>
            <a:r>
              <a:rPr sz="12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2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leaving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8716" y="4424298"/>
            <a:ext cx="589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1935" y="4432934"/>
            <a:ext cx="1082675" cy="200025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spc="-20" dirty="0">
                <a:solidFill>
                  <a:srgbClr val="272424"/>
                </a:solidFill>
                <a:latin typeface="Consolas"/>
                <a:cs typeface="Consolas"/>
              </a:rPr>
              <a:t>highest_power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3470" y="4424298"/>
            <a:ext cx="2360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accounts</a:t>
            </a:r>
            <a:r>
              <a:rPr sz="1200" spc="1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200" spc="1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its</a:t>
            </a:r>
            <a:r>
              <a:rPr sz="12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positional</a:t>
            </a:r>
            <a:r>
              <a:rPr sz="12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weight.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8610" y="3409950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72424"/>
                </a:solidFill>
                <a:latin typeface="Arial MT"/>
                <a:cs typeface="Arial MT"/>
              </a:rPr>
              <a:t>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70676" y="3653028"/>
            <a:ext cx="5360035" cy="18415"/>
          </a:xfrm>
          <a:custGeom>
            <a:avLst/>
            <a:gdLst/>
            <a:ahLst/>
            <a:cxnLst/>
            <a:rect l="l" t="t" r="r" b="b"/>
            <a:pathLst>
              <a:path w="5360034" h="18414">
                <a:moveTo>
                  <a:pt x="5359908" y="0"/>
                </a:moveTo>
                <a:lnTo>
                  <a:pt x="0" y="0"/>
                </a:lnTo>
                <a:lnTo>
                  <a:pt x="0" y="18288"/>
                </a:lnTo>
                <a:lnTo>
                  <a:pt x="5359908" y="18288"/>
                </a:lnTo>
                <a:lnTo>
                  <a:pt x="535990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58610" y="3708654"/>
            <a:ext cx="16224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solidFill>
                  <a:srgbClr val="272424"/>
                </a:solidFill>
                <a:latin typeface="Arial"/>
                <a:cs typeface="Arial"/>
              </a:rPr>
              <a:t>Shift</a:t>
            </a:r>
            <a:r>
              <a:rPr sz="15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70" dirty="0">
                <a:solidFill>
                  <a:srgbClr val="272424"/>
                </a:solidFill>
                <a:latin typeface="Arial"/>
                <a:cs typeface="Arial"/>
              </a:rPr>
              <a:t>Existing</a:t>
            </a:r>
            <a:r>
              <a:rPr sz="1500" b="1" spc="-8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70421" y="4053459"/>
            <a:ext cx="1003300" cy="18796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400"/>
              </a:lnSpc>
            </a:pPr>
            <a:r>
              <a:rPr sz="1200" dirty="0">
                <a:solidFill>
                  <a:srgbClr val="272424"/>
                </a:solidFill>
                <a:latin typeface="Consolas"/>
                <a:cs typeface="Consolas"/>
              </a:rPr>
              <a:t>base</a:t>
            </a:r>
            <a:r>
              <a:rPr sz="1200" spc="-6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72424"/>
                </a:solidFill>
                <a:latin typeface="Consolas"/>
                <a:cs typeface="Consolas"/>
              </a:rPr>
              <a:t>*</a:t>
            </a:r>
            <a:r>
              <a:rPr sz="1200" spc="-5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Consolas"/>
                <a:cs typeface="Consolas"/>
              </a:rPr>
              <a:t>(...)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58610" y="4220083"/>
            <a:ext cx="5292090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00"/>
              </a:spcBef>
            </a:pP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Multiplying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base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effectively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shifts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positional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weights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remaining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200" spc="1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left</a:t>
            </a:r>
            <a:r>
              <a:rPr sz="1200" spc="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(since</a:t>
            </a:r>
            <a:r>
              <a:rPr sz="1200" spc="1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2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moved</a:t>
            </a:r>
            <a:r>
              <a:rPr sz="1200" spc="1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right).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8716" y="4904994"/>
            <a:ext cx="187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72424"/>
                </a:solidFill>
                <a:latin typeface="Arial MT"/>
                <a:cs typeface="Arial MT"/>
              </a:rPr>
              <a:t>03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61416" y="5146547"/>
            <a:ext cx="5360035" cy="20320"/>
          </a:xfrm>
          <a:custGeom>
            <a:avLst/>
            <a:gdLst/>
            <a:ahLst/>
            <a:cxnLst/>
            <a:rect l="l" t="t" r="r" b="b"/>
            <a:pathLst>
              <a:path w="5360035" h="20320">
                <a:moveTo>
                  <a:pt x="5359908" y="0"/>
                </a:moveTo>
                <a:lnTo>
                  <a:pt x="0" y="0"/>
                </a:lnTo>
                <a:lnTo>
                  <a:pt x="0" y="19812"/>
                </a:lnTo>
                <a:lnTo>
                  <a:pt x="5359908" y="19812"/>
                </a:lnTo>
                <a:lnTo>
                  <a:pt x="535990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8716" y="5203316"/>
            <a:ext cx="21615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Add</a:t>
            </a:r>
            <a:r>
              <a:rPr sz="150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0" dirty="0">
                <a:solidFill>
                  <a:srgbClr val="272424"/>
                </a:solidFill>
                <a:latin typeface="Arial"/>
                <a:cs typeface="Arial"/>
              </a:rPr>
              <a:t>Incoming</a:t>
            </a:r>
            <a:r>
              <a:rPr sz="1500" b="1" spc="-1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Character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1479" y="5547982"/>
            <a:ext cx="1500505" cy="18796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200" dirty="0">
                <a:solidFill>
                  <a:srgbClr val="272424"/>
                </a:solidFill>
                <a:latin typeface="Consolas"/>
                <a:cs typeface="Consolas"/>
              </a:rPr>
              <a:t>+</a:t>
            </a:r>
            <a:r>
              <a:rPr sz="1200" spc="-5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Consolas"/>
                <a:cs typeface="Consolas"/>
              </a:rPr>
              <a:t>ord(text[i</a:t>
            </a:r>
            <a:r>
              <a:rPr sz="1200" spc="-4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272424"/>
                </a:solidFill>
                <a:latin typeface="Consolas"/>
                <a:cs typeface="Consolas"/>
              </a:rPr>
              <a:t>+</a:t>
            </a:r>
            <a:r>
              <a:rPr sz="1200" spc="-50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272424"/>
                </a:solidFill>
                <a:latin typeface="Consolas"/>
                <a:cs typeface="Consolas"/>
              </a:rPr>
              <a:t>m])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21608" y="5733910"/>
            <a:ext cx="753745" cy="200025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spc="-20" dirty="0">
                <a:solidFill>
                  <a:srgbClr val="272424"/>
                </a:solidFill>
                <a:latin typeface="Consolas"/>
                <a:cs typeface="Consolas"/>
              </a:rPr>
              <a:t>text[i+m]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92878" y="5725769"/>
            <a:ext cx="1346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that</a:t>
            </a:r>
            <a:r>
              <a:rPr sz="12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2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entering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8716" y="5715101"/>
            <a:ext cx="3051810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00"/>
              </a:spcBef>
            </a:pP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Adds</a:t>
            </a:r>
            <a:r>
              <a:rPr sz="12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contribution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new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 window.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58610" y="4904994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72424"/>
                </a:solidFill>
                <a:latin typeface="Arial MT"/>
                <a:cs typeface="Arial MT"/>
              </a:rPr>
              <a:t>04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170676" y="5146547"/>
            <a:ext cx="5360035" cy="20320"/>
          </a:xfrm>
          <a:custGeom>
            <a:avLst/>
            <a:gdLst/>
            <a:ahLst/>
            <a:cxnLst/>
            <a:rect l="l" t="t" r="r" b="b"/>
            <a:pathLst>
              <a:path w="5360034" h="20320">
                <a:moveTo>
                  <a:pt x="5359908" y="0"/>
                </a:moveTo>
                <a:lnTo>
                  <a:pt x="0" y="0"/>
                </a:lnTo>
                <a:lnTo>
                  <a:pt x="0" y="19812"/>
                </a:lnTo>
                <a:lnTo>
                  <a:pt x="5359908" y="19812"/>
                </a:lnTo>
                <a:lnTo>
                  <a:pt x="5359908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158610" y="5203316"/>
            <a:ext cx="1231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0" dirty="0">
                <a:solidFill>
                  <a:srgbClr val="272424"/>
                </a:solidFill>
                <a:latin typeface="Arial"/>
                <a:cs typeface="Arial"/>
              </a:rPr>
              <a:t>Apply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272424"/>
                </a:solidFill>
                <a:latin typeface="Arial"/>
                <a:cs typeface="Arial"/>
              </a:rPr>
              <a:t>Modulo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70421" y="5547982"/>
            <a:ext cx="577850" cy="187960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400"/>
              </a:lnSpc>
            </a:pPr>
            <a:r>
              <a:rPr sz="1200" dirty="0">
                <a:solidFill>
                  <a:srgbClr val="272424"/>
                </a:solidFill>
                <a:latin typeface="Consolas"/>
                <a:cs typeface="Consolas"/>
              </a:rPr>
              <a:t>%</a:t>
            </a:r>
            <a:r>
              <a:rPr sz="1200" spc="-35" dirty="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sz="1200" spc="-30" dirty="0">
                <a:solidFill>
                  <a:srgbClr val="272424"/>
                </a:solidFill>
                <a:latin typeface="Consolas"/>
                <a:cs typeface="Consolas"/>
              </a:rPr>
              <a:t>prime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58610" y="5725769"/>
            <a:ext cx="4697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Keeps</a:t>
            </a:r>
            <a:r>
              <a:rPr sz="12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</a:t>
            </a:r>
            <a:r>
              <a:rPr sz="12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within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bounds.</a:t>
            </a:r>
            <a:r>
              <a:rPr sz="12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result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2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negative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(due</a:t>
            </a:r>
            <a:r>
              <a:rPr sz="12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58610" y="5919317"/>
            <a:ext cx="1221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subtraction),</a:t>
            </a:r>
            <a:r>
              <a:rPr sz="1200" spc="2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add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03338" y="5927458"/>
            <a:ext cx="424180" cy="200025"/>
          </a:xfrm>
          <a:prstGeom prst="rect">
            <a:avLst/>
          </a:prstGeom>
          <a:solidFill>
            <a:srgbClr val="ECE9E2"/>
          </a:solidFill>
        </p:spPr>
        <p:txBody>
          <a:bodyPr vert="horz" wrap="square" lIns="0" tIns="4445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35"/>
              </a:spcBef>
            </a:pPr>
            <a:r>
              <a:rPr sz="1200" spc="-20" dirty="0">
                <a:solidFill>
                  <a:srgbClr val="272424"/>
                </a:solidFill>
                <a:latin typeface="Consolas"/>
                <a:cs typeface="Consolas"/>
              </a:rPr>
              <a:t>prime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44155" y="5919317"/>
            <a:ext cx="892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2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correct</a:t>
            </a:r>
            <a:r>
              <a:rPr sz="12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it.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145489"/>
            <a:ext cx="5751830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Complete</a:t>
            </a:r>
            <a:r>
              <a:rPr spc="-305" dirty="0"/>
              <a:t> </a:t>
            </a:r>
            <a:r>
              <a:rPr spc="-85" dirty="0"/>
              <a:t>Rabin–</a:t>
            </a:r>
            <a:r>
              <a:rPr spc="-114" dirty="0"/>
              <a:t>Karp</a:t>
            </a:r>
            <a:r>
              <a:rPr spc="-305" dirty="0"/>
              <a:t> </a:t>
            </a:r>
            <a:r>
              <a:rPr spc="-55" dirty="0"/>
              <a:t>Dry</a:t>
            </a:r>
            <a:r>
              <a:rPr spc="-305" dirty="0"/>
              <a:t> </a:t>
            </a:r>
            <a:r>
              <a:rPr spc="-100" dirty="0"/>
              <a:t>Run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1990724"/>
            <a:ext cx="11506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BANANA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6938" y="1990724"/>
            <a:ext cx="10521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Pattern: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ANA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88894" y="1990724"/>
            <a:ext cx="18180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base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256,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prime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85" dirty="0">
                <a:solidFill>
                  <a:srgbClr val="272424"/>
                </a:solidFill>
                <a:latin typeface="Arial"/>
                <a:cs typeface="Arial"/>
              </a:rPr>
              <a:t>101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5129" y="2402332"/>
          <a:ext cx="10871199" cy="2155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0680"/>
                <a:gridCol w="2174240"/>
                <a:gridCol w="2174240"/>
                <a:gridCol w="2717799"/>
                <a:gridCol w="2174240"/>
              </a:tblGrid>
              <a:tr h="428625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3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Window</a:t>
                      </a:r>
                      <a:r>
                        <a:rPr sz="1300" b="1" spc="-6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5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3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300" b="1" spc="-5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Window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5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Hash</a:t>
                      </a:r>
                      <a:r>
                        <a:rPr sz="1300" b="1" spc="-6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Match?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2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Character</a:t>
                      </a:r>
                      <a:r>
                        <a:rPr sz="1300" b="1" spc="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Verification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10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BAN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9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Required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3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b="1" spc="-2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N=N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300" b="1" spc="-4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300" b="1" spc="-2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3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40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NAN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9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Required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29259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2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N=N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300" b="1" spc="-3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300" b="1" spc="-1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300" b="1" spc="1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9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48716" y="4747386"/>
            <a:ext cx="10679430" cy="84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Final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Result: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 found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at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positions:</a:t>
            </a:r>
            <a:r>
              <a:rPr sz="1300" b="1" spc="-8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0" dirty="0">
                <a:solidFill>
                  <a:srgbClr val="272424"/>
                </a:solidFill>
                <a:latin typeface="Arial"/>
                <a:cs typeface="Arial"/>
              </a:rPr>
              <a:t>[1,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3]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uses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initial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test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(fast)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performs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detailed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matches</a:t>
            </a:r>
            <a:r>
              <a:rPr sz="1300" spc="-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(efficient).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Non-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like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BAN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NAN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rejected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single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1416" y="1240536"/>
            <a:ext cx="2590800" cy="251460"/>
          </a:xfrm>
          <a:custGeom>
            <a:avLst/>
            <a:gdLst/>
            <a:ahLst/>
            <a:cxnLst/>
            <a:rect l="l" t="t" r="r" b="b"/>
            <a:pathLst>
              <a:path w="2590800" h="251459">
                <a:moveTo>
                  <a:pt x="2535174" y="0"/>
                </a:moveTo>
                <a:lnTo>
                  <a:pt x="55575" y="0"/>
                </a:lnTo>
                <a:lnTo>
                  <a:pt x="33941" y="4369"/>
                </a:lnTo>
                <a:lnTo>
                  <a:pt x="16276" y="16287"/>
                </a:lnTo>
                <a:lnTo>
                  <a:pt x="4367" y="33968"/>
                </a:lnTo>
                <a:lnTo>
                  <a:pt x="0" y="55625"/>
                </a:lnTo>
                <a:lnTo>
                  <a:pt x="0" y="195834"/>
                </a:lnTo>
                <a:lnTo>
                  <a:pt x="4367" y="217491"/>
                </a:lnTo>
                <a:lnTo>
                  <a:pt x="16276" y="235172"/>
                </a:lnTo>
                <a:lnTo>
                  <a:pt x="33941" y="247090"/>
                </a:lnTo>
                <a:lnTo>
                  <a:pt x="55575" y="251460"/>
                </a:lnTo>
                <a:lnTo>
                  <a:pt x="2535174" y="251460"/>
                </a:lnTo>
                <a:lnTo>
                  <a:pt x="2556831" y="247090"/>
                </a:lnTo>
                <a:lnTo>
                  <a:pt x="2574512" y="235172"/>
                </a:lnTo>
                <a:lnTo>
                  <a:pt x="2586430" y="217491"/>
                </a:lnTo>
                <a:lnTo>
                  <a:pt x="2590800" y="195834"/>
                </a:lnTo>
                <a:lnTo>
                  <a:pt x="2590800" y="55625"/>
                </a:lnTo>
                <a:lnTo>
                  <a:pt x="2586430" y="33968"/>
                </a:lnTo>
                <a:lnTo>
                  <a:pt x="2574512" y="16287"/>
                </a:lnTo>
                <a:lnTo>
                  <a:pt x="2556831" y="4369"/>
                </a:lnTo>
                <a:lnTo>
                  <a:pt x="2535174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8080" y="1262253"/>
            <a:ext cx="23361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</a:t>
            </a:r>
            <a:r>
              <a:rPr sz="10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272424"/>
                </a:solidFill>
                <a:latin typeface="Microsoft Sans Serif"/>
                <a:cs typeface="Microsoft Sans Serif"/>
              </a:rPr>
              <a:t>7:</a:t>
            </a:r>
            <a:r>
              <a:rPr sz="10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COMPLEXITY</a:t>
            </a:r>
            <a:r>
              <a:rPr sz="10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0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716" y="1440306"/>
            <a:ext cx="387667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Complexity</a:t>
            </a:r>
            <a:r>
              <a:rPr spc="-250" dirty="0"/>
              <a:t> </a:t>
            </a:r>
            <a:r>
              <a:rPr spc="-100" dirty="0"/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8716" y="2202561"/>
            <a:ext cx="38671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Let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n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text,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m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length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pattern.</a:t>
            </a:r>
            <a:endParaRPr sz="1300"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5129" y="2613914"/>
          <a:ext cx="10868023" cy="2367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3605"/>
                <a:gridCol w="2173605"/>
                <a:gridCol w="2173605"/>
                <a:gridCol w="2173604"/>
                <a:gridCol w="2173604"/>
              </a:tblGrid>
              <a:tr h="429259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Algorithm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3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Main</a:t>
                      </a:r>
                      <a:r>
                        <a:rPr sz="1300" b="1" spc="-6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Approach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4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Best</a:t>
                      </a:r>
                      <a:r>
                        <a:rPr sz="1300" b="1" spc="-55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Case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Worst</a:t>
                      </a:r>
                      <a:r>
                        <a:rPr sz="1300" b="1" spc="-7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Case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Space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Sequential</a:t>
                      </a:r>
                      <a:r>
                        <a:rPr sz="1300" spc="-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Search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 marR="21399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Check</a:t>
                      </a:r>
                      <a:r>
                        <a:rPr sz="1300" spc="3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one</a:t>
                      </a:r>
                      <a:r>
                        <a:rPr sz="1300" spc="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element</a:t>
                      </a:r>
                      <a:r>
                        <a:rPr sz="1300" spc="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sz="1300" spc="3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time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O(1)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O(n)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O(1)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 marL="165100" marR="59817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Brute-Force</a:t>
                      </a:r>
                      <a:r>
                        <a:rPr sz="1300" spc="29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String Matching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 marR="26162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Compare</a:t>
                      </a:r>
                      <a:r>
                        <a:rPr sz="1300" spc="2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pattern</a:t>
                      </a:r>
                      <a:r>
                        <a:rPr sz="1300" spc="2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3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at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every</a:t>
                      </a:r>
                      <a:r>
                        <a:rPr sz="1300" spc="8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possible</a:t>
                      </a:r>
                      <a:r>
                        <a:rPr sz="1300" spc="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position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O(m)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O(n</a:t>
                      </a:r>
                      <a:r>
                        <a:rPr sz="1300" spc="-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×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O(1)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100">
                        <a:lnSpc>
                          <a:spcPct val="100000"/>
                        </a:lnSpc>
                      </a:pPr>
                      <a:r>
                        <a:rPr sz="1300" spc="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Rabin–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Karp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Compare</a:t>
                      </a:r>
                      <a:r>
                        <a:rPr sz="1300" spc="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hashes</a:t>
                      </a:r>
                      <a:r>
                        <a:rPr sz="1300" spc="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verify</a:t>
                      </a:r>
                      <a:r>
                        <a:rPr sz="1300" spc="1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possible</a:t>
                      </a:r>
                      <a:r>
                        <a:rPr sz="1300" spc="1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matches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O(n</a:t>
                      </a:r>
                      <a:r>
                        <a:rPr sz="1300" spc="-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O(n</a:t>
                      </a:r>
                      <a:r>
                        <a:rPr sz="1300" spc="-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×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O(1)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48716" y="5154320"/>
            <a:ext cx="10617835" cy="668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105"/>
              </a:spcBef>
            </a:pP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Rabin–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Karp's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worst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case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of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O(n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×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m)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occurs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only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there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are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many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(all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pattern).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In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practice,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good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function,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Rabin–Karp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significantly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faster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quickly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many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non-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 windows.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371043"/>
            <a:ext cx="584771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60" dirty="0"/>
              <a:t>Brute</a:t>
            </a:r>
            <a:r>
              <a:rPr sz="2600" spc="-160" dirty="0"/>
              <a:t> </a:t>
            </a:r>
            <a:r>
              <a:rPr sz="2600" spc="-70" dirty="0"/>
              <a:t>Force</a:t>
            </a:r>
            <a:r>
              <a:rPr sz="2600" spc="-175" dirty="0"/>
              <a:t> </a:t>
            </a:r>
            <a:r>
              <a:rPr sz="2600" spc="-140" dirty="0"/>
              <a:t>vs.</a:t>
            </a:r>
            <a:r>
              <a:rPr sz="2600" spc="-195" dirty="0"/>
              <a:t> </a:t>
            </a:r>
            <a:r>
              <a:rPr sz="2600" spc="-114" dirty="0"/>
              <a:t>Hashing</a:t>
            </a:r>
            <a:r>
              <a:rPr sz="2600" spc="-165" dirty="0"/>
              <a:t> </a:t>
            </a:r>
            <a:r>
              <a:rPr sz="2600" spc="-140" dirty="0"/>
              <a:t>vs.</a:t>
            </a:r>
            <a:r>
              <a:rPr sz="2600" spc="-180" dirty="0"/>
              <a:t> </a:t>
            </a:r>
            <a:r>
              <a:rPr sz="2600" spc="-80" dirty="0"/>
              <a:t>Rabin–</a:t>
            </a:r>
            <a:r>
              <a:rPr sz="2600" spc="-25" dirty="0"/>
              <a:t>Karp</a:t>
            </a:r>
            <a:endParaRPr sz="2600"/>
          </a:p>
        </p:txBody>
      </p:sp>
      <p:grpSp>
        <p:nvGrpSpPr>
          <p:cNvPr id="3" name="object 3"/>
          <p:cNvGrpSpPr/>
          <p:nvPr/>
        </p:nvGrpSpPr>
        <p:grpSpPr>
          <a:xfrm>
            <a:off x="661416" y="1010411"/>
            <a:ext cx="3552825" cy="1830705"/>
            <a:chOff x="661416" y="1010411"/>
            <a:chExt cx="3552825" cy="1830705"/>
          </a:xfrm>
        </p:grpSpPr>
        <p:pic>
          <p:nvPicPr>
            <p:cNvPr id="4" name="object 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6" y="1010411"/>
              <a:ext cx="3552444" cy="1830324"/>
            </a:xfrm>
            <a:prstGeom prst="rect">
              <a:avLst/>
            </a:prstGeom>
          </p:spPr>
        </p:pic>
        <p:pic>
          <p:nvPicPr>
            <p:cNvPr id="5" name="object 5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7816" y="1124711"/>
              <a:ext cx="199644" cy="19964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00201" y="1404485"/>
            <a:ext cx="2816860" cy="12471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Brute</a:t>
            </a:r>
            <a:r>
              <a:rPr sz="1300" b="1" spc="-8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Force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190"/>
              </a:lnSpc>
              <a:spcBef>
                <a:spcPts val="450"/>
              </a:spcBef>
            </a:pPr>
            <a:r>
              <a:rPr sz="1000" b="1" dirty="0">
                <a:solidFill>
                  <a:srgbClr val="272424"/>
                </a:solidFill>
                <a:latin typeface="Arial"/>
                <a:cs typeface="Arial"/>
              </a:rPr>
              <a:t>Direct</a:t>
            </a:r>
            <a:r>
              <a:rPr sz="1000" b="1" spc="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72424"/>
                </a:solidFill>
                <a:latin typeface="Arial"/>
                <a:cs typeface="Arial"/>
              </a:rPr>
              <a:t>character</a:t>
            </a:r>
            <a:r>
              <a:rPr sz="1000" b="1" spc="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72424"/>
                </a:solidFill>
                <a:latin typeface="Arial"/>
                <a:cs typeface="Arial"/>
              </a:rPr>
              <a:t>comparison</a:t>
            </a:r>
            <a:r>
              <a:rPr sz="1000" b="1" spc="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0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0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65"/>
              </a:lnSpc>
            </a:pPr>
            <a:r>
              <a:rPr sz="1000" dirty="0">
                <a:latin typeface="Segoe UI Symbol"/>
                <a:cs typeface="Segoe UI Symbol"/>
              </a:rPr>
              <a:t>✔</a:t>
            </a:r>
            <a:r>
              <a:rPr sz="1000" spc="-25" dirty="0"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Simple</a:t>
            </a:r>
            <a:r>
              <a:rPr sz="10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 easy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0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implement.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65"/>
              </a:lnSpc>
            </a:pPr>
            <a:r>
              <a:rPr sz="1000" dirty="0">
                <a:latin typeface="Segoe UI Symbol"/>
                <a:cs typeface="Segoe UI Symbol"/>
              </a:rPr>
              <a:t>✔</a:t>
            </a:r>
            <a:r>
              <a:rPr sz="1000" spc="20" dirty="0"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No</a:t>
            </a:r>
            <a:r>
              <a:rPr sz="10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preprocessing</a:t>
            </a:r>
            <a:r>
              <a:rPr sz="10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required.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65"/>
              </a:lnSpc>
            </a:pPr>
            <a:r>
              <a:rPr sz="1000" dirty="0">
                <a:solidFill>
                  <a:srgbClr val="272424"/>
                </a:solidFill>
                <a:latin typeface="Segoe UI Symbol"/>
                <a:cs typeface="Segoe UI Symbol"/>
              </a:rPr>
              <a:t>✘</a:t>
            </a:r>
            <a:r>
              <a:rPr sz="1000" spc="65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0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perform</a:t>
            </a:r>
            <a:r>
              <a:rPr sz="10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repeated</a:t>
            </a:r>
            <a:r>
              <a:rPr sz="10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comparisons.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80"/>
              </a:lnSpc>
            </a:pPr>
            <a:r>
              <a:rPr sz="1000" dirty="0">
                <a:solidFill>
                  <a:srgbClr val="272424"/>
                </a:solidFill>
                <a:latin typeface="Segoe UI Symbol"/>
                <a:cs typeface="Segoe UI Symbol"/>
              </a:rPr>
              <a:t>✘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0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become</a:t>
            </a:r>
            <a:r>
              <a:rPr sz="10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slow</a:t>
            </a:r>
            <a:r>
              <a:rPr sz="10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0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large</a:t>
            </a:r>
            <a:r>
              <a:rPr sz="10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texts.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19015" y="1010411"/>
            <a:ext cx="3552825" cy="1830705"/>
            <a:chOff x="4319015" y="1010411"/>
            <a:chExt cx="3552825" cy="1830705"/>
          </a:xfrm>
        </p:grpSpPr>
        <p:pic>
          <p:nvPicPr>
            <p:cNvPr id="8" name="object 8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9015" y="1010411"/>
              <a:ext cx="3552443" cy="1830324"/>
            </a:xfrm>
            <a:prstGeom prst="rect">
              <a:avLst/>
            </a:prstGeom>
          </p:spPr>
        </p:pic>
        <p:pic>
          <p:nvPicPr>
            <p:cNvPr id="9" name="object 9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6939" y="1124711"/>
              <a:ext cx="198120" cy="19964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458715" y="1404485"/>
            <a:ext cx="3102610" cy="12471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Basic</a:t>
            </a:r>
            <a:r>
              <a:rPr sz="13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Hash-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sz="13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190"/>
              </a:lnSpc>
              <a:spcBef>
                <a:spcPts val="450"/>
              </a:spcBef>
            </a:pPr>
            <a:r>
              <a:rPr sz="1000" b="1" spc="-20" dirty="0">
                <a:solidFill>
                  <a:srgbClr val="272424"/>
                </a:solidFill>
                <a:latin typeface="Arial"/>
                <a:cs typeface="Arial"/>
              </a:rPr>
              <a:t>Uses</a:t>
            </a:r>
            <a:r>
              <a:rPr sz="10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0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72424"/>
                </a:solidFill>
                <a:latin typeface="Arial"/>
                <a:cs typeface="Arial"/>
              </a:rPr>
              <a:t>values</a:t>
            </a:r>
            <a:r>
              <a:rPr sz="10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72424"/>
                </a:solidFill>
                <a:latin typeface="Arial"/>
                <a:cs typeface="Arial"/>
              </a:rPr>
              <a:t>as</a:t>
            </a:r>
            <a:r>
              <a:rPr sz="10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72424"/>
                </a:solidFill>
                <a:latin typeface="Arial"/>
                <a:cs typeface="Arial"/>
              </a:rPr>
              <a:t>an</a:t>
            </a:r>
            <a:r>
              <a:rPr sz="10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72424"/>
                </a:solidFill>
                <a:latin typeface="Arial"/>
                <a:cs typeface="Arial"/>
              </a:rPr>
              <a:t>initial</a:t>
            </a:r>
            <a:r>
              <a:rPr sz="10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72424"/>
                </a:solidFill>
                <a:latin typeface="Arial"/>
                <a:cs typeface="Arial"/>
              </a:rPr>
              <a:t>filter</a:t>
            </a:r>
            <a:r>
              <a:rPr sz="1000" b="1" spc="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before</a:t>
            </a:r>
            <a:r>
              <a:rPr sz="10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comparison.</a:t>
            </a:r>
            <a:endParaRPr sz="1000">
              <a:latin typeface="Microsoft Sans Serif"/>
              <a:cs typeface="Microsoft Sans Serif"/>
            </a:endParaRPr>
          </a:p>
          <a:p>
            <a:pPr marL="12700" marR="414020">
              <a:lnSpc>
                <a:spcPts val="1160"/>
              </a:lnSpc>
              <a:spcBef>
                <a:spcPts val="50"/>
              </a:spcBef>
            </a:pPr>
            <a:r>
              <a:rPr sz="1000" dirty="0">
                <a:latin typeface="Segoe UI Symbol"/>
                <a:cs typeface="Segoe UI Symbol"/>
              </a:rPr>
              <a:t>✔</a:t>
            </a:r>
            <a:r>
              <a:rPr sz="1000" spc="30" dirty="0"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Demonstrates</a:t>
            </a:r>
            <a:r>
              <a:rPr sz="10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0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idea</a:t>
            </a:r>
            <a:r>
              <a:rPr sz="10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0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</a:t>
            </a:r>
            <a:r>
              <a:rPr sz="10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0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 matching.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20"/>
              </a:lnSpc>
            </a:pPr>
            <a:r>
              <a:rPr sz="1000" dirty="0">
                <a:latin typeface="Segoe UI Symbol"/>
                <a:cs typeface="Segoe UI Symbol"/>
              </a:rPr>
              <a:t>✔</a:t>
            </a:r>
            <a:r>
              <a:rPr sz="1000" spc="35" dirty="0"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0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r>
              <a:rPr sz="10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non-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matches</a:t>
            </a:r>
            <a:r>
              <a:rPr sz="10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quickly.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80"/>
              </a:lnSpc>
            </a:pPr>
            <a:r>
              <a:rPr sz="1000" dirty="0">
                <a:solidFill>
                  <a:srgbClr val="272424"/>
                </a:solidFill>
                <a:latin typeface="Segoe UI Symbol"/>
                <a:cs typeface="Segoe UI Symbol"/>
              </a:rPr>
              <a:t>✘</a:t>
            </a:r>
            <a:r>
              <a:rPr sz="1000" spc="5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Requires</a:t>
            </a:r>
            <a:r>
              <a:rPr sz="10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</a:t>
            </a:r>
            <a:r>
              <a:rPr sz="10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0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hashes</a:t>
            </a:r>
            <a:r>
              <a:rPr sz="10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78140" y="1010411"/>
            <a:ext cx="3552825" cy="1830705"/>
            <a:chOff x="7978140" y="1010411"/>
            <a:chExt cx="3552825" cy="1830705"/>
          </a:xfrm>
        </p:grpSpPr>
        <p:pic>
          <p:nvPicPr>
            <p:cNvPr id="12" name="object 12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8140" y="1010411"/>
              <a:ext cx="3552444" cy="1830324"/>
            </a:xfrm>
            <a:prstGeom prst="rect">
              <a:avLst/>
            </a:prstGeom>
          </p:spPr>
        </p:pic>
        <p:pic>
          <p:nvPicPr>
            <p:cNvPr id="13" name="object 13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54540" y="1124711"/>
              <a:ext cx="198120" cy="19964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117205" y="1402507"/>
            <a:ext cx="3096260" cy="11010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Rabin–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Karp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185"/>
              </a:lnSpc>
              <a:spcBef>
                <a:spcPts val="459"/>
              </a:spcBef>
            </a:pPr>
            <a:r>
              <a:rPr sz="1000" b="1" dirty="0">
                <a:solidFill>
                  <a:srgbClr val="272424"/>
                </a:solidFill>
                <a:latin typeface="Arial"/>
                <a:cs typeface="Arial"/>
              </a:rPr>
              <a:t>Controlled</a:t>
            </a:r>
            <a:r>
              <a:rPr sz="10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72424"/>
                </a:solidFill>
                <a:latin typeface="Arial"/>
                <a:cs typeface="Arial"/>
              </a:rPr>
              <a:t>hashing</a:t>
            </a:r>
            <a:r>
              <a:rPr sz="10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72424"/>
                </a:solidFill>
                <a:latin typeface="Arial"/>
                <a:cs typeface="Arial"/>
              </a:rPr>
              <a:t>+</a:t>
            </a:r>
            <a:r>
              <a:rPr sz="10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72424"/>
                </a:solidFill>
                <a:latin typeface="Arial"/>
                <a:cs typeface="Arial"/>
              </a:rPr>
              <a:t>rolling</a:t>
            </a:r>
            <a:r>
              <a:rPr sz="10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0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72424"/>
                </a:solidFill>
                <a:latin typeface="Arial"/>
                <a:cs typeface="Arial"/>
              </a:rPr>
              <a:t>+</a:t>
            </a:r>
            <a:r>
              <a:rPr sz="10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72424"/>
                </a:solidFill>
                <a:latin typeface="Arial"/>
                <a:cs typeface="Arial"/>
              </a:rPr>
              <a:t>verification.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65"/>
              </a:lnSpc>
            </a:pPr>
            <a:r>
              <a:rPr sz="1000" dirty="0">
                <a:latin typeface="Segoe UI Symbol"/>
                <a:cs typeface="Segoe UI Symbol"/>
              </a:rPr>
              <a:t>✔</a:t>
            </a:r>
            <a:r>
              <a:rPr sz="1000" spc="45" dirty="0"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Efficiently</a:t>
            </a:r>
            <a:r>
              <a:rPr sz="10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updates</a:t>
            </a:r>
            <a:r>
              <a:rPr sz="10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0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0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0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0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moves.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65"/>
              </a:lnSpc>
            </a:pPr>
            <a:r>
              <a:rPr sz="1000" dirty="0">
                <a:latin typeface="Segoe UI Symbol"/>
                <a:cs typeface="Segoe UI Symbol"/>
              </a:rPr>
              <a:t>✔</a:t>
            </a:r>
            <a:r>
              <a:rPr sz="1000" spc="35" dirty="0"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0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</a:t>
            </a:r>
            <a:r>
              <a:rPr sz="10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multiple</a:t>
            </a:r>
            <a:r>
              <a:rPr sz="10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occurrences.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65"/>
              </a:lnSpc>
            </a:pPr>
            <a:r>
              <a:rPr sz="1000" dirty="0">
                <a:latin typeface="Segoe UI Symbol"/>
                <a:cs typeface="Segoe UI Symbol"/>
              </a:rPr>
              <a:t>✔</a:t>
            </a:r>
            <a:r>
              <a:rPr sz="1000" spc="45" dirty="0"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Practically</a:t>
            </a:r>
            <a:r>
              <a:rPr sz="10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</a:t>
            </a:r>
            <a:r>
              <a:rPr sz="10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0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large</a:t>
            </a:r>
            <a:r>
              <a:rPr sz="10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texts.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80"/>
              </a:lnSpc>
            </a:pPr>
            <a:r>
              <a:rPr sz="1000" dirty="0">
                <a:solidFill>
                  <a:srgbClr val="272424"/>
                </a:solidFill>
                <a:latin typeface="Segoe UI Symbol"/>
                <a:cs typeface="Segoe UI Symbol"/>
              </a:rPr>
              <a:t>✘</a:t>
            </a:r>
            <a:r>
              <a:rPr sz="1000" spc="10" dirty="0">
                <a:solidFill>
                  <a:srgbClr val="272424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Still</a:t>
            </a:r>
            <a:r>
              <a:rPr sz="10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O(n×m)</a:t>
            </a:r>
            <a:r>
              <a:rPr sz="10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0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0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worst</a:t>
            </a:r>
            <a:r>
              <a:rPr sz="10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case</a:t>
            </a:r>
            <a:r>
              <a:rPr sz="10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(many</a:t>
            </a:r>
            <a:r>
              <a:rPr sz="10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collisions).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5" name="object 15" descr="preencoded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48027" y="2959607"/>
            <a:ext cx="8695944" cy="343052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165475" y="4015609"/>
            <a:ext cx="1605915" cy="7188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50" b="1" spc="-20" dirty="0">
                <a:latin typeface="Arial"/>
                <a:cs typeface="Arial"/>
              </a:rPr>
              <a:t>Direct</a:t>
            </a:r>
            <a:r>
              <a:rPr sz="1450" b="1" spc="-95" dirty="0">
                <a:latin typeface="Arial"/>
                <a:cs typeface="Arial"/>
              </a:rPr>
              <a:t> </a:t>
            </a:r>
            <a:r>
              <a:rPr sz="1450" b="1" spc="-35" dirty="0">
                <a:latin typeface="Arial"/>
                <a:cs typeface="Arial"/>
              </a:rPr>
              <a:t>Comparison</a:t>
            </a:r>
            <a:endParaRPr sz="1450">
              <a:latin typeface="Arial"/>
              <a:cs typeface="Arial"/>
            </a:endParaRPr>
          </a:p>
          <a:p>
            <a:pPr marL="48895">
              <a:lnSpc>
                <a:spcPts val="1340"/>
              </a:lnSpc>
              <a:spcBef>
                <a:spcPts val="459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Brute</a:t>
            </a:r>
            <a:r>
              <a:rPr sz="11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force</a:t>
            </a:r>
            <a:r>
              <a:rPr sz="115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character-</a:t>
            </a:r>
            <a:endParaRPr sz="1150">
              <a:latin typeface="Microsoft Sans Serif"/>
              <a:cs typeface="Microsoft Sans Serif"/>
            </a:endParaRPr>
          </a:p>
          <a:p>
            <a:pPr marL="100965">
              <a:lnSpc>
                <a:spcPts val="1340"/>
              </a:lnSpc>
            </a:pPr>
            <a:r>
              <a:rPr sz="11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by-</a:t>
            </a:r>
            <a:r>
              <a:rPr sz="11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15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53609" y="4360545"/>
            <a:ext cx="1727200" cy="83439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46075" marR="332740" algn="ctr">
              <a:lnSpc>
                <a:spcPts val="1460"/>
              </a:lnSpc>
              <a:spcBef>
                <a:spcPts val="384"/>
              </a:spcBef>
            </a:pPr>
            <a:r>
              <a:rPr sz="1450" b="1" spc="-10" dirty="0">
                <a:latin typeface="Arial"/>
                <a:cs typeface="Arial"/>
              </a:rPr>
              <a:t>Hash-</a:t>
            </a:r>
            <a:r>
              <a:rPr sz="1450" b="1" spc="-55" dirty="0">
                <a:latin typeface="Arial"/>
                <a:cs typeface="Arial"/>
              </a:rPr>
              <a:t>Based </a:t>
            </a:r>
            <a:r>
              <a:rPr sz="1450" b="1" spc="-10" dirty="0">
                <a:latin typeface="Arial"/>
                <a:cs typeface="Arial"/>
              </a:rPr>
              <a:t>Filtering</a:t>
            </a:r>
            <a:endParaRPr sz="1450">
              <a:latin typeface="Arial"/>
              <a:cs typeface="Arial"/>
            </a:endParaRPr>
          </a:p>
          <a:p>
            <a:pPr marL="12700" marR="5080" algn="ctr">
              <a:lnSpc>
                <a:spcPts val="1300"/>
              </a:lnSpc>
              <a:spcBef>
                <a:spcPts val="595"/>
              </a:spcBef>
            </a:pPr>
            <a:r>
              <a:rPr sz="115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Use</a:t>
            </a:r>
            <a:r>
              <a:rPr sz="115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simple</a:t>
            </a:r>
            <a:r>
              <a:rPr sz="115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hashes</a:t>
            </a:r>
            <a:r>
              <a:rPr sz="115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skip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unlikely</a:t>
            </a:r>
            <a:r>
              <a:rPr sz="115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matches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39914" y="4089019"/>
            <a:ext cx="1711960" cy="8337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algn="ctr">
              <a:lnSpc>
                <a:spcPts val="1450"/>
              </a:lnSpc>
              <a:spcBef>
                <a:spcPts val="390"/>
              </a:spcBef>
            </a:pPr>
            <a:r>
              <a:rPr sz="1450" b="1" spc="-95" dirty="0">
                <a:latin typeface="Arial"/>
                <a:cs typeface="Arial"/>
              </a:rPr>
              <a:t>Rolling</a:t>
            </a:r>
            <a:r>
              <a:rPr sz="1450" b="1" spc="-110" dirty="0">
                <a:latin typeface="Arial"/>
                <a:cs typeface="Arial"/>
              </a:rPr>
              <a:t> </a:t>
            </a:r>
            <a:r>
              <a:rPr sz="1450" b="1" spc="-70" dirty="0">
                <a:latin typeface="Arial"/>
                <a:cs typeface="Arial"/>
              </a:rPr>
              <a:t>Hash</a:t>
            </a:r>
            <a:r>
              <a:rPr sz="1450" b="1" spc="-75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(Rabin-Karp)</a:t>
            </a:r>
            <a:endParaRPr sz="1450">
              <a:latin typeface="Arial"/>
              <a:cs typeface="Arial"/>
            </a:endParaRPr>
          </a:p>
          <a:p>
            <a:pPr marL="17145" marR="15875" algn="ctr">
              <a:lnSpc>
                <a:spcPts val="1300"/>
              </a:lnSpc>
              <a:spcBef>
                <a:spcPts val="605"/>
              </a:spcBef>
            </a:pP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</a:t>
            </a:r>
            <a:r>
              <a:rPr sz="11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sliding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1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 </a:t>
            </a:r>
            <a:r>
              <a:rPr sz="11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1416" y="1048511"/>
            <a:ext cx="2484120" cy="238125"/>
          </a:xfrm>
          <a:custGeom>
            <a:avLst/>
            <a:gdLst/>
            <a:ahLst/>
            <a:cxnLst/>
            <a:rect l="l" t="t" r="r" b="b"/>
            <a:pathLst>
              <a:path w="2484120" h="238125">
                <a:moveTo>
                  <a:pt x="2431541" y="0"/>
                </a:moveTo>
                <a:lnTo>
                  <a:pt x="52552" y="0"/>
                </a:lnTo>
                <a:lnTo>
                  <a:pt x="32098" y="4125"/>
                </a:lnTo>
                <a:lnTo>
                  <a:pt x="15393" y="15382"/>
                </a:lnTo>
                <a:lnTo>
                  <a:pt x="4130" y="32093"/>
                </a:lnTo>
                <a:lnTo>
                  <a:pt x="0" y="52577"/>
                </a:lnTo>
                <a:lnTo>
                  <a:pt x="0" y="185165"/>
                </a:lnTo>
                <a:lnTo>
                  <a:pt x="4130" y="205650"/>
                </a:lnTo>
                <a:lnTo>
                  <a:pt x="15393" y="222361"/>
                </a:lnTo>
                <a:lnTo>
                  <a:pt x="32098" y="233618"/>
                </a:lnTo>
                <a:lnTo>
                  <a:pt x="52552" y="237743"/>
                </a:lnTo>
                <a:lnTo>
                  <a:pt x="2431541" y="237743"/>
                </a:lnTo>
                <a:lnTo>
                  <a:pt x="2452026" y="233618"/>
                </a:lnTo>
                <a:lnTo>
                  <a:pt x="2468737" y="222361"/>
                </a:lnTo>
                <a:lnTo>
                  <a:pt x="2479994" y="205650"/>
                </a:lnTo>
                <a:lnTo>
                  <a:pt x="2484120" y="185165"/>
                </a:lnTo>
                <a:lnTo>
                  <a:pt x="2484120" y="52577"/>
                </a:lnTo>
                <a:lnTo>
                  <a:pt x="2479994" y="32093"/>
                </a:lnTo>
                <a:lnTo>
                  <a:pt x="2468737" y="15382"/>
                </a:lnTo>
                <a:lnTo>
                  <a:pt x="2452026" y="4125"/>
                </a:lnTo>
                <a:lnTo>
                  <a:pt x="2431541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3204" y="1067181"/>
            <a:ext cx="224599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</a:t>
            </a:r>
            <a:r>
              <a:rPr sz="9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8:</a:t>
            </a:r>
            <a:r>
              <a:rPr sz="95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5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CLASSROOM</a:t>
            </a:r>
            <a:r>
              <a:rPr sz="95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95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DEMONSTRATIONS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716" y="1236344"/>
            <a:ext cx="6623050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spc="-110" dirty="0"/>
              <a:t>Classroom</a:t>
            </a:r>
            <a:r>
              <a:rPr sz="3050" spc="-200" dirty="0"/>
              <a:t> </a:t>
            </a:r>
            <a:r>
              <a:rPr sz="3050" spc="-50" dirty="0"/>
              <a:t>Demo</a:t>
            </a:r>
            <a:r>
              <a:rPr sz="3050" spc="-200" dirty="0"/>
              <a:t> </a:t>
            </a:r>
            <a:r>
              <a:rPr sz="3050" spc="-520" dirty="0"/>
              <a:t>1:</a:t>
            </a:r>
            <a:r>
              <a:rPr sz="3050" spc="-235" dirty="0"/>
              <a:t> </a:t>
            </a:r>
            <a:r>
              <a:rPr sz="3050" spc="-80" dirty="0"/>
              <a:t>Sequential</a:t>
            </a:r>
            <a:r>
              <a:rPr sz="3050" spc="-190" dirty="0"/>
              <a:t> </a:t>
            </a:r>
            <a:r>
              <a:rPr sz="3050" spc="-30" dirty="0"/>
              <a:t>Search</a:t>
            </a:r>
            <a:endParaRPr sz="3050"/>
          </a:p>
        </p:txBody>
      </p:sp>
      <p:sp>
        <p:nvSpPr>
          <p:cNvPr id="5" name="object 5"/>
          <p:cNvSpPr txBox="1"/>
          <p:nvPr/>
        </p:nvSpPr>
        <p:spPr>
          <a:xfrm>
            <a:off x="884631" y="2578988"/>
            <a:ext cx="3395345" cy="4159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  <a:tabLst>
                <a:tab pos="1862455" algn="l"/>
              </a:tabLst>
            </a:pPr>
            <a:r>
              <a:rPr sz="1200" b="1" spc="-40" dirty="0">
                <a:solidFill>
                  <a:srgbClr val="272424"/>
                </a:solidFill>
                <a:latin typeface="Arial"/>
                <a:cs typeface="Arial"/>
              </a:rPr>
              <a:t>List</a:t>
            </a:r>
            <a:r>
              <a:rPr sz="12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= </a:t>
            </a:r>
            <a:r>
              <a:rPr sz="1200" b="1" spc="-80" dirty="0">
                <a:solidFill>
                  <a:srgbClr val="272424"/>
                </a:solidFill>
                <a:latin typeface="Arial"/>
                <a:cs typeface="Arial"/>
              </a:rPr>
              <a:t>[10,</a:t>
            </a:r>
            <a:r>
              <a:rPr sz="12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20,</a:t>
            </a:r>
            <a:r>
              <a:rPr sz="12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30,</a:t>
            </a:r>
            <a:r>
              <a:rPr sz="12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40,</a:t>
            </a:r>
            <a:r>
              <a:rPr sz="12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40" dirty="0">
                <a:solidFill>
                  <a:srgbClr val="272424"/>
                </a:solidFill>
                <a:latin typeface="Arial"/>
                <a:cs typeface="Arial"/>
              </a:rPr>
              <a:t>50]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	</a:t>
            </a:r>
            <a:r>
              <a:rPr sz="1200" b="1" spc="-25" dirty="0">
                <a:solidFill>
                  <a:srgbClr val="272424"/>
                </a:solidFill>
                <a:latin typeface="Arial"/>
                <a:cs typeface="Arial"/>
              </a:rPr>
              <a:t>Target</a:t>
            </a:r>
            <a:r>
              <a:rPr sz="12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=</a:t>
            </a:r>
            <a:r>
              <a:rPr sz="12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80" dirty="0">
                <a:solidFill>
                  <a:srgbClr val="272424"/>
                </a:solidFill>
                <a:latin typeface="Arial"/>
                <a:cs typeface="Arial"/>
              </a:rPr>
              <a:t>40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0" dirty="0">
                <a:solidFill>
                  <a:srgbClr val="272424"/>
                </a:solidFill>
                <a:latin typeface="Arial"/>
                <a:cs typeface="Arial"/>
              </a:rPr>
              <a:t>How</a:t>
            </a:r>
            <a:r>
              <a:rPr sz="12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272424"/>
                </a:solidFill>
                <a:latin typeface="Arial"/>
                <a:cs typeface="Arial"/>
              </a:rPr>
              <a:t>many</a:t>
            </a:r>
            <a:r>
              <a:rPr sz="1200" b="1" spc="-40" dirty="0">
                <a:solidFill>
                  <a:srgbClr val="272424"/>
                </a:solidFill>
                <a:latin typeface="Arial"/>
                <a:cs typeface="Arial"/>
              </a:rPr>
              <a:t> comparisons</a:t>
            </a:r>
            <a:r>
              <a:rPr sz="12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are</a:t>
            </a:r>
            <a:r>
              <a:rPr sz="12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272424"/>
                </a:solidFill>
                <a:latin typeface="Arial"/>
                <a:cs typeface="Arial"/>
              </a:rPr>
              <a:t>required</a:t>
            </a:r>
            <a:r>
              <a:rPr sz="12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200" b="1" spc="-25" dirty="0">
                <a:solidFill>
                  <a:srgbClr val="272424"/>
                </a:solidFill>
                <a:latin typeface="Arial"/>
                <a:cs typeface="Arial"/>
              </a:rPr>
              <a:t> find</a:t>
            </a:r>
            <a:r>
              <a:rPr sz="12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272424"/>
                </a:solidFill>
                <a:latin typeface="Arial"/>
                <a:cs typeface="Arial"/>
              </a:rPr>
              <a:t>40?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16" y="2476500"/>
            <a:ext cx="20320" cy="668020"/>
          </a:xfrm>
          <a:custGeom>
            <a:avLst/>
            <a:gdLst/>
            <a:ahLst/>
            <a:cxnLst/>
            <a:rect l="l" t="t" r="r" b="b"/>
            <a:pathLst>
              <a:path w="20320" h="668019">
                <a:moveTo>
                  <a:pt x="15379" y="0"/>
                </a:moveTo>
                <a:lnTo>
                  <a:pt x="4432" y="0"/>
                </a:lnTo>
                <a:lnTo>
                  <a:pt x="0" y="4445"/>
                </a:lnTo>
                <a:lnTo>
                  <a:pt x="0" y="9905"/>
                </a:lnTo>
                <a:lnTo>
                  <a:pt x="0" y="663066"/>
                </a:lnTo>
                <a:lnTo>
                  <a:pt x="4432" y="667512"/>
                </a:lnTo>
                <a:lnTo>
                  <a:pt x="15379" y="667512"/>
                </a:lnTo>
                <a:lnTo>
                  <a:pt x="19812" y="663066"/>
                </a:lnTo>
                <a:lnTo>
                  <a:pt x="19812" y="4445"/>
                </a:lnTo>
                <a:lnTo>
                  <a:pt x="15379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8716" y="3250438"/>
            <a:ext cx="19697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Step-</a:t>
            </a:r>
            <a:r>
              <a:rPr sz="1500" b="1" spc="95" dirty="0">
                <a:latin typeface="Arial"/>
                <a:cs typeface="Arial"/>
              </a:rPr>
              <a:t>by-</a:t>
            </a:r>
            <a:r>
              <a:rPr sz="1500" b="1" spc="-10" dirty="0">
                <a:latin typeface="Arial"/>
                <a:cs typeface="Arial"/>
              </a:rPr>
              <a:t>Step</a:t>
            </a:r>
            <a:r>
              <a:rPr sz="1500" b="1" spc="155" dirty="0">
                <a:latin typeface="Arial"/>
                <a:cs typeface="Arial"/>
              </a:rPr>
              <a:t> </a:t>
            </a:r>
            <a:r>
              <a:rPr sz="1500" b="1" spc="-30" dirty="0">
                <a:latin typeface="Arial"/>
                <a:cs typeface="Arial"/>
              </a:rPr>
              <a:t>Answer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55129" y="3669157"/>
          <a:ext cx="5242559" cy="1952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7520"/>
                <a:gridCol w="1747520"/>
                <a:gridCol w="1747519"/>
              </a:tblGrid>
              <a:tr h="390525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b="1" spc="-2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Step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D4CEC3"/>
                      </a:solidFill>
                      <a:prstDash val="solid"/>
                    </a:lnL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Element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solidFill>
                      <a:srgbClr val="DF795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3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1200" spc="-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200" spc="-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2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2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Continue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12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200" spc="-3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2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2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Continue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F9F6F0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30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EFEBE6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9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30</a:t>
                      </a:r>
                      <a:r>
                        <a:rPr sz="1200" spc="-3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200" spc="-3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2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2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Continue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EFEBE6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F9F6F0"/>
                      </a:solidFill>
                      <a:prstDash val="solid"/>
                    </a:lnT>
                    <a:lnB w="12700">
                      <a:solidFill>
                        <a:srgbClr val="EFEBE6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7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F9F6F0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200" spc="-3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1200" spc="-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1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2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6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2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b="1" spc="-65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Found!</a:t>
                      </a:r>
                      <a:r>
                        <a:rPr sz="1200" b="1" spc="-7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365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200">
                        <a:latin typeface="Yu Gothic UI"/>
                        <a:cs typeface="Yu Gothic U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9F6F0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EFEBE6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6181344" y="1962911"/>
            <a:ext cx="5468620" cy="3848100"/>
          </a:xfrm>
          <a:custGeom>
            <a:avLst/>
            <a:gdLst/>
            <a:ahLst/>
            <a:cxnLst/>
            <a:rect l="l" t="t" r="r" b="b"/>
            <a:pathLst>
              <a:path w="5468620" h="3848100">
                <a:moveTo>
                  <a:pt x="5354955" y="0"/>
                </a:moveTo>
                <a:lnTo>
                  <a:pt x="113156" y="0"/>
                </a:lnTo>
                <a:lnTo>
                  <a:pt x="69115" y="8893"/>
                </a:lnTo>
                <a:lnTo>
                  <a:pt x="33146" y="33146"/>
                </a:lnTo>
                <a:lnTo>
                  <a:pt x="8893" y="69115"/>
                </a:lnTo>
                <a:lnTo>
                  <a:pt x="0" y="113157"/>
                </a:lnTo>
                <a:lnTo>
                  <a:pt x="0" y="3734968"/>
                </a:lnTo>
                <a:lnTo>
                  <a:pt x="8893" y="3779005"/>
                </a:lnTo>
                <a:lnTo>
                  <a:pt x="33147" y="3814965"/>
                </a:lnTo>
                <a:lnTo>
                  <a:pt x="69115" y="3839210"/>
                </a:lnTo>
                <a:lnTo>
                  <a:pt x="113156" y="3848100"/>
                </a:lnTo>
                <a:lnTo>
                  <a:pt x="5354955" y="3848100"/>
                </a:lnTo>
                <a:lnTo>
                  <a:pt x="5398996" y="3839210"/>
                </a:lnTo>
                <a:lnTo>
                  <a:pt x="5434964" y="3814965"/>
                </a:lnTo>
                <a:lnTo>
                  <a:pt x="5459218" y="3779005"/>
                </a:lnTo>
                <a:lnTo>
                  <a:pt x="5468111" y="3734968"/>
                </a:lnTo>
                <a:lnTo>
                  <a:pt x="5468111" y="113157"/>
                </a:lnTo>
                <a:lnTo>
                  <a:pt x="5459218" y="69115"/>
                </a:lnTo>
                <a:lnTo>
                  <a:pt x="5434964" y="33147"/>
                </a:lnTo>
                <a:lnTo>
                  <a:pt x="5398996" y="8893"/>
                </a:lnTo>
                <a:lnTo>
                  <a:pt x="5354955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8716" y="2051050"/>
            <a:ext cx="63607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89600" algn="l"/>
              </a:tabLst>
            </a:pPr>
            <a:r>
              <a:rPr sz="1500" b="1" spc="-40" dirty="0">
                <a:latin typeface="Arial"/>
                <a:cs typeface="Arial"/>
              </a:rPr>
              <a:t>Question</a:t>
            </a:r>
            <a:r>
              <a:rPr sz="1500" b="1" spc="-85" dirty="0">
                <a:latin typeface="Arial"/>
                <a:cs typeface="Arial"/>
              </a:rPr>
              <a:t> </a:t>
            </a:r>
            <a:r>
              <a:rPr sz="1500" b="1" spc="-30" dirty="0">
                <a:latin typeface="Arial"/>
                <a:cs typeface="Arial"/>
              </a:rPr>
              <a:t>for</a:t>
            </a:r>
            <a:r>
              <a:rPr sz="1500" b="1" spc="-10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Students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40" dirty="0">
                <a:solidFill>
                  <a:srgbClr val="F9F6EF"/>
                </a:solidFill>
                <a:latin typeface="Arial"/>
                <a:cs typeface="Arial"/>
              </a:rPr>
              <a:t>Answer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5870" y="2310130"/>
            <a:ext cx="5083810" cy="1804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50" b="1" spc="280" dirty="0">
                <a:solidFill>
                  <a:srgbClr val="F9F6EF"/>
                </a:solidFill>
                <a:latin typeface="Arial"/>
                <a:cs typeface="Arial"/>
              </a:rPr>
              <a:t>4</a:t>
            </a:r>
            <a:endParaRPr sz="4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200" b="1" spc="110" dirty="0">
                <a:solidFill>
                  <a:srgbClr val="F9F6EF"/>
                </a:solidFill>
                <a:latin typeface="Arial"/>
                <a:cs typeface="Arial"/>
              </a:rPr>
              <a:t>4</a:t>
            </a:r>
            <a:r>
              <a:rPr sz="1200" b="1" spc="-3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9F6EF"/>
                </a:solidFill>
                <a:latin typeface="Arial"/>
                <a:cs typeface="Arial"/>
              </a:rPr>
              <a:t>comparisons</a:t>
            </a:r>
            <a:r>
              <a:rPr sz="1200" b="1" spc="-6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9F6EF"/>
                </a:solidFill>
                <a:latin typeface="Arial"/>
                <a:cs typeface="Arial"/>
              </a:rPr>
              <a:t>are</a:t>
            </a:r>
            <a:r>
              <a:rPr sz="1200" b="1" spc="-4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9F6EF"/>
                </a:solidFill>
                <a:latin typeface="Arial"/>
                <a:cs typeface="Arial"/>
              </a:rPr>
              <a:t>required.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200" spc="7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element</a:t>
            </a:r>
            <a:r>
              <a:rPr sz="1200" spc="9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105" dirty="0">
                <a:solidFill>
                  <a:srgbClr val="F9F6EF"/>
                </a:solidFill>
                <a:latin typeface="Microsoft Sans Serif"/>
                <a:cs typeface="Microsoft Sans Serif"/>
              </a:rPr>
              <a:t>50</a:t>
            </a:r>
            <a:r>
              <a:rPr sz="12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is</a:t>
            </a:r>
            <a:r>
              <a:rPr sz="12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never</a:t>
            </a:r>
            <a:r>
              <a:rPr sz="1200" spc="8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checked</a:t>
            </a:r>
            <a:r>
              <a:rPr sz="1200" spc="7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because</a:t>
            </a:r>
            <a:r>
              <a:rPr sz="1200" spc="8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200" spc="7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search</a:t>
            </a:r>
            <a:r>
              <a:rPr sz="1200" spc="9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stops</a:t>
            </a:r>
            <a:r>
              <a:rPr sz="12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immediately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after</a:t>
            </a:r>
            <a:r>
              <a:rPr sz="1200" spc="15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finding</a:t>
            </a:r>
            <a:r>
              <a:rPr sz="1200" spc="1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F9F6EF"/>
                </a:solidFill>
                <a:latin typeface="Microsoft Sans Serif"/>
                <a:cs typeface="Microsoft Sans Serif"/>
              </a:rPr>
              <a:t>40.</a:t>
            </a:r>
            <a:endParaRPr sz="1200">
              <a:latin typeface="Microsoft Sans Serif"/>
              <a:cs typeface="Microsoft Sans Serif"/>
            </a:endParaRPr>
          </a:p>
          <a:p>
            <a:pPr marL="12700" marR="33020">
              <a:lnSpc>
                <a:spcPct val="105800"/>
              </a:lnSpc>
              <a:spcBef>
                <a:spcPts val="5"/>
              </a:spcBef>
            </a:pPr>
            <a:r>
              <a:rPr sz="12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This</a:t>
            </a:r>
            <a:r>
              <a:rPr sz="1200" spc="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is</a:t>
            </a:r>
            <a:r>
              <a:rPr sz="1200" spc="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an</a:t>
            </a:r>
            <a:r>
              <a:rPr sz="1200" spc="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example</a:t>
            </a:r>
            <a:r>
              <a:rPr sz="12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of</a:t>
            </a:r>
            <a:r>
              <a:rPr sz="12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a</a:t>
            </a:r>
            <a:r>
              <a:rPr sz="1200" spc="3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search</a:t>
            </a:r>
            <a:r>
              <a:rPr sz="1200" spc="55" dirty="0">
                <a:solidFill>
                  <a:srgbClr val="F9F6EF"/>
                </a:solidFill>
                <a:latin typeface="Microsoft Sans Serif"/>
                <a:cs typeface="Microsoft Sans Serif"/>
              </a:rPr>
              <a:t> that</a:t>
            </a:r>
            <a:r>
              <a:rPr sz="1200" spc="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requires</a:t>
            </a:r>
            <a:r>
              <a:rPr sz="1200" spc="6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fewer</a:t>
            </a:r>
            <a:r>
              <a:rPr sz="1200" spc="5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than</a:t>
            </a:r>
            <a:r>
              <a:rPr sz="1200" spc="4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the</a:t>
            </a:r>
            <a:r>
              <a:rPr sz="1200" spc="35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70" dirty="0">
                <a:solidFill>
                  <a:srgbClr val="F9F6EF"/>
                </a:solidFill>
                <a:latin typeface="Microsoft Sans Serif"/>
                <a:cs typeface="Microsoft Sans Serif"/>
              </a:rPr>
              <a:t>worst-</a:t>
            </a:r>
            <a:r>
              <a:rPr sz="1200" dirty="0">
                <a:solidFill>
                  <a:srgbClr val="F9F6EF"/>
                </a:solidFill>
                <a:latin typeface="Microsoft Sans Serif"/>
                <a:cs typeface="Microsoft Sans Serif"/>
              </a:rPr>
              <a:t>case</a:t>
            </a:r>
            <a:r>
              <a:rPr sz="1200" spc="80" dirty="0">
                <a:solidFill>
                  <a:srgbClr val="F9F6E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F9F6EF"/>
                </a:solidFill>
                <a:latin typeface="Microsoft Sans Serif"/>
                <a:cs typeface="Microsoft Sans Serif"/>
              </a:rPr>
              <a:t>n </a:t>
            </a:r>
            <a:r>
              <a:rPr sz="1200" spc="-10" dirty="0">
                <a:solidFill>
                  <a:srgbClr val="F9F6EF"/>
                </a:solidFill>
                <a:latin typeface="Microsoft Sans Serif"/>
                <a:cs typeface="Microsoft Sans Serif"/>
              </a:rPr>
              <a:t>comparisons.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416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pc="-114" dirty="0"/>
              <a:t>Classroom</a:t>
            </a:r>
            <a:r>
              <a:rPr spc="-265" dirty="0"/>
              <a:t> </a:t>
            </a:r>
            <a:r>
              <a:rPr spc="-50" dirty="0"/>
              <a:t>Demo</a:t>
            </a:r>
            <a:r>
              <a:rPr spc="-245" dirty="0"/>
              <a:t> </a:t>
            </a:r>
            <a:r>
              <a:rPr spc="-190" dirty="0"/>
              <a:t>2:</a:t>
            </a:r>
            <a:r>
              <a:rPr spc="-235" dirty="0"/>
              <a:t> </a:t>
            </a:r>
            <a:r>
              <a:rPr dirty="0"/>
              <a:t>Brute-</a:t>
            </a:r>
            <a:r>
              <a:rPr spc="-80" dirty="0"/>
              <a:t>Force</a:t>
            </a:r>
            <a:r>
              <a:rPr spc="-275" dirty="0"/>
              <a:t> </a:t>
            </a:r>
            <a:r>
              <a:rPr spc="-110" dirty="0"/>
              <a:t>String</a:t>
            </a:r>
            <a:r>
              <a:rPr spc="-290" dirty="0"/>
              <a:t> </a:t>
            </a:r>
            <a:r>
              <a:rPr spc="-10" dirty="0"/>
              <a:t>Matching</a:t>
            </a: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600" spc="-90" dirty="0"/>
              <a:t>Task:</a:t>
            </a:r>
            <a:r>
              <a:rPr sz="1600" spc="-50" dirty="0"/>
              <a:t> </a:t>
            </a:r>
            <a:r>
              <a:rPr sz="1600" spc="-45" dirty="0"/>
              <a:t>Manually</a:t>
            </a:r>
            <a:r>
              <a:rPr sz="1600" spc="-10" dirty="0"/>
              <a:t> </a:t>
            </a:r>
            <a:r>
              <a:rPr sz="1600" spc="-25" dirty="0"/>
              <a:t>perform</a:t>
            </a:r>
            <a:r>
              <a:rPr sz="1600" spc="-40" dirty="0"/>
              <a:t> </a:t>
            </a:r>
            <a:r>
              <a:rPr sz="1600" dirty="0"/>
              <a:t>brute-</a:t>
            </a:r>
            <a:r>
              <a:rPr sz="1600" spc="-20" dirty="0"/>
              <a:t>force</a:t>
            </a:r>
            <a:r>
              <a:rPr sz="1600" spc="-35" dirty="0"/>
              <a:t> </a:t>
            </a:r>
            <a:r>
              <a:rPr sz="1600" spc="-10" dirty="0"/>
              <a:t>matching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648716" y="1816684"/>
            <a:ext cx="9509760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80795" algn="l"/>
              </a:tabLst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Text: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BANANA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	Pattern: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ANA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Students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should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manually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align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position,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characters,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identify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occurrence.</a:t>
            </a:r>
            <a:endParaRPr sz="13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5129" y="2629661"/>
          <a:ext cx="10868659" cy="2155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7165"/>
                <a:gridCol w="2717165"/>
                <a:gridCol w="2717164"/>
                <a:gridCol w="2717165"/>
              </a:tblGrid>
              <a:tr h="429259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Alignment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Comparison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b="1" spc="-10" dirty="0">
                          <a:solidFill>
                            <a:srgbClr val="F9F6E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  <a:solidFill>
                      <a:srgbClr val="DF795F"/>
                    </a:solidFill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10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BAN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vs</a:t>
                      </a:r>
                      <a:r>
                        <a:rPr sz="1300" spc="-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9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1300" spc="-1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7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6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3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vs</a:t>
                      </a:r>
                      <a:r>
                        <a:rPr sz="1300" spc="-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N=N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300" b="1" spc="-6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9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spc="-3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NAN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vs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1300" spc="-7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1300" spc="-8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  <a:tr h="429259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1300" spc="-5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3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300" spc="-1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r>
                        <a:rPr sz="1300" spc="-4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vs</a:t>
                      </a:r>
                      <a:r>
                        <a:rPr sz="1300" spc="-4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ANA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300" spc="-2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N=N</a:t>
                      </a:r>
                      <a:r>
                        <a:rPr sz="1300" spc="-5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r>
                        <a:rPr sz="1300" spc="-35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Microsoft Sans Serif"/>
                          <a:cs typeface="Microsoft Sans Serif"/>
                        </a:rPr>
                        <a:t>A=A</a:t>
                      </a:r>
                      <a:r>
                        <a:rPr sz="1300" spc="-20" dirty="0">
                          <a:solidFill>
                            <a:srgbClr val="27242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300" b="1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300" b="1" spc="-60" dirty="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390" dirty="0">
                          <a:solidFill>
                            <a:srgbClr val="272424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D4CEC3"/>
                      </a:solidFill>
                      <a:prstDash val="solid"/>
                    </a:lnL>
                    <a:lnR w="12700">
                      <a:solidFill>
                        <a:srgbClr val="D4CEC3"/>
                      </a:solidFill>
                      <a:prstDash val="solid"/>
                    </a:lnR>
                    <a:lnT w="12700">
                      <a:solidFill>
                        <a:srgbClr val="D4CEC3"/>
                      </a:solidFill>
                      <a:prstDash val="solid"/>
                    </a:lnT>
                    <a:lnB w="12700">
                      <a:solidFill>
                        <a:srgbClr val="D4CEC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48716" y="5172608"/>
            <a:ext cx="4101465" cy="66865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76225" indent="-263525">
              <a:lnSpc>
                <a:spcPct val="100000"/>
              </a:lnSpc>
              <a:spcBef>
                <a:spcPts val="229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Where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first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match?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Index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05" dirty="0">
                <a:solidFill>
                  <a:srgbClr val="272424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  <a:p>
            <a:pPr marL="276225" indent="-263525">
              <a:lnSpc>
                <a:spcPct val="100000"/>
              </a:lnSpc>
              <a:spcBef>
                <a:spcPts val="135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Where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second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match?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Index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  <a:p>
            <a:pPr marL="276225" indent="-263525">
              <a:lnSpc>
                <a:spcPct val="100000"/>
              </a:lnSpc>
              <a:spcBef>
                <a:spcPts val="120"/>
              </a:spcBef>
              <a:buChar char="•"/>
              <a:tabLst>
                <a:tab pos="276225" algn="l"/>
              </a:tabLst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How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many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times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does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occur?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Twice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2088" y="5106441"/>
            <a:ext cx="4725670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Answer: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ANA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found</a:t>
            </a:r>
            <a:r>
              <a:rPr sz="13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at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positions</a:t>
            </a:r>
            <a:r>
              <a:rPr sz="13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0" dirty="0">
                <a:solidFill>
                  <a:srgbClr val="272424"/>
                </a:solidFill>
                <a:latin typeface="Arial"/>
                <a:cs typeface="Arial"/>
              </a:rPr>
              <a:t>[1,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3].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35" dirty="0">
                <a:solidFill>
                  <a:srgbClr val="272424"/>
                </a:solidFill>
                <a:latin typeface="Arial"/>
                <a:cs typeface="Arial"/>
              </a:rPr>
              <a:t>pattern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occurs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twice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text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BANANA.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2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Classroom</a:t>
            </a:r>
            <a:r>
              <a:rPr spc="-305" dirty="0"/>
              <a:t> </a:t>
            </a:r>
            <a:r>
              <a:rPr spc="-50" dirty="0"/>
              <a:t>Demo</a:t>
            </a:r>
            <a:r>
              <a:rPr spc="-290" dirty="0"/>
              <a:t> </a:t>
            </a:r>
            <a:r>
              <a:rPr spc="-150" dirty="0"/>
              <a:t>3:</a:t>
            </a:r>
            <a:r>
              <a:rPr spc="-275" dirty="0"/>
              <a:t> </a:t>
            </a:r>
            <a:r>
              <a:rPr spc="-135" dirty="0"/>
              <a:t>Hashing</a:t>
            </a:r>
            <a:r>
              <a:rPr spc="-320" dirty="0"/>
              <a:t> </a:t>
            </a:r>
            <a:r>
              <a:rPr spc="-35" dirty="0"/>
              <a:t>and</a:t>
            </a:r>
            <a:r>
              <a:rPr spc="-290" dirty="0"/>
              <a:t> </a:t>
            </a:r>
            <a:r>
              <a:rPr spc="-25" dirty="0"/>
              <a:t>Pattern</a:t>
            </a:r>
            <a:r>
              <a:rPr spc="-320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1934717"/>
            <a:ext cx="70719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Use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slide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encourage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classroom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discussion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about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role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4" name="object 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2353055"/>
            <a:ext cx="3512820" cy="32979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9319" y="2340778"/>
            <a:ext cx="2831465" cy="135191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4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Question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90" dirty="0">
                <a:solidFill>
                  <a:srgbClr val="272424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08200"/>
              </a:lnSpc>
              <a:spcBef>
                <a:spcPts val="72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If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4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value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65" dirty="0">
                <a:solidFill>
                  <a:srgbClr val="272424"/>
                </a:solidFill>
                <a:latin typeface="Arial"/>
                <a:cs typeface="Arial"/>
              </a:rPr>
              <a:t>text</a:t>
            </a:r>
            <a:r>
              <a:rPr sz="13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window</a:t>
            </a:r>
            <a:r>
              <a:rPr sz="13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is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different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from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value</a:t>
            </a:r>
            <a:r>
              <a:rPr sz="1300" b="1" spc="-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the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pattern,</a:t>
            </a:r>
            <a:r>
              <a:rPr sz="1300" b="1" spc="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do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we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need</a:t>
            </a:r>
            <a:r>
              <a:rPr sz="1300" b="1" spc="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compare</a:t>
            </a:r>
            <a:r>
              <a:rPr sz="1300" b="1" spc="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all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characters?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2019" y="3930396"/>
            <a:ext cx="3068320" cy="18415"/>
          </a:xfrm>
          <a:custGeom>
            <a:avLst/>
            <a:gdLst/>
            <a:ahLst/>
            <a:cxnLst/>
            <a:rect l="l" t="t" r="r" b="b"/>
            <a:pathLst>
              <a:path w="3068320" h="18414">
                <a:moveTo>
                  <a:pt x="3063747" y="0"/>
                </a:moveTo>
                <a:lnTo>
                  <a:pt x="4089" y="0"/>
                </a:lnTo>
                <a:lnTo>
                  <a:pt x="0" y="4063"/>
                </a:lnTo>
                <a:lnTo>
                  <a:pt x="0" y="9143"/>
                </a:lnTo>
                <a:lnTo>
                  <a:pt x="0" y="14223"/>
                </a:lnTo>
                <a:lnTo>
                  <a:pt x="4089" y="18287"/>
                </a:lnTo>
                <a:lnTo>
                  <a:pt x="3063747" y="18287"/>
                </a:lnTo>
                <a:lnTo>
                  <a:pt x="3067812" y="14223"/>
                </a:lnTo>
                <a:lnTo>
                  <a:pt x="3067812" y="4063"/>
                </a:lnTo>
                <a:lnTo>
                  <a:pt x="3063747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9319" y="4142892"/>
            <a:ext cx="3035300" cy="1310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5"/>
              </a:spcBef>
            </a:pP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Answer:</a:t>
            </a:r>
            <a:r>
              <a:rPr sz="13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No.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values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are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different,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cannot</a:t>
            </a:r>
            <a:r>
              <a:rPr sz="1300" spc="1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identical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(for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deterministic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function).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rejected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immediately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without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any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comparison.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key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efficiency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benefit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828" y="2353055"/>
            <a:ext cx="3512820" cy="329793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588002" y="2340778"/>
            <a:ext cx="2816225" cy="113665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Question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100"/>
              </a:lnSpc>
              <a:spcBef>
                <a:spcPts val="725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If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values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are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equal,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can</a:t>
            </a:r>
            <a:r>
              <a:rPr sz="1300" b="1" spc="-5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we 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immediately</a:t>
            </a:r>
            <a:r>
              <a:rPr sz="1300" b="1" spc="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declare</a:t>
            </a:r>
            <a:r>
              <a:rPr sz="1300" b="1" spc="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successful match?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99432" y="3715511"/>
            <a:ext cx="3068320" cy="18415"/>
          </a:xfrm>
          <a:custGeom>
            <a:avLst/>
            <a:gdLst/>
            <a:ahLst/>
            <a:cxnLst/>
            <a:rect l="l" t="t" r="r" b="b"/>
            <a:pathLst>
              <a:path w="3068320" h="18414">
                <a:moveTo>
                  <a:pt x="3063747" y="0"/>
                </a:moveTo>
                <a:lnTo>
                  <a:pt x="4063" y="0"/>
                </a:lnTo>
                <a:lnTo>
                  <a:pt x="0" y="4063"/>
                </a:lnTo>
                <a:lnTo>
                  <a:pt x="0" y="9143"/>
                </a:lnTo>
                <a:lnTo>
                  <a:pt x="0" y="14224"/>
                </a:lnTo>
                <a:lnTo>
                  <a:pt x="4063" y="18287"/>
                </a:lnTo>
                <a:lnTo>
                  <a:pt x="3063747" y="18287"/>
                </a:lnTo>
                <a:lnTo>
                  <a:pt x="3067812" y="14224"/>
                </a:lnTo>
                <a:lnTo>
                  <a:pt x="3067812" y="4063"/>
                </a:lnTo>
                <a:lnTo>
                  <a:pt x="3063747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88002" y="3927754"/>
            <a:ext cx="3054350" cy="152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105"/>
              </a:spcBef>
            </a:pP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Answer: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No.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should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verify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actual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 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collisions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two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can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theoretically</a:t>
            </a:r>
            <a:r>
              <a:rPr sz="1300" spc="1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produce</a:t>
            </a:r>
            <a:r>
              <a:rPr sz="1300" spc="1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300" spc="1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value.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is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necessary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but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not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sufficient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condition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 match.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2" name="object 1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7764" y="2353055"/>
            <a:ext cx="3512820" cy="329793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266303" y="2340778"/>
            <a:ext cx="2600325" cy="92329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Question</a:t>
            </a:r>
            <a:r>
              <a:rPr sz="16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10" dirty="0">
                <a:solidFill>
                  <a:srgbClr val="272424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20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Why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rolling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important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for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Rabin–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Karp's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efficiency?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78368" y="3500628"/>
            <a:ext cx="3068320" cy="18415"/>
          </a:xfrm>
          <a:custGeom>
            <a:avLst/>
            <a:gdLst/>
            <a:ahLst/>
            <a:cxnLst/>
            <a:rect l="l" t="t" r="r" b="b"/>
            <a:pathLst>
              <a:path w="3068320" h="18414">
                <a:moveTo>
                  <a:pt x="3063748" y="0"/>
                </a:moveTo>
                <a:lnTo>
                  <a:pt x="4063" y="0"/>
                </a:lnTo>
                <a:lnTo>
                  <a:pt x="0" y="4063"/>
                </a:lnTo>
                <a:lnTo>
                  <a:pt x="0" y="9144"/>
                </a:lnTo>
                <a:lnTo>
                  <a:pt x="0" y="14224"/>
                </a:lnTo>
                <a:lnTo>
                  <a:pt x="4063" y="18287"/>
                </a:lnTo>
                <a:lnTo>
                  <a:pt x="3063748" y="18287"/>
                </a:lnTo>
                <a:lnTo>
                  <a:pt x="3067811" y="14224"/>
                </a:lnTo>
                <a:lnTo>
                  <a:pt x="3067811" y="4063"/>
                </a:lnTo>
                <a:lnTo>
                  <a:pt x="3063748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66303" y="3712086"/>
            <a:ext cx="3083560" cy="13112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10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Answer: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Rolling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allows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updated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 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O(1)</a:t>
            </a:r>
            <a:r>
              <a:rPr sz="13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272424"/>
                </a:solidFill>
                <a:latin typeface="Arial"/>
                <a:cs typeface="Arial"/>
              </a:rPr>
              <a:t>time</a:t>
            </a:r>
            <a:r>
              <a:rPr sz="1300" b="1" spc="-4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as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slides.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Without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it,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we'd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need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O(m)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time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recalculate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full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for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each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new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window,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making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no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better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than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brute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force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practice.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1416" y="644651"/>
            <a:ext cx="1661160" cy="251460"/>
          </a:xfrm>
          <a:custGeom>
            <a:avLst/>
            <a:gdLst/>
            <a:ahLst/>
            <a:cxnLst/>
            <a:rect l="l" t="t" r="r" b="b"/>
            <a:pathLst>
              <a:path w="1661160" h="251459">
                <a:moveTo>
                  <a:pt x="1605534" y="0"/>
                </a:moveTo>
                <a:lnTo>
                  <a:pt x="55575" y="0"/>
                </a:lnTo>
                <a:lnTo>
                  <a:pt x="33941" y="4369"/>
                </a:lnTo>
                <a:lnTo>
                  <a:pt x="16276" y="16287"/>
                </a:lnTo>
                <a:lnTo>
                  <a:pt x="4367" y="33968"/>
                </a:lnTo>
                <a:lnTo>
                  <a:pt x="0" y="55625"/>
                </a:lnTo>
                <a:lnTo>
                  <a:pt x="0" y="195834"/>
                </a:lnTo>
                <a:lnTo>
                  <a:pt x="4367" y="217491"/>
                </a:lnTo>
                <a:lnTo>
                  <a:pt x="16276" y="235172"/>
                </a:lnTo>
                <a:lnTo>
                  <a:pt x="33941" y="247090"/>
                </a:lnTo>
                <a:lnTo>
                  <a:pt x="55575" y="251460"/>
                </a:lnTo>
                <a:lnTo>
                  <a:pt x="1605534" y="251460"/>
                </a:lnTo>
                <a:lnTo>
                  <a:pt x="1627191" y="247090"/>
                </a:lnTo>
                <a:lnTo>
                  <a:pt x="1644872" y="235172"/>
                </a:lnTo>
                <a:lnTo>
                  <a:pt x="1656790" y="217491"/>
                </a:lnTo>
                <a:lnTo>
                  <a:pt x="1661160" y="195834"/>
                </a:lnTo>
                <a:lnTo>
                  <a:pt x="1661160" y="55625"/>
                </a:lnTo>
                <a:lnTo>
                  <a:pt x="1656790" y="33968"/>
                </a:lnTo>
                <a:lnTo>
                  <a:pt x="1644872" y="16287"/>
                </a:lnTo>
                <a:lnTo>
                  <a:pt x="1627191" y="4369"/>
                </a:lnTo>
                <a:lnTo>
                  <a:pt x="1605534" y="0"/>
                </a:lnTo>
                <a:close/>
              </a:path>
            </a:pathLst>
          </a:custGeom>
          <a:solidFill>
            <a:srgbClr val="F7D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8080" y="667004"/>
            <a:ext cx="1440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PART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72424"/>
                </a:solidFill>
                <a:latin typeface="Microsoft Sans Serif"/>
                <a:cs typeface="Microsoft Sans Serif"/>
              </a:rPr>
              <a:t>9:</a:t>
            </a:r>
            <a:r>
              <a:rPr sz="1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272424"/>
                </a:solidFill>
                <a:latin typeface="Microsoft Sans Serif"/>
                <a:cs typeface="Microsoft Sans Serif"/>
              </a:rPr>
              <a:t>FINAL</a:t>
            </a:r>
            <a:r>
              <a:rPr sz="10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SUMMARY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716" y="845311"/>
            <a:ext cx="581850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Complete</a:t>
            </a:r>
            <a:r>
              <a:rPr spc="-290" dirty="0"/>
              <a:t> </a:t>
            </a:r>
            <a:r>
              <a:rPr spc="-50" dirty="0"/>
              <a:t>Conceptual</a:t>
            </a:r>
            <a:r>
              <a:rPr spc="-305" dirty="0"/>
              <a:t> </a:t>
            </a:r>
            <a:r>
              <a:rPr spc="-30" dirty="0"/>
              <a:t>Journey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58368" y="1621536"/>
            <a:ext cx="1092835" cy="858519"/>
            <a:chOff x="658368" y="1621536"/>
            <a:chExt cx="1092835" cy="858519"/>
          </a:xfrm>
        </p:grpSpPr>
        <p:sp>
          <p:nvSpPr>
            <p:cNvPr id="6" name="object 6"/>
            <p:cNvSpPr/>
            <p:nvPr/>
          </p:nvSpPr>
          <p:spPr>
            <a:xfrm>
              <a:off x="661416" y="1624584"/>
              <a:ext cx="1087120" cy="852169"/>
            </a:xfrm>
            <a:custGeom>
              <a:avLst/>
              <a:gdLst/>
              <a:ahLst/>
              <a:cxnLst/>
              <a:rect l="l" t="t" r="r" b="b"/>
              <a:pathLst>
                <a:path w="1087120" h="852169">
                  <a:moveTo>
                    <a:pt x="1017142" y="0"/>
                  </a:moveTo>
                  <a:lnTo>
                    <a:pt x="69494" y="0"/>
                  </a:lnTo>
                  <a:lnTo>
                    <a:pt x="42444" y="5461"/>
                  </a:lnTo>
                  <a:lnTo>
                    <a:pt x="20354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782446"/>
                  </a:lnTo>
                  <a:lnTo>
                    <a:pt x="5461" y="809482"/>
                  </a:lnTo>
                  <a:lnTo>
                    <a:pt x="20354" y="831564"/>
                  </a:lnTo>
                  <a:lnTo>
                    <a:pt x="42444" y="846454"/>
                  </a:lnTo>
                  <a:lnTo>
                    <a:pt x="69494" y="851915"/>
                  </a:lnTo>
                  <a:lnTo>
                    <a:pt x="1017142" y="851915"/>
                  </a:lnTo>
                  <a:lnTo>
                    <a:pt x="1044178" y="846454"/>
                  </a:lnTo>
                  <a:lnTo>
                    <a:pt x="1066260" y="831564"/>
                  </a:lnTo>
                  <a:lnTo>
                    <a:pt x="1081150" y="809482"/>
                  </a:lnTo>
                  <a:lnTo>
                    <a:pt x="1086611" y="782446"/>
                  </a:lnTo>
                  <a:lnTo>
                    <a:pt x="1086611" y="69468"/>
                  </a:lnTo>
                  <a:lnTo>
                    <a:pt x="1081150" y="42433"/>
                  </a:lnTo>
                  <a:lnTo>
                    <a:pt x="1066260" y="20351"/>
                  </a:lnTo>
                  <a:lnTo>
                    <a:pt x="1044178" y="5461"/>
                  </a:lnTo>
                  <a:lnTo>
                    <a:pt x="1017142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1416" y="1624584"/>
              <a:ext cx="1087120" cy="852169"/>
            </a:xfrm>
            <a:custGeom>
              <a:avLst/>
              <a:gdLst/>
              <a:ahLst/>
              <a:cxnLst/>
              <a:rect l="l" t="t" r="r" b="b"/>
              <a:pathLst>
                <a:path w="1087120" h="852169">
                  <a:moveTo>
                    <a:pt x="0" y="69468"/>
                  </a:moveTo>
                  <a:lnTo>
                    <a:pt x="5461" y="42433"/>
                  </a:lnTo>
                  <a:lnTo>
                    <a:pt x="20354" y="20351"/>
                  </a:lnTo>
                  <a:lnTo>
                    <a:pt x="42444" y="5461"/>
                  </a:lnTo>
                  <a:lnTo>
                    <a:pt x="69494" y="0"/>
                  </a:lnTo>
                  <a:lnTo>
                    <a:pt x="1017142" y="0"/>
                  </a:lnTo>
                  <a:lnTo>
                    <a:pt x="1044178" y="5461"/>
                  </a:lnTo>
                  <a:lnTo>
                    <a:pt x="1066260" y="20351"/>
                  </a:lnTo>
                  <a:lnTo>
                    <a:pt x="1081150" y="42433"/>
                  </a:lnTo>
                  <a:lnTo>
                    <a:pt x="1086611" y="69468"/>
                  </a:lnTo>
                  <a:lnTo>
                    <a:pt x="1086611" y="782446"/>
                  </a:lnTo>
                  <a:lnTo>
                    <a:pt x="1081150" y="809482"/>
                  </a:lnTo>
                  <a:lnTo>
                    <a:pt x="1066260" y="831564"/>
                  </a:lnTo>
                  <a:lnTo>
                    <a:pt x="1044178" y="846454"/>
                  </a:lnTo>
                  <a:lnTo>
                    <a:pt x="1017142" y="851915"/>
                  </a:lnTo>
                  <a:lnTo>
                    <a:pt x="69494" y="851915"/>
                  </a:lnTo>
                  <a:lnTo>
                    <a:pt x="42444" y="846454"/>
                  </a:lnTo>
                  <a:lnTo>
                    <a:pt x="20354" y="831564"/>
                  </a:lnTo>
                  <a:lnTo>
                    <a:pt x="5461" y="809482"/>
                  </a:lnTo>
                  <a:lnTo>
                    <a:pt x="0" y="782446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55598" y="1882266"/>
            <a:ext cx="105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30" dirty="0">
                <a:solidFill>
                  <a:srgbClr val="272424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1189" y="1593384"/>
            <a:ext cx="232664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65" dirty="0">
                <a:solidFill>
                  <a:srgbClr val="272424"/>
                </a:solidFill>
                <a:latin typeface="Arial"/>
                <a:cs typeface="Arial"/>
              </a:rPr>
              <a:t>Searching</a:t>
            </a:r>
            <a:r>
              <a:rPr sz="16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0" dirty="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sz="16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0" dirty="0">
                <a:solidFill>
                  <a:srgbClr val="272424"/>
                </a:solidFill>
                <a:latin typeface="Arial"/>
                <a:cs typeface="Arial"/>
              </a:rPr>
              <a:t>an</a:t>
            </a:r>
            <a:r>
              <a:rPr sz="16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Element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Sequential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30323" y="2467355"/>
            <a:ext cx="9618345" cy="10795"/>
          </a:xfrm>
          <a:custGeom>
            <a:avLst/>
            <a:gdLst/>
            <a:ahLst/>
            <a:cxnLst/>
            <a:rect l="l" t="t" r="r" b="b"/>
            <a:pathLst>
              <a:path w="9618345" h="10794">
                <a:moveTo>
                  <a:pt x="9615551" y="0"/>
                </a:moveTo>
                <a:lnTo>
                  <a:pt x="2412" y="0"/>
                </a:lnTo>
                <a:lnTo>
                  <a:pt x="0" y="2413"/>
                </a:lnTo>
                <a:lnTo>
                  <a:pt x="0" y="5334"/>
                </a:lnTo>
                <a:lnTo>
                  <a:pt x="0" y="8255"/>
                </a:lnTo>
                <a:lnTo>
                  <a:pt x="2412" y="10668"/>
                </a:lnTo>
                <a:lnTo>
                  <a:pt x="9615551" y="10668"/>
                </a:lnTo>
                <a:lnTo>
                  <a:pt x="9617964" y="8255"/>
                </a:lnTo>
                <a:lnTo>
                  <a:pt x="9617964" y="2413"/>
                </a:lnTo>
                <a:lnTo>
                  <a:pt x="9615551" y="0"/>
                </a:lnTo>
                <a:close/>
              </a:path>
            </a:pathLst>
          </a:custGeom>
          <a:solidFill>
            <a:srgbClr val="D4C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58368" y="2555748"/>
            <a:ext cx="2179320" cy="858519"/>
            <a:chOff x="658368" y="2555748"/>
            <a:chExt cx="2179320" cy="858519"/>
          </a:xfrm>
        </p:grpSpPr>
        <p:sp>
          <p:nvSpPr>
            <p:cNvPr id="12" name="object 12"/>
            <p:cNvSpPr/>
            <p:nvPr/>
          </p:nvSpPr>
          <p:spPr>
            <a:xfrm>
              <a:off x="661416" y="2558796"/>
              <a:ext cx="2173605" cy="852169"/>
            </a:xfrm>
            <a:custGeom>
              <a:avLst/>
              <a:gdLst/>
              <a:ahLst/>
              <a:cxnLst/>
              <a:rect l="l" t="t" r="r" b="b"/>
              <a:pathLst>
                <a:path w="2173605" h="852170">
                  <a:moveTo>
                    <a:pt x="2103754" y="0"/>
                  </a:moveTo>
                  <a:lnTo>
                    <a:pt x="69494" y="0"/>
                  </a:lnTo>
                  <a:lnTo>
                    <a:pt x="42444" y="5461"/>
                  </a:lnTo>
                  <a:lnTo>
                    <a:pt x="20354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782446"/>
                  </a:lnTo>
                  <a:lnTo>
                    <a:pt x="5461" y="809482"/>
                  </a:lnTo>
                  <a:lnTo>
                    <a:pt x="20354" y="831564"/>
                  </a:lnTo>
                  <a:lnTo>
                    <a:pt x="42444" y="846454"/>
                  </a:lnTo>
                  <a:lnTo>
                    <a:pt x="69494" y="851915"/>
                  </a:lnTo>
                  <a:lnTo>
                    <a:pt x="2103754" y="851915"/>
                  </a:lnTo>
                  <a:lnTo>
                    <a:pt x="2130790" y="846454"/>
                  </a:lnTo>
                  <a:lnTo>
                    <a:pt x="2152872" y="831564"/>
                  </a:lnTo>
                  <a:lnTo>
                    <a:pt x="2167763" y="809482"/>
                  </a:lnTo>
                  <a:lnTo>
                    <a:pt x="2173224" y="782446"/>
                  </a:lnTo>
                  <a:lnTo>
                    <a:pt x="2173224" y="69468"/>
                  </a:lnTo>
                  <a:lnTo>
                    <a:pt x="2167763" y="42433"/>
                  </a:lnTo>
                  <a:lnTo>
                    <a:pt x="2152872" y="20351"/>
                  </a:lnTo>
                  <a:lnTo>
                    <a:pt x="2130790" y="5461"/>
                  </a:lnTo>
                  <a:lnTo>
                    <a:pt x="2103754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1416" y="2558796"/>
              <a:ext cx="2173605" cy="852169"/>
            </a:xfrm>
            <a:custGeom>
              <a:avLst/>
              <a:gdLst/>
              <a:ahLst/>
              <a:cxnLst/>
              <a:rect l="l" t="t" r="r" b="b"/>
              <a:pathLst>
                <a:path w="2173605" h="852170">
                  <a:moveTo>
                    <a:pt x="0" y="69468"/>
                  </a:moveTo>
                  <a:lnTo>
                    <a:pt x="5461" y="42433"/>
                  </a:lnTo>
                  <a:lnTo>
                    <a:pt x="20354" y="20351"/>
                  </a:lnTo>
                  <a:lnTo>
                    <a:pt x="42444" y="5461"/>
                  </a:lnTo>
                  <a:lnTo>
                    <a:pt x="69494" y="0"/>
                  </a:lnTo>
                  <a:lnTo>
                    <a:pt x="2103754" y="0"/>
                  </a:lnTo>
                  <a:lnTo>
                    <a:pt x="2130790" y="5461"/>
                  </a:lnTo>
                  <a:lnTo>
                    <a:pt x="2152872" y="20351"/>
                  </a:lnTo>
                  <a:lnTo>
                    <a:pt x="2167763" y="42433"/>
                  </a:lnTo>
                  <a:lnTo>
                    <a:pt x="2173224" y="69468"/>
                  </a:lnTo>
                  <a:lnTo>
                    <a:pt x="2173224" y="782446"/>
                  </a:lnTo>
                  <a:lnTo>
                    <a:pt x="2167763" y="809482"/>
                  </a:lnTo>
                  <a:lnTo>
                    <a:pt x="2152872" y="831564"/>
                  </a:lnTo>
                  <a:lnTo>
                    <a:pt x="2130790" y="846454"/>
                  </a:lnTo>
                  <a:lnTo>
                    <a:pt x="2103754" y="851915"/>
                  </a:lnTo>
                  <a:lnTo>
                    <a:pt x="69494" y="851915"/>
                  </a:lnTo>
                  <a:lnTo>
                    <a:pt x="42444" y="846454"/>
                  </a:lnTo>
                  <a:lnTo>
                    <a:pt x="20354" y="831564"/>
                  </a:lnTo>
                  <a:lnTo>
                    <a:pt x="5461" y="809482"/>
                  </a:lnTo>
                  <a:lnTo>
                    <a:pt x="0" y="782446"/>
                  </a:lnTo>
                  <a:lnTo>
                    <a:pt x="0" y="69468"/>
                  </a:lnTo>
                  <a:close/>
                </a:path>
              </a:pathLst>
            </a:custGeom>
            <a:ln w="6095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71573" y="2816733"/>
            <a:ext cx="157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272424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88055" y="2526851"/>
            <a:ext cx="2665730" cy="70993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Searching</a:t>
            </a:r>
            <a:r>
              <a:rPr sz="16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35" dirty="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6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Sequence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18460" y="3401567"/>
            <a:ext cx="8529955" cy="10795"/>
          </a:xfrm>
          <a:custGeom>
            <a:avLst/>
            <a:gdLst/>
            <a:ahLst/>
            <a:cxnLst/>
            <a:rect l="l" t="t" r="r" b="b"/>
            <a:pathLst>
              <a:path w="8529955" h="10795">
                <a:moveTo>
                  <a:pt x="8527415" y="0"/>
                </a:moveTo>
                <a:lnTo>
                  <a:pt x="2412" y="0"/>
                </a:lnTo>
                <a:lnTo>
                  <a:pt x="0" y="2412"/>
                </a:lnTo>
                <a:lnTo>
                  <a:pt x="0" y="5334"/>
                </a:lnTo>
                <a:lnTo>
                  <a:pt x="0" y="8255"/>
                </a:lnTo>
                <a:lnTo>
                  <a:pt x="2412" y="10668"/>
                </a:lnTo>
                <a:lnTo>
                  <a:pt x="8527415" y="10668"/>
                </a:lnTo>
                <a:lnTo>
                  <a:pt x="8529828" y="8255"/>
                </a:lnTo>
                <a:lnTo>
                  <a:pt x="8529828" y="2412"/>
                </a:lnTo>
                <a:lnTo>
                  <a:pt x="8527415" y="0"/>
                </a:lnTo>
                <a:close/>
              </a:path>
            </a:pathLst>
          </a:custGeom>
          <a:solidFill>
            <a:srgbClr val="D4C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658368" y="3489959"/>
            <a:ext cx="3267710" cy="858519"/>
            <a:chOff x="658368" y="3489959"/>
            <a:chExt cx="3267710" cy="858519"/>
          </a:xfrm>
        </p:grpSpPr>
        <p:sp>
          <p:nvSpPr>
            <p:cNvPr id="18" name="object 18"/>
            <p:cNvSpPr/>
            <p:nvPr/>
          </p:nvSpPr>
          <p:spPr>
            <a:xfrm>
              <a:off x="661416" y="3493007"/>
              <a:ext cx="3261360" cy="852169"/>
            </a:xfrm>
            <a:custGeom>
              <a:avLst/>
              <a:gdLst/>
              <a:ahLst/>
              <a:cxnLst/>
              <a:rect l="l" t="t" r="r" b="b"/>
              <a:pathLst>
                <a:path w="3261360" h="852170">
                  <a:moveTo>
                    <a:pt x="3191891" y="0"/>
                  </a:moveTo>
                  <a:lnTo>
                    <a:pt x="69494" y="0"/>
                  </a:lnTo>
                  <a:lnTo>
                    <a:pt x="42444" y="5461"/>
                  </a:lnTo>
                  <a:lnTo>
                    <a:pt x="20354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782446"/>
                  </a:lnTo>
                  <a:lnTo>
                    <a:pt x="5461" y="809482"/>
                  </a:lnTo>
                  <a:lnTo>
                    <a:pt x="20354" y="831564"/>
                  </a:lnTo>
                  <a:lnTo>
                    <a:pt x="42444" y="846454"/>
                  </a:lnTo>
                  <a:lnTo>
                    <a:pt x="69494" y="851915"/>
                  </a:lnTo>
                  <a:lnTo>
                    <a:pt x="3191891" y="851915"/>
                  </a:lnTo>
                  <a:lnTo>
                    <a:pt x="3218926" y="846455"/>
                  </a:lnTo>
                  <a:lnTo>
                    <a:pt x="3241008" y="831564"/>
                  </a:lnTo>
                  <a:lnTo>
                    <a:pt x="3255899" y="809482"/>
                  </a:lnTo>
                  <a:lnTo>
                    <a:pt x="3261360" y="782446"/>
                  </a:lnTo>
                  <a:lnTo>
                    <a:pt x="3261360" y="69468"/>
                  </a:lnTo>
                  <a:lnTo>
                    <a:pt x="3255899" y="42433"/>
                  </a:lnTo>
                  <a:lnTo>
                    <a:pt x="3241008" y="20351"/>
                  </a:lnTo>
                  <a:lnTo>
                    <a:pt x="3218926" y="5461"/>
                  </a:lnTo>
                  <a:lnTo>
                    <a:pt x="3191891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1416" y="3493007"/>
              <a:ext cx="3261360" cy="852169"/>
            </a:xfrm>
            <a:custGeom>
              <a:avLst/>
              <a:gdLst/>
              <a:ahLst/>
              <a:cxnLst/>
              <a:rect l="l" t="t" r="r" b="b"/>
              <a:pathLst>
                <a:path w="3261360" h="852170">
                  <a:moveTo>
                    <a:pt x="0" y="69468"/>
                  </a:moveTo>
                  <a:lnTo>
                    <a:pt x="5461" y="42433"/>
                  </a:lnTo>
                  <a:lnTo>
                    <a:pt x="20354" y="20351"/>
                  </a:lnTo>
                  <a:lnTo>
                    <a:pt x="42444" y="5461"/>
                  </a:lnTo>
                  <a:lnTo>
                    <a:pt x="69494" y="0"/>
                  </a:lnTo>
                  <a:lnTo>
                    <a:pt x="3191891" y="0"/>
                  </a:lnTo>
                  <a:lnTo>
                    <a:pt x="3218926" y="5461"/>
                  </a:lnTo>
                  <a:lnTo>
                    <a:pt x="3241008" y="20351"/>
                  </a:lnTo>
                  <a:lnTo>
                    <a:pt x="3255899" y="42433"/>
                  </a:lnTo>
                  <a:lnTo>
                    <a:pt x="3261360" y="69468"/>
                  </a:lnTo>
                  <a:lnTo>
                    <a:pt x="3261360" y="782446"/>
                  </a:lnTo>
                  <a:lnTo>
                    <a:pt x="3255899" y="809482"/>
                  </a:lnTo>
                  <a:lnTo>
                    <a:pt x="3241008" y="831564"/>
                  </a:lnTo>
                  <a:lnTo>
                    <a:pt x="3218926" y="846455"/>
                  </a:lnTo>
                  <a:lnTo>
                    <a:pt x="3191891" y="851915"/>
                  </a:lnTo>
                  <a:lnTo>
                    <a:pt x="69494" y="851915"/>
                  </a:lnTo>
                  <a:lnTo>
                    <a:pt x="42444" y="846454"/>
                  </a:lnTo>
                  <a:lnTo>
                    <a:pt x="20354" y="831564"/>
                  </a:lnTo>
                  <a:lnTo>
                    <a:pt x="5461" y="809482"/>
                  </a:lnTo>
                  <a:lnTo>
                    <a:pt x="0" y="782446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213610" y="375132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solidFill>
                  <a:srgbClr val="272424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74921" y="3462966"/>
            <a:ext cx="4845685" cy="70802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Direct</a:t>
            </a:r>
            <a:r>
              <a:rPr sz="16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Comparison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Brute-Force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Searching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Word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005071" y="4335779"/>
            <a:ext cx="7443470" cy="10795"/>
          </a:xfrm>
          <a:custGeom>
            <a:avLst/>
            <a:gdLst/>
            <a:ahLst/>
            <a:cxnLst/>
            <a:rect l="l" t="t" r="r" b="b"/>
            <a:pathLst>
              <a:path w="7443470" h="10795">
                <a:moveTo>
                  <a:pt x="7440803" y="0"/>
                </a:moveTo>
                <a:lnTo>
                  <a:pt x="2412" y="0"/>
                </a:lnTo>
                <a:lnTo>
                  <a:pt x="0" y="2413"/>
                </a:lnTo>
                <a:lnTo>
                  <a:pt x="0" y="5334"/>
                </a:lnTo>
                <a:lnTo>
                  <a:pt x="0" y="8255"/>
                </a:lnTo>
                <a:lnTo>
                  <a:pt x="2412" y="10668"/>
                </a:lnTo>
                <a:lnTo>
                  <a:pt x="7440803" y="10668"/>
                </a:lnTo>
                <a:lnTo>
                  <a:pt x="7443216" y="8255"/>
                </a:lnTo>
                <a:lnTo>
                  <a:pt x="7443216" y="2413"/>
                </a:lnTo>
                <a:lnTo>
                  <a:pt x="7440803" y="0"/>
                </a:lnTo>
                <a:close/>
              </a:path>
            </a:pathLst>
          </a:custGeom>
          <a:solidFill>
            <a:srgbClr val="D4C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658368" y="4424171"/>
            <a:ext cx="4354195" cy="858519"/>
            <a:chOff x="658368" y="4424171"/>
            <a:chExt cx="4354195" cy="858519"/>
          </a:xfrm>
        </p:grpSpPr>
        <p:sp>
          <p:nvSpPr>
            <p:cNvPr id="24" name="object 24"/>
            <p:cNvSpPr/>
            <p:nvPr/>
          </p:nvSpPr>
          <p:spPr>
            <a:xfrm>
              <a:off x="661416" y="4427219"/>
              <a:ext cx="4348480" cy="852169"/>
            </a:xfrm>
            <a:custGeom>
              <a:avLst/>
              <a:gdLst/>
              <a:ahLst/>
              <a:cxnLst/>
              <a:rect l="l" t="t" r="r" b="b"/>
              <a:pathLst>
                <a:path w="4348480" h="852170">
                  <a:moveTo>
                    <a:pt x="4278503" y="0"/>
                  </a:moveTo>
                  <a:lnTo>
                    <a:pt x="69494" y="0"/>
                  </a:lnTo>
                  <a:lnTo>
                    <a:pt x="42444" y="5460"/>
                  </a:lnTo>
                  <a:lnTo>
                    <a:pt x="20354" y="20351"/>
                  </a:lnTo>
                  <a:lnTo>
                    <a:pt x="5461" y="42433"/>
                  </a:lnTo>
                  <a:lnTo>
                    <a:pt x="0" y="69468"/>
                  </a:lnTo>
                  <a:lnTo>
                    <a:pt x="0" y="782446"/>
                  </a:lnTo>
                  <a:lnTo>
                    <a:pt x="5461" y="809482"/>
                  </a:lnTo>
                  <a:lnTo>
                    <a:pt x="20354" y="831564"/>
                  </a:lnTo>
                  <a:lnTo>
                    <a:pt x="42444" y="846454"/>
                  </a:lnTo>
                  <a:lnTo>
                    <a:pt x="69494" y="851915"/>
                  </a:lnTo>
                  <a:lnTo>
                    <a:pt x="4278503" y="851915"/>
                  </a:lnTo>
                  <a:lnTo>
                    <a:pt x="4305538" y="846454"/>
                  </a:lnTo>
                  <a:lnTo>
                    <a:pt x="4327620" y="831564"/>
                  </a:lnTo>
                  <a:lnTo>
                    <a:pt x="4342511" y="809482"/>
                  </a:lnTo>
                  <a:lnTo>
                    <a:pt x="4347972" y="782446"/>
                  </a:lnTo>
                  <a:lnTo>
                    <a:pt x="4347972" y="69468"/>
                  </a:lnTo>
                  <a:lnTo>
                    <a:pt x="4342511" y="42433"/>
                  </a:lnTo>
                  <a:lnTo>
                    <a:pt x="4327620" y="20351"/>
                  </a:lnTo>
                  <a:lnTo>
                    <a:pt x="4305538" y="5460"/>
                  </a:lnTo>
                  <a:lnTo>
                    <a:pt x="4278503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1416" y="4427219"/>
              <a:ext cx="4348480" cy="852169"/>
            </a:xfrm>
            <a:custGeom>
              <a:avLst/>
              <a:gdLst/>
              <a:ahLst/>
              <a:cxnLst/>
              <a:rect l="l" t="t" r="r" b="b"/>
              <a:pathLst>
                <a:path w="4348480" h="852170">
                  <a:moveTo>
                    <a:pt x="0" y="69468"/>
                  </a:moveTo>
                  <a:lnTo>
                    <a:pt x="5461" y="42433"/>
                  </a:lnTo>
                  <a:lnTo>
                    <a:pt x="20354" y="20351"/>
                  </a:lnTo>
                  <a:lnTo>
                    <a:pt x="42444" y="5460"/>
                  </a:lnTo>
                  <a:lnTo>
                    <a:pt x="69494" y="0"/>
                  </a:lnTo>
                  <a:lnTo>
                    <a:pt x="4278503" y="0"/>
                  </a:lnTo>
                  <a:lnTo>
                    <a:pt x="4305538" y="5460"/>
                  </a:lnTo>
                  <a:lnTo>
                    <a:pt x="4327620" y="20351"/>
                  </a:lnTo>
                  <a:lnTo>
                    <a:pt x="4342511" y="42433"/>
                  </a:lnTo>
                  <a:lnTo>
                    <a:pt x="4347972" y="69468"/>
                  </a:lnTo>
                  <a:lnTo>
                    <a:pt x="4347972" y="782446"/>
                  </a:lnTo>
                  <a:lnTo>
                    <a:pt x="4342511" y="809482"/>
                  </a:lnTo>
                  <a:lnTo>
                    <a:pt x="4327620" y="831564"/>
                  </a:lnTo>
                  <a:lnTo>
                    <a:pt x="4305538" y="846454"/>
                  </a:lnTo>
                  <a:lnTo>
                    <a:pt x="4278503" y="851915"/>
                  </a:lnTo>
                  <a:lnTo>
                    <a:pt x="69494" y="851915"/>
                  </a:lnTo>
                  <a:lnTo>
                    <a:pt x="42444" y="846454"/>
                  </a:lnTo>
                  <a:lnTo>
                    <a:pt x="20354" y="831564"/>
                  </a:lnTo>
                  <a:lnTo>
                    <a:pt x="5461" y="809482"/>
                  </a:lnTo>
                  <a:lnTo>
                    <a:pt x="0" y="782446"/>
                  </a:lnTo>
                  <a:lnTo>
                    <a:pt x="0" y="69468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752725" y="4685792"/>
            <a:ext cx="171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solidFill>
                  <a:srgbClr val="272424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62169" y="4396654"/>
            <a:ext cx="419227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Numerical</a:t>
            </a:r>
            <a:r>
              <a:rPr sz="16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Filtering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Introduction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to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91684" y="5269991"/>
            <a:ext cx="6356985" cy="10795"/>
          </a:xfrm>
          <a:custGeom>
            <a:avLst/>
            <a:gdLst/>
            <a:ahLst/>
            <a:cxnLst/>
            <a:rect l="l" t="t" r="r" b="b"/>
            <a:pathLst>
              <a:path w="6356984" h="10795">
                <a:moveTo>
                  <a:pt x="6354191" y="0"/>
                </a:moveTo>
                <a:lnTo>
                  <a:pt x="2412" y="0"/>
                </a:lnTo>
                <a:lnTo>
                  <a:pt x="0" y="2413"/>
                </a:lnTo>
                <a:lnTo>
                  <a:pt x="0" y="5334"/>
                </a:lnTo>
                <a:lnTo>
                  <a:pt x="0" y="8255"/>
                </a:lnTo>
                <a:lnTo>
                  <a:pt x="2412" y="10668"/>
                </a:lnTo>
                <a:lnTo>
                  <a:pt x="6354191" y="10668"/>
                </a:lnTo>
                <a:lnTo>
                  <a:pt x="6356604" y="8255"/>
                </a:lnTo>
                <a:lnTo>
                  <a:pt x="6356604" y="2413"/>
                </a:lnTo>
                <a:lnTo>
                  <a:pt x="6354191" y="0"/>
                </a:lnTo>
                <a:close/>
              </a:path>
            </a:pathLst>
          </a:custGeom>
          <a:solidFill>
            <a:srgbClr val="D4C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658368" y="5358384"/>
            <a:ext cx="5440680" cy="858519"/>
            <a:chOff x="658368" y="5358384"/>
            <a:chExt cx="5440680" cy="858519"/>
          </a:xfrm>
        </p:grpSpPr>
        <p:sp>
          <p:nvSpPr>
            <p:cNvPr id="30" name="object 30"/>
            <p:cNvSpPr/>
            <p:nvPr/>
          </p:nvSpPr>
          <p:spPr>
            <a:xfrm>
              <a:off x="661416" y="5361432"/>
              <a:ext cx="5434965" cy="852169"/>
            </a:xfrm>
            <a:custGeom>
              <a:avLst/>
              <a:gdLst/>
              <a:ahLst/>
              <a:cxnLst/>
              <a:rect l="l" t="t" r="r" b="b"/>
              <a:pathLst>
                <a:path w="5434965" h="852170">
                  <a:moveTo>
                    <a:pt x="5365115" y="0"/>
                  </a:moveTo>
                  <a:lnTo>
                    <a:pt x="69494" y="0"/>
                  </a:lnTo>
                  <a:lnTo>
                    <a:pt x="42444" y="5461"/>
                  </a:lnTo>
                  <a:lnTo>
                    <a:pt x="20354" y="20351"/>
                  </a:lnTo>
                  <a:lnTo>
                    <a:pt x="5461" y="42433"/>
                  </a:lnTo>
                  <a:lnTo>
                    <a:pt x="0" y="69469"/>
                  </a:lnTo>
                  <a:lnTo>
                    <a:pt x="0" y="782421"/>
                  </a:lnTo>
                  <a:lnTo>
                    <a:pt x="5461" y="809471"/>
                  </a:lnTo>
                  <a:lnTo>
                    <a:pt x="20354" y="831561"/>
                  </a:lnTo>
                  <a:lnTo>
                    <a:pt x="42444" y="846454"/>
                  </a:lnTo>
                  <a:lnTo>
                    <a:pt x="69494" y="851916"/>
                  </a:lnTo>
                  <a:lnTo>
                    <a:pt x="5365115" y="851916"/>
                  </a:lnTo>
                  <a:lnTo>
                    <a:pt x="5392150" y="846454"/>
                  </a:lnTo>
                  <a:lnTo>
                    <a:pt x="5414232" y="831561"/>
                  </a:lnTo>
                  <a:lnTo>
                    <a:pt x="5429123" y="809471"/>
                  </a:lnTo>
                  <a:lnTo>
                    <a:pt x="5434584" y="782421"/>
                  </a:lnTo>
                  <a:lnTo>
                    <a:pt x="5434584" y="69469"/>
                  </a:lnTo>
                  <a:lnTo>
                    <a:pt x="5429123" y="42433"/>
                  </a:lnTo>
                  <a:lnTo>
                    <a:pt x="5414232" y="20351"/>
                  </a:lnTo>
                  <a:lnTo>
                    <a:pt x="5392150" y="5461"/>
                  </a:lnTo>
                  <a:lnTo>
                    <a:pt x="5365115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1416" y="5361432"/>
              <a:ext cx="5434965" cy="852169"/>
            </a:xfrm>
            <a:custGeom>
              <a:avLst/>
              <a:gdLst/>
              <a:ahLst/>
              <a:cxnLst/>
              <a:rect l="l" t="t" r="r" b="b"/>
              <a:pathLst>
                <a:path w="5434965" h="852170">
                  <a:moveTo>
                    <a:pt x="0" y="69469"/>
                  </a:moveTo>
                  <a:lnTo>
                    <a:pt x="5461" y="42433"/>
                  </a:lnTo>
                  <a:lnTo>
                    <a:pt x="20354" y="20351"/>
                  </a:lnTo>
                  <a:lnTo>
                    <a:pt x="42444" y="5461"/>
                  </a:lnTo>
                  <a:lnTo>
                    <a:pt x="69494" y="0"/>
                  </a:lnTo>
                  <a:lnTo>
                    <a:pt x="5365115" y="0"/>
                  </a:lnTo>
                  <a:lnTo>
                    <a:pt x="5392150" y="5461"/>
                  </a:lnTo>
                  <a:lnTo>
                    <a:pt x="5414232" y="20351"/>
                  </a:lnTo>
                  <a:lnTo>
                    <a:pt x="5429123" y="42433"/>
                  </a:lnTo>
                  <a:lnTo>
                    <a:pt x="5434584" y="69469"/>
                  </a:lnTo>
                  <a:lnTo>
                    <a:pt x="5434584" y="782421"/>
                  </a:lnTo>
                  <a:lnTo>
                    <a:pt x="5429123" y="809471"/>
                  </a:lnTo>
                  <a:lnTo>
                    <a:pt x="5414232" y="831561"/>
                  </a:lnTo>
                  <a:lnTo>
                    <a:pt x="5392150" y="846454"/>
                  </a:lnTo>
                  <a:lnTo>
                    <a:pt x="5365115" y="851916"/>
                  </a:lnTo>
                  <a:lnTo>
                    <a:pt x="69494" y="851916"/>
                  </a:lnTo>
                  <a:lnTo>
                    <a:pt x="42444" y="846454"/>
                  </a:lnTo>
                  <a:lnTo>
                    <a:pt x="20354" y="831561"/>
                  </a:lnTo>
                  <a:lnTo>
                    <a:pt x="5461" y="809471"/>
                  </a:lnTo>
                  <a:lnTo>
                    <a:pt x="0" y="782421"/>
                  </a:lnTo>
                  <a:lnTo>
                    <a:pt x="0" y="6946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297682" y="5620308"/>
            <a:ext cx="167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272424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49161" y="5331234"/>
            <a:ext cx="4514850" cy="7086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0" dirty="0">
                <a:solidFill>
                  <a:srgbClr val="272424"/>
                </a:solidFill>
                <a:latin typeface="Arial"/>
                <a:cs typeface="Arial"/>
              </a:rPr>
              <a:t>Intelligent</a:t>
            </a:r>
            <a:r>
              <a:rPr sz="16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6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Rabin–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Karp</a:t>
            </a:r>
            <a:r>
              <a:rPr sz="13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Rolling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300" dirty="0">
                <a:solidFill>
                  <a:srgbClr val="272424"/>
                </a:solidFill>
                <a:latin typeface="Microsoft Sans Serif"/>
                <a:cs typeface="Microsoft Sans Serif"/>
              </a:rPr>
              <a:t>→</a:t>
            </a:r>
            <a:r>
              <a:rPr sz="130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03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Key</a:t>
            </a:r>
            <a:r>
              <a:rPr spc="-295" dirty="0"/>
              <a:t> </a:t>
            </a:r>
            <a:r>
              <a:rPr spc="-50" dirty="0"/>
              <a:t>Takeaways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1690116"/>
            <a:ext cx="3512820" cy="15346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9319" y="1677839"/>
            <a:ext cx="2903855" cy="113665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Sequential</a:t>
            </a: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100"/>
              </a:lnSpc>
              <a:spcBef>
                <a:spcPts val="72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Searches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checking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elements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one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 a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time.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Best: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O(1),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Worst: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O(n).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828" y="1690116"/>
            <a:ext cx="3512820" cy="15346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88002" y="1677839"/>
            <a:ext cx="2929890" cy="135191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65" dirty="0">
                <a:solidFill>
                  <a:srgbClr val="272424"/>
                </a:solidFill>
                <a:latin typeface="Arial"/>
                <a:cs typeface="Arial"/>
              </a:rPr>
              <a:t>String</a:t>
            </a:r>
            <a:r>
              <a:rPr sz="16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200"/>
              </a:lnSpc>
              <a:spcBef>
                <a:spcPts val="725"/>
              </a:spcBef>
            </a:pP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Searches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sequence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(pattern)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inside a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larger</a:t>
            </a:r>
            <a:r>
              <a:rPr sz="13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text.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requires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characters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appear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consecutively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order.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7764" y="1690116"/>
            <a:ext cx="3512820" cy="15346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266303" y="1677839"/>
            <a:ext cx="2970530" cy="135191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dirty="0">
                <a:solidFill>
                  <a:srgbClr val="272424"/>
                </a:solidFill>
                <a:latin typeface="Arial"/>
                <a:cs typeface="Arial"/>
              </a:rPr>
              <a:t>Brute-</a:t>
            </a: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Force</a:t>
            </a:r>
            <a:r>
              <a:rPr sz="16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272424"/>
                </a:solidFill>
                <a:latin typeface="Arial"/>
                <a:cs typeface="Arial"/>
              </a:rPr>
              <a:t>String</a:t>
            </a:r>
            <a:r>
              <a:rPr sz="1600" b="1" spc="-6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200"/>
              </a:lnSpc>
              <a:spcBef>
                <a:spcPts val="72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Checks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at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every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using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direct</a:t>
            </a:r>
            <a:r>
              <a:rPr sz="13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comparison.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Simple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but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O(n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×</a:t>
            </a:r>
            <a:r>
              <a:rPr sz="13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m)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worst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case.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3389376"/>
            <a:ext cx="3512820" cy="153466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09319" y="3377243"/>
            <a:ext cx="2992120" cy="135255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spc="-10" dirty="0">
                <a:solidFill>
                  <a:srgbClr val="272424"/>
                </a:solidFill>
                <a:latin typeface="Arial"/>
                <a:cs typeface="Arial"/>
              </a:rPr>
              <a:t>Hashing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500"/>
              </a:lnSpc>
              <a:spcBef>
                <a:spcPts val="715"/>
              </a:spcBef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Converts</a:t>
            </a:r>
            <a:r>
              <a:rPr sz="1300" spc="1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data</a:t>
            </a:r>
            <a:r>
              <a:rPr sz="13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into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numerical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 values.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help</a:t>
            </a:r>
            <a:r>
              <a:rPr sz="13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filter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possible</a:t>
            </a:r>
            <a:r>
              <a:rPr sz="13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matches</a:t>
            </a:r>
            <a:endParaRPr sz="1300">
              <a:latin typeface="Microsoft Sans Serif"/>
              <a:cs typeface="Microsoft Sans Serif"/>
            </a:endParaRPr>
          </a:p>
          <a:p>
            <a:pPr marL="12700" marR="356870">
              <a:lnSpc>
                <a:spcPts val="1689"/>
              </a:lnSpc>
              <a:spcBef>
                <a:spcPts val="70"/>
              </a:spcBef>
            </a:pPr>
            <a:r>
              <a:rPr sz="1300" spc="365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hashes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mean</a:t>
            </a:r>
            <a:r>
              <a:rPr sz="13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definitely </a:t>
            </a:r>
            <a:r>
              <a:rPr sz="13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300" spc="2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11" name="object 11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828" y="3389376"/>
            <a:ext cx="3512820" cy="153466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588002" y="3377243"/>
            <a:ext cx="3088005" cy="135255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spc="-45" dirty="0">
                <a:solidFill>
                  <a:srgbClr val="272424"/>
                </a:solidFill>
                <a:latin typeface="Arial"/>
                <a:cs typeface="Arial"/>
              </a:rPr>
              <a:t>Rabin–</a:t>
            </a:r>
            <a:r>
              <a:rPr sz="1600" b="1" spc="-20" dirty="0">
                <a:solidFill>
                  <a:srgbClr val="272424"/>
                </a:solidFill>
                <a:latin typeface="Arial"/>
                <a:cs typeface="Arial"/>
              </a:rPr>
              <a:t>Karp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8200"/>
              </a:lnSpc>
              <a:spcBef>
                <a:spcPts val="720"/>
              </a:spcBef>
            </a:pP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Uses</a:t>
            </a:r>
            <a:r>
              <a:rPr sz="13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hashing,</a:t>
            </a:r>
            <a:r>
              <a:rPr sz="13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3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comparison,</a:t>
            </a:r>
            <a:r>
              <a:rPr sz="13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rolling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</a:t>
            </a:r>
            <a:r>
              <a:rPr sz="13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update,</a:t>
            </a:r>
            <a:r>
              <a:rPr sz="13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1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1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perform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correct</a:t>
            </a:r>
            <a:r>
              <a:rPr sz="1300" spc="3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 matching.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6823" y="5262981"/>
            <a:ext cx="10624185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100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progression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from Sequential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r>
              <a:rPr sz="1300" b="1" spc="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Rabin–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Karp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demonstrates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how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algorithm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design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can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improve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simple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searching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approach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by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reducing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unnecessary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work.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1416" y="5109971"/>
            <a:ext cx="20320" cy="803275"/>
          </a:xfrm>
          <a:custGeom>
            <a:avLst/>
            <a:gdLst/>
            <a:ahLst/>
            <a:cxnLst/>
            <a:rect l="l" t="t" r="r" b="b"/>
            <a:pathLst>
              <a:path w="20320" h="803275">
                <a:moveTo>
                  <a:pt x="15379" y="0"/>
                </a:moveTo>
                <a:lnTo>
                  <a:pt x="4432" y="0"/>
                </a:lnTo>
                <a:lnTo>
                  <a:pt x="0" y="4444"/>
                </a:lnTo>
                <a:lnTo>
                  <a:pt x="0" y="9905"/>
                </a:lnTo>
                <a:lnTo>
                  <a:pt x="0" y="798715"/>
                </a:lnTo>
                <a:lnTo>
                  <a:pt x="4432" y="803147"/>
                </a:lnTo>
                <a:lnTo>
                  <a:pt x="15379" y="803147"/>
                </a:lnTo>
                <a:lnTo>
                  <a:pt x="19812" y="798715"/>
                </a:lnTo>
                <a:lnTo>
                  <a:pt x="19812" y="4444"/>
                </a:lnTo>
                <a:lnTo>
                  <a:pt x="15379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436575"/>
            <a:ext cx="471233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-150" dirty="0"/>
              <a:t>Final</a:t>
            </a:r>
            <a:r>
              <a:rPr sz="3050" spc="-229" dirty="0"/>
              <a:t> </a:t>
            </a:r>
            <a:r>
              <a:rPr sz="3050" spc="-145" dirty="0"/>
              <a:t>Discussion</a:t>
            </a:r>
            <a:r>
              <a:rPr sz="3050" spc="-195" dirty="0"/>
              <a:t> </a:t>
            </a:r>
            <a:r>
              <a:rPr sz="3050" spc="-60" dirty="0"/>
              <a:t>Questions</a:t>
            </a:r>
            <a:endParaRPr sz="3050"/>
          </a:p>
        </p:txBody>
      </p:sp>
      <p:grpSp>
        <p:nvGrpSpPr>
          <p:cNvPr id="3" name="object 3"/>
          <p:cNvGrpSpPr/>
          <p:nvPr/>
        </p:nvGrpSpPr>
        <p:grpSpPr>
          <a:xfrm>
            <a:off x="658368" y="1235963"/>
            <a:ext cx="360045" cy="358140"/>
            <a:chOff x="658368" y="1235963"/>
            <a:chExt cx="360045" cy="358140"/>
          </a:xfrm>
        </p:grpSpPr>
        <p:sp>
          <p:nvSpPr>
            <p:cNvPr id="4" name="object 4"/>
            <p:cNvSpPr/>
            <p:nvPr/>
          </p:nvSpPr>
          <p:spPr>
            <a:xfrm>
              <a:off x="661416" y="1239011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4" h="352425">
                  <a:moveTo>
                    <a:pt x="287845" y="0"/>
                  </a:moveTo>
                  <a:lnTo>
                    <a:pt x="65722" y="0"/>
                  </a:lnTo>
                  <a:lnTo>
                    <a:pt x="40140" y="5169"/>
                  </a:lnTo>
                  <a:lnTo>
                    <a:pt x="19250" y="19256"/>
                  </a:lnTo>
                  <a:lnTo>
                    <a:pt x="5164" y="40130"/>
                  </a:lnTo>
                  <a:lnTo>
                    <a:pt x="0" y="65659"/>
                  </a:lnTo>
                  <a:lnTo>
                    <a:pt x="0" y="286385"/>
                  </a:lnTo>
                  <a:lnTo>
                    <a:pt x="5164" y="311913"/>
                  </a:lnTo>
                  <a:lnTo>
                    <a:pt x="19250" y="332787"/>
                  </a:lnTo>
                  <a:lnTo>
                    <a:pt x="40140" y="346874"/>
                  </a:lnTo>
                  <a:lnTo>
                    <a:pt x="65722" y="352043"/>
                  </a:lnTo>
                  <a:lnTo>
                    <a:pt x="287845" y="352043"/>
                  </a:lnTo>
                  <a:lnTo>
                    <a:pt x="313427" y="346874"/>
                  </a:lnTo>
                  <a:lnTo>
                    <a:pt x="334317" y="332787"/>
                  </a:lnTo>
                  <a:lnTo>
                    <a:pt x="348403" y="311913"/>
                  </a:lnTo>
                  <a:lnTo>
                    <a:pt x="353568" y="286385"/>
                  </a:lnTo>
                  <a:lnTo>
                    <a:pt x="353568" y="65659"/>
                  </a:lnTo>
                  <a:lnTo>
                    <a:pt x="348403" y="40130"/>
                  </a:lnTo>
                  <a:lnTo>
                    <a:pt x="334317" y="19256"/>
                  </a:lnTo>
                  <a:lnTo>
                    <a:pt x="313427" y="5169"/>
                  </a:lnTo>
                  <a:lnTo>
                    <a:pt x="287845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1416" y="1239011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4" h="352425">
                  <a:moveTo>
                    <a:pt x="0" y="65659"/>
                  </a:moveTo>
                  <a:lnTo>
                    <a:pt x="5164" y="40130"/>
                  </a:lnTo>
                  <a:lnTo>
                    <a:pt x="19250" y="19256"/>
                  </a:lnTo>
                  <a:lnTo>
                    <a:pt x="40140" y="5169"/>
                  </a:lnTo>
                  <a:lnTo>
                    <a:pt x="65722" y="0"/>
                  </a:lnTo>
                  <a:lnTo>
                    <a:pt x="287845" y="0"/>
                  </a:lnTo>
                  <a:lnTo>
                    <a:pt x="313427" y="5169"/>
                  </a:lnTo>
                  <a:lnTo>
                    <a:pt x="334317" y="19256"/>
                  </a:lnTo>
                  <a:lnTo>
                    <a:pt x="348403" y="40130"/>
                  </a:lnTo>
                  <a:lnTo>
                    <a:pt x="353568" y="65659"/>
                  </a:lnTo>
                  <a:lnTo>
                    <a:pt x="353568" y="286385"/>
                  </a:lnTo>
                  <a:lnTo>
                    <a:pt x="348403" y="311913"/>
                  </a:lnTo>
                  <a:lnTo>
                    <a:pt x="334317" y="332787"/>
                  </a:lnTo>
                  <a:lnTo>
                    <a:pt x="313427" y="346874"/>
                  </a:lnTo>
                  <a:lnTo>
                    <a:pt x="287845" y="352043"/>
                  </a:lnTo>
                  <a:lnTo>
                    <a:pt x="65722" y="352043"/>
                  </a:lnTo>
                  <a:lnTo>
                    <a:pt x="40140" y="346874"/>
                  </a:lnTo>
                  <a:lnTo>
                    <a:pt x="19250" y="332787"/>
                  </a:lnTo>
                  <a:lnTo>
                    <a:pt x="5164" y="311913"/>
                  </a:lnTo>
                  <a:lnTo>
                    <a:pt x="0" y="286385"/>
                  </a:lnTo>
                  <a:lnTo>
                    <a:pt x="0" y="6565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7400" y="1243330"/>
            <a:ext cx="107314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440" dirty="0">
                <a:solidFill>
                  <a:srgbClr val="272424"/>
                </a:solidFill>
                <a:latin typeface="Arial"/>
                <a:cs typeface="Arial"/>
              </a:rPr>
              <a:t>1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636" y="1132013"/>
            <a:ext cx="10130155" cy="85471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Why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272424"/>
                </a:solidFill>
                <a:latin typeface="Arial"/>
                <a:cs typeface="Arial"/>
              </a:rPr>
              <a:t>can</a:t>
            </a:r>
            <a:r>
              <a:rPr sz="15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50" dirty="0">
                <a:solidFill>
                  <a:srgbClr val="272424"/>
                </a:solidFill>
                <a:latin typeface="Arial"/>
                <a:cs typeface="Arial"/>
              </a:rPr>
              <a:t>brute-</a:t>
            </a:r>
            <a:r>
              <a:rPr sz="1500" b="1" spc="-20" dirty="0">
                <a:solidFill>
                  <a:srgbClr val="272424"/>
                </a:solidFill>
                <a:latin typeface="Arial"/>
                <a:cs typeface="Arial"/>
              </a:rPr>
              <a:t>force</a:t>
            </a:r>
            <a:r>
              <a:rPr sz="15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5" dirty="0">
                <a:solidFill>
                  <a:srgbClr val="272424"/>
                </a:solidFill>
                <a:latin typeface="Arial"/>
                <a:cs typeface="Arial"/>
              </a:rPr>
              <a:t>string</a:t>
            </a:r>
            <a:r>
              <a:rPr sz="15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r>
              <a:rPr sz="15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become</a:t>
            </a:r>
            <a:r>
              <a:rPr sz="15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272424"/>
                </a:solidFill>
                <a:latin typeface="Arial"/>
                <a:cs typeface="Arial"/>
              </a:rPr>
              <a:t>inefficient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sz="15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5" dirty="0">
                <a:solidFill>
                  <a:srgbClr val="272424"/>
                </a:solidFill>
                <a:latin typeface="Arial"/>
                <a:cs typeface="Arial"/>
              </a:rPr>
              <a:t>large</a:t>
            </a:r>
            <a:r>
              <a:rPr sz="15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document?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06700"/>
              </a:lnSpc>
              <a:spcBef>
                <a:spcPts val="685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2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check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O(n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×</a:t>
            </a:r>
            <a:r>
              <a:rPr sz="12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m)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2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comparisons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worst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case,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repeating</a:t>
            </a:r>
            <a:r>
              <a:rPr sz="12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work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from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previous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mismatches</a:t>
            </a:r>
            <a:r>
              <a:rPr sz="12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2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performing</a:t>
            </a:r>
            <a:r>
              <a:rPr sz="12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comparisons 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that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could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be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avoided.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8368" y="2296667"/>
            <a:ext cx="360045" cy="360045"/>
            <a:chOff x="658368" y="2296667"/>
            <a:chExt cx="360045" cy="360045"/>
          </a:xfrm>
        </p:grpSpPr>
        <p:sp>
          <p:nvSpPr>
            <p:cNvPr id="9" name="object 9"/>
            <p:cNvSpPr/>
            <p:nvPr/>
          </p:nvSpPr>
          <p:spPr>
            <a:xfrm>
              <a:off x="661416" y="2299715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4">
                  <a:moveTo>
                    <a:pt x="287566" y="0"/>
                  </a:moveTo>
                  <a:lnTo>
                    <a:pt x="66001" y="0"/>
                  </a:lnTo>
                  <a:lnTo>
                    <a:pt x="40312" y="5193"/>
                  </a:lnTo>
                  <a:lnTo>
                    <a:pt x="19332" y="19351"/>
                  </a:lnTo>
                  <a:lnTo>
                    <a:pt x="5187" y="40344"/>
                  </a:lnTo>
                  <a:lnTo>
                    <a:pt x="0" y="66039"/>
                  </a:lnTo>
                  <a:lnTo>
                    <a:pt x="0" y="287528"/>
                  </a:lnTo>
                  <a:lnTo>
                    <a:pt x="5187" y="313223"/>
                  </a:lnTo>
                  <a:lnTo>
                    <a:pt x="19332" y="334216"/>
                  </a:lnTo>
                  <a:lnTo>
                    <a:pt x="40312" y="348374"/>
                  </a:lnTo>
                  <a:lnTo>
                    <a:pt x="66001" y="353568"/>
                  </a:lnTo>
                  <a:lnTo>
                    <a:pt x="287566" y="353568"/>
                  </a:lnTo>
                  <a:lnTo>
                    <a:pt x="313255" y="348374"/>
                  </a:lnTo>
                  <a:lnTo>
                    <a:pt x="334235" y="334216"/>
                  </a:lnTo>
                  <a:lnTo>
                    <a:pt x="348380" y="313223"/>
                  </a:lnTo>
                  <a:lnTo>
                    <a:pt x="353568" y="287528"/>
                  </a:lnTo>
                  <a:lnTo>
                    <a:pt x="353568" y="66039"/>
                  </a:lnTo>
                  <a:lnTo>
                    <a:pt x="348380" y="40344"/>
                  </a:lnTo>
                  <a:lnTo>
                    <a:pt x="334235" y="19351"/>
                  </a:lnTo>
                  <a:lnTo>
                    <a:pt x="313255" y="5193"/>
                  </a:lnTo>
                  <a:lnTo>
                    <a:pt x="28756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1416" y="2299715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4">
                  <a:moveTo>
                    <a:pt x="0" y="66039"/>
                  </a:moveTo>
                  <a:lnTo>
                    <a:pt x="5187" y="40344"/>
                  </a:lnTo>
                  <a:lnTo>
                    <a:pt x="19332" y="19351"/>
                  </a:lnTo>
                  <a:lnTo>
                    <a:pt x="40312" y="5193"/>
                  </a:lnTo>
                  <a:lnTo>
                    <a:pt x="66001" y="0"/>
                  </a:lnTo>
                  <a:lnTo>
                    <a:pt x="287566" y="0"/>
                  </a:lnTo>
                  <a:lnTo>
                    <a:pt x="313255" y="5193"/>
                  </a:lnTo>
                  <a:lnTo>
                    <a:pt x="334235" y="19351"/>
                  </a:lnTo>
                  <a:lnTo>
                    <a:pt x="348380" y="40344"/>
                  </a:lnTo>
                  <a:lnTo>
                    <a:pt x="353568" y="66039"/>
                  </a:lnTo>
                  <a:lnTo>
                    <a:pt x="353568" y="287528"/>
                  </a:lnTo>
                  <a:lnTo>
                    <a:pt x="348380" y="313223"/>
                  </a:lnTo>
                  <a:lnTo>
                    <a:pt x="334235" y="334216"/>
                  </a:lnTo>
                  <a:lnTo>
                    <a:pt x="313255" y="348374"/>
                  </a:lnTo>
                  <a:lnTo>
                    <a:pt x="287566" y="353568"/>
                  </a:lnTo>
                  <a:lnTo>
                    <a:pt x="66001" y="353568"/>
                  </a:lnTo>
                  <a:lnTo>
                    <a:pt x="40312" y="348374"/>
                  </a:lnTo>
                  <a:lnTo>
                    <a:pt x="19332" y="334216"/>
                  </a:lnTo>
                  <a:lnTo>
                    <a:pt x="5187" y="313223"/>
                  </a:lnTo>
                  <a:lnTo>
                    <a:pt x="0" y="287528"/>
                  </a:lnTo>
                  <a:lnTo>
                    <a:pt x="0" y="6603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61491" y="2304669"/>
            <a:ext cx="1612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50" dirty="0">
                <a:solidFill>
                  <a:srgbClr val="272424"/>
                </a:solidFill>
                <a:latin typeface="Arial"/>
                <a:cs typeface="Arial"/>
              </a:rPr>
              <a:t>2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1636" y="2192927"/>
            <a:ext cx="8912860" cy="65976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500" b="1" spc="-45" dirty="0">
                <a:solidFill>
                  <a:srgbClr val="272424"/>
                </a:solidFill>
                <a:latin typeface="Arial"/>
                <a:cs typeface="Arial"/>
              </a:rPr>
              <a:t>How</a:t>
            </a:r>
            <a:r>
              <a:rPr sz="15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272424"/>
                </a:solidFill>
                <a:latin typeface="Arial"/>
                <a:cs typeface="Arial"/>
              </a:rPr>
              <a:t>does</a:t>
            </a:r>
            <a:r>
              <a:rPr sz="15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70" dirty="0">
                <a:solidFill>
                  <a:srgbClr val="272424"/>
                </a:solidFill>
                <a:latin typeface="Arial"/>
                <a:cs typeface="Arial"/>
              </a:rPr>
              <a:t>hashing</a:t>
            </a:r>
            <a:r>
              <a:rPr sz="15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272424"/>
                </a:solidFill>
                <a:latin typeface="Arial"/>
                <a:cs typeface="Arial"/>
              </a:rPr>
              <a:t>help</a:t>
            </a:r>
            <a:r>
              <a:rPr sz="15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reduce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5" dirty="0">
                <a:solidFill>
                  <a:srgbClr val="272424"/>
                </a:solidFill>
                <a:latin typeface="Arial"/>
                <a:cs typeface="Arial"/>
              </a:rPr>
              <a:t>unnecessary</a:t>
            </a:r>
            <a:r>
              <a:rPr sz="15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comparisons?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single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</a:t>
            </a:r>
            <a:r>
              <a:rPr sz="12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definitively</a:t>
            </a:r>
            <a:r>
              <a:rPr sz="12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reject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if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hashes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differ,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avoiding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all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m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character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comparisons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for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that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8368" y="3157727"/>
            <a:ext cx="360045" cy="360045"/>
            <a:chOff x="658368" y="3157727"/>
            <a:chExt cx="360045" cy="360045"/>
          </a:xfrm>
        </p:grpSpPr>
        <p:sp>
          <p:nvSpPr>
            <p:cNvPr id="14" name="object 14"/>
            <p:cNvSpPr/>
            <p:nvPr/>
          </p:nvSpPr>
          <p:spPr>
            <a:xfrm>
              <a:off x="661416" y="3160775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287566" y="0"/>
                  </a:moveTo>
                  <a:lnTo>
                    <a:pt x="66001" y="0"/>
                  </a:lnTo>
                  <a:lnTo>
                    <a:pt x="40312" y="5193"/>
                  </a:lnTo>
                  <a:lnTo>
                    <a:pt x="19332" y="19351"/>
                  </a:lnTo>
                  <a:lnTo>
                    <a:pt x="5187" y="40344"/>
                  </a:lnTo>
                  <a:lnTo>
                    <a:pt x="0" y="66039"/>
                  </a:lnTo>
                  <a:lnTo>
                    <a:pt x="0" y="287527"/>
                  </a:lnTo>
                  <a:lnTo>
                    <a:pt x="5187" y="313223"/>
                  </a:lnTo>
                  <a:lnTo>
                    <a:pt x="19332" y="334216"/>
                  </a:lnTo>
                  <a:lnTo>
                    <a:pt x="40312" y="348374"/>
                  </a:lnTo>
                  <a:lnTo>
                    <a:pt x="66001" y="353568"/>
                  </a:lnTo>
                  <a:lnTo>
                    <a:pt x="287566" y="353568"/>
                  </a:lnTo>
                  <a:lnTo>
                    <a:pt x="313255" y="348374"/>
                  </a:lnTo>
                  <a:lnTo>
                    <a:pt x="334235" y="334216"/>
                  </a:lnTo>
                  <a:lnTo>
                    <a:pt x="348380" y="313223"/>
                  </a:lnTo>
                  <a:lnTo>
                    <a:pt x="353568" y="287527"/>
                  </a:lnTo>
                  <a:lnTo>
                    <a:pt x="353568" y="66039"/>
                  </a:lnTo>
                  <a:lnTo>
                    <a:pt x="348380" y="40344"/>
                  </a:lnTo>
                  <a:lnTo>
                    <a:pt x="334235" y="19351"/>
                  </a:lnTo>
                  <a:lnTo>
                    <a:pt x="313255" y="5193"/>
                  </a:lnTo>
                  <a:lnTo>
                    <a:pt x="28756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1416" y="3160775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0" y="66039"/>
                  </a:moveTo>
                  <a:lnTo>
                    <a:pt x="5187" y="40344"/>
                  </a:lnTo>
                  <a:lnTo>
                    <a:pt x="19332" y="19351"/>
                  </a:lnTo>
                  <a:lnTo>
                    <a:pt x="40312" y="5193"/>
                  </a:lnTo>
                  <a:lnTo>
                    <a:pt x="66001" y="0"/>
                  </a:lnTo>
                  <a:lnTo>
                    <a:pt x="287566" y="0"/>
                  </a:lnTo>
                  <a:lnTo>
                    <a:pt x="313255" y="5193"/>
                  </a:lnTo>
                  <a:lnTo>
                    <a:pt x="334235" y="19351"/>
                  </a:lnTo>
                  <a:lnTo>
                    <a:pt x="348380" y="40344"/>
                  </a:lnTo>
                  <a:lnTo>
                    <a:pt x="353568" y="66039"/>
                  </a:lnTo>
                  <a:lnTo>
                    <a:pt x="353568" y="287527"/>
                  </a:lnTo>
                  <a:lnTo>
                    <a:pt x="348380" y="313223"/>
                  </a:lnTo>
                  <a:lnTo>
                    <a:pt x="334235" y="334216"/>
                  </a:lnTo>
                  <a:lnTo>
                    <a:pt x="313255" y="348374"/>
                  </a:lnTo>
                  <a:lnTo>
                    <a:pt x="287566" y="353568"/>
                  </a:lnTo>
                  <a:lnTo>
                    <a:pt x="66001" y="353568"/>
                  </a:lnTo>
                  <a:lnTo>
                    <a:pt x="40312" y="348374"/>
                  </a:lnTo>
                  <a:lnTo>
                    <a:pt x="19332" y="334216"/>
                  </a:lnTo>
                  <a:lnTo>
                    <a:pt x="5187" y="313223"/>
                  </a:lnTo>
                  <a:lnTo>
                    <a:pt x="0" y="287527"/>
                  </a:lnTo>
                  <a:lnTo>
                    <a:pt x="0" y="6603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8444" y="3166999"/>
            <a:ext cx="16637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20" dirty="0">
                <a:solidFill>
                  <a:srgbClr val="272424"/>
                </a:solidFill>
                <a:latin typeface="Arial"/>
                <a:cs typeface="Arial"/>
              </a:rPr>
              <a:t>3</a:t>
            </a:r>
            <a:endParaRPr sz="1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51636" y="3055841"/>
            <a:ext cx="8799830" cy="65913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Why</a:t>
            </a:r>
            <a:r>
              <a:rPr sz="15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272424"/>
                </a:solidFill>
                <a:latin typeface="Arial"/>
                <a:cs typeface="Arial"/>
              </a:rPr>
              <a:t>must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272424"/>
                </a:solidFill>
                <a:latin typeface="Arial"/>
                <a:cs typeface="Arial"/>
              </a:rPr>
              <a:t>characters</a:t>
            </a:r>
            <a:r>
              <a:rPr sz="1500" b="1" spc="-7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50" dirty="0">
                <a:solidFill>
                  <a:srgbClr val="272424"/>
                </a:solidFill>
                <a:latin typeface="Arial"/>
                <a:cs typeface="Arial"/>
              </a:rPr>
              <a:t>still</a:t>
            </a:r>
            <a:r>
              <a:rPr sz="15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be</a:t>
            </a:r>
            <a:r>
              <a:rPr sz="15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272424"/>
                </a:solidFill>
                <a:latin typeface="Arial"/>
                <a:cs typeface="Arial"/>
              </a:rPr>
              <a:t>verified</a:t>
            </a:r>
            <a:r>
              <a:rPr sz="15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after</a:t>
            </a:r>
            <a:r>
              <a:rPr sz="15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6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5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55" dirty="0">
                <a:solidFill>
                  <a:srgbClr val="272424"/>
                </a:solidFill>
                <a:latin typeface="Arial"/>
                <a:cs typeface="Arial"/>
              </a:rPr>
              <a:t>values</a:t>
            </a:r>
            <a:r>
              <a:rPr sz="15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match?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Because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collisions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2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occur</a:t>
            </a:r>
            <a:r>
              <a:rPr sz="12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340" dirty="0">
                <a:solidFill>
                  <a:srgbClr val="272424"/>
                </a:solidFill>
                <a:latin typeface="Microsoft Sans Serif"/>
                <a:cs typeface="Microsoft Sans Serif"/>
              </a:rPr>
              <a:t>—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two</a:t>
            </a:r>
            <a:r>
              <a:rPr sz="12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different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</a:t>
            </a:r>
            <a:r>
              <a:rPr sz="12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may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produce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hash.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Verification</a:t>
            </a:r>
            <a:r>
              <a:rPr sz="12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confirms</a:t>
            </a:r>
            <a:r>
              <a:rPr sz="12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actual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8368" y="4020311"/>
            <a:ext cx="360045" cy="360045"/>
            <a:chOff x="658368" y="4020311"/>
            <a:chExt cx="360045" cy="360045"/>
          </a:xfrm>
        </p:grpSpPr>
        <p:sp>
          <p:nvSpPr>
            <p:cNvPr id="19" name="object 19"/>
            <p:cNvSpPr/>
            <p:nvPr/>
          </p:nvSpPr>
          <p:spPr>
            <a:xfrm>
              <a:off x="661416" y="4023359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287566" y="0"/>
                  </a:moveTo>
                  <a:lnTo>
                    <a:pt x="66001" y="0"/>
                  </a:lnTo>
                  <a:lnTo>
                    <a:pt x="40312" y="5193"/>
                  </a:lnTo>
                  <a:lnTo>
                    <a:pt x="19332" y="19351"/>
                  </a:lnTo>
                  <a:lnTo>
                    <a:pt x="5187" y="40344"/>
                  </a:lnTo>
                  <a:lnTo>
                    <a:pt x="0" y="66039"/>
                  </a:lnTo>
                  <a:lnTo>
                    <a:pt x="0" y="287527"/>
                  </a:lnTo>
                  <a:lnTo>
                    <a:pt x="5187" y="313223"/>
                  </a:lnTo>
                  <a:lnTo>
                    <a:pt x="19332" y="334216"/>
                  </a:lnTo>
                  <a:lnTo>
                    <a:pt x="40312" y="348374"/>
                  </a:lnTo>
                  <a:lnTo>
                    <a:pt x="66001" y="353567"/>
                  </a:lnTo>
                  <a:lnTo>
                    <a:pt x="287566" y="353567"/>
                  </a:lnTo>
                  <a:lnTo>
                    <a:pt x="313255" y="348374"/>
                  </a:lnTo>
                  <a:lnTo>
                    <a:pt x="334235" y="334216"/>
                  </a:lnTo>
                  <a:lnTo>
                    <a:pt x="348380" y="313223"/>
                  </a:lnTo>
                  <a:lnTo>
                    <a:pt x="353568" y="287527"/>
                  </a:lnTo>
                  <a:lnTo>
                    <a:pt x="353568" y="66039"/>
                  </a:lnTo>
                  <a:lnTo>
                    <a:pt x="348380" y="40344"/>
                  </a:lnTo>
                  <a:lnTo>
                    <a:pt x="334235" y="19351"/>
                  </a:lnTo>
                  <a:lnTo>
                    <a:pt x="313255" y="5193"/>
                  </a:lnTo>
                  <a:lnTo>
                    <a:pt x="28756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1416" y="4023359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0" y="66039"/>
                  </a:moveTo>
                  <a:lnTo>
                    <a:pt x="5187" y="40344"/>
                  </a:lnTo>
                  <a:lnTo>
                    <a:pt x="19332" y="19351"/>
                  </a:lnTo>
                  <a:lnTo>
                    <a:pt x="40312" y="5193"/>
                  </a:lnTo>
                  <a:lnTo>
                    <a:pt x="66001" y="0"/>
                  </a:lnTo>
                  <a:lnTo>
                    <a:pt x="287566" y="0"/>
                  </a:lnTo>
                  <a:lnTo>
                    <a:pt x="313255" y="5193"/>
                  </a:lnTo>
                  <a:lnTo>
                    <a:pt x="334235" y="19351"/>
                  </a:lnTo>
                  <a:lnTo>
                    <a:pt x="348380" y="40344"/>
                  </a:lnTo>
                  <a:lnTo>
                    <a:pt x="353568" y="66039"/>
                  </a:lnTo>
                  <a:lnTo>
                    <a:pt x="353568" y="287527"/>
                  </a:lnTo>
                  <a:lnTo>
                    <a:pt x="348380" y="313223"/>
                  </a:lnTo>
                  <a:lnTo>
                    <a:pt x="334235" y="334216"/>
                  </a:lnTo>
                  <a:lnTo>
                    <a:pt x="313255" y="348374"/>
                  </a:lnTo>
                  <a:lnTo>
                    <a:pt x="287566" y="353567"/>
                  </a:lnTo>
                  <a:lnTo>
                    <a:pt x="66001" y="353567"/>
                  </a:lnTo>
                  <a:lnTo>
                    <a:pt x="40312" y="348374"/>
                  </a:lnTo>
                  <a:lnTo>
                    <a:pt x="19332" y="334216"/>
                  </a:lnTo>
                  <a:lnTo>
                    <a:pt x="5187" y="313223"/>
                  </a:lnTo>
                  <a:lnTo>
                    <a:pt x="0" y="287527"/>
                  </a:lnTo>
                  <a:lnTo>
                    <a:pt x="0" y="6603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53872" y="4029202"/>
            <a:ext cx="17526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100" dirty="0">
                <a:solidFill>
                  <a:srgbClr val="272424"/>
                </a:solidFill>
                <a:latin typeface="Arial"/>
                <a:cs typeface="Arial"/>
              </a:rPr>
              <a:t>4</a:t>
            </a:r>
            <a:endParaRPr sz="1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1636" y="3918204"/>
            <a:ext cx="8323580" cy="65913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What</a:t>
            </a:r>
            <a:r>
              <a:rPr sz="15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70" dirty="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sz="15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5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0" dirty="0">
                <a:solidFill>
                  <a:srgbClr val="272424"/>
                </a:solidFill>
                <a:latin typeface="Arial"/>
                <a:cs typeface="Arial"/>
              </a:rPr>
              <a:t>role</a:t>
            </a:r>
            <a:r>
              <a:rPr sz="1500" b="1" spc="-114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5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65" dirty="0">
                <a:solidFill>
                  <a:srgbClr val="272424"/>
                </a:solidFill>
                <a:latin typeface="Arial"/>
                <a:cs typeface="Arial"/>
              </a:rPr>
              <a:t>rolling</a:t>
            </a:r>
            <a:r>
              <a:rPr sz="1500" b="1" spc="-1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60" dirty="0">
                <a:solidFill>
                  <a:srgbClr val="272424"/>
                </a:solidFill>
                <a:latin typeface="Arial"/>
                <a:cs typeface="Arial"/>
              </a:rPr>
              <a:t>hash</a:t>
            </a:r>
            <a:r>
              <a:rPr sz="1500" b="1" spc="-7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5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0" dirty="0">
                <a:solidFill>
                  <a:srgbClr val="272424"/>
                </a:solidFill>
                <a:latin typeface="Arial"/>
                <a:cs typeface="Arial"/>
              </a:rPr>
              <a:t>Rabin–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Karp?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2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Rolling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enables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65" dirty="0">
                <a:solidFill>
                  <a:srgbClr val="272424"/>
                </a:solidFill>
                <a:latin typeface="Microsoft Sans Serif"/>
                <a:cs typeface="Microsoft Sans Serif"/>
              </a:rPr>
              <a:t>O(1)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hash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update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when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slides,</a:t>
            </a:r>
            <a:r>
              <a:rPr sz="12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making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it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efficient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process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each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new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window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8368" y="4882896"/>
            <a:ext cx="360045" cy="360045"/>
            <a:chOff x="658368" y="4882896"/>
            <a:chExt cx="360045" cy="360045"/>
          </a:xfrm>
        </p:grpSpPr>
        <p:sp>
          <p:nvSpPr>
            <p:cNvPr id="24" name="object 24"/>
            <p:cNvSpPr/>
            <p:nvPr/>
          </p:nvSpPr>
          <p:spPr>
            <a:xfrm>
              <a:off x="661416" y="4885944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287566" y="0"/>
                  </a:moveTo>
                  <a:lnTo>
                    <a:pt x="66001" y="0"/>
                  </a:lnTo>
                  <a:lnTo>
                    <a:pt x="40312" y="5193"/>
                  </a:lnTo>
                  <a:lnTo>
                    <a:pt x="19332" y="19351"/>
                  </a:lnTo>
                  <a:lnTo>
                    <a:pt x="5187" y="40344"/>
                  </a:lnTo>
                  <a:lnTo>
                    <a:pt x="0" y="66039"/>
                  </a:lnTo>
                  <a:lnTo>
                    <a:pt x="0" y="287527"/>
                  </a:lnTo>
                  <a:lnTo>
                    <a:pt x="5187" y="313223"/>
                  </a:lnTo>
                  <a:lnTo>
                    <a:pt x="19332" y="334216"/>
                  </a:lnTo>
                  <a:lnTo>
                    <a:pt x="40312" y="348374"/>
                  </a:lnTo>
                  <a:lnTo>
                    <a:pt x="66001" y="353567"/>
                  </a:lnTo>
                  <a:lnTo>
                    <a:pt x="287566" y="353567"/>
                  </a:lnTo>
                  <a:lnTo>
                    <a:pt x="313255" y="348374"/>
                  </a:lnTo>
                  <a:lnTo>
                    <a:pt x="334235" y="334216"/>
                  </a:lnTo>
                  <a:lnTo>
                    <a:pt x="348380" y="313223"/>
                  </a:lnTo>
                  <a:lnTo>
                    <a:pt x="353568" y="287527"/>
                  </a:lnTo>
                  <a:lnTo>
                    <a:pt x="353568" y="66039"/>
                  </a:lnTo>
                  <a:lnTo>
                    <a:pt x="348380" y="40344"/>
                  </a:lnTo>
                  <a:lnTo>
                    <a:pt x="334235" y="19351"/>
                  </a:lnTo>
                  <a:lnTo>
                    <a:pt x="313255" y="5193"/>
                  </a:lnTo>
                  <a:lnTo>
                    <a:pt x="28756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1416" y="4885944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0" y="66039"/>
                  </a:moveTo>
                  <a:lnTo>
                    <a:pt x="5187" y="40344"/>
                  </a:lnTo>
                  <a:lnTo>
                    <a:pt x="19332" y="19351"/>
                  </a:lnTo>
                  <a:lnTo>
                    <a:pt x="40312" y="5193"/>
                  </a:lnTo>
                  <a:lnTo>
                    <a:pt x="66001" y="0"/>
                  </a:lnTo>
                  <a:lnTo>
                    <a:pt x="287566" y="0"/>
                  </a:lnTo>
                  <a:lnTo>
                    <a:pt x="313255" y="5193"/>
                  </a:lnTo>
                  <a:lnTo>
                    <a:pt x="334235" y="19351"/>
                  </a:lnTo>
                  <a:lnTo>
                    <a:pt x="348380" y="40344"/>
                  </a:lnTo>
                  <a:lnTo>
                    <a:pt x="353568" y="66039"/>
                  </a:lnTo>
                  <a:lnTo>
                    <a:pt x="353568" y="287527"/>
                  </a:lnTo>
                  <a:lnTo>
                    <a:pt x="348380" y="313223"/>
                  </a:lnTo>
                  <a:lnTo>
                    <a:pt x="334235" y="334216"/>
                  </a:lnTo>
                  <a:lnTo>
                    <a:pt x="313255" y="348374"/>
                  </a:lnTo>
                  <a:lnTo>
                    <a:pt x="287566" y="353567"/>
                  </a:lnTo>
                  <a:lnTo>
                    <a:pt x="66001" y="353567"/>
                  </a:lnTo>
                  <a:lnTo>
                    <a:pt x="40312" y="348374"/>
                  </a:lnTo>
                  <a:lnTo>
                    <a:pt x="19332" y="334216"/>
                  </a:lnTo>
                  <a:lnTo>
                    <a:pt x="5187" y="313223"/>
                  </a:lnTo>
                  <a:lnTo>
                    <a:pt x="0" y="287527"/>
                  </a:lnTo>
                  <a:lnTo>
                    <a:pt x="0" y="66039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56919" y="4891532"/>
            <a:ext cx="17081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60" dirty="0">
                <a:solidFill>
                  <a:srgbClr val="272424"/>
                </a:solidFill>
                <a:latin typeface="Arial"/>
                <a:cs typeface="Arial"/>
              </a:rPr>
              <a:t>5</a:t>
            </a:r>
            <a:endParaRPr sz="1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51636" y="4780692"/>
            <a:ext cx="7999095" cy="65849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500" b="1" spc="-40" dirty="0">
                <a:solidFill>
                  <a:srgbClr val="272424"/>
                </a:solidFill>
                <a:latin typeface="Arial"/>
                <a:cs typeface="Arial"/>
              </a:rPr>
              <a:t>How</a:t>
            </a:r>
            <a:r>
              <a:rPr sz="150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272424"/>
                </a:solidFill>
                <a:latin typeface="Arial"/>
                <a:cs typeface="Arial"/>
              </a:rPr>
              <a:t>can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string-</a:t>
            </a:r>
            <a:r>
              <a:rPr sz="1500" b="1" spc="-25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r>
              <a:rPr sz="15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5" dirty="0">
                <a:solidFill>
                  <a:srgbClr val="272424"/>
                </a:solidFill>
                <a:latin typeface="Arial"/>
                <a:cs typeface="Arial"/>
              </a:rPr>
              <a:t>algorithms</a:t>
            </a:r>
            <a:r>
              <a:rPr sz="15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be</a:t>
            </a:r>
            <a:r>
              <a:rPr sz="15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272424"/>
                </a:solidFill>
                <a:latin typeface="Arial"/>
                <a:cs typeface="Arial"/>
              </a:rPr>
              <a:t>used</a:t>
            </a:r>
            <a:r>
              <a:rPr sz="15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5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5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0" dirty="0">
                <a:solidFill>
                  <a:srgbClr val="272424"/>
                </a:solidFill>
                <a:latin typeface="Arial"/>
                <a:cs typeface="Arial"/>
              </a:rPr>
              <a:t>search</a:t>
            </a:r>
            <a:r>
              <a:rPr sz="15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engines?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Search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engines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use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2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to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locate</a:t>
            </a:r>
            <a:r>
              <a:rPr sz="120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keywords</a:t>
            </a:r>
            <a:r>
              <a:rPr sz="12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billions</a:t>
            </a:r>
            <a:r>
              <a:rPr sz="12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2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web</a:t>
            </a:r>
            <a:r>
              <a:rPr sz="12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pages,</a:t>
            </a:r>
            <a:r>
              <a:rPr sz="120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ranking</a:t>
            </a:r>
            <a:r>
              <a:rPr sz="12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documents</a:t>
            </a:r>
            <a:r>
              <a:rPr sz="120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20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relevance.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58368" y="5743955"/>
            <a:ext cx="360045" cy="360045"/>
            <a:chOff x="658368" y="5743955"/>
            <a:chExt cx="360045" cy="360045"/>
          </a:xfrm>
        </p:grpSpPr>
        <p:sp>
          <p:nvSpPr>
            <p:cNvPr id="29" name="object 29"/>
            <p:cNvSpPr/>
            <p:nvPr/>
          </p:nvSpPr>
          <p:spPr>
            <a:xfrm>
              <a:off x="661416" y="5747003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287566" y="0"/>
                  </a:moveTo>
                  <a:lnTo>
                    <a:pt x="66001" y="0"/>
                  </a:lnTo>
                  <a:lnTo>
                    <a:pt x="40312" y="5187"/>
                  </a:lnTo>
                  <a:lnTo>
                    <a:pt x="19332" y="19332"/>
                  </a:lnTo>
                  <a:lnTo>
                    <a:pt x="5187" y="40312"/>
                  </a:lnTo>
                  <a:lnTo>
                    <a:pt x="0" y="66001"/>
                  </a:lnTo>
                  <a:lnTo>
                    <a:pt x="0" y="287566"/>
                  </a:lnTo>
                  <a:lnTo>
                    <a:pt x="5187" y="313255"/>
                  </a:lnTo>
                  <a:lnTo>
                    <a:pt x="19332" y="334235"/>
                  </a:lnTo>
                  <a:lnTo>
                    <a:pt x="40312" y="348380"/>
                  </a:lnTo>
                  <a:lnTo>
                    <a:pt x="66001" y="353568"/>
                  </a:lnTo>
                  <a:lnTo>
                    <a:pt x="287566" y="353568"/>
                  </a:lnTo>
                  <a:lnTo>
                    <a:pt x="313255" y="348380"/>
                  </a:lnTo>
                  <a:lnTo>
                    <a:pt x="334235" y="334235"/>
                  </a:lnTo>
                  <a:lnTo>
                    <a:pt x="348380" y="313255"/>
                  </a:lnTo>
                  <a:lnTo>
                    <a:pt x="353568" y="287566"/>
                  </a:lnTo>
                  <a:lnTo>
                    <a:pt x="353568" y="66001"/>
                  </a:lnTo>
                  <a:lnTo>
                    <a:pt x="348380" y="40312"/>
                  </a:lnTo>
                  <a:lnTo>
                    <a:pt x="334235" y="19332"/>
                  </a:lnTo>
                  <a:lnTo>
                    <a:pt x="313255" y="5187"/>
                  </a:lnTo>
                  <a:lnTo>
                    <a:pt x="287566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1416" y="5747003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0" y="66001"/>
                  </a:moveTo>
                  <a:lnTo>
                    <a:pt x="5187" y="40312"/>
                  </a:lnTo>
                  <a:lnTo>
                    <a:pt x="19332" y="19332"/>
                  </a:lnTo>
                  <a:lnTo>
                    <a:pt x="40312" y="5187"/>
                  </a:lnTo>
                  <a:lnTo>
                    <a:pt x="66001" y="0"/>
                  </a:lnTo>
                  <a:lnTo>
                    <a:pt x="287566" y="0"/>
                  </a:lnTo>
                  <a:lnTo>
                    <a:pt x="313255" y="5187"/>
                  </a:lnTo>
                  <a:lnTo>
                    <a:pt x="334235" y="19332"/>
                  </a:lnTo>
                  <a:lnTo>
                    <a:pt x="348380" y="40312"/>
                  </a:lnTo>
                  <a:lnTo>
                    <a:pt x="353568" y="66001"/>
                  </a:lnTo>
                  <a:lnTo>
                    <a:pt x="353568" y="287566"/>
                  </a:lnTo>
                  <a:lnTo>
                    <a:pt x="348380" y="313255"/>
                  </a:lnTo>
                  <a:lnTo>
                    <a:pt x="334235" y="334235"/>
                  </a:lnTo>
                  <a:lnTo>
                    <a:pt x="313255" y="348380"/>
                  </a:lnTo>
                  <a:lnTo>
                    <a:pt x="287566" y="353568"/>
                  </a:lnTo>
                  <a:lnTo>
                    <a:pt x="66001" y="353568"/>
                  </a:lnTo>
                  <a:lnTo>
                    <a:pt x="40312" y="348380"/>
                  </a:lnTo>
                  <a:lnTo>
                    <a:pt x="19332" y="334235"/>
                  </a:lnTo>
                  <a:lnTo>
                    <a:pt x="5187" y="313255"/>
                  </a:lnTo>
                  <a:lnTo>
                    <a:pt x="0" y="287566"/>
                  </a:lnTo>
                  <a:lnTo>
                    <a:pt x="0" y="66001"/>
                  </a:lnTo>
                  <a:close/>
                </a:path>
              </a:pathLst>
            </a:custGeom>
            <a:ln w="6096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55395" y="5753201"/>
            <a:ext cx="1746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90" dirty="0">
                <a:solidFill>
                  <a:srgbClr val="272424"/>
                </a:solidFill>
                <a:latin typeface="Arial"/>
                <a:cs typeface="Arial"/>
              </a:rPr>
              <a:t>6</a:t>
            </a:r>
            <a:endParaRPr sz="18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51636" y="5642940"/>
            <a:ext cx="9511665" cy="65849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500" b="1" spc="-40" dirty="0">
                <a:solidFill>
                  <a:srgbClr val="272424"/>
                </a:solidFill>
                <a:latin typeface="Arial"/>
                <a:cs typeface="Arial"/>
              </a:rPr>
              <a:t>How</a:t>
            </a:r>
            <a:r>
              <a:rPr sz="15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272424"/>
                </a:solidFill>
                <a:latin typeface="Arial"/>
                <a:cs typeface="Arial"/>
              </a:rPr>
              <a:t>can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pattern</a:t>
            </a:r>
            <a:r>
              <a:rPr sz="1500" b="1" spc="-9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272424"/>
                </a:solidFill>
                <a:latin typeface="Arial"/>
                <a:cs typeface="Arial"/>
              </a:rPr>
              <a:t>matching</a:t>
            </a:r>
            <a:r>
              <a:rPr sz="15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72424"/>
                </a:solidFill>
                <a:latin typeface="Arial"/>
                <a:cs typeface="Arial"/>
              </a:rPr>
              <a:t>be</a:t>
            </a:r>
            <a:r>
              <a:rPr sz="1500" b="1" spc="-10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50" dirty="0">
                <a:solidFill>
                  <a:srgbClr val="272424"/>
                </a:solidFill>
                <a:latin typeface="Arial"/>
                <a:cs typeface="Arial"/>
              </a:rPr>
              <a:t>useful</a:t>
            </a:r>
            <a:r>
              <a:rPr sz="1500" b="1" spc="-1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45" dirty="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sz="15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272424"/>
                </a:solidFill>
                <a:latin typeface="Arial"/>
                <a:cs typeface="Arial"/>
              </a:rPr>
              <a:t>cybersecurity</a:t>
            </a:r>
            <a:r>
              <a:rPr sz="1500" b="1" spc="-8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sz="1500" b="1" spc="-1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72424"/>
                </a:solidFill>
                <a:latin typeface="Arial"/>
                <a:cs typeface="Arial"/>
              </a:rPr>
              <a:t>bioinformatics?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cybersecurity: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detecting</a:t>
            </a:r>
            <a:r>
              <a:rPr sz="12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malicious</a:t>
            </a:r>
            <a:r>
              <a:rPr sz="12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signatures</a:t>
            </a:r>
            <a:r>
              <a:rPr sz="12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files.</a:t>
            </a:r>
            <a:r>
              <a:rPr sz="12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bioinformatics:</a:t>
            </a:r>
            <a:r>
              <a:rPr sz="12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finding</a:t>
            </a:r>
            <a:r>
              <a:rPr sz="12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gene</a:t>
            </a:r>
            <a:r>
              <a:rPr sz="120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sequences</a:t>
            </a:r>
            <a:r>
              <a:rPr sz="12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or</a:t>
            </a:r>
            <a:r>
              <a:rPr sz="12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protein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patterns</a:t>
            </a:r>
            <a:r>
              <a:rPr sz="12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in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72424"/>
                </a:solidFill>
                <a:latin typeface="Microsoft Sans Serif"/>
                <a:cs typeface="Microsoft Sans Serif"/>
              </a:rPr>
              <a:t>long</a:t>
            </a:r>
            <a:r>
              <a:rPr sz="12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35" dirty="0">
                <a:solidFill>
                  <a:srgbClr val="272424"/>
                </a:solidFill>
                <a:latin typeface="Microsoft Sans Serif"/>
                <a:cs typeface="Microsoft Sans Serif"/>
              </a:rPr>
              <a:t>DNA</a:t>
            </a:r>
            <a:r>
              <a:rPr sz="12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strings.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2000" cy="685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1351" y="1109388"/>
            <a:ext cx="4987925" cy="88201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pc="-114" dirty="0"/>
              <a:t>Thank</a:t>
            </a:r>
            <a:r>
              <a:rPr spc="-290" dirty="0"/>
              <a:t> </a:t>
            </a:r>
            <a:r>
              <a:rPr spc="-25" dirty="0"/>
              <a:t>You</a:t>
            </a: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600" spc="-60" dirty="0"/>
              <a:t>From</a:t>
            </a:r>
            <a:r>
              <a:rPr sz="1600" spc="-90" dirty="0"/>
              <a:t> </a:t>
            </a:r>
            <a:r>
              <a:rPr sz="1600" spc="-55" dirty="0"/>
              <a:t>Simple</a:t>
            </a:r>
            <a:r>
              <a:rPr sz="1600" spc="-65" dirty="0"/>
              <a:t> Searching</a:t>
            </a:r>
            <a:r>
              <a:rPr sz="1600" spc="-85" dirty="0"/>
              <a:t> </a:t>
            </a:r>
            <a:r>
              <a:rPr sz="1600" dirty="0"/>
              <a:t>to</a:t>
            </a:r>
            <a:r>
              <a:rPr sz="1600" spc="-95" dirty="0"/>
              <a:t> </a:t>
            </a:r>
            <a:r>
              <a:rPr sz="1600" spc="-40" dirty="0"/>
              <a:t>Intelligent</a:t>
            </a:r>
            <a:r>
              <a:rPr sz="1600" spc="-85" dirty="0"/>
              <a:t> </a:t>
            </a:r>
            <a:r>
              <a:rPr sz="1600" spc="-20" dirty="0"/>
              <a:t>Pattern</a:t>
            </a:r>
            <a:r>
              <a:rPr sz="1600" spc="-90" dirty="0"/>
              <a:t> </a:t>
            </a:r>
            <a:r>
              <a:rPr sz="1600" spc="-10" dirty="0"/>
              <a:t>Matching</a:t>
            </a:r>
            <a:endParaRPr sz="1600"/>
          </a:p>
        </p:txBody>
      </p:sp>
      <p:sp>
        <p:nvSpPr>
          <p:cNvPr id="4" name="object 4"/>
          <p:cNvSpPr txBox="1"/>
          <p:nvPr/>
        </p:nvSpPr>
        <p:spPr>
          <a:xfrm>
            <a:off x="5469382" y="2392153"/>
            <a:ext cx="5794375" cy="455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central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idea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algorithm</a:t>
            </a:r>
            <a:r>
              <a:rPr sz="1300" b="1" spc="-1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design</a:t>
            </a:r>
            <a:r>
              <a:rPr sz="1300" b="1" spc="-35" dirty="0">
                <a:solidFill>
                  <a:srgbClr val="272424"/>
                </a:solidFill>
                <a:latin typeface="Arial"/>
                <a:cs typeface="Arial"/>
              </a:rPr>
              <a:t> is</a:t>
            </a:r>
            <a:r>
              <a:rPr sz="1300" b="1" spc="-4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reduce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unnecessary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work</a:t>
            </a:r>
            <a:r>
              <a:rPr sz="1300" b="1" spc="-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while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still</a:t>
            </a:r>
            <a:r>
              <a:rPr sz="1300" b="1" spc="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producing</a:t>
            </a:r>
            <a:r>
              <a:rPr sz="13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correct</a:t>
            </a:r>
            <a:r>
              <a:rPr sz="1300" b="1" spc="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results.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33415" y="2240279"/>
            <a:ext cx="18415" cy="802005"/>
          </a:xfrm>
          <a:custGeom>
            <a:avLst/>
            <a:gdLst/>
            <a:ahLst/>
            <a:cxnLst/>
            <a:rect l="l" t="t" r="r" b="b"/>
            <a:pathLst>
              <a:path w="18414" h="802005">
                <a:moveTo>
                  <a:pt x="14224" y="0"/>
                </a:moveTo>
                <a:lnTo>
                  <a:pt x="4063" y="0"/>
                </a:lnTo>
                <a:lnTo>
                  <a:pt x="0" y="4064"/>
                </a:lnTo>
                <a:lnTo>
                  <a:pt x="0" y="9144"/>
                </a:lnTo>
                <a:lnTo>
                  <a:pt x="0" y="797560"/>
                </a:lnTo>
                <a:lnTo>
                  <a:pt x="4063" y="801624"/>
                </a:lnTo>
                <a:lnTo>
                  <a:pt x="14224" y="801624"/>
                </a:lnTo>
                <a:lnTo>
                  <a:pt x="18287" y="797560"/>
                </a:lnTo>
                <a:lnTo>
                  <a:pt x="18287" y="4064"/>
                </a:lnTo>
                <a:lnTo>
                  <a:pt x="14224" y="0"/>
                </a:lnTo>
                <a:close/>
              </a:path>
            </a:pathLst>
          </a:custGeom>
          <a:solidFill>
            <a:srgbClr val="DF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33415" y="3268979"/>
            <a:ext cx="6297295" cy="20320"/>
          </a:xfrm>
          <a:custGeom>
            <a:avLst/>
            <a:gdLst/>
            <a:ahLst/>
            <a:cxnLst/>
            <a:rect l="l" t="t" r="r" b="b"/>
            <a:pathLst>
              <a:path w="6297295" h="20320">
                <a:moveTo>
                  <a:pt x="6292723" y="0"/>
                </a:moveTo>
                <a:lnTo>
                  <a:pt x="4445" y="0"/>
                </a:lnTo>
                <a:lnTo>
                  <a:pt x="0" y="4445"/>
                </a:lnTo>
                <a:lnTo>
                  <a:pt x="0" y="9906"/>
                </a:lnTo>
                <a:lnTo>
                  <a:pt x="0" y="15367"/>
                </a:lnTo>
                <a:lnTo>
                  <a:pt x="4445" y="19812"/>
                </a:lnTo>
                <a:lnTo>
                  <a:pt x="6292723" y="19812"/>
                </a:lnTo>
                <a:lnTo>
                  <a:pt x="6297168" y="15367"/>
                </a:lnTo>
                <a:lnTo>
                  <a:pt x="6297168" y="4445"/>
                </a:lnTo>
                <a:lnTo>
                  <a:pt x="6292723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33415" y="5090159"/>
            <a:ext cx="6297295" cy="20320"/>
          </a:xfrm>
          <a:custGeom>
            <a:avLst/>
            <a:gdLst/>
            <a:ahLst/>
            <a:cxnLst/>
            <a:rect l="l" t="t" r="r" b="b"/>
            <a:pathLst>
              <a:path w="6297295" h="20320">
                <a:moveTo>
                  <a:pt x="6292723" y="0"/>
                </a:moveTo>
                <a:lnTo>
                  <a:pt x="4445" y="0"/>
                </a:lnTo>
                <a:lnTo>
                  <a:pt x="0" y="4444"/>
                </a:lnTo>
                <a:lnTo>
                  <a:pt x="0" y="9906"/>
                </a:lnTo>
                <a:lnTo>
                  <a:pt x="0" y="15366"/>
                </a:lnTo>
                <a:lnTo>
                  <a:pt x="4445" y="19812"/>
                </a:lnTo>
                <a:lnTo>
                  <a:pt x="6292723" y="19812"/>
                </a:lnTo>
                <a:lnTo>
                  <a:pt x="6297168" y="15366"/>
                </a:lnTo>
                <a:lnTo>
                  <a:pt x="6297168" y="4444"/>
                </a:lnTo>
                <a:lnTo>
                  <a:pt x="6292723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21351" y="3515614"/>
            <a:ext cx="6285230" cy="2028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Next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70" dirty="0">
                <a:latin typeface="Arial"/>
                <a:cs typeface="Arial"/>
              </a:rPr>
              <a:t>Learning</a:t>
            </a:r>
            <a:r>
              <a:rPr sz="1600" b="1" spc="-110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Step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Advanced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String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Matching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1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Knuth–Morris–Pratt</a:t>
            </a:r>
            <a:r>
              <a:rPr sz="1300" b="1" spc="2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72424"/>
                </a:solidFill>
                <a:latin typeface="Arial"/>
                <a:cs typeface="Arial"/>
              </a:rPr>
              <a:t>(KMP)</a:t>
            </a:r>
            <a:r>
              <a:rPr sz="1300" b="1" spc="3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72424"/>
                </a:solidFill>
                <a:latin typeface="Arial"/>
                <a:cs typeface="Arial"/>
              </a:rPr>
              <a:t>Algorithm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7700"/>
              </a:lnSpc>
            </a:pPr>
            <a:r>
              <a:rPr sz="130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KMP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eliminates</a:t>
            </a:r>
            <a:r>
              <a:rPr sz="1300" spc="1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repeated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comparisons</a:t>
            </a:r>
            <a:r>
              <a:rPr sz="1300" spc="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by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using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information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about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3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pattern</a:t>
            </a:r>
            <a:r>
              <a:rPr sz="1300" spc="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itself 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to</a:t>
            </a:r>
            <a:r>
              <a:rPr sz="1300" spc="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intelligently</a:t>
            </a:r>
            <a:r>
              <a:rPr sz="1300" spc="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skip</a:t>
            </a:r>
            <a:r>
              <a:rPr sz="130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positions</a:t>
            </a:r>
            <a:r>
              <a:rPr sz="1300" spc="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after</a:t>
            </a:r>
            <a:r>
              <a:rPr sz="13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300" spc="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mismatch.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spc="-20" dirty="0">
                <a:solidFill>
                  <a:srgbClr val="272424"/>
                </a:solidFill>
                <a:latin typeface="Arial"/>
                <a:cs typeface="Arial"/>
              </a:rPr>
              <a:t>Course:</a:t>
            </a:r>
            <a:r>
              <a:rPr sz="1300" b="1" spc="-5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Design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72424"/>
                </a:solidFill>
                <a:latin typeface="Microsoft Sans Serif"/>
                <a:cs typeface="Microsoft Sans Serif"/>
              </a:rPr>
              <a:t>Analysis</a:t>
            </a:r>
            <a:r>
              <a:rPr sz="13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3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Algorithms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6673</Words>
  <Application>Microsoft Office PowerPoint</Application>
  <PresentationFormat>Custom</PresentationFormat>
  <Paragraphs>1144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Office Theme</vt:lpstr>
      <vt:lpstr>String Matching Algorithms</vt:lpstr>
      <vt:lpstr>What Is Searching?</vt:lpstr>
      <vt:lpstr>Sequential Search (Linear Search)</vt:lpstr>
      <vt:lpstr>How Does Sequential Search Work?</vt:lpstr>
      <vt:lpstr>Sequential Search — Example 1: Searching for a Number</vt:lpstr>
      <vt:lpstr>Sequential Search — Example 2: Searching for a Student</vt:lpstr>
      <vt:lpstr>Sequential Search — Example 3: Searching for a Book</vt:lpstr>
      <vt:lpstr>Sequential Search — Example 4: Element Not Found</vt:lpstr>
      <vt:lpstr>Sequential Search — Complexity Analysis</vt:lpstr>
      <vt:lpstr>From Element Searching to String Searching</vt:lpstr>
      <vt:lpstr>What Is String Matching?</vt:lpstr>
      <vt:lpstr>Why Is String Matching Important?</vt:lpstr>
      <vt:lpstr>Text and Pattern — Core Concepts</vt:lpstr>
      <vt:lpstr>How Does String Matching Work?</vt:lpstr>
      <vt:lpstr>What Is Brute-Force String Matching?</vt:lpstr>
      <vt:lpstr>Brute-Force Example 1: Searching "DATA"</vt:lpstr>
      <vt:lpstr>Brute-Force Example 2: Searching "ANA" in "BANANA"</vt:lpstr>
      <vt:lpstr>Brute-Force Example 3: Searching "CAT"</vt:lpstr>
      <vt:lpstr>Brute-Force Example 4: Pattern Not Found</vt:lpstr>
      <vt:lpstr>Searching a Word in a Text Document</vt:lpstr>
      <vt:lpstr>Python Implementation of Brute-Force String Matching</vt:lpstr>
      <vt:lpstr>Brute-Force — Code Explanation and Dry Run</vt:lpstr>
      <vt:lpstr>Advantages of Brute-Force String Matching</vt:lpstr>
      <vt:lpstr>Limitations and Disadvantages of Brute Force</vt:lpstr>
      <vt:lpstr>What Is Hashing?</vt:lpstr>
      <vt:lpstr>How Is Hashing Used in String Matching?</vt:lpstr>
      <vt:lpstr>Hashing Example 1: Searching "CAT"</vt:lpstr>
      <vt:lpstr>Hashing Example 2: Searching "DATA"</vt:lpstr>
      <vt:lpstr>Hashing Example 3: Searching "ABC"</vt:lpstr>
      <vt:lpstr>Basic Python Implementation of Hash-Based Matching</vt:lpstr>
      <vt:lpstr>Explanation of Basic Hash-Based Implementation</vt:lpstr>
      <vt:lpstr>What Is the Rabin–Karp Algorithm?</vt:lpstr>
      <vt:lpstr>Why Do We Use Rabin–Karp?</vt:lpstr>
      <vt:lpstr>Rabin–Karp Example 1: Searching "DATA"</vt:lpstr>
      <vt:lpstr>Rabin–Karp Example 2: "ANA" in "BANANA"</vt:lpstr>
      <vt:lpstr>Rabin–Karp Example 3: Searching a Word in a Document</vt:lpstr>
      <vt:lpstr>What Is a Rolling Hash?</vt:lpstr>
      <vt:lpstr>Real-Life Analogy for Rolling Hash</vt:lpstr>
      <vt:lpstr>Hash Collision</vt:lpstr>
      <vt:lpstr>Complete Python Implementation of Rabin–Karp</vt:lpstr>
      <vt:lpstr>Rabin–Karp — Initialization Explained</vt:lpstr>
      <vt:lpstr>Rabin–Karp — Initial Hash Calculation</vt:lpstr>
      <vt:lpstr>Rabin–Karp — Hash Comparison and Verification</vt:lpstr>
      <vt:lpstr>Rabin–Karp — Rolling Hash Update The Rolling Hash Formula</vt:lpstr>
      <vt:lpstr>Complete Rabin–Karp Dry Run</vt:lpstr>
      <vt:lpstr>Complexity Analysis</vt:lpstr>
      <vt:lpstr>Brute Force vs. Hashing vs. Rabin–Karp</vt:lpstr>
      <vt:lpstr>Classroom Demo 1: Sequential Search</vt:lpstr>
      <vt:lpstr>Classroom Demo 2: Brute-Force String Matching Task: Manually perform brute-force matching</vt:lpstr>
      <vt:lpstr>Classroom Demo 3: Hashing and Pattern Matching</vt:lpstr>
      <vt:lpstr>Complete Conceptual Journey</vt:lpstr>
      <vt:lpstr>Key Takeaways</vt:lpstr>
      <vt:lpstr>Final Discussion Questions</vt:lpstr>
      <vt:lpstr>Thank You From Simple Searching to Intelligent Pattern Matching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User</cp:lastModifiedBy>
  <cp:revision>2</cp:revision>
  <dcterms:created xsi:type="dcterms:W3CDTF">2026-08-31T05:55:55Z</dcterms:created>
  <dcterms:modified xsi:type="dcterms:W3CDTF">2026-09-01T01:21:49Z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2026-08-31T00:00:00Z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2026-08-31T00:00:00Z</vt:filetime>
  </property>
  <property fmtid="{D5CDD505-2E9C-101B-9397-08002B2CF9AE}" pid="6" name="Producer">
    <vt:lpwstr>Microsoft® PowerPoint® 2016</vt:lpwstr>
  </property>
</Properties>
</file>