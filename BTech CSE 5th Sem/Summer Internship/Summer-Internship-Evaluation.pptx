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888840"/>
            <a:ext cx="164581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480" cy="596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324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480" cy="596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324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image" Target="../media/image8.jpeg"/><Relationship Id="rId4" Type="http://schemas.openxmlformats.org/officeDocument/2006/relationships/image" Target="../media/image9.png"/><Relationship Id="rId5" Type="http://schemas.openxmlformats.org/officeDocument/2006/relationships/image" Target="../media/image10.jpeg"/><Relationship Id="rId6" Type="http://schemas.openxmlformats.org/officeDocument/2006/relationships/image" Target="../media/image6.jpeg"/><Relationship Id="rId7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8287280" cy="10286280"/>
          </a:xfrm>
          <a:custGeom>
            <a:avLst/>
            <a:gdLst>
              <a:gd name="textAreaLeft" fmla="*/ 0 w 18287280"/>
              <a:gd name="textAreaRight" fmla="*/ 18288000 w 18287280"/>
              <a:gd name="textAreaTop" fmla="*/ 0 h 10286280"/>
              <a:gd name="textAreaBottom" fmla="*/ 10287000 h 10286280"/>
            </a:gdLst>
            <a:ahLst/>
            <a:cxnLst/>
            <a:rect l="textAreaLeft" t="textAreaTop" r="textAreaRight" b="textAreaBottom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solidFill>
            <a:srgbClr val="22060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solidFill>
            <a:srgbClr val="3A0C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9" name=""/>
          <p:cNvPicPr/>
          <p:nvPr/>
        </p:nvPicPr>
        <p:blipFill>
          <a:blip r:embed="rId1"/>
          <a:stretch/>
        </p:blipFill>
        <p:spPr>
          <a:xfrm>
            <a:off x="16615080" y="9838080"/>
            <a:ext cx="1605960" cy="38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"/>
          <p:cNvSpPr/>
          <p:nvPr/>
        </p:nvSpPr>
        <p:spPr>
          <a:xfrm>
            <a:off x="685800" y="687600"/>
            <a:ext cx="30484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729" b="0" u="none" strike="noStrike">
                <a:solidFill>
                  <a:srgbClr val="B8F03A"/>
                </a:solidFill>
                <a:effectLst/>
                <a:uFillTx/>
                <a:latin typeface="arial"/>
                <a:ea typeface="arial"/>
              </a:rPr>
              <a:t>SUMMER 2026 · INTERNSHIP</a:t>
            </a:r>
            <a:endParaRPr lang="en-IN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547560" y="900360"/>
            <a:ext cx="7111800" cy="251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2600" b="0" u="none" strike="noStrike">
                <a:solidFill>
                  <a:srgbClr val="FBF1E4"/>
                </a:solidFill>
                <a:effectLst/>
                <a:uFillTx/>
                <a:latin typeface="Saira"/>
                <a:ea typeface="Saira"/>
              </a:rPr>
              <a:t>SUMMER</a:t>
            </a:r>
            <a:endParaRPr lang="en-IN" sz="1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540000" y="2160000"/>
            <a:ext cx="9691200" cy="251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2600" b="0" u="none" strike="noStrike">
                <a:solidFill>
                  <a:srgbClr val="B8F03A"/>
                </a:solidFill>
                <a:effectLst/>
                <a:uFillTx/>
                <a:latin typeface="Saira"/>
                <a:ea typeface="Saira"/>
              </a:rPr>
              <a:t>INTERNSHIP</a:t>
            </a:r>
            <a:endParaRPr lang="en-IN" sz="1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590040" y="3392280"/>
            <a:ext cx="3112200" cy="251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2600" b="0" u="none" strike="noStrike">
                <a:solidFill>
                  <a:srgbClr val="FBF1E4"/>
                </a:solidFill>
                <a:effectLst/>
                <a:uFillTx/>
                <a:latin typeface="Saira"/>
                <a:ea typeface="Saira"/>
              </a:rPr>
              <a:t>PPT</a:t>
            </a:r>
            <a:endParaRPr lang="en-IN" sz="1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685440" y="8525520"/>
            <a:ext cx="10209240" cy="170640"/>
          </a:xfrm>
          <a:custGeom>
            <a:avLst/>
            <a:gdLst>
              <a:gd name="textAreaLeft" fmla="*/ 0 w 10209240"/>
              <a:gd name="textAreaRight" fmla="*/ 10209960 w 10209240"/>
              <a:gd name="textAreaTop" fmla="*/ 0 h 170640"/>
              <a:gd name="textAreaBottom" fmla="*/ 171360 h 170640"/>
            </a:gdLst>
            <a:ahLst/>
            <a:cxnLst/>
            <a:rect l="textAreaLeft" t="textAreaTop" r="textAreaRight" b="textAreaBottom"/>
            <a:pathLst>
              <a:path w="28361" h="476">
                <a:moveTo>
                  <a:pt x="0" y="0"/>
                </a:moveTo>
                <a:lnTo>
                  <a:pt x="28361" y="0"/>
                </a:lnTo>
                <a:lnTo>
                  <a:pt x="28361" y="476"/>
                </a:lnTo>
                <a:lnTo>
                  <a:pt x="0" y="476"/>
                </a:lnTo>
                <a:lnTo>
                  <a:pt x="0" y="0"/>
                </a:lnTo>
                <a:close/>
              </a:path>
            </a:pathLst>
          </a:custGeom>
          <a:solidFill>
            <a:srgbClr val="2F5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685800" y="5205600"/>
            <a:ext cx="509904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85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IT Trainee · Managed Services</a:t>
            </a:r>
            <a:endParaRPr lang="en-IN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685800" y="8929080"/>
            <a:ext cx="780840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650" b="0" u="none" strike="noStrike">
                <a:solidFill>
                  <a:srgbClr val="C9A9AE"/>
                </a:solidFill>
                <a:effectLst/>
                <a:uFillTx/>
                <a:latin typeface="arial"/>
                <a:ea typeface="arial"/>
              </a:rPr>
              <a:t>AQUIB JAWAID ANSARI · REG. NO. 12508688 · B.TECH CSE — 5TH SEMESTER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11581920" y="0"/>
            <a:ext cx="6704280" cy="10284840"/>
          </a:xfrm>
          <a:custGeom>
            <a:avLst/>
            <a:gdLst>
              <a:gd name="textAreaLeft" fmla="*/ 0 w 6704280"/>
              <a:gd name="textAreaRight" fmla="*/ 6705000 w 6704280"/>
              <a:gd name="textAreaTop" fmla="*/ 0 h 10284840"/>
              <a:gd name="textAreaBottom" fmla="*/ 10285560 h 10284840"/>
            </a:gdLst>
            <a:ahLst/>
            <a:cxnLst/>
            <a:rect l="textAreaLeft" t="textAreaTop" r="textAreaRight" b="textAreaBottom"/>
            <a:pathLst>
              <a:path w="18625" h="28571">
                <a:moveTo>
                  <a:pt x="0" y="0"/>
                </a:moveTo>
                <a:lnTo>
                  <a:pt x="18625" y="0"/>
                </a:lnTo>
                <a:lnTo>
                  <a:pt x="18625" y="28571"/>
                </a:lnTo>
                <a:lnTo>
                  <a:pt x="0" y="28571"/>
                </a:lnTo>
                <a:lnTo>
                  <a:pt x="0" y="0"/>
                </a:lnTo>
                <a:close/>
              </a:path>
            </a:pathLst>
          </a:custGeom>
          <a:solidFill>
            <a:srgbClr val="2F5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8" name=""/>
          <p:cNvPicPr/>
          <p:nvPr/>
        </p:nvPicPr>
        <p:blipFill>
          <a:blip r:embed="rId2"/>
          <a:stretch/>
        </p:blipFill>
        <p:spPr>
          <a:xfrm>
            <a:off x="12267000" y="685800"/>
            <a:ext cx="5332680" cy="839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"/>
          <p:cNvSpPr/>
          <p:nvPr/>
        </p:nvSpPr>
        <p:spPr>
          <a:xfrm>
            <a:off x="685800" y="9167040"/>
            <a:ext cx="544176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650" b="0" u="none" strike="noStrike">
                <a:solidFill>
                  <a:srgbClr val="C9A9AE"/>
                </a:solidFill>
                <a:effectLst/>
                <a:uFillTx/>
                <a:latin typeface="arial"/>
                <a:ea typeface="arial"/>
              </a:rPr>
              <a:t>LOVELY PROFESSIONAL UNIVERSITY · SUMMER 2026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685800" y="8525520"/>
            <a:ext cx="10209600" cy="170640"/>
          </a:xfrm>
          <a:custGeom>
            <a:avLst/>
            <a:gdLst>
              <a:gd name="textAreaLeft" fmla="*/ 0 w 10209600"/>
              <a:gd name="textAreaRight" fmla="*/ 10210320 w 10209600"/>
              <a:gd name="textAreaTop" fmla="*/ 0 h 170640"/>
              <a:gd name="textAreaBottom" fmla="*/ 171360 h 170640"/>
            </a:gdLst>
            <a:ahLst/>
            <a:cxnLst/>
            <a:rect l="textAreaLeft" t="textAreaTop" r="textAreaRight" b="textAreaBottom"/>
            <a:pathLst>
              <a:path w="28362" h="476">
                <a:moveTo>
                  <a:pt x="0" y="0"/>
                </a:moveTo>
                <a:lnTo>
                  <a:pt x="28362" y="0"/>
                </a:lnTo>
                <a:lnTo>
                  <a:pt x="28362" y="476"/>
                </a:lnTo>
                <a:lnTo>
                  <a:pt x="0" y="47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2412440" y="9357120"/>
            <a:ext cx="470952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6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AL WATANIA INFORMATION SYSTEMS (WISYS)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>
            <a:off x="0" y="0"/>
            <a:ext cx="18287280" cy="10286280"/>
          </a:xfrm>
          <a:custGeom>
            <a:avLst/>
            <a:gdLst>
              <a:gd name="textAreaLeft" fmla="*/ 0 w 18287280"/>
              <a:gd name="textAreaRight" fmla="*/ 18288000 w 18287280"/>
              <a:gd name="textAreaTop" fmla="*/ 0 h 10286280"/>
              <a:gd name="textAreaBottom" fmla="*/ 10287000 h 10286280"/>
            </a:gdLst>
            <a:ahLst/>
            <a:cxnLst/>
            <a:rect l="textAreaLeft" t="textAreaTop" r="textAreaRight" b="textAreaBottom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solidFill>
            <a:srgbClr val="22060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solidFill>
            <a:srgbClr val="3A0C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7" name=""/>
          <p:cNvPicPr/>
          <p:nvPr/>
        </p:nvPicPr>
        <p:blipFill>
          <a:blip r:embed="rId1"/>
          <a:stretch/>
        </p:blipFill>
        <p:spPr>
          <a:xfrm>
            <a:off x="202320" y="264240"/>
            <a:ext cx="6879240" cy="9724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"/>
          <p:cNvPicPr/>
          <p:nvPr/>
        </p:nvPicPr>
        <p:blipFill>
          <a:blip r:embed="rId2"/>
          <a:stretch/>
        </p:blipFill>
        <p:spPr>
          <a:xfrm>
            <a:off x="11036520" y="180000"/>
            <a:ext cx="7052400" cy="980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/>
          <p:nvPr/>
        </p:nvSpPr>
        <p:spPr>
          <a:xfrm>
            <a:off x="0" y="0"/>
            <a:ext cx="18287280" cy="10286280"/>
          </a:xfrm>
          <a:custGeom>
            <a:avLst/>
            <a:gdLst>
              <a:gd name="textAreaLeft" fmla="*/ 0 w 18287280"/>
              <a:gd name="textAreaRight" fmla="*/ 18288000 w 18287280"/>
              <a:gd name="textAreaTop" fmla="*/ 0 h 10286280"/>
              <a:gd name="textAreaBottom" fmla="*/ 10287000 h 10286280"/>
            </a:gdLst>
            <a:ahLst/>
            <a:cxnLst/>
            <a:rect l="textAreaLeft" t="textAreaTop" r="textAreaRight" b="textAreaBottom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solidFill>
            <a:srgbClr val="22060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solidFill>
            <a:srgbClr val="3A0C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0" y="0"/>
            <a:ext cx="5485320" cy="10285560"/>
          </a:xfrm>
          <a:custGeom>
            <a:avLst/>
            <a:gdLst>
              <a:gd name="textAreaLeft" fmla="*/ 0 w 5485320"/>
              <a:gd name="textAreaRight" fmla="*/ 5486040 w 5485320"/>
              <a:gd name="textAreaTop" fmla="*/ 0 h 10285560"/>
              <a:gd name="textAreaBottom" fmla="*/ 10286280 h 10285560"/>
            </a:gdLst>
            <a:ahLst/>
            <a:cxnLst/>
            <a:rect l="textAreaLeft" t="textAreaTop" r="textAreaRight" b="textAreaBottom"/>
            <a:pathLst>
              <a:path w="15239" h="28573">
                <a:moveTo>
                  <a:pt x="0" y="0"/>
                </a:moveTo>
                <a:lnTo>
                  <a:pt x="15239" y="0"/>
                </a:lnTo>
                <a:lnTo>
                  <a:pt x="15239" y="28573"/>
                </a:lnTo>
                <a:lnTo>
                  <a:pt x="0" y="28573"/>
                </a:lnTo>
                <a:lnTo>
                  <a:pt x="0" y="0"/>
                </a:lnTo>
                <a:close/>
              </a:path>
            </a:pathLst>
          </a:custGeom>
          <a:solidFill>
            <a:srgbClr val="FFB6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685800" y="690120"/>
            <a:ext cx="10486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729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CONTEXT</a:t>
            </a:r>
            <a:endParaRPr lang="en-IN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362520" y="882720"/>
            <a:ext cx="4754520" cy="14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7400" b="0" u="none" strike="noStrike">
                <a:solidFill>
                  <a:srgbClr val="000000"/>
                </a:solidFill>
                <a:effectLst/>
                <a:uFillTx/>
                <a:latin typeface="Saira"/>
                <a:ea typeface="Saira"/>
              </a:rPr>
              <a:t>COMPANY</a:t>
            </a:r>
            <a:endParaRPr lang="en-IN" sz="7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362520" y="1568520"/>
            <a:ext cx="3449160" cy="14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7400" b="0" u="none" strike="noStrike">
                <a:solidFill>
                  <a:srgbClr val="000000"/>
                </a:solidFill>
                <a:effectLst/>
                <a:uFillTx/>
                <a:latin typeface="Saira"/>
                <a:ea typeface="Saira"/>
              </a:rPr>
              <a:t>&amp; ROLE</a:t>
            </a:r>
            <a:endParaRPr lang="en-IN" sz="7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685800" y="9357120"/>
            <a:ext cx="243648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6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RIYADH · SAUDI ARABIA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6172200" y="604080"/>
            <a:ext cx="518760" cy="68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3670" b="0" u="none" strike="noStrike">
                <a:solidFill>
                  <a:srgbClr val="B8F03A"/>
                </a:solidFill>
                <a:effectLst/>
                <a:uFillTx/>
                <a:latin typeface="BeVietnam"/>
                <a:ea typeface="BeVietnam"/>
              </a:rPr>
              <a:t>01</a:t>
            </a:r>
            <a:endParaRPr lang="en-IN" sz="3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6960600" y="633960"/>
            <a:ext cx="6894360" cy="3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1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Al Watania Information Systems (WiSys)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6960600" y="1062720"/>
            <a:ext cx="858852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Riyadh, Saudi Arabia. Works with government and private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6960600" y="1491120"/>
            <a:ext cx="213156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organizations.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6172200" y="3283920"/>
            <a:ext cx="555120" cy="68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3670" b="0" u="none" strike="noStrike">
                <a:solidFill>
                  <a:srgbClr val="B8F03A"/>
                </a:solidFill>
                <a:effectLst/>
                <a:uFillTx/>
                <a:latin typeface="BeVietnam"/>
                <a:ea typeface="BeVietnam"/>
              </a:rPr>
              <a:t>02</a:t>
            </a:r>
            <a:endParaRPr lang="en-IN" sz="3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7076160" y="3314160"/>
            <a:ext cx="191016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1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Leadership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7076160" y="3742560"/>
            <a:ext cx="67730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Mohammed Aliyady, CEO / General Manager.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6172200" y="5530320"/>
            <a:ext cx="556200" cy="68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3670" b="0" u="none" strike="noStrike">
                <a:solidFill>
                  <a:srgbClr val="B8F03A"/>
                </a:solidFill>
                <a:effectLst/>
                <a:uFillTx/>
                <a:latin typeface="BeVietnam"/>
                <a:ea typeface="BeVietnam"/>
              </a:rPr>
              <a:t>03</a:t>
            </a:r>
            <a:endParaRPr lang="en-IN" sz="3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7082640" y="5560560"/>
            <a:ext cx="2551680" cy="3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1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Awqaf Context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7082640" y="5988960"/>
            <a:ext cx="1021536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Awqaf Sulaiman Bin Abdulaziz Al-Rajhi, historically reported market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7082640" y="6417720"/>
            <a:ext cx="569196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value of approximately SAR 50 billion.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6172200" y="8644680"/>
            <a:ext cx="563040" cy="68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3670" b="0" u="none" strike="noStrike">
                <a:solidFill>
                  <a:srgbClr val="B8F03A"/>
                </a:solidFill>
                <a:effectLst/>
                <a:uFillTx/>
                <a:latin typeface="BeVietnam"/>
                <a:ea typeface="BeVietnam"/>
              </a:rPr>
              <a:t>04</a:t>
            </a:r>
            <a:endParaRPr lang="en-IN" sz="3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7102800" y="8674560"/>
            <a:ext cx="1260720" cy="3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1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My role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5486040" y="2670480"/>
            <a:ext cx="12800520" cy="18360"/>
          </a:xfrm>
          <a:custGeom>
            <a:avLst/>
            <a:gdLst>
              <a:gd name="textAreaLeft" fmla="*/ 0 w 12800520"/>
              <a:gd name="textAreaRight" fmla="*/ 12801240 w 12800520"/>
              <a:gd name="textAreaTop" fmla="*/ 0 h 18360"/>
              <a:gd name="textAreaBottom" fmla="*/ 19080 h 18360"/>
            </a:gdLst>
            <a:ahLst/>
            <a:cxnLst/>
            <a:rect l="textAreaLeft" t="textAreaTop" r="textAreaRight" b="textAreaBottom"/>
            <a:pathLst>
              <a:path w="35559" h="53">
                <a:moveTo>
                  <a:pt x="0" y="0"/>
                </a:moveTo>
                <a:lnTo>
                  <a:pt x="35559" y="0"/>
                </a:lnTo>
                <a:lnTo>
                  <a:pt x="35559" y="53"/>
                </a:lnTo>
                <a:lnTo>
                  <a:pt x="0" y="53"/>
                </a:lnTo>
                <a:lnTo>
                  <a:pt x="0" y="0"/>
                </a:lnTo>
                <a:close/>
              </a:path>
            </a:pathLst>
          </a:custGeom>
          <a:solidFill>
            <a:srgbClr val="2F5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5486040" y="4917240"/>
            <a:ext cx="12800520" cy="18000"/>
          </a:xfrm>
          <a:custGeom>
            <a:avLst/>
            <a:gdLst>
              <a:gd name="textAreaLeft" fmla="*/ 0 w 12800520"/>
              <a:gd name="textAreaRight" fmla="*/ 12801240 w 12800520"/>
              <a:gd name="textAreaTop" fmla="*/ 0 h 18000"/>
              <a:gd name="textAreaBottom" fmla="*/ 18720 h 18000"/>
            </a:gdLst>
            <a:ahLst/>
            <a:cxnLst/>
            <a:rect l="textAreaLeft" t="textAreaTop" r="textAreaRight" b="textAreaBottom"/>
            <a:pathLst>
              <a:path w="35559" h="52">
                <a:moveTo>
                  <a:pt x="0" y="0"/>
                </a:moveTo>
                <a:lnTo>
                  <a:pt x="35559" y="0"/>
                </a:lnTo>
                <a:lnTo>
                  <a:pt x="35559" y="52"/>
                </a:lnTo>
                <a:lnTo>
                  <a:pt x="0" y="52"/>
                </a:lnTo>
                <a:lnTo>
                  <a:pt x="0" y="0"/>
                </a:lnTo>
                <a:close/>
              </a:path>
            </a:pathLst>
          </a:custGeom>
          <a:solidFill>
            <a:srgbClr val="2F5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5486040" y="8030880"/>
            <a:ext cx="12800520" cy="18000"/>
          </a:xfrm>
          <a:custGeom>
            <a:avLst/>
            <a:gdLst>
              <a:gd name="textAreaLeft" fmla="*/ 0 w 12800520"/>
              <a:gd name="textAreaRight" fmla="*/ 12801240 w 12800520"/>
              <a:gd name="textAreaTop" fmla="*/ 0 h 18000"/>
              <a:gd name="textAreaBottom" fmla="*/ 18720 h 18000"/>
            </a:gdLst>
            <a:ahLst/>
            <a:cxnLst/>
            <a:rect l="textAreaLeft" t="textAreaTop" r="textAreaRight" b="textAreaBottom"/>
            <a:pathLst>
              <a:path w="35559" h="52">
                <a:moveTo>
                  <a:pt x="0" y="0"/>
                </a:moveTo>
                <a:lnTo>
                  <a:pt x="35559" y="0"/>
                </a:lnTo>
                <a:lnTo>
                  <a:pt x="35559" y="52"/>
                </a:lnTo>
                <a:lnTo>
                  <a:pt x="0" y="52"/>
                </a:lnTo>
                <a:lnTo>
                  <a:pt x="0" y="0"/>
                </a:lnTo>
                <a:close/>
              </a:path>
            </a:pathLst>
          </a:custGeom>
          <a:solidFill>
            <a:srgbClr val="2F5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0" y="0"/>
            <a:ext cx="5485320" cy="10285920"/>
          </a:xfrm>
          <a:custGeom>
            <a:avLst/>
            <a:gdLst>
              <a:gd name="textAreaLeft" fmla="*/ 0 w 5485320"/>
              <a:gd name="textAreaRight" fmla="*/ 5486040 w 548532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15239" h="28574">
                <a:moveTo>
                  <a:pt x="0" y="0"/>
                </a:moveTo>
                <a:lnTo>
                  <a:pt x="15239" y="0"/>
                </a:lnTo>
                <a:lnTo>
                  <a:pt x="15239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5486400" y="2670480"/>
            <a:ext cx="12800520" cy="18360"/>
          </a:xfrm>
          <a:custGeom>
            <a:avLst/>
            <a:gdLst>
              <a:gd name="textAreaLeft" fmla="*/ 0 w 12800520"/>
              <a:gd name="textAreaRight" fmla="*/ 12801240 w 12800520"/>
              <a:gd name="textAreaTop" fmla="*/ 0 h 18360"/>
              <a:gd name="textAreaBottom" fmla="*/ 19080 h 18360"/>
            </a:gdLst>
            <a:ahLst/>
            <a:cxnLst/>
            <a:rect l="textAreaLeft" t="textAreaTop" r="textAreaRight" b="textAreaBottom"/>
            <a:pathLst>
              <a:path w="35559" h="53">
                <a:moveTo>
                  <a:pt x="0" y="0"/>
                </a:moveTo>
                <a:lnTo>
                  <a:pt x="35559" y="0"/>
                </a:lnTo>
                <a:lnTo>
                  <a:pt x="35559" y="53"/>
                </a:lnTo>
                <a:lnTo>
                  <a:pt x="0" y="5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5486400" y="4917240"/>
            <a:ext cx="12800520" cy="18000"/>
          </a:xfrm>
          <a:custGeom>
            <a:avLst/>
            <a:gdLst>
              <a:gd name="textAreaLeft" fmla="*/ 0 w 12800520"/>
              <a:gd name="textAreaRight" fmla="*/ 12801240 w 12800520"/>
              <a:gd name="textAreaTop" fmla="*/ 0 h 18000"/>
              <a:gd name="textAreaBottom" fmla="*/ 18720 h 18000"/>
            </a:gdLst>
            <a:ahLst/>
            <a:cxnLst/>
            <a:rect l="textAreaLeft" t="textAreaTop" r="textAreaRight" b="textAreaBottom"/>
            <a:pathLst>
              <a:path w="35559" h="52">
                <a:moveTo>
                  <a:pt x="0" y="0"/>
                </a:moveTo>
                <a:lnTo>
                  <a:pt x="35559" y="0"/>
                </a:lnTo>
                <a:lnTo>
                  <a:pt x="35559" y="52"/>
                </a:lnTo>
                <a:lnTo>
                  <a:pt x="0" y="5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5486400" y="8030520"/>
            <a:ext cx="12800520" cy="18360"/>
          </a:xfrm>
          <a:custGeom>
            <a:avLst/>
            <a:gdLst>
              <a:gd name="textAreaLeft" fmla="*/ 0 w 12800520"/>
              <a:gd name="textAreaRight" fmla="*/ 12801240 w 12800520"/>
              <a:gd name="textAreaTop" fmla="*/ 0 h 18360"/>
              <a:gd name="textAreaBottom" fmla="*/ 19080 h 18360"/>
            </a:gdLst>
            <a:ahLst/>
            <a:cxnLst/>
            <a:rect l="textAreaLeft" t="textAreaTop" r="textAreaRight" b="textAreaBottom"/>
            <a:pathLst>
              <a:path w="35559" h="53">
                <a:moveTo>
                  <a:pt x="0" y="0"/>
                </a:moveTo>
                <a:lnTo>
                  <a:pt x="35559" y="0"/>
                </a:lnTo>
                <a:lnTo>
                  <a:pt x="35559" y="53"/>
                </a:lnTo>
                <a:lnTo>
                  <a:pt x="0" y="53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7102800" y="9103320"/>
            <a:ext cx="69192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IT Trainee — Managed Services, Summer 2026.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/>
          <p:nvPr/>
        </p:nvSpPr>
        <p:spPr>
          <a:xfrm>
            <a:off x="0" y="0"/>
            <a:ext cx="18287280" cy="10286280"/>
          </a:xfrm>
          <a:custGeom>
            <a:avLst/>
            <a:gdLst>
              <a:gd name="textAreaLeft" fmla="*/ 0 w 18287280"/>
              <a:gd name="textAreaRight" fmla="*/ 18288000 w 18287280"/>
              <a:gd name="textAreaTop" fmla="*/ 0 h 10286280"/>
              <a:gd name="textAreaBottom" fmla="*/ 10287000 h 10286280"/>
            </a:gdLst>
            <a:ahLst/>
            <a:cxnLst/>
            <a:rect l="textAreaLeft" t="textAreaTop" r="textAreaRight" b="textAreaBottom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solidFill>
            <a:srgbClr val="22060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solidFill>
            <a:srgbClr val="3A0C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685800" y="690120"/>
            <a:ext cx="25120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729" b="0" u="none" strike="noStrike">
                <a:solidFill>
                  <a:srgbClr val="B8F03A"/>
                </a:solidFill>
                <a:effectLst/>
                <a:uFillTx/>
                <a:latin typeface="arial"/>
                <a:ea typeface="arial"/>
              </a:rPr>
              <a:t>PRACTICAL EXPOSURE</a:t>
            </a:r>
            <a:endParaRPr lang="en-IN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685800" y="866880"/>
            <a:ext cx="11662920" cy="17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8700" b="0" u="none" strike="noStrike">
                <a:solidFill>
                  <a:srgbClr val="FBF1E4"/>
                </a:solidFill>
                <a:effectLst/>
                <a:uFillTx/>
                <a:latin typeface="Saira"/>
                <a:ea typeface="Saira"/>
              </a:rPr>
              <a:t>CLOUD, MONITORING</a:t>
            </a:r>
            <a:endParaRPr lang="en-IN" sz="8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720000" y="1891440"/>
            <a:ext cx="16109280" cy="260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8700" b="0" u="none" strike="noStrike">
                <a:solidFill>
                  <a:srgbClr val="B8F03A"/>
                </a:solidFill>
                <a:effectLst/>
                <a:uFillTx/>
                <a:latin typeface="Saira"/>
                <a:ea typeface="Saira"/>
              </a:rPr>
              <a:t>AND SECURITY</a:t>
            </a:r>
            <a:endParaRPr lang="en-IN" sz="8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685800" y="3120120"/>
            <a:ext cx="165564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The internship provided practical exposure to cloud infrastructure, monitoring, security and managed services.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85800" y="3548880"/>
            <a:ext cx="1579032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Main areas: cloud infrastructure, cloud monitoring, alert configuration, security analysis, troubleshooting,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685800" y="3977280"/>
            <a:ext cx="654588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documentation, multi-cloud environments.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685800" y="6590160"/>
            <a:ext cx="3814200" cy="41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700" b="1" u="none" strike="noStrike">
                <a:solidFill>
                  <a:srgbClr val="FBF1E4"/>
                </a:solidFill>
                <a:effectLst/>
                <a:uFillTx/>
                <a:latin typeface="BeVietnam"/>
                <a:ea typeface="BeVietnam"/>
              </a:rPr>
              <a:t>Cloud Infrastructure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685800" y="7190280"/>
            <a:ext cx="30236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Cloud infrastructure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6553080" y="6590160"/>
            <a:ext cx="4036680" cy="41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700" b="1" u="none" strike="noStrike">
                <a:solidFill>
                  <a:srgbClr val="FBF1E4"/>
                </a:solidFill>
                <a:effectLst/>
                <a:uFillTx/>
                <a:latin typeface="BeVietnam"/>
                <a:ea typeface="BeVietnam"/>
              </a:rPr>
              <a:t>Monitoring &amp; Alerting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6553080" y="7190280"/>
            <a:ext cx="404532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Cloud monitoring and alert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6553080" y="7618680"/>
            <a:ext cx="20264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configuration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12267720" y="6590160"/>
            <a:ext cx="3263400" cy="41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700" b="1" u="none" strike="noStrike">
                <a:solidFill>
                  <a:srgbClr val="FBF1E4"/>
                </a:solidFill>
                <a:effectLst/>
                <a:uFillTx/>
                <a:latin typeface="BeVietnam"/>
                <a:ea typeface="BeVietnam"/>
              </a:rPr>
              <a:t>Security Analysis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12267720" y="7190280"/>
            <a:ext cx="253296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Security analysis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685800" y="8515800"/>
            <a:ext cx="3987360" cy="41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700" b="1" u="none" strike="noStrike">
                <a:solidFill>
                  <a:srgbClr val="FBF1E4"/>
                </a:solidFill>
                <a:effectLst/>
                <a:uFillTx/>
                <a:latin typeface="BeVietnam"/>
                <a:ea typeface="BeVietnam"/>
              </a:rPr>
              <a:t>Multi-Cloud Exposure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685800" y="9115920"/>
            <a:ext cx="393012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Multi-cloud environments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6553080" y="8515800"/>
            <a:ext cx="3186360" cy="41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700" b="1" u="none" strike="noStrike">
                <a:solidFill>
                  <a:srgbClr val="FBF1E4"/>
                </a:solidFill>
                <a:effectLst/>
                <a:uFillTx/>
                <a:latin typeface="BeVietnam"/>
                <a:ea typeface="BeVietnam"/>
              </a:rPr>
              <a:t>Applied Learning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6553080" y="9115920"/>
            <a:ext cx="550908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Troubleshooting and documentation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0" y="0"/>
            <a:ext cx="18287280" cy="10286280"/>
          </a:xfrm>
          <a:custGeom>
            <a:avLst/>
            <a:gdLst>
              <a:gd name="textAreaLeft" fmla="*/ 0 w 18287280"/>
              <a:gd name="textAreaRight" fmla="*/ 18288000 w 18287280"/>
              <a:gd name="textAreaTop" fmla="*/ 0 h 10286280"/>
              <a:gd name="textAreaBottom" fmla="*/ 10287000 h 10286280"/>
            </a:gdLst>
            <a:ahLst/>
            <a:cxnLst/>
            <a:rect l="textAreaLeft" t="textAreaTop" r="textAreaRight" b="textAreaBottom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solidFill>
            <a:srgbClr val="22060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solidFill>
            <a:srgbClr val="3A0C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0" y="0"/>
            <a:ext cx="6703920" cy="10284840"/>
          </a:xfrm>
          <a:custGeom>
            <a:avLst/>
            <a:gdLst>
              <a:gd name="textAreaLeft" fmla="*/ 0 w 6703920"/>
              <a:gd name="textAreaRight" fmla="*/ 6704640 w 6703920"/>
              <a:gd name="textAreaTop" fmla="*/ 0 h 10284840"/>
              <a:gd name="textAreaBottom" fmla="*/ 10285560 h 10284840"/>
            </a:gdLst>
            <a:ahLst/>
            <a:cxnLst/>
            <a:rect l="textAreaLeft" t="textAreaTop" r="textAreaRight" b="textAreaBottom"/>
            <a:pathLst>
              <a:path w="18624" h="28571">
                <a:moveTo>
                  <a:pt x="0" y="0"/>
                </a:moveTo>
                <a:lnTo>
                  <a:pt x="18624" y="0"/>
                </a:lnTo>
                <a:lnTo>
                  <a:pt x="18624" y="28571"/>
                </a:lnTo>
                <a:lnTo>
                  <a:pt x="0" y="28571"/>
                </a:lnTo>
                <a:lnTo>
                  <a:pt x="0" y="0"/>
                </a:lnTo>
                <a:close/>
              </a:path>
            </a:pathLst>
          </a:custGeom>
          <a:solidFill>
            <a:srgbClr val="2F5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217800" y="834120"/>
            <a:ext cx="132912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729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GCP SEHATI</a:t>
            </a:r>
            <a:endParaRPr lang="en-IN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55800" y="990000"/>
            <a:ext cx="6735600" cy="16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8160" b="0" u="none" strike="noStrike">
                <a:solidFill>
                  <a:srgbClr val="FFFFFF"/>
                </a:solidFill>
                <a:effectLst/>
                <a:uFillTx/>
                <a:latin typeface="Saira"/>
                <a:ea typeface="Saira"/>
              </a:rPr>
              <a:t>MONITORING</a:t>
            </a:r>
            <a:endParaRPr lang="en-IN" sz="8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89280" y="1890000"/>
            <a:ext cx="3167640" cy="16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8160" b="0" u="none" strike="noStrike">
                <a:solidFill>
                  <a:srgbClr val="FFFFFF"/>
                </a:solidFill>
                <a:effectLst/>
                <a:uFillTx/>
                <a:latin typeface="Saira"/>
                <a:ea typeface="Saira"/>
              </a:rPr>
              <a:t>&amp; OPS</a:t>
            </a:r>
            <a:endParaRPr lang="en-IN" sz="8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217800" y="3305520"/>
            <a:ext cx="44532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FFFFF"/>
                </a:solidFill>
                <a:effectLst/>
                <a:uFillTx/>
                <a:latin typeface="BeVietnam"/>
                <a:ea typeface="BeVietnam"/>
              </a:rPr>
              <a:t>Practical exposure to the GCP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217800" y="3733920"/>
            <a:ext cx="217728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FFFFF"/>
                </a:solidFill>
                <a:effectLst/>
                <a:uFillTx/>
                <a:latin typeface="BeVietnam"/>
                <a:ea typeface="BeVietnam"/>
              </a:rPr>
              <a:t>Sehati project.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685800" y="9357120"/>
            <a:ext cx="451296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6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MANAGED SERVICES · CLOUD OPERATIONS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7524000" y="1587600"/>
            <a:ext cx="123480" cy="123480"/>
          </a:xfrm>
          <a:custGeom>
            <a:avLst/>
            <a:gdLst>
              <a:gd name="textAreaLeft" fmla="*/ 0 w 123480"/>
              <a:gd name="textAreaRight" fmla="*/ 124200 w 123480"/>
              <a:gd name="textAreaTop" fmla="*/ 0 h 123480"/>
              <a:gd name="textAreaBottom" fmla="*/ 124200 h 123480"/>
            </a:gdLst>
            <a:ahLst/>
            <a:cxnLst/>
            <a:rect l="textAreaLeft" t="textAreaTop" r="textAreaRight" b="textAreaBottom"/>
            <a:pathLst>
              <a:path w="345" h="345">
                <a:moveTo>
                  <a:pt x="345" y="172"/>
                </a:moveTo>
                <a:cubicBezTo>
                  <a:pt x="345" y="183"/>
                  <a:pt x="344" y="195"/>
                  <a:pt x="342" y="206"/>
                </a:cubicBezTo>
                <a:cubicBezTo>
                  <a:pt x="340" y="217"/>
                  <a:pt x="337" y="229"/>
                  <a:pt x="332" y="239"/>
                </a:cubicBezTo>
                <a:cubicBezTo>
                  <a:pt x="328" y="249"/>
                  <a:pt x="323" y="259"/>
                  <a:pt x="316" y="269"/>
                </a:cubicBezTo>
                <a:cubicBezTo>
                  <a:pt x="310" y="278"/>
                  <a:pt x="303" y="287"/>
                  <a:pt x="295" y="295"/>
                </a:cubicBezTo>
                <a:cubicBezTo>
                  <a:pt x="287" y="303"/>
                  <a:pt x="278" y="310"/>
                  <a:pt x="269" y="316"/>
                </a:cubicBezTo>
                <a:cubicBezTo>
                  <a:pt x="260" y="322"/>
                  <a:pt x="250" y="328"/>
                  <a:pt x="239" y="332"/>
                </a:cubicBezTo>
                <a:cubicBezTo>
                  <a:pt x="229" y="336"/>
                  <a:pt x="218" y="340"/>
                  <a:pt x="207" y="342"/>
                </a:cubicBezTo>
                <a:cubicBezTo>
                  <a:pt x="196" y="344"/>
                  <a:pt x="184" y="345"/>
                  <a:pt x="172" y="345"/>
                </a:cubicBezTo>
                <a:cubicBezTo>
                  <a:pt x="161" y="345"/>
                  <a:pt x="150" y="344"/>
                  <a:pt x="139" y="342"/>
                </a:cubicBezTo>
                <a:cubicBezTo>
                  <a:pt x="128" y="340"/>
                  <a:pt x="117" y="336"/>
                  <a:pt x="107" y="332"/>
                </a:cubicBezTo>
                <a:cubicBezTo>
                  <a:pt x="96" y="328"/>
                  <a:pt x="86" y="322"/>
                  <a:pt x="77" y="316"/>
                </a:cubicBezTo>
                <a:cubicBezTo>
                  <a:pt x="67" y="310"/>
                  <a:pt x="59" y="303"/>
                  <a:pt x="51" y="295"/>
                </a:cubicBezTo>
                <a:cubicBezTo>
                  <a:pt x="43" y="287"/>
                  <a:pt x="36" y="278"/>
                  <a:pt x="29" y="269"/>
                </a:cubicBezTo>
                <a:cubicBezTo>
                  <a:pt x="23" y="259"/>
                  <a:pt x="18" y="249"/>
                  <a:pt x="14" y="239"/>
                </a:cubicBezTo>
                <a:cubicBezTo>
                  <a:pt x="9" y="229"/>
                  <a:pt x="6" y="217"/>
                  <a:pt x="4" y="206"/>
                </a:cubicBezTo>
                <a:cubicBezTo>
                  <a:pt x="2" y="195"/>
                  <a:pt x="0" y="183"/>
                  <a:pt x="0" y="172"/>
                </a:cubicBezTo>
                <a:cubicBezTo>
                  <a:pt x="0" y="161"/>
                  <a:pt x="2" y="150"/>
                  <a:pt x="4" y="139"/>
                </a:cubicBezTo>
                <a:cubicBezTo>
                  <a:pt x="6" y="128"/>
                  <a:pt x="9" y="117"/>
                  <a:pt x="14" y="106"/>
                </a:cubicBezTo>
                <a:cubicBezTo>
                  <a:pt x="18" y="96"/>
                  <a:pt x="23" y="86"/>
                  <a:pt x="29" y="77"/>
                </a:cubicBezTo>
                <a:cubicBezTo>
                  <a:pt x="36" y="67"/>
                  <a:pt x="43" y="59"/>
                  <a:pt x="51" y="51"/>
                </a:cubicBezTo>
                <a:cubicBezTo>
                  <a:pt x="59" y="43"/>
                  <a:pt x="67" y="35"/>
                  <a:pt x="77" y="29"/>
                </a:cubicBezTo>
                <a:cubicBezTo>
                  <a:pt x="86" y="23"/>
                  <a:pt x="96" y="18"/>
                  <a:pt x="107" y="13"/>
                </a:cubicBezTo>
                <a:cubicBezTo>
                  <a:pt x="117" y="9"/>
                  <a:pt x="128" y="6"/>
                  <a:pt x="139" y="4"/>
                </a:cubicBezTo>
                <a:cubicBezTo>
                  <a:pt x="150" y="1"/>
                  <a:pt x="161" y="0"/>
                  <a:pt x="172" y="0"/>
                </a:cubicBezTo>
                <a:cubicBezTo>
                  <a:pt x="184" y="0"/>
                  <a:pt x="196" y="1"/>
                  <a:pt x="207" y="4"/>
                </a:cubicBezTo>
                <a:cubicBezTo>
                  <a:pt x="218" y="6"/>
                  <a:pt x="229" y="9"/>
                  <a:pt x="239" y="13"/>
                </a:cubicBezTo>
                <a:cubicBezTo>
                  <a:pt x="250" y="18"/>
                  <a:pt x="260" y="23"/>
                  <a:pt x="269" y="29"/>
                </a:cubicBezTo>
                <a:cubicBezTo>
                  <a:pt x="278" y="35"/>
                  <a:pt x="287" y="43"/>
                  <a:pt x="295" y="51"/>
                </a:cubicBezTo>
                <a:cubicBezTo>
                  <a:pt x="303" y="59"/>
                  <a:pt x="310" y="67"/>
                  <a:pt x="316" y="77"/>
                </a:cubicBezTo>
                <a:cubicBezTo>
                  <a:pt x="323" y="86"/>
                  <a:pt x="328" y="96"/>
                  <a:pt x="332" y="106"/>
                </a:cubicBezTo>
                <a:cubicBezTo>
                  <a:pt x="337" y="117"/>
                  <a:pt x="340" y="128"/>
                  <a:pt x="342" y="139"/>
                </a:cubicBezTo>
                <a:cubicBezTo>
                  <a:pt x="344" y="150"/>
                  <a:pt x="345" y="161"/>
                  <a:pt x="345" y="172"/>
                </a:cubicBezTo>
                <a:close/>
              </a:path>
            </a:pathLst>
          </a:custGeom>
          <a:solidFill>
            <a:srgbClr val="F0E2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7391160" y="612360"/>
            <a:ext cx="338436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3900" b="1" u="none" strike="noStrike">
                <a:solidFill>
                  <a:srgbClr val="FBF1E4"/>
                </a:solidFill>
                <a:effectLst/>
                <a:uFillTx/>
                <a:latin typeface="BeVietnam"/>
                <a:ea typeface="BeVietnam"/>
              </a:rPr>
              <a:t>Worked with</a:t>
            </a:r>
            <a:endParaRPr lang="en-IN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7524000" y="2016360"/>
            <a:ext cx="123480" cy="123480"/>
          </a:xfrm>
          <a:custGeom>
            <a:avLst/>
            <a:gdLst>
              <a:gd name="textAreaLeft" fmla="*/ 0 w 123480"/>
              <a:gd name="textAreaRight" fmla="*/ 124200 w 123480"/>
              <a:gd name="textAreaTop" fmla="*/ 0 h 123480"/>
              <a:gd name="textAreaBottom" fmla="*/ 124200 h 123480"/>
            </a:gdLst>
            <a:ahLst/>
            <a:cxnLst/>
            <a:rect l="textAreaLeft" t="textAreaTop" r="textAreaRight" b="textAreaBottom"/>
            <a:pathLst>
              <a:path w="345" h="345">
                <a:moveTo>
                  <a:pt x="345" y="173"/>
                </a:moveTo>
                <a:cubicBezTo>
                  <a:pt x="345" y="184"/>
                  <a:pt x="344" y="195"/>
                  <a:pt x="342" y="206"/>
                </a:cubicBezTo>
                <a:cubicBezTo>
                  <a:pt x="340" y="217"/>
                  <a:pt x="337" y="228"/>
                  <a:pt x="332" y="239"/>
                </a:cubicBezTo>
                <a:cubicBezTo>
                  <a:pt x="328" y="249"/>
                  <a:pt x="323" y="259"/>
                  <a:pt x="316" y="268"/>
                </a:cubicBezTo>
                <a:cubicBezTo>
                  <a:pt x="310" y="278"/>
                  <a:pt x="303" y="286"/>
                  <a:pt x="295" y="294"/>
                </a:cubicBezTo>
                <a:cubicBezTo>
                  <a:pt x="287" y="302"/>
                  <a:pt x="278" y="310"/>
                  <a:pt x="269" y="316"/>
                </a:cubicBezTo>
                <a:cubicBezTo>
                  <a:pt x="260" y="322"/>
                  <a:pt x="250" y="327"/>
                  <a:pt x="239" y="332"/>
                </a:cubicBezTo>
                <a:cubicBezTo>
                  <a:pt x="229" y="336"/>
                  <a:pt x="218" y="339"/>
                  <a:pt x="207" y="341"/>
                </a:cubicBezTo>
                <a:cubicBezTo>
                  <a:pt x="196" y="344"/>
                  <a:pt x="184" y="345"/>
                  <a:pt x="172" y="345"/>
                </a:cubicBezTo>
                <a:cubicBezTo>
                  <a:pt x="161" y="345"/>
                  <a:pt x="150" y="344"/>
                  <a:pt x="139" y="341"/>
                </a:cubicBezTo>
                <a:cubicBezTo>
                  <a:pt x="128" y="339"/>
                  <a:pt x="117" y="336"/>
                  <a:pt x="107" y="332"/>
                </a:cubicBezTo>
                <a:cubicBezTo>
                  <a:pt x="96" y="327"/>
                  <a:pt x="86" y="322"/>
                  <a:pt x="77" y="316"/>
                </a:cubicBezTo>
                <a:cubicBezTo>
                  <a:pt x="67" y="310"/>
                  <a:pt x="59" y="302"/>
                  <a:pt x="51" y="294"/>
                </a:cubicBezTo>
                <a:cubicBezTo>
                  <a:pt x="43" y="286"/>
                  <a:pt x="36" y="278"/>
                  <a:pt x="29" y="268"/>
                </a:cubicBezTo>
                <a:cubicBezTo>
                  <a:pt x="23" y="259"/>
                  <a:pt x="18" y="249"/>
                  <a:pt x="14" y="239"/>
                </a:cubicBezTo>
                <a:cubicBezTo>
                  <a:pt x="9" y="228"/>
                  <a:pt x="6" y="217"/>
                  <a:pt x="4" y="206"/>
                </a:cubicBezTo>
                <a:cubicBezTo>
                  <a:pt x="2" y="195"/>
                  <a:pt x="0" y="184"/>
                  <a:pt x="0" y="173"/>
                </a:cubicBezTo>
                <a:cubicBezTo>
                  <a:pt x="0" y="162"/>
                  <a:pt x="2" y="150"/>
                  <a:pt x="4" y="139"/>
                </a:cubicBezTo>
                <a:cubicBezTo>
                  <a:pt x="6" y="128"/>
                  <a:pt x="9" y="117"/>
                  <a:pt x="14" y="107"/>
                </a:cubicBezTo>
                <a:cubicBezTo>
                  <a:pt x="18" y="97"/>
                  <a:pt x="23" y="87"/>
                  <a:pt x="29" y="77"/>
                </a:cubicBezTo>
                <a:cubicBezTo>
                  <a:pt x="36" y="68"/>
                  <a:pt x="43" y="58"/>
                  <a:pt x="51" y="50"/>
                </a:cubicBezTo>
                <a:cubicBezTo>
                  <a:pt x="59" y="42"/>
                  <a:pt x="67" y="35"/>
                  <a:pt x="77" y="29"/>
                </a:cubicBezTo>
                <a:cubicBezTo>
                  <a:pt x="86" y="23"/>
                  <a:pt x="96" y="17"/>
                  <a:pt x="107" y="13"/>
                </a:cubicBezTo>
                <a:cubicBezTo>
                  <a:pt x="117" y="9"/>
                  <a:pt x="128" y="5"/>
                  <a:pt x="139" y="3"/>
                </a:cubicBezTo>
                <a:cubicBezTo>
                  <a:pt x="150" y="1"/>
                  <a:pt x="161" y="0"/>
                  <a:pt x="172" y="0"/>
                </a:cubicBezTo>
                <a:cubicBezTo>
                  <a:pt x="184" y="0"/>
                  <a:pt x="196" y="1"/>
                  <a:pt x="207" y="3"/>
                </a:cubicBezTo>
                <a:cubicBezTo>
                  <a:pt x="218" y="5"/>
                  <a:pt x="229" y="9"/>
                  <a:pt x="239" y="13"/>
                </a:cubicBezTo>
                <a:cubicBezTo>
                  <a:pt x="250" y="17"/>
                  <a:pt x="260" y="23"/>
                  <a:pt x="269" y="29"/>
                </a:cubicBezTo>
                <a:cubicBezTo>
                  <a:pt x="278" y="35"/>
                  <a:pt x="287" y="42"/>
                  <a:pt x="295" y="50"/>
                </a:cubicBezTo>
                <a:cubicBezTo>
                  <a:pt x="303" y="58"/>
                  <a:pt x="310" y="68"/>
                  <a:pt x="316" y="77"/>
                </a:cubicBezTo>
                <a:cubicBezTo>
                  <a:pt x="323" y="87"/>
                  <a:pt x="328" y="97"/>
                  <a:pt x="332" y="107"/>
                </a:cubicBezTo>
                <a:cubicBezTo>
                  <a:pt x="337" y="117"/>
                  <a:pt x="340" y="128"/>
                  <a:pt x="342" y="139"/>
                </a:cubicBezTo>
                <a:cubicBezTo>
                  <a:pt x="344" y="150"/>
                  <a:pt x="345" y="162"/>
                  <a:pt x="345" y="173"/>
                </a:cubicBezTo>
                <a:close/>
              </a:path>
            </a:pathLst>
          </a:custGeom>
          <a:solidFill>
            <a:srgbClr val="F0E2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7838640" y="1402560"/>
            <a:ext cx="132552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GCP IAM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7524000" y="2444760"/>
            <a:ext cx="123480" cy="123480"/>
          </a:xfrm>
          <a:custGeom>
            <a:avLst/>
            <a:gdLst>
              <a:gd name="textAreaLeft" fmla="*/ 0 w 123480"/>
              <a:gd name="textAreaRight" fmla="*/ 124200 w 123480"/>
              <a:gd name="textAreaTop" fmla="*/ 0 h 123480"/>
              <a:gd name="textAreaBottom" fmla="*/ 124200 h 123480"/>
            </a:gdLst>
            <a:ahLst/>
            <a:cxnLst/>
            <a:rect l="textAreaLeft" t="textAreaTop" r="textAreaRight" b="textAreaBottom"/>
            <a:pathLst>
              <a:path w="345" h="345">
                <a:moveTo>
                  <a:pt x="345" y="172"/>
                </a:moveTo>
                <a:cubicBezTo>
                  <a:pt x="345" y="184"/>
                  <a:pt x="344" y="195"/>
                  <a:pt x="342" y="206"/>
                </a:cubicBezTo>
                <a:cubicBezTo>
                  <a:pt x="340" y="217"/>
                  <a:pt x="337" y="228"/>
                  <a:pt x="332" y="238"/>
                </a:cubicBezTo>
                <a:cubicBezTo>
                  <a:pt x="328" y="250"/>
                  <a:pt x="323" y="260"/>
                  <a:pt x="316" y="269"/>
                </a:cubicBezTo>
                <a:cubicBezTo>
                  <a:pt x="310" y="278"/>
                  <a:pt x="303" y="287"/>
                  <a:pt x="295" y="295"/>
                </a:cubicBezTo>
                <a:cubicBezTo>
                  <a:pt x="287" y="303"/>
                  <a:pt x="278" y="310"/>
                  <a:pt x="269" y="316"/>
                </a:cubicBezTo>
                <a:cubicBezTo>
                  <a:pt x="260" y="323"/>
                  <a:pt x="250" y="328"/>
                  <a:pt x="239" y="332"/>
                </a:cubicBezTo>
                <a:cubicBezTo>
                  <a:pt x="229" y="337"/>
                  <a:pt x="218" y="340"/>
                  <a:pt x="207" y="342"/>
                </a:cubicBezTo>
                <a:cubicBezTo>
                  <a:pt x="196" y="344"/>
                  <a:pt x="184" y="345"/>
                  <a:pt x="172" y="345"/>
                </a:cubicBezTo>
                <a:cubicBezTo>
                  <a:pt x="161" y="345"/>
                  <a:pt x="150" y="344"/>
                  <a:pt x="139" y="342"/>
                </a:cubicBezTo>
                <a:cubicBezTo>
                  <a:pt x="128" y="340"/>
                  <a:pt x="117" y="337"/>
                  <a:pt x="107" y="332"/>
                </a:cubicBezTo>
                <a:cubicBezTo>
                  <a:pt x="96" y="328"/>
                  <a:pt x="86" y="323"/>
                  <a:pt x="77" y="316"/>
                </a:cubicBezTo>
                <a:cubicBezTo>
                  <a:pt x="67" y="310"/>
                  <a:pt x="59" y="303"/>
                  <a:pt x="51" y="295"/>
                </a:cubicBezTo>
                <a:cubicBezTo>
                  <a:pt x="43" y="287"/>
                  <a:pt x="36" y="278"/>
                  <a:pt x="29" y="269"/>
                </a:cubicBezTo>
                <a:cubicBezTo>
                  <a:pt x="23" y="260"/>
                  <a:pt x="18" y="250"/>
                  <a:pt x="14" y="238"/>
                </a:cubicBezTo>
                <a:cubicBezTo>
                  <a:pt x="9" y="228"/>
                  <a:pt x="6" y="217"/>
                  <a:pt x="4" y="206"/>
                </a:cubicBezTo>
                <a:cubicBezTo>
                  <a:pt x="2" y="195"/>
                  <a:pt x="0" y="184"/>
                  <a:pt x="0" y="172"/>
                </a:cubicBezTo>
                <a:cubicBezTo>
                  <a:pt x="0" y="161"/>
                  <a:pt x="2" y="150"/>
                  <a:pt x="4" y="139"/>
                </a:cubicBezTo>
                <a:cubicBezTo>
                  <a:pt x="6" y="128"/>
                  <a:pt x="9" y="117"/>
                  <a:pt x="14" y="107"/>
                </a:cubicBezTo>
                <a:cubicBezTo>
                  <a:pt x="18" y="96"/>
                  <a:pt x="23" y="86"/>
                  <a:pt x="29" y="77"/>
                </a:cubicBezTo>
                <a:cubicBezTo>
                  <a:pt x="36" y="68"/>
                  <a:pt x="43" y="59"/>
                  <a:pt x="51" y="51"/>
                </a:cubicBezTo>
                <a:cubicBezTo>
                  <a:pt x="59" y="43"/>
                  <a:pt x="67" y="36"/>
                  <a:pt x="77" y="29"/>
                </a:cubicBezTo>
                <a:cubicBezTo>
                  <a:pt x="86" y="23"/>
                  <a:pt x="96" y="18"/>
                  <a:pt x="107" y="14"/>
                </a:cubicBezTo>
                <a:cubicBezTo>
                  <a:pt x="117" y="9"/>
                  <a:pt x="128" y="6"/>
                  <a:pt x="139" y="4"/>
                </a:cubicBezTo>
                <a:cubicBezTo>
                  <a:pt x="150" y="2"/>
                  <a:pt x="161" y="0"/>
                  <a:pt x="172" y="0"/>
                </a:cubicBezTo>
                <a:cubicBezTo>
                  <a:pt x="184" y="0"/>
                  <a:pt x="196" y="2"/>
                  <a:pt x="207" y="4"/>
                </a:cubicBezTo>
                <a:cubicBezTo>
                  <a:pt x="218" y="6"/>
                  <a:pt x="229" y="9"/>
                  <a:pt x="239" y="14"/>
                </a:cubicBezTo>
                <a:cubicBezTo>
                  <a:pt x="250" y="18"/>
                  <a:pt x="260" y="23"/>
                  <a:pt x="269" y="29"/>
                </a:cubicBezTo>
                <a:cubicBezTo>
                  <a:pt x="278" y="36"/>
                  <a:pt x="287" y="43"/>
                  <a:pt x="295" y="51"/>
                </a:cubicBezTo>
                <a:cubicBezTo>
                  <a:pt x="303" y="59"/>
                  <a:pt x="310" y="68"/>
                  <a:pt x="316" y="77"/>
                </a:cubicBezTo>
                <a:cubicBezTo>
                  <a:pt x="323" y="86"/>
                  <a:pt x="328" y="96"/>
                  <a:pt x="332" y="107"/>
                </a:cubicBezTo>
                <a:cubicBezTo>
                  <a:pt x="337" y="117"/>
                  <a:pt x="340" y="128"/>
                  <a:pt x="342" y="139"/>
                </a:cubicBezTo>
                <a:cubicBezTo>
                  <a:pt x="344" y="150"/>
                  <a:pt x="345" y="161"/>
                  <a:pt x="345" y="172"/>
                </a:cubicBezTo>
                <a:close/>
              </a:path>
            </a:pathLst>
          </a:custGeom>
          <a:solidFill>
            <a:srgbClr val="F0E2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7838640" y="1830960"/>
            <a:ext cx="15746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Audit Logs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7524000" y="2873520"/>
            <a:ext cx="123480" cy="123480"/>
          </a:xfrm>
          <a:custGeom>
            <a:avLst/>
            <a:gdLst>
              <a:gd name="textAreaLeft" fmla="*/ 0 w 123480"/>
              <a:gd name="textAreaRight" fmla="*/ 124200 w 123480"/>
              <a:gd name="textAreaTop" fmla="*/ 0 h 123480"/>
              <a:gd name="textAreaBottom" fmla="*/ 124200 h 123480"/>
            </a:gdLst>
            <a:ahLst/>
            <a:cxnLst/>
            <a:rect l="textAreaLeft" t="textAreaTop" r="textAreaRight" b="textAreaBottom"/>
            <a:pathLst>
              <a:path w="345" h="345">
                <a:moveTo>
                  <a:pt x="345" y="173"/>
                </a:moveTo>
                <a:cubicBezTo>
                  <a:pt x="345" y="184"/>
                  <a:pt x="344" y="196"/>
                  <a:pt x="342" y="207"/>
                </a:cubicBezTo>
                <a:cubicBezTo>
                  <a:pt x="340" y="218"/>
                  <a:pt x="337" y="228"/>
                  <a:pt x="332" y="239"/>
                </a:cubicBezTo>
                <a:cubicBezTo>
                  <a:pt x="328" y="249"/>
                  <a:pt x="323" y="259"/>
                  <a:pt x="316" y="269"/>
                </a:cubicBezTo>
                <a:cubicBezTo>
                  <a:pt x="310" y="278"/>
                  <a:pt x="303" y="287"/>
                  <a:pt x="295" y="295"/>
                </a:cubicBezTo>
                <a:cubicBezTo>
                  <a:pt x="287" y="303"/>
                  <a:pt x="278" y="310"/>
                  <a:pt x="269" y="316"/>
                </a:cubicBezTo>
                <a:cubicBezTo>
                  <a:pt x="260" y="322"/>
                  <a:pt x="250" y="328"/>
                  <a:pt x="239" y="332"/>
                </a:cubicBezTo>
                <a:cubicBezTo>
                  <a:pt x="229" y="336"/>
                  <a:pt x="218" y="340"/>
                  <a:pt x="207" y="342"/>
                </a:cubicBezTo>
                <a:cubicBezTo>
                  <a:pt x="196" y="344"/>
                  <a:pt x="184" y="345"/>
                  <a:pt x="172" y="345"/>
                </a:cubicBezTo>
                <a:cubicBezTo>
                  <a:pt x="161" y="345"/>
                  <a:pt x="150" y="344"/>
                  <a:pt x="139" y="342"/>
                </a:cubicBezTo>
                <a:cubicBezTo>
                  <a:pt x="128" y="340"/>
                  <a:pt x="117" y="336"/>
                  <a:pt x="107" y="332"/>
                </a:cubicBezTo>
                <a:cubicBezTo>
                  <a:pt x="96" y="328"/>
                  <a:pt x="86" y="322"/>
                  <a:pt x="77" y="316"/>
                </a:cubicBezTo>
                <a:cubicBezTo>
                  <a:pt x="67" y="310"/>
                  <a:pt x="59" y="303"/>
                  <a:pt x="51" y="295"/>
                </a:cubicBezTo>
                <a:cubicBezTo>
                  <a:pt x="43" y="287"/>
                  <a:pt x="36" y="278"/>
                  <a:pt x="29" y="269"/>
                </a:cubicBezTo>
                <a:cubicBezTo>
                  <a:pt x="23" y="259"/>
                  <a:pt x="18" y="249"/>
                  <a:pt x="14" y="239"/>
                </a:cubicBezTo>
                <a:cubicBezTo>
                  <a:pt x="9" y="228"/>
                  <a:pt x="6" y="218"/>
                  <a:pt x="4" y="207"/>
                </a:cubicBezTo>
                <a:cubicBezTo>
                  <a:pt x="2" y="196"/>
                  <a:pt x="0" y="184"/>
                  <a:pt x="0" y="173"/>
                </a:cubicBezTo>
                <a:cubicBezTo>
                  <a:pt x="0" y="162"/>
                  <a:pt x="2" y="151"/>
                  <a:pt x="4" y="140"/>
                </a:cubicBezTo>
                <a:cubicBezTo>
                  <a:pt x="6" y="128"/>
                  <a:pt x="9" y="118"/>
                  <a:pt x="14" y="107"/>
                </a:cubicBezTo>
                <a:cubicBezTo>
                  <a:pt x="18" y="97"/>
                  <a:pt x="23" y="87"/>
                  <a:pt x="29" y="77"/>
                </a:cubicBezTo>
                <a:cubicBezTo>
                  <a:pt x="36" y="67"/>
                  <a:pt x="43" y="58"/>
                  <a:pt x="51" y="50"/>
                </a:cubicBezTo>
                <a:cubicBezTo>
                  <a:pt x="59" y="42"/>
                  <a:pt x="67" y="35"/>
                  <a:pt x="77" y="29"/>
                </a:cubicBezTo>
                <a:cubicBezTo>
                  <a:pt x="86" y="23"/>
                  <a:pt x="96" y="17"/>
                  <a:pt x="107" y="13"/>
                </a:cubicBezTo>
                <a:cubicBezTo>
                  <a:pt x="117" y="9"/>
                  <a:pt x="128" y="6"/>
                  <a:pt x="139" y="3"/>
                </a:cubicBezTo>
                <a:cubicBezTo>
                  <a:pt x="150" y="1"/>
                  <a:pt x="161" y="0"/>
                  <a:pt x="172" y="0"/>
                </a:cubicBezTo>
                <a:cubicBezTo>
                  <a:pt x="184" y="0"/>
                  <a:pt x="196" y="1"/>
                  <a:pt x="207" y="3"/>
                </a:cubicBezTo>
                <a:cubicBezTo>
                  <a:pt x="218" y="6"/>
                  <a:pt x="229" y="9"/>
                  <a:pt x="239" y="13"/>
                </a:cubicBezTo>
                <a:cubicBezTo>
                  <a:pt x="250" y="17"/>
                  <a:pt x="260" y="23"/>
                  <a:pt x="269" y="29"/>
                </a:cubicBezTo>
                <a:cubicBezTo>
                  <a:pt x="278" y="35"/>
                  <a:pt x="287" y="42"/>
                  <a:pt x="295" y="50"/>
                </a:cubicBezTo>
                <a:cubicBezTo>
                  <a:pt x="303" y="58"/>
                  <a:pt x="310" y="67"/>
                  <a:pt x="316" y="77"/>
                </a:cubicBezTo>
                <a:cubicBezTo>
                  <a:pt x="323" y="87"/>
                  <a:pt x="328" y="97"/>
                  <a:pt x="332" y="107"/>
                </a:cubicBezTo>
                <a:cubicBezTo>
                  <a:pt x="337" y="118"/>
                  <a:pt x="340" y="128"/>
                  <a:pt x="342" y="140"/>
                </a:cubicBezTo>
                <a:cubicBezTo>
                  <a:pt x="344" y="151"/>
                  <a:pt x="345" y="162"/>
                  <a:pt x="345" y="173"/>
                </a:cubicBezTo>
                <a:close/>
              </a:path>
            </a:pathLst>
          </a:custGeom>
          <a:solidFill>
            <a:srgbClr val="F0E2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7838640" y="2259720"/>
            <a:ext cx="217368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Cloud Logging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7524000" y="3302280"/>
            <a:ext cx="123480" cy="123480"/>
          </a:xfrm>
          <a:custGeom>
            <a:avLst/>
            <a:gdLst>
              <a:gd name="textAreaLeft" fmla="*/ 0 w 123480"/>
              <a:gd name="textAreaRight" fmla="*/ 124200 w 123480"/>
              <a:gd name="textAreaTop" fmla="*/ 0 h 123480"/>
              <a:gd name="textAreaBottom" fmla="*/ 124200 h 123480"/>
            </a:gdLst>
            <a:ahLst/>
            <a:cxnLst/>
            <a:rect l="textAreaLeft" t="textAreaTop" r="textAreaRight" b="textAreaBottom"/>
            <a:pathLst>
              <a:path w="345" h="345">
                <a:moveTo>
                  <a:pt x="345" y="172"/>
                </a:moveTo>
                <a:cubicBezTo>
                  <a:pt x="345" y="183"/>
                  <a:pt x="344" y="194"/>
                  <a:pt x="342" y="205"/>
                </a:cubicBezTo>
                <a:cubicBezTo>
                  <a:pt x="340" y="216"/>
                  <a:pt x="337" y="227"/>
                  <a:pt x="332" y="238"/>
                </a:cubicBezTo>
                <a:cubicBezTo>
                  <a:pt x="328" y="248"/>
                  <a:pt x="323" y="258"/>
                  <a:pt x="316" y="268"/>
                </a:cubicBezTo>
                <a:cubicBezTo>
                  <a:pt x="310" y="278"/>
                  <a:pt x="303" y="286"/>
                  <a:pt x="295" y="294"/>
                </a:cubicBezTo>
                <a:cubicBezTo>
                  <a:pt x="287" y="302"/>
                  <a:pt x="278" y="309"/>
                  <a:pt x="269" y="316"/>
                </a:cubicBezTo>
                <a:cubicBezTo>
                  <a:pt x="260" y="322"/>
                  <a:pt x="250" y="327"/>
                  <a:pt x="239" y="332"/>
                </a:cubicBezTo>
                <a:cubicBezTo>
                  <a:pt x="229" y="336"/>
                  <a:pt x="218" y="339"/>
                  <a:pt x="207" y="341"/>
                </a:cubicBezTo>
                <a:cubicBezTo>
                  <a:pt x="196" y="344"/>
                  <a:pt x="184" y="345"/>
                  <a:pt x="172" y="345"/>
                </a:cubicBezTo>
                <a:cubicBezTo>
                  <a:pt x="161" y="345"/>
                  <a:pt x="150" y="344"/>
                  <a:pt x="139" y="341"/>
                </a:cubicBezTo>
                <a:cubicBezTo>
                  <a:pt x="128" y="339"/>
                  <a:pt x="117" y="336"/>
                  <a:pt x="107" y="332"/>
                </a:cubicBezTo>
                <a:cubicBezTo>
                  <a:pt x="96" y="327"/>
                  <a:pt x="86" y="322"/>
                  <a:pt x="77" y="316"/>
                </a:cubicBezTo>
                <a:cubicBezTo>
                  <a:pt x="67" y="309"/>
                  <a:pt x="59" y="302"/>
                  <a:pt x="51" y="294"/>
                </a:cubicBezTo>
                <a:cubicBezTo>
                  <a:pt x="43" y="286"/>
                  <a:pt x="36" y="278"/>
                  <a:pt x="29" y="268"/>
                </a:cubicBezTo>
                <a:cubicBezTo>
                  <a:pt x="23" y="258"/>
                  <a:pt x="18" y="248"/>
                  <a:pt x="14" y="238"/>
                </a:cubicBezTo>
                <a:cubicBezTo>
                  <a:pt x="9" y="227"/>
                  <a:pt x="6" y="216"/>
                  <a:pt x="4" y="205"/>
                </a:cubicBezTo>
                <a:cubicBezTo>
                  <a:pt x="2" y="194"/>
                  <a:pt x="0" y="183"/>
                  <a:pt x="0" y="172"/>
                </a:cubicBezTo>
                <a:cubicBezTo>
                  <a:pt x="0" y="160"/>
                  <a:pt x="2" y="149"/>
                  <a:pt x="4" y="138"/>
                </a:cubicBezTo>
                <a:cubicBezTo>
                  <a:pt x="6" y="127"/>
                  <a:pt x="9" y="116"/>
                  <a:pt x="14" y="106"/>
                </a:cubicBezTo>
                <a:cubicBezTo>
                  <a:pt x="18" y="95"/>
                  <a:pt x="23" y="86"/>
                  <a:pt x="29" y="76"/>
                </a:cubicBezTo>
                <a:cubicBezTo>
                  <a:pt x="36" y="67"/>
                  <a:pt x="43" y="58"/>
                  <a:pt x="51" y="50"/>
                </a:cubicBezTo>
                <a:cubicBezTo>
                  <a:pt x="59" y="42"/>
                  <a:pt x="67" y="35"/>
                  <a:pt x="77" y="29"/>
                </a:cubicBezTo>
                <a:cubicBezTo>
                  <a:pt x="86" y="22"/>
                  <a:pt x="96" y="17"/>
                  <a:pt x="107" y="13"/>
                </a:cubicBezTo>
                <a:cubicBezTo>
                  <a:pt x="117" y="8"/>
                  <a:pt x="128" y="5"/>
                  <a:pt x="139" y="3"/>
                </a:cubicBezTo>
                <a:cubicBezTo>
                  <a:pt x="150" y="1"/>
                  <a:pt x="161" y="0"/>
                  <a:pt x="172" y="0"/>
                </a:cubicBezTo>
                <a:cubicBezTo>
                  <a:pt x="184" y="0"/>
                  <a:pt x="196" y="1"/>
                  <a:pt x="207" y="3"/>
                </a:cubicBezTo>
                <a:cubicBezTo>
                  <a:pt x="218" y="5"/>
                  <a:pt x="229" y="8"/>
                  <a:pt x="239" y="13"/>
                </a:cubicBezTo>
                <a:cubicBezTo>
                  <a:pt x="250" y="17"/>
                  <a:pt x="260" y="22"/>
                  <a:pt x="269" y="29"/>
                </a:cubicBezTo>
                <a:cubicBezTo>
                  <a:pt x="278" y="35"/>
                  <a:pt x="287" y="42"/>
                  <a:pt x="295" y="50"/>
                </a:cubicBezTo>
                <a:cubicBezTo>
                  <a:pt x="303" y="58"/>
                  <a:pt x="310" y="67"/>
                  <a:pt x="316" y="76"/>
                </a:cubicBezTo>
                <a:cubicBezTo>
                  <a:pt x="323" y="86"/>
                  <a:pt x="328" y="95"/>
                  <a:pt x="332" y="106"/>
                </a:cubicBezTo>
                <a:cubicBezTo>
                  <a:pt x="337" y="116"/>
                  <a:pt x="340" y="127"/>
                  <a:pt x="342" y="138"/>
                </a:cubicBezTo>
                <a:cubicBezTo>
                  <a:pt x="344" y="149"/>
                  <a:pt x="345" y="160"/>
                  <a:pt x="345" y="172"/>
                </a:cubicBezTo>
                <a:close/>
              </a:path>
            </a:pathLst>
          </a:custGeom>
          <a:solidFill>
            <a:srgbClr val="F0E2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7838640" y="2688120"/>
            <a:ext cx="256716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Cloud Monitoring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7524000" y="3730680"/>
            <a:ext cx="123480" cy="123480"/>
          </a:xfrm>
          <a:custGeom>
            <a:avLst/>
            <a:gdLst>
              <a:gd name="textAreaLeft" fmla="*/ 0 w 123480"/>
              <a:gd name="textAreaRight" fmla="*/ 124200 w 123480"/>
              <a:gd name="textAreaTop" fmla="*/ 0 h 123480"/>
              <a:gd name="textAreaBottom" fmla="*/ 124200 h 123480"/>
            </a:gdLst>
            <a:ahLst/>
            <a:cxnLst/>
            <a:rect l="textAreaLeft" t="textAreaTop" r="textAreaRight" b="textAreaBottom"/>
            <a:pathLst>
              <a:path w="345" h="345">
                <a:moveTo>
                  <a:pt x="345" y="173"/>
                </a:moveTo>
                <a:cubicBezTo>
                  <a:pt x="345" y="185"/>
                  <a:pt x="344" y="196"/>
                  <a:pt x="342" y="207"/>
                </a:cubicBezTo>
                <a:cubicBezTo>
                  <a:pt x="340" y="218"/>
                  <a:pt x="337" y="229"/>
                  <a:pt x="332" y="239"/>
                </a:cubicBezTo>
                <a:cubicBezTo>
                  <a:pt x="328" y="250"/>
                  <a:pt x="323" y="259"/>
                  <a:pt x="316" y="269"/>
                </a:cubicBezTo>
                <a:cubicBezTo>
                  <a:pt x="310" y="278"/>
                  <a:pt x="303" y="287"/>
                  <a:pt x="295" y="295"/>
                </a:cubicBezTo>
                <a:cubicBezTo>
                  <a:pt x="287" y="303"/>
                  <a:pt x="278" y="310"/>
                  <a:pt x="269" y="316"/>
                </a:cubicBezTo>
                <a:cubicBezTo>
                  <a:pt x="260" y="323"/>
                  <a:pt x="250" y="328"/>
                  <a:pt x="239" y="332"/>
                </a:cubicBezTo>
                <a:cubicBezTo>
                  <a:pt x="229" y="337"/>
                  <a:pt x="218" y="340"/>
                  <a:pt x="207" y="342"/>
                </a:cubicBezTo>
                <a:cubicBezTo>
                  <a:pt x="196" y="344"/>
                  <a:pt x="184" y="345"/>
                  <a:pt x="172" y="345"/>
                </a:cubicBezTo>
                <a:cubicBezTo>
                  <a:pt x="161" y="345"/>
                  <a:pt x="150" y="344"/>
                  <a:pt x="139" y="342"/>
                </a:cubicBezTo>
                <a:cubicBezTo>
                  <a:pt x="128" y="340"/>
                  <a:pt x="117" y="337"/>
                  <a:pt x="107" y="332"/>
                </a:cubicBezTo>
                <a:cubicBezTo>
                  <a:pt x="96" y="328"/>
                  <a:pt x="86" y="323"/>
                  <a:pt x="77" y="316"/>
                </a:cubicBezTo>
                <a:cubicBezTo>
                  <a:pt x="67" y="310"/>
                  <a:pt x="59" y="303"/>
                  <a:pt x="51" y="295"/>
                </a:cubicBezTo>
                <a:cubicBezTo>
                  <a:pt x="43" y="287"/>
                  <a:pt x="36" y="278"/>
                  <a:pt x="29" y="269"/>
                </a:cubicBezTo>
                <a:cubicBezTo>
                  <a:pt x="23" y="259"/>
                  <a:pt x="18" y="250"/>
                  <a:pt x="14" y="239"/>
                </a:cubicBezTo>
                <a:cubicBezTo>
                  <a:pt x="9" y="229"/>
                  <a:pt x="6" y="218"/>
                  <a:pt x="4" y="207"/>
                </a:cubicBezTo>
                <a:cubicBezTo>
                  <a:pt x="2" y="196"/>
                  <a:pt x="0" y="185"/>
                  <a:pt x="0" y="173"/>
                </a:cubicBezTo>
                <a:cubicBezTo>
                  <a:pt x="0" y="162"/>
                  <a:pt x="2" y="151"/>
                  <a:pt x="4" y="140"/>
                </a:cubicBezTo>
                <a:cubicBezTo>
                  <a:pt x="6" y="129"/>
                  <a:pt x="9" y="118"/>
                  <a:pt x="14" y="108"/>
                </a:cubicBezTo>
                <a:cubicBezTo>
                  <a:pt x="18" y="96"/>
                  <a:pt x="23" y="86"/>
                  <a:pt x="29" y="77"/>
                </a:cubicBezTo>
                <a:cubicBezTo>
                  <a:pt x="36" y="67"/>
                  <a:pt x="43" y="59"/>
                  <a:pt x="51" y="51"/>
                </a:cubicBezTo>
                <a:cubicBezTo>
                  <a:pt x="59" y="43"/>
                  <a:pt x="67" y="36"/>
                  <a:pt x="77" y="29"/>
                </a:cubicBezTo>
                <a:cubicBezTo>
                  <a:pt x="86" y="23"/>
                  <a:pt x="96" y="18"/>
                  <a:pt x="107" y="13"/>
                </a:cubicBezTo>
                <a:cubicBezTo>
                  <a:pt x="117" y="9"/>
                  <a:pt x="128" y="6"/>
                  <a:pt x="139" y="4"/>
                </a:cubicBezTo>
                <a:cubicBezTo>
                  <a:pt x="150" y="1"/>
                  <a:pt x="161" y="0"/>
                  <a:pt x="172" y="0"/>
                </a:cubicBezTo>
                <a:cubicBezTo>
                  <a:pt x="184" y="0"/>
                  <a:pt x="196" y="1"/>
                  <a:pt x="207" y="4"/>
                </a:cubicBezTo>
                <a:cubicBezTo>
                  <a:pt x="218" y="6"/>
                  <a:pt x="229" y="9"/>
                  <a:pt x="239" y="13"/>
                </a:cubicBezTo>
                <a:cubicBezTo>
                  <a:pt x="250" y="18"/>
                  <a:pt x="260" y="23"/>
                  <a:pt x="269" y="29"/>
                </a:cubicBezTo>
                <a:cubicBezTo>
                  <a:pt x="278" y="36"/>
                  <a:pt x="287" y="43"/>
                  <a:pt x="295" y="51"/>
                </a:cubicBezTo>
                <a:cubicBezTo>
                  <a:pt x="303" y="59"/>
                  <a:pt x="310" y="67"/>
                  <a:pt x="316" y="77"/>
                </a:cubicBezTo>
                <a:cubicBezTo>
                  <a:pt x="323" y="86"/>
                  <a:pt x="328" y="96"/>
                  <a:pt x="332" y="108"/>
                </a:cubicBezTo>
                <a:cubicBezTo>
                  <a:pt x="337" y="118"/>
                  <a:pt x="340" y="129"/>
                  <a:pt x="342" y="140"/>
                </a:cubicBezTo>
                <a:cubicBezTo>
                  <a:pt x="344" y="151"/>
                  <a:pt x="345" y="162"/>
                  <a:pt x="345" y="173"/>
                </a:cubicBezTo>
                <a:close/>
              </a:path>
            </a:pathLst>
          </a:custGeom>
          <a:solidFill>
            <a:srgbClr val="F0E2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7838640" y="3116880"/>
            <a:ext cx="235872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VPC networking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7838640" y="3545640"/>
            <a:ext cx="343692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Firewall configurations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13315680" y="1587600"/>
            <a:ext cx="123480" cy="123480"/>
          </a:xfrm>
          <a:custGeom>
            <a:avLst/>
            <a:gdLst>
              <a:gd name="textAreaLeft" fmla="*/ 0 w 123480"/>
              <a:gd name="textAreaRight" fmla="*/ 124200 w 123480"/>
              <a:gd name="textAreaTop" fmla="*/ 0 h 123480"/>
              <a:gd name="textAreaBottom" fmla="*/ 124200 h 123480"/>
            </a:gdLst>
            <a:ahLst/>
            <a:cxnLst/>
            <a:rect l="textAreaLeft" t="textAreaTop" r="textAreaRight" b="textAreaBottom"/>
            <a:pathLst>
              <a:path w="345" h="345">
                <a:moveTo>
                  <a:pt x="345" y="172"/>
                </a:moveTo>
                <a:cubicBezTo>
                  <a:pt x="345" y="183"/>
                  <a:pt x="344" y="195"/>
                  <a:pt x="342" y="206"/>
                </a:cubicBezTo>
                <a:cubicBezTo>
                  <a:pt x="339" y="217"/>
                  <a:pt x="336" y="229"/>
                  <a:pt x="332" y="239"/>
                </a:cubicBezTo>
                <a:cubicBezTo>
                  <a:pt x="327" y="249"/>
                  <a:pt x="322" y="259"/>
                  <a:pt x="316" y="269"/>
                </a:cubicBezTo>
                <a:cubicBezTo>
                  <a:pt x="310" y="278"/>
                  <a:pt x="302" y="287"/>
                  <a:pt x="294" y="295"/>
                </a:cubicBezTo>
                <a:cubicBezTo>
                  <a:pt x="287" y="303"/>
                  <a:pt x="278" y="310"/>
                  <a:pt x="268" y="316"/>
                </a:cubicBezTo>
                <a:cubicBezTo>
                  <a:pt x="259" y="322"/>
                  <a:pt x="249" y="328"/>
                  <a:pt x="239" y="332"/>
                </a:cubicBezTo>
                <a:cubicBezTo>
                  <a:pt x="227" y="336"/>
                  <a:pt x="217" y="340"/>
                  <a:pt x="205" y="342"/>
                </a:cubicBezTo>
                <a:cubicBezTo>
                  <a:pt x="194" y="344"/>
                  <a:pt x="183" y="345"/>
                  <a:pt x="172" y="345"/>
                </a:cubicBezTo>
                <a:cubicBezTo>
                  <a:pt x="161" y="345"/>
                  <a:pt x="149" y="344"/>
                  <a:pt x="138" y="342"/>
                </a:cubicBezTo>
                <a:cubicBezTo>
                  <a:pt x="127" y="340"/>
                  <a:pt x="117" y="336"/>
                  <a:pt x="106" y="332"/>
                </a:cubicBezTo>
                <a:cubicBezTo>
                  <a:pt x="96" y="328"/>
                  <a:pt x="86" y="322"/>
                  <a:pt x="76" y="316"/>
                </a:cubicBezTo>
                <a:cubicBezTo>
                  <a:pt x="67" y="310"/>
                  <a:pt x="58" y="303"/>
                  <a:pt x="50" y="295"/>
                </a:cubicBezTo>
                <a:cubicBezTo>
                  <a:pt x="42" y="287"/>
                  <a:pt x="35" y="278"/>
                  <a:pt x="29" y="269"/>
                </a:cubicBezTo>
                <a:cubicBezTo>
                  <a:pt x="23" y="259"/>
                  <a:pt x="17" y="249"/>
                  <a:pt x="13" y="239"/>
                </a:cubicBezTo>
                <a:cubicBezTo>
                  <a:pt x="9" y="229"/>
                  <a:pt x="5" y="217"/>
                  <a:pt x="3" y="206"/>
                </a:cubicBezTo>
                <a:cubicBezTo>
                  <a:pt x="1" y="195"/>
                  <a:pt x="0" y="183"/>
                  <a:pt x="0" y="172"/>
                </a:cubicBezTo>
                <a:cubicBezTo>
                  <a:pt x="0" y="161"/>
                  <a:pt x="1" y="150"/>
                  <a:pt x="3" y="139"/>
                </a:cubicBezTo>
                <a:cubicBezTo>
                  <a:pt x="5" y="128"/>
                  <a:pt x="9" y="117"/>
                  <a:pt x="13" y="106"/>
                </a:cubicBezTo>
                <a:cubicBezTo>
                  <a:pt x="17" y="96"/>
                  <a:pt x="23" y="86"/>
                  <a:pt x="29" y="77"/>
                </a:cubicBezTo>
                <a:cubicBezTo>
                  <a:pt x="35" y="67"/>
                  <a:pt x="42" y="59"/>
                  <a:pt x="50" y="51"/>
                </a:cubicBezTo>
                <a:cubicBezTo>
                  <a:pt x="58" y="43"/>
                  <a:pt x="67" y="35"/>
                  <a:pt x="76" y="29"/>
                </a:cubicBezTo>
                <a:cubicBezTo>
                  <a:pt x="86" y="23"/>
                  <a:pt x="96" y="18"/>
                  <a:pt x="106" y="13"/>
                </a:cubicBezTo>
                <a:cubicBezTo>
                  <a:pt x="117" y="9"/>
                  <a:pt x="127" y="6"/>
                  <a:pt x="138" y="4"/>
                </a:cubicBezTo>
                <a:cubicBezTo>
                  <a:pt x="149" y="1"/>
                  <a:pt x="161" y="0"/>
                  <a:pt x="172" y="0"/>
                </a:cubicBezTo>
                <a:cubicBezTo>
                  <a:pt x="183" y="0"/>
                  <a:pt x="194" y="1"/>
                  <a:pt x="205" y="4"/>
                </a:cubicBezTo>
                <a:cubicBezTo>
                  <a:pt x="217" y="6"/>
                  <a:pt x="227" y="9"/>
                  <a:pt x="239" y="13"/>
                </a:cubicBezTo>
                <a:cubicBezTo>
                  <a:pt x="249" y="18"/>
                  <a:pt x="259" y="23"/>
                  <a:pt x="268" y="29"/>
                </a:cubicBezTo>
                <a:cubicBezTo>
                  <a:pt x="278" y="35"/>
                  <a:pt x="287" y="43"/>
                  <a:pt x="294" y="51"/>
                </a:cubicBezTo>
                <a:cubicBezTo>
                  <a:pt x="302" y="59"/>
                  <a:pt x="310" y="67"/>
                  <a:pt x="316" y="77"/>
                </a:cubicBezTo>
                <a:cubicBezTo>
                  <a:pt x="322" y="86"/>
                  <a:pt x="327" y="96"/>
                  <a:pt x="332" y="106"/>
                </a:cubicBezTo>
                <a:cubicBezTo>
                  <a:pt x="336" y="117"/>
                  <a:pt x="339" y="128"/>
                  <a:pt x="342" y="139"/>
                </a:cubicBezTo>
                <a:cubicBezTo>
                  <a:pt x="344" y="150"/>
                  <a:pt x="345" y="161"/>
                  <a:pt x="345" y="172"/>
                </a:cubicBezTo>
                <a:close/>
              </a:path>
            </a:pathLst>
          </a:custGeom>
          <a:solidFill>
            <a:srgbClr val="F0E2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13182480" y="612360"/>
            <a:ext cx="476064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3900" b="1" u="none" strike="noStrike">
                <a:solidFill>
                  <a:srgbClr val="FBF1E4"/>
                </a:solidFill>
                <a:effectLst/>
                <a:uFillTx/>
                <a:latin typeface="BeVietnam"/>
                <a:ea typeface="BeVietnam"/>
              </a:rPr>
              <a:t>My work included</a:t>
            </a:r>
            <a:endParaRPr lang="en-IN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13630320" y="1402560"/>
            <a:ext cx="337968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Troubleshooting cloud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13315680" y="2444760"/>
            <a:ext cx="123480" cy="123480"/>
          </a:xfrm>
          <a:custGeom>
            <a:avLst/>
            <a:gdLst>
              <a:gd name="textAreaLeft" fmla="*/ 0 w 123480"/>
              <a:gd name="textAreaRight" fmla="*/ 124200 w 123480"/>
              <a:gd name="textAreaTop" fmla="*/ 0 h 123480"/>
              <a:gd name="textAreaBottom" fmla="*/ 124200 h 123480"/>
            </a:gdLst>
            <a:ahLst/>
            <a:cxnLst/>
            <a:rect l="textAreaLeft" t="textAreaTop" r="textAreaRight" b="textAreaBottom"/>
            <a:pathLst>
              <a:path w="345" h="345">
                <a:moveTo>
                  <a:pt x="345" y="172"/>
                </a:moveTo>
                <a:cubicBezTo>
                  <a:pt x="345" y="184"/>
                  <a:pt x="344" y="195"/>
                  <a:pt x="342" y="206"/>
                </a:cubicBezTo>
                <a:cubicBezTo>
                  <a:pt x="339" y="217"/>
                  <a:pt x="336" y="228"/>
                  <a:pt x="332" y="238"/>
                </a:cubicBezTo>
                <a:cubicBezTo>
                  <a:pt x="327" y="250"/>
                  <a:pt x="322" y="260"/>
                  <a:pt x="316" y="269"/>
                </a:cubicBezTo>
                <a:cubicBezTo>
                  <a:pt x="310" y="278"/>
                  <a:pt x="302" y="287"/>
                  <a:pt x="294" y="295"/>
                </a:cubicBezTo>
                <a:cubicBezTo>
                  <a:pt x="287" y="303"/>
                  <a:pt x="278" y="310"/>
                  <a:pt x="268" y="316"/>
                </a:cubicBezTo>
                <a:cubicBezTo>
                  <a:pt x="259" y="323"/>
                  <a:pt x="249" y="328"/>
                  <a:pt x="239" y="332"/>
                </a:cubicBezTo>
                <a:cubicBezTo>
                  <a:pt x="227" y="337"/>
                  <a:pt x="217" y="340"/>
                  <a:pt x="205" y="342"/>
                </a:cubicBezTo>
                <a:cubicBezTo>
                  <a:pt x="194" y="344"/>
                  <a:pt x="183" y="345"/>
                  <a:pt x="172" y="345"/>
                </a:cubicBezTo>
                <a:cubicBezTo>
                  <a:pt x="161" y="345"/>
                  <a:pt x="149" y="344"/>
                  <a:pt x="138" y="342"/>
                </a:cubicBezTo>
                <a:cubicBezTo>
                  <a:pt x="127" y="340"/>
                  <a:pt x="117" y="337"/>
                  <a:pt x="106" y="332"/>
                </a:cubicBezTo>
                <a:cubicBezTo>
                  <a:pt x="96" y="328"/>
                  <a:pt x="86" y="323"/>
                  <a:pt x="76" y="316"/>
                </a:cubicBezTo>
                <a:cubicBezTo>
                  <a:pt x="67" y="310"/>
                  <a:pt x="58" y="303"/>
                  <a:pt x="50" y="295"/>
                </a:cubicBezTo>
                <a:cubicBezTo>
                  <a:pt x="42" y="287"/>
                  <a:pt x="35" y="278"/>
                  <a:pt x="29" y="269"/>
                </a:cubicBezTo>
                <a:cubicBezTo>
                  <a:pt x="23" y="260"/>
                  <a:pt x="17" y="250"/>
                  <a:pt x="13" y="238"/>
                </a:cubicBezTo>
                <a:cubicBezTo>
                  <a:pt x="9" y="228"/>
                  <a:pt x="5" y="217"/>
                  <a:pt x="3" y="206"/>
                </a:cubicBezTo>
                <a:cubicBezTo>
                  <a:pt x="1" y="195"/>
                  <a:pt x="0" y="184"/>
                  <a:pt x="0" y="172"/>
                </a:cubicBezTo>
                <a:cubicBezTo>
                  <a:pt x="0" y="161"/>
                  <a:pt x="1" y="150"/>
                  <a:pt x="3" y="139"/>
                </a:cubicBezTo>
                <a:cubicBezTo>
                  <a:pt x="5" y="128"/>
                  <a:pt x="9" y="117"/>
                  <a:pt x="13" y="107"/>
                </a:cubicBezTo>
                <a:cubicBezTo>
                  <a:pt x="17" y="96"/>
                  <a:pt x="23" y="86"/>
                  <a:pt x="29" y="77"/>
                </a:cubicBezTo>
                <a:cubicBezTo>
                  <a:pt x="35" y="68"/>
                  <a:pt x="42" y="59"/>
                  <a:pt x="50" y="51"/>
                </a:cubicBezTo>
                <a:cubicBezTo>
                  <a:pt x="58" y="43"/>
                  <a:pt x="67" y="36"/>
                  <a:pt x="76" y="29"/>
                </a:cubicBezTo>
                <a:cubicBezTo>
                  <a:pt x="86" y="23"/>
                  <a:pt x="96" y="18"/>
                  <a:pt x="106" y="14"/>
                </a:cubicBezTo>
                <a:cubicBezTo>
                  <a:pt x="117" y="9"/>
                  <a:pt x="127" y="6"/>
                  <a:pt x="138" y="4"/>
                </a:cubicBezTo>
                <a:cubicBezTo>
                  <a:pt x="149" y="2"/>
                  <a:pt x="161" y="0"/>
                  <a:pt x="172" y="0"/>
                </a:cubicBezTo>
                <a:cubicBezTo>
                  <a:pt x="183" y="0"/>
                  <a:pt x="194" y="2"/>
                  <a:pt x="205" y="4"/>
                </a:cubicBezTo>
                <a:cubicBezTo>
                  <a:pt x="217" y="6"/>
                  <a:pt x="227" y="9"/>
                  <a:pt x="239" y="14"/>
                </a:cubicBezTo>
                <a:cubicBezTo>
                  <a:pt x="249" y="18"/>
                  <a:pt x="259" y="23"/>
                  <a:pt x="268" y="29"/>
                </a:cubicBezTo>
                <a:cubicBezTo>
                  <a:pt x="278" y="36"/>
                  <a:pt x="287" y="43"/>
                  <a:pt x="294" y="51"/>
                </a:cubicBezTo>
                <a:cubicBezTo>
                  <a:pt x="302" y="59"/>
                  <a:pt x="310" y="68"/>
                  <a:pt x="316" y="77"/>
                </a:cubicBezTo>
                <a:cubicBezTo>
                  <a:pt x="322" y="86"/>
                  <a:pt x="327" y="96"/>
                  <a:pt x="332" y="107"/>
                </a:cubicBezTo>
                <a:cubicBezTo>
                  <a:pt x="336" y="117"/>
                  <a:pt x="339" y="128"/>
                  <a:pt x="342" y="139"/>
                </a:cubicBezTo>
                <a:cubicBezTo>
                  <a:pt x="344" y="150"/>
                  <a:pt x="345" y="161"/>
                  <a:pt x="345" y="172"/>
                </a:cubicBezTo>
                <a:close/>
              </a:path>
            </a:pathLst>
          </a:custGeom>
          <a:solidFill>
            <a:srgbClr val="F0E2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13630320" y="1830960"/>
            <a:ext cx="20592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infrastructure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13630320" y="2259720"/>
            <a:ext cx="347688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Configuring monitoring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13315680" y="3302280"/>
            <a:ext cx="123480" cy="123480"/>
          </a:xfrm>
          <a:custGeom>
            <a:avLst/>
            <a:gdLst>
              <a:gd name="textAreaLeft" fmla="*/ 0 w 123480"/>
              <a:gd name="textAreaRight" fmla="*/ 124200 w 123480"/>
              <a:gd name="textAreaTop" fmla="*/ 0 h 123480"/>
              <a:gd name="textAreaBottom" fmla="*/ 124200 h 123480"/>
            </a:gdLst>
            <a:ahLst/>
            <a:cxnLst/>
            <a:rect l="textAreaLeft" t="textAreaTop" r="textAreaRight" b="textAreaBottom"/>
            <a:pathLst>
              <a:path w="345" h="345">
                <a:moveTo>
                  <a:pt x="345" y="172"/>
                </a:moveTo>
                <a:cubicBezTo>
                  <a:pt x="345" y="183"/>
                  <a:pt x="344" y="194"/>
                  <a:pt x="342" y="205"/>
                </a:cubicBezTo>
                <a:cubicBezTo>
                  <a:pt x="339" y="216"/>
                  <a:pt x="336" y="227"/>
                  <a:pt x="332" y="238"/>
                </a:cubicBezTo>
                <a:cubicBezTo>
                  <a:pt x="327" y="248"/>
                  <a:pt x="322" y="258"/>
                  <a:pt x="316" y="268"/>
                </a:cubicBezTo>
                <a:cubicBezTo>
                  <a:pt x="310" y="278"/>
                  <a:pt x="302" y="286"/>
                  <a:pt x="294" y="294"/>
                </a:cubicBezTo>
                <a:cubicBezTo>
                  <a:pt x="287" y="302"/>
                  <a:pt x="278" y="309"/>
                  <a:pt x="268" y="316"/>
                </a:cubicBezTo>
                <a:cubicBezTo>
                  <a:pt x="259" y="322"/>
                  <a:pt x="249" y="327"/>
                  <a:pt x="239" y="332"/>
                </a:cubicBezTo>
                <a:cubicBezTo>
                  <a:pt x="227" y="336"/>
                  <a:pt x="217" y="339"/>
                  <a:pt x="205" y="341"/>
                </a:cubicBezTo>
                <a:cubicBezTo>
                  <a:pt x="194" y="344"/>
                  <a:pt x="183" y="345"/>
                  <a:pt x="172" y="345"/>
                </a:cubicBezTo>
                <a:cubicBezTo>
                  <a:pt x="161" y="345"/>
                  <a:pt x="149" y="344"/>
                  <a:pt x="138" y="341"/>
                </a:cubicBezTo>
                <a:cubicBezTo>
                  <a:pt x="127" y="339"/>
                  <a:pt x="117" y="336"/>
                  <a:pt x="106" y="332"/>
                </a:cubicBezTo>
                <a:cubicBezTo>
                  <a:pt x="96" y="327"/>
                  <a:pt x="86" y="322"/>
                  <a:pt x="76" y="316"/>
                </a:cubicBezTo>
                <a:cubicBezTo>
                  <a:pt x="67" y="309"/>
                  <a:pt x="58" y="302"/>
                  <a:pt x="50" y="294"/>
                </a:cubicBezTo>
                <a:cubicBezTo>
                  <a:pt x="42" y="286"/>
                  <a:pt x="35" y="278"/>
                  <a:pt x="29" y="268"/>
                </a:cubicBezTo>
                <a:cubicBezTo>
                  <a:pt x="23" y="258"/>
                  <a:pt x="17" y="248"/>
                  <a:pt x="13" y="238"/>
                </a:cubicBezTo>
                <a:cubicBezTo>
                  <a:pt x="9" y="227"/>
                  <a:pt x="5" y="216"/>
                  <a:pt x="3" y="205"/>
                </a:cubicBezTo>
                <a:cubicBezTo>
                  <a:pt x="1" y="194"/>
                  <a:pt x="0" y="183"/>
                  <a:pt x="0" y="172"/>
                </a:cubicBezTo>
                <a:cubicBezTo>
                  <a:pt x="0" y="160"/>
                  <a:pt x="1" y="149"/>
                  <a:pt x="3" y="138"/>
                </a:cubicBezTo>
                <a:cubicBezTo>
                  <a:pt x="5" y="127"/>
                  <a:pt x="9" y="116"/>
                  <a:pt x="13" y="106"/>
                </a:cubicBezTo>
                <a:cubicBezTo>
                  <a:pt x="17" y="95"/>
                  <a:pt x="23" y="86"/>
                  <a:pt x="29" y="76"/>
                </a:cubicBezTo>
                <a:cubicBezTo>
                  <a:pt x="35" y="67"/>
                  <a:pt x="42" y="58"/>
                  <a:pt x="50" y="50"/>
                </a:cubicBezTo>
                <a:cubicBezTo>
                  <a:pt x="58" y="42"/>
                  <a:pt x="67" y="35"/>
                  <a:pt x="76" y="29"/>
                </a:cubicBezTo>
                <a:cubicBezTo>
                  <a:pt x="86" y="22"/>
                  <a:pt x="96" y="17"/>
                  <a:pt x="106" y="13"/>
                </a:cubicBezTo>
                <a:cubicBezTo>
                  <a:pt x="117" y="8"/>
                  <a:pt x="127" y="5"/>
                  <a:pt x="138" y="3"/>
                </a:cubicBezTo>
                <a:cubicBezTo>
                  <a:pt x="149" y="1"/>
                  <a:pt x="161" y="0"/>
                  <a:pt x="172" y="0"/>
                </a:cubicBezTo>
                <a:cubicBezTo>
                  <a:pt x="183" y="0"/>
                  <a:pt x="194" y="1"/>
                  <a:pt x="205" y="3"/>
                </a:cubicBezTo>
                <a:cubicBezTo>
                  <a:pt x="217" y="5"/>
                  <a:pt x="227" y="8"/>
                  <a:pt x="239" y="13"/>
                </a:cubicBezTo>
                <a:cubicBezTo>
                  <a:pt x="249" y="17"/>
                  <a:pt x="259" y="22"/>
                  <a:pt x="268" y="29"/>
                </a:cubicBezTo>
                <a:cubicBezTo>
                  <a:pt x="278" y="35"/>
                  <a:pt x="287" y="42"/>
                  <a:pt x="294" y="50"/>
                </a:cubicBezTo>
                <a:cubicBezTo>
                  <a:pt x="302" y="58"/>
                  <a:pt x="310" y="67"/>
                  <a:pt x="316" y="76"/>
                </a:cubicBezTo>
                <a:cubicBezTo>
                  <a:pt x="322" y="86"/>
                  <a:pt x="327" y="95"/>
                  <a:pt x="332" y="106"/>
                </a:cubicBezTo>
                <a:cubicBezTo>
                  <a:pt x="336" y="116"/>
                  <a:pt x="339" y="127"/>
                  <a:pt x="342" y="138"/>
                </a:cubicBezTo>
                <a:cubicBezTo>
                  <a:pt x="344" y="149"/>
                  <a:pt x="345" y="160"/>
                  <a:pt x="345" y="172"/>
                </a:cubicBezTo>
                <a:close/>
              </a:path>
            </a:pathLst>
          </a:custGeom>
          <a:solidFill>
            <a:srgbClr val="F0E2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13630320" y="2688120"/>
            <a:ext cx="151956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and alerts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13630320" y="3116880"/>
            <a:ext cx="373392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Monitoring infrastructure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13315680" y="4159440"/>
            <a:ext cx="123480" cy="123480"/>
          </a:xfrm>
          <a:custGeom>
            <a:avLst/>
            <a:gdLst>
              <a:gd name="textAreaLeft" fmla="*/ 0 w 123480"/>
              <a:gd name="textAreaRight" fmla="*/ 124200 w 123480"/>
              <a:gd name="textAreaTop" fmla="*/ 0 h 123480"/>
              <a:gd name="textAreaBottom" fmla="*/ 124200 h 123480"/>
            </a:gdLst>
            <a:ahLst/>
            <a:cxnLst/>
            <a:rect l="textAreaLeft" t="textAreaTop" r="textAreaRight" b="textAreaBottom"/>
            <a:pathLst>
              <a:path w="345" h="345">
                <a:moveTo>
                  <a:pt x="345" y="172"/>
                </a:moveTo>
                <a:cubicBezTo>
                  <a:pt x="345" y="183"/>
                  <a:pt x="344" y="194"/>
                  <a:pt x="342" y="205"/>
                </a:cubicBezTo>
                <a:cubicBezTo>
                  <a:pt x="339" y="217"/>
                  <a:pt x="336" y="227"/>
                  <a:pt x="332" y="238"/>
                </a:cubicBezTo>
                <a:cubicBezTo>
                  <a:pt x="327" y="248"/>
                  <a:pt x="322" y="258"/>
                  <a:pt x="316" y="267"/>
                </a:cubicBezTo>
                <a:cubicBezTo>
                  <a:pt x="310" y="277"/>
                  <a:pt x="302" y="287"/>
                  <a:pt x="294" y="295"/>
                </a:cubicBezTo>
                <a:cubicBezTo>
                  <a:pt x="287" y="303"/>
                  <a:pt x="278" y="310"/>
                  <a:pt x="268" y="316"/>
                </a:cubicBezTo>
                <a:cubicBezTo>
                  <a:pt x="259" y="322"/>
                  <a:pt x="249" y="328"/>
                  <a:pt x="239" y="332"/>
                </a:cubicBezTo>
                <a:cubicBezTo>
                  <a:pt x="227" y="336"/>
                  <a:pt x="217" y="339"/>
                  <a:pt x="205" y="342"/>
                </a:cubicBezTo>
                <a:cubicBezTo>
                  <a:pt x="194" y="344"/>
                  <a:pt x="183" y="345"/>
                  <a:pt x="172" y="345"/>
                </a:cubicBezTo>
                <a:cubicBezTo>
                  <a:pt x="161" y="345"/>
                  <a:pt x="149" y="344"/>
                  <a:pt x="138" y="342"/>
                </a:cubicBezTo>
                <a:cubicBezTo>
                  <a:pt x="127" y="339"/>
                  <a:pt x="117" y="336"/>
                  <a:pt x="106" y="332"/>
                </a:cubicBezTo>
                <a:cubicBezTo>
                  <a:pt x="96" y="328"/>
                  <a:pt x="86" y="322"/>
                  <a:pt x="76" y="316"/>
                </a:cubicBezTo>
                <a:cubicBezTo>
                  <a:pt x="67" y="310"/>
                  <a:pt x="58" y="303"/>
                  <a:pt x="50" y="295"/>
                </a:cubicBezTo>
                <a:cubicBezTo>
                  <a:pt x="42" y="287"/>
                  <a:pt x="35" y="277"/>
                  <a:pt x="29" y="267"/>
                </a:cubicBezTo>
                <a:cubicBezTo>
                  <a:pt x="23" y="258"/>
                  <a:pt x="17" y="248"/>
                  <a:pt x="13" y="238"/>
                </a:cubicBezTo>
                <a:cubicBezTo>
                  <a:pt x="9" y="227"/>
                  <a:pt x="5" y="217"/>
                  <a:pt x="3" y="205"/>
                </a:cubicBezTo>
                <a:cubicBezTo>
                  <a:pt x="1" y="194"/>
                  <a:pt x="0" y="183"/>
                  <a:pt x="0" y="172"/>
                </a:cubicBezTo>
                <a:cubicBezTo>
                  <a:pt x="0" y="161"/>
                  <a:pt x="1" y="149"/>
                  <a:pt x="3" y="138"/>
                </a:cubicBezTo>
                <a:cubicBezTo>
                  <a:pt x="5" y="127"/>
                  <a:pt x="9" y="117"/>
                  <a:pt x="13" y="106"/>
                </a:cubicBezTo>
                <a:cubicBezTo>
                  <a:pt x="17" y="96"/>
                  <a:pt x="23" y="86"/>
                  <a:pt x="29" y="76"/>
                </a:cubicBezTo>
                <a:cubicBezTo>
                  <a:pt x="35" y="67"/>
                  <a:pt x="42" y="58"/>
                  <a:pt x="50" y="50"/>
                </a:cubicBezTo>
                <a:cubicBezTo>
                  <a:pt x="58" y="42"/>
                  <a:pt x="67" y="35"/>
                  <a:pt x="76" y="29"/>
                </a:cubicBezTo>
                <a:cubicBezTo>
                  <a:pt x="86" y="23"/>
                  <a:pt x="96" y="17"/>
                  <a:pt x="106" y="13"/>
                </a:cubicBezTo>
                <a:cubicBezTo>
                  <a:pt x="117" y="9"/>
                  <a:pt x="127" y="5"/>
                  <a:pt x="138" y="3"/>
                </a:cubicBezTo>
                <a:cubicBezTo>
                  <a:pt x="149" y="1"/>
                  <a:pt x="161" y="0"/>
                  <a:pt x="172" y="0"/>
                </a:cubicBezTo>
                <a:cubicBezTo>
                  <a:pt x="183" y="0"/>
                  <a:pt x="194" y="1"/>
                  <a:pt x="205" y="3"/>
                </a:cubicBezTo>
                <a:cubicBezTo>
                  <a:pt x="217" y="5"/>
                  <a:pt x="227" y="9"/>
                  <a:pt x="239" y="13"/>
                </a:cubicBezTo>
                <a:cubicBezTo>
                  <a:pt x="249" y="17"/>
                  <a:pt x="259" y="23"/>
                  <a:pt x="268" y="29"/>
                </a:cubicBezTo>
                <a:cubicBezTo>
                  <a:pt x="278" y="35"/>
                  <a:pt x="287" y="42"/>
                  <a:pt x="294" y="50"/>
                </a:cubicBezTo>
                <a:cubicBezTo>
                  <a:pt x="302" y="58"/>
                  <a:pt x="310" y="67"/>
                  <a:pt x="316" y="76"/>
                </a:cubicBezTo>
                <a:cubicBezTo>
                  <a:pt x="322" y="86"/>
                  <a:pt x="327" y="96"/>
                  <a:pt x="332" y="106"/>
                </a:cubicBezTo>
                <a:cubicBezTo>
                  <a:pt x="336" y="117"/>
                  <a:pt x="339" y="127"/>
                  <a:pt x="342" y="138"/>
                </a:cubicBezTo>
                <a:cubicBezTo>
                  <a:pt x="344" y="149"/>
                  <a:pt x="345" y="161"/>
                  <a:pt x="345" y="172"/>
                </a:cubicBezTo>
                <a:close/>
              </a:path>
            </a:pathLst>
          </a:custGeom>
          <a:solidFill>
            <a:srgbClr val="F0E2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13630320" y="3545640"/>
            <a:ext cx="101088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events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13630320" y="3974040"/>
            <a:ext cx="362916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Reviewing configuration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13315680" y="5016600"/>
            <a:ext cx="123480" cy="123480"/>
          </a:xfrm>
          <a:custGeom>
            <a:avLst/>
            <a:gdLst>
              <a:gd name="textAreaLeft" fmla="*/ 0 w 123480"/>
              <a:gd name="textAreaRight" fmla="*/ 124200 w 123480"/>
              <a:gd name="textAreaTop" fmla="*/ 0 h 123480"/>
              <a:gd name="textAreaBottom" fmla="*/ 124200 h 123480"/>
            </a:gdLst>
            <a:ahLst/>
            <a:cxnLst/>
            <a:rect l="textAreaLeft" t="textAreaTop" r="textAreaRight" b="textAreaBottom"/>
            <a:pathLst>
              <a:path w="345" h="345">
                <a:moveTo>
                  <a:pt x="345" y="172"/>
                </a:moveTo>
                <a:cubicBezTo>
                  <a:pt x="345" y="183"/>
                  <a:pt x="344" y="195"/>
                  <a:pt x="342" y="206"/>
                </a:cubicBezTo>
                <a:cubicBezTo>
                  <a:pt x="339" y="217"/>
                  <a:pt x="336" y="228"/>
                  <a:pt x="332" y="238"/>
                </a:cubicBezTo>
                <a:cubicBezTo>
                  <a:pt x="327" y="248"/>
                  <a:pt x="322" y="258"/>
                  <a:pt x="316" y="268"/>
                </a:cubicBezTo>
                <a:cubicBezTo>
                  <a:pt x="310" y="277"/>
                  <a:pt x="302" y="286"/>
                  <a:pt x="294" y="294"/>
                </a:cubicBezTo>
                <a:cubicBezTo>
                  <a:pt x="287" y="303"/>
                  <a:pt x="278" y="310"/>
                  <a:pt x="268" y="316"/>
                </a:cubicBezTo>
                <a:cubicBezTo>
                  <a:pt x="259" y="322"/>
                  <a:pt x="249" y="328"/>
                  <a:pt x="239" y="332"/>
                </a:cubicBezTo>
                <a:cubicBezTo>
                  <a:pt x="227" y="336"/>
                  <a:pt x="217" y="340"/>
                  <a:pt x="205" y="342"/>
                </a:cubicBezTo>
                <a:cubicBezTo>
                  <a:pt x="194" y="344"/>
                  <a:pt x="183" y="345"/>
                  <a:pt x="172" y="345"/>
                </a:cubicBezTo>
                <a:cubicBezTo>
                  <a:pt x="161" y="345"/>
                  <a:pt x="149" y="344"/>
                  <a:pt x="138" y="342"/>
                </a:cubicBezTo>
                <a:cubicBezTo>
                  <a:pt x="127" y="340"/>
                  <a:pt x="117" y="336"/>
                  <a:pt x="106" y="332"/>
                </a:cubicBezTo>
                <a:cubicBezTo>
                  <a:pt x="96" y="328"/>
                  <a:pt x="86" y="322"/>
                  <a:pt x="76" y="316"/>
                </a:cubicBezTo>
                <a:cubicBezTo>
                  <a:pt x="67" y="310"/>
                  <a:pt x="58" y="303"/>
                  <a:pt x="50" y="294"/>
                </a:cubicBezTo>
                <a:cubicBezTo>
                  <a:pt x="42" y="286"/>
                  <a:pt x="35" y="277"/>
                  <a:pt x="29" y="268"/>
                </a:cubicBezTo>
                <a:cubicBezTo>
                  <a:pt x="23" y="258"/>
                  <a:pt x="17" y="248"/>
                  <a:pt x="13" y="238"/>
                </a:cubicBezTo>
                <a:cubicBezTo>
                  <a:pt x="9" y="228"/>
                  <a:pt x="5" y="217"/>
                  <a:pt x="3" y="206"/>
                </a:cubicBezTo>
                <a:cubicBezTo>
                  <a:pt x="1" y="195"/>
                  <a:pt x="0" y="183"/>
                  <a:pt x="0" y="172"/>
                </a:cubicBezTo>
                <a:cubicBezTo>
                  <a:pt x="0" y="161"/>
                  <a:pt x="1" y="150"/>
                  <a:pt x="3" y="139"/>
                </a:cubicBezTo>
                <a:cubicBezTo>
                  <a:pt x="5" y="128"/>
                  <a:pt x="9" y="117"/>
                  <a:pt x="13" y="106"/>
                </a:cubicBezTo>
                <a:cubicBezTo>
                  <a:pt x="17" y="96"/>
                  <a:pt x="23" y="86"/>
                  <a:pt x="29" y="77"/>
                </a:cubicBezTo>
                <a:cubicBezTo>
                  <a:pt x="35" y="67"/>
                  <a:pt x="42" y="59"/>
                  <a:pt x="50" y="51"/>
                </a:cubicBezTo>
                <a:cubicBezTo>
                  <a:pt x="58" y="43"/>
                  <a:pt x="67" y="35"/>
                  <a:pt x="76" y="29"/>
                </a:cubicBezTo>
                <a:cubicBezTo>
                  <a:pt x="86" y="23"/>
                  <a:pt x="96" y="18"/>
                  <a:pt x="106" y="13"/>
                </a:cubicBezTo>
                <a:cubicBezTo>
                  <a:pt x="117" y="9"/>
                  <a:pt x="127" y="6"/>
                  <a:pt x="138" y="4"/>
                </a:cubicBezTo>
                <a:cubicBezTo>
                  <a:pt x="149" y="1"/>
                  <a:pt x="161" y="0"/>
                  <a:pt x="172" y="0"/>
                </a:cubicBezTo>
                <a:cubicBezTo>
                  <a:pt x="183" y="0"/>
                  <a:pt x="194" y="1"/>
                  <a:pt x="205" y="4"/>
                </a:cubicBezTo>
                <a:cubicBezTo>
                  <a:pt x="217" y="6"/>
                  <a:pt x="227" y="9"/>
                  <a:pt x="239" y="13"/>
                </a:cubicBezTo>
                <a:cubicBezTo>
                  <a:pt x="249" y="18"/>
                  <a:pt x="259" y="23"/>
                  <a:pt x="268" y="29"/>
                </a:cubicBezTo>
                <a:cubicBezTo>
                  <a:pt x="278" y="35"/>
                  <a:pt x="287" y="43"/>
                  <a:pt x="294" y="51"/>
                </a:cubicBezTo>
                <a:cubicBezTo>
                  <a:pt x="302" y="59"/>
                  <a:pt x="310" y="67"/>
                  <a:pt x="316" y="77"/>
                </a:cubicBezTo>
                <a:cubicBezTo>
                  <a:pt x="322" y="86"/>
                  <a:pt x="327" y="96"/>
                  <a:pt x="332" y="106"/>
                </a:cubicBezTo>
                <a:cubicBezTo>
                  <a:pt x="336" y="117"/>
                  <a:pt x="339" y="128"/>
                  <a:pt x="342" y="139"/>
                </a:cubicBezTo>
                <a:cubicBezTo>
                  <a:pt x="344" y="150"/>
                  <a:pt x="345" y="161"/>
                  <a:pt x="345" y="172"/>
                </a:cubicBezTo>
                <a:close/>
              </a:path>
            </a:pathLst>
          </a:custGeom>
          <a:solidFill>
            <a:srgbClr val="F0E2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3630320" y="4402800"/>
            <a:ext cx="12938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changes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13630320" y="4831560"/>
            <a:ext cx="31428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Understanding cloud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12486960" y="0"/>
            <a:ext cx="18000" cy="10285920"/>
          </a:xfrm>
          <a:custGeom>
            <a:avLst/>
            <a:gdLst>
              <a:gd name="textAreaLeft" fmla="*/ 0 w 18000"/>
              <a:gd name="textAreaRight" fmla="*/ 18720 w 1800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2" h="28574">
                <a:moveTo>
                  <a:pt x="0" y="0"/>
                </a:moveTo>
                <a:lnTo>
                  <a:pt x="52" y="0"/>
                </a:lnTo>
                <a:lnTo>
                  <a:pt x="52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solidFill>
            <a:srgbClr val="2F5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0" y="0"/>
            <a:ext cx="6703920" cy="10285920"/>
          </a:xfrm>
          <a:custGeom>
            <a:avLst/>
            <a:gdLst>
              <a:gd name="textAreaLeft" fmla="*/ 0 w 6703920"/>
              <a:gd name="textAreaRight" fmla="*/ 6704640 w 670392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18624" h="28574">
                <a:moveTo>
                  <a:pt x="0" y="0"/>
                </a:moveTo>
                <a:lnTo>
                  <a:pt x="18624" y="0"/>
                </a:lnTo>
                <a:lnTo>
                  <a:pt x="18624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12486960" y="0"/>
            <a:ext cx="18000" cy="10285920"/>
          </a:xfrm>
          <a:custGeom>
            <a:avLst/>
            <a:gdLst>
              <a:gd name="textAreaLeft" fmla="*/ 0 w 18000"/>
              <a:gd name="textAreaRight" fmla="*/ 18720 w 1800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2" h="28574">
                <a:moveTo>
                  <a:pt x="0" y="0"/>
                </a:moveTo>
                <a:lnTo>
                  <a:pt x="52" y="0"/>
                </a:lnTo>
                <a:lnTo>
                  <a:pt x="52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13630320" y="5259960"/>
            <a:ext cx="273456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operational issues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>
            <a:off x="0" y="0"/>
            <a:ext cx="18287280" cy="10286280"/>
          </a:xfrm>
          <a:custGeom>
            <a:avLst/>
            <a:gdLst>
              <a:gd name="textAreaLeft" fmla="*/ 0 w 18287280"/>
              <a:gd name="textAreaRight" fmla="*/ 18288000 w 18287280"/>
              <a:gd name="textAreaTop" fmla="*/ 0 h 10286280"/>
              <a:gd name="textAreaBottom" fmla="*/ 10287000 h 10286280"/>
            </a:gdLst>
            <a:ahLst/>
            <a:cxnLst/>
            <a:rect l="textAreaLeft" t="textAreaTop" r="textAreaRight" b="textAreaBottom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solidFill>
            <a:srgbClr val="22060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solidFill>
            <a:srgbClr val="3A0C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721800" y="834120"/>
            <a:ext cx="187812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729" b="0" u="none" strike="noStrike">
                <a:solidFill>
                  <a:srgbClr val="B8F03A"/>
                </a:solidFill>
                <a:effectLst/>
                <a:uFillTx/>
                <a:latin typeface="arial"/>
                <a:ea typeface="arial"/>
              </a:rPr>
              <a:t>EVENT VISIBILITY</a:t>
            </a:r>
            <a:endParaRPr lang="en-IN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685800" y="866880"/>
            <a:ext cx="10680480" cy="17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8700" b="0" u="none" strike="noStrike">
                <a:solidFill>
                  <a:srgbClr val="FBF1E4"/>
                </a:solidFill>
                <a:effectLst/>
                <a:uFillTx/>
                <a:latin typeface="Saira"/>
                <a:ea typeface="Saira"/>
              </a:rPr>
              <a:t>MONITORING MADE</a:t>
            </a:r>
            <a:endParaRPr lang="en-IN" sz="8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685800" y="1676160"/>
            <a:ext cx="9210240" cy="17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8700" b="0" u="none" strike="noStrike">
                <a:solidFill>
                  <a:srgbClr val="B8F03A"/>
                </a:solidFill>
                <a:effectLst/>
                <a:uFillTx/>
                <a:latin typeface="Saira"/>
                <a:ea typeface="Saira"/>
              </a:rPr>
              <a:t>CHANGE VISIBLE</a:t>
            </a:r>
            <a:endParaRPr lang="en-IN" sz="8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685440" y="3886920"/>
            <a:ext cx="8227440" cy="5713200"/>
          </a:xfrm>
          <a:custGeom>
            <a:avLst/>
            <a:gdLst>
              <a:gd name="textAreaLeft" fmla="*/ 0 w 8227440"/>
              <a:gd name="textAreaRight" fmla="*/ 8228160 w 8227440"/>
              <a:gd name="textAreaTop" fmla="*/ 0 h 5713200"/>
              <a:gd name="textAreaBottom" fmla="*/ 5713920 h 5713200"/>
            </a:gdLst>
            <a:ahLst/>
            <a:cxnLst/>
            <a:rect l="textAreaLeft" t="textAreaTop" r="textAreaRight" b="textAreaBottom"/>
            <a:pathLst>
              <a:path w="22856" h="15872">
                <a:moveTo>
                  <a:pt x="0" y="0"/>
                </a:moveTo>
                <a:lnTo>
                  <a:pt x="22856" y="0"/>
                </a:lnTo>
                <a:lnTo>
                  <a:pt x="22856" y="15872"/>
                </a:lnTo>
                <a:lnTo>
                  <a:pt x="0" y="15872"/>
                </a:lnTo>
                <a:lnTo>
                  <a:pt x="0" y="0"/>
                </a:lnTo>
                <a:close/>
              </a:path>
            </a:pathLst>
          </a:custGeom>
          <a:solidFill>
            <a:srgbClr val="2F5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685800" y="3120120"/>
            <a:ext cx="1133316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Monitoring helped identify infrastructure, security and configuration events.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1053720" y="5059800"/>
            <a:ext cx="123480" cy="123480"/>
          </a:xfrm>
          <a:custGeom>
            <a:avLst/>
            <a:gdLst>
              <a:gd name="textAreaLeft" fmla="*/ 0 w 123480"/>
              <a:gd name="textAreaRight" fmla="*/ 124200 w 123480"/>
              <a:gd name="textAreaTop" fmla="*/ 0 h 123480"/>
              <a:gd name="textAreaBottom" fmla="*/ 124200 h 123480"/>
            </a:gdLst>
            <a:ahLst/>
            <a:cxnLst/>
            <a:rect l="textAreaLeft" t="textAreaTop" r="textAreaRight" b="textAreaBottom"/>
            <a:pathLst>
              <a:path w="345" h="345">
                <a:moveTo>
                  <a:pt x="345" y="172"/>
                </a:moveTo>
                <a:cubicBezTo>
                  <a:pt x="345" y="183"/>
                  <a:pt x="344" y="194"/>
                  <a:pt x="342" y="205"/>
                </a:cubicBezTo>
                <a:cubicBezTo>
                  <a:pt x="340" y="216"/>
                  <a:pt x="337" y="227"/>
                  <a:pt x="332" y="238"/>
                </a:cubicBezTo>
                <a:cubicBezTo>
                  <a:pt x="328" y="248"/>
                  <a:pt x="323" y="258"/>
                  <a:pt x="316" y="267"/>
                </a:cubicBezTo>
                <a:cubicBezTo>
                  <a:pt x="310" y="277"/>
                  <a:pt x="303" y="285"/>
                  <a:pt x="295" y="293"/>
                </a:cubicBezTo>
                <a:cubicBezTo>
                  <a:pt x="287" y="301"/>
                  <a:pt x="278" y="308"/>
                  <a:pt x="269" y="315"/>
                </a:cubicBezTo>
                <a:cubicBezTo>
                  <a:pt x="260" y="321"/>
                  <a:pt x="250" y="327"/>
                  <a:pt x="239" y="332"/>
                </a:cubicBezTo>
                <a:cubicBezTo>
                  <a:pt x="229" y="336"/>
                  <a:pt x="218" y="339"/>
                  <a:pt x="207" y="341"/>
                </a:cubicBezTo>
                <a:cubicBezTo>
                  <a:pt x="196" y="344"/>
                  <a:pt x="185" y="345"/>
                  <a:pt x="173" y="345"/>
                </a:cubicBezTo>
                <a:cubicBezTo>
                  <a:pt x="162" y="345"/>
                  <a:pt x="151" y="344"/>
                  <a:pt x="140" y="341"/>
                </a:cubicBezTo>
                <a:cubicBezTo>
                  <a:pt x="129" y="339"/>
                  <a:pt x="118" y="336"/>
                  <a:pt x="108" y="332"/>
                </a:cubicBezTo>
                <a:cubicBezTo>
                  <a:pt x="97" y="327"/>
                  <a:pt x="87" y="321"/>
                  <a:pt x="78" y="315"/>
                </a:cubicBezTo>
                <a:cubicBezTo>
                  <a:pt x="68" y="308"/>
                  <a:pt x="60" y="301"/>
                  <a:pt x="52" y="293"/>
                </a:cubicBezTo>
                <a:cubicBezTo>
                  <a:pt x="44" y="285"/>
                  <a:pt x="37" y="277"/>
                  <a:pt x="29" y="267"/>
                </a:cubicBezTo>
                <a:cubicBezTo>
                  <a:pt x="23" y="258"/>
                  <a:pt x="18" y="248"/>
                  <a:pt x="14" y="238"/>
                </a:cubicBezTo>
                <a:cubicBezTo>
                  <a:pt x="9" y="227"/>
                  <a:pt x="6" y="216"/>
                  <a:pt x="4" y="205"/>
                </a:cubicBezTo>
                <a:cubicBezTo>
                  <a:pt x="2" y="194"/>
                  <a:pt x="0" y="183"/>
                  <a:pt x="0" y="172"/>
                </a:cubicBezTo>
                <a:cubicBezTo>
                  <a:pt x="0" y="160"/>
                  <a:pt x="2" y="149"/>
                  <a:pt x="4" y="138"/>
                </a:cubicBezTo>
                <a:cubicBezTo>
                  <a:pt x="6" y="127"/>
                  <a:pt x="9" y="116"/>
                  <a:pt x="14" y="106"/>
                </a:cubicBezTo>
                <a:cubicBezTo>
                  <a:pt x="18" y="95"/>
                  <a:pt x="23" y="86"/>
                  <a:pt x="29" y="76"/>
                </a:cubicBezTo>
                <a:cubicBezTo>
                  <a:pt x="37" y="67"/>
                  <a:pt x="44" y="58"/>
                  <a:pt x="52" y="50"/>
                </a:cubicBezTo>
                <a:cubicBezTo>
                  <a:pt x="60" y="42"/>
                  <a:pt x="68" y="35"/>
                  <a:pt x="78" y="29"/>
                </a:cubicBezTo>
                <a:cubicBezTo>
                  <a:pt x="87" y="22"/>
                  <a:pt x="97" y="17"/>
                  <a:pt x="108" y="13"/>
                </a:cubicBezTo>
                <a:cubicBezTo>
                  <a:pt x="118" y="8"/>
                  <a:pt x="129" y="5"/>
                  <a:pt x="140" y="3"/>
                </a:cubicBezTo>
                <a:cubicBezTo>
                  <a:pt x="151" y="1"/>
                  <a:pt x="162" y="0"/>
                  <a:pt x="173" y="0"/>
                </a:cubicBezTo>
                <a:cubicBezTo>
                  <a:pt x="185" y="0"/>
                  <a:pt x="196" y="1"/>
                  <a:pt x="207" y="3"/>
                </a:cubicBezTo>
                <a:cubicBezTo>
                  <a:pt x="218" y="5"/>
                  <a:pt x="229" y="8"/>
                  <a:pt x="239" y="13"/>
                </a:cubicBezTo>
                <a:cubicBezTo>
                  <a:pt x="250" y="17"/>
                  <a:pt x="260" y="22"/>
                  <a:pt x="269" y="29"/>
                </a:cubicBezTo>
                <a:cubicBezTo>
                  <a:pt x="278" y="35"/>
                  <a:pt x="287" y="42"/>
                  <a:pt x="295" y="50"/>
                </a:cubicBezTo>
                <a:cubicBezTo>
                  <a:pt x="303" y="58"/>
                  <a:pt x="310" y="67"/>
                  <a:pt x="316" y="76"/>
                </a:cubicBezTo>
                <a:cubicBezTo>
                  <a:pt x="323" y="86"/>
                  <a:pt x="328" y="95"/>
                  <a:pt x="332" y="106"/>
                </a:cubicBezTo>
                <a:cubicBezTo>
                  <a:pt x="337" y="116"/>
                  <a:pt x="340" y="127"/>
                  <a:pt x="342" y="138"/>
                </a:cubicBezTo>
                <a:cubicBezTo>
                  <a:pt x="344" y="149"/>
                  <a:pt x="345" y="160"/>
                  <a:pt x="345" y="17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1568520" y="3904560"/>
            <a:ext cx="575820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3900" b="1" u="none" strike="noStrike">
                <a:solidFill>
                  <a:srgbClr val="FFFFFF"/>
                </a:solidFill>
                <a:effectLst/>
                <a:uFillTx/>
                <a:latin typeface="BeVietnam"/>
                <a:ea typeface="BeVietnam"/>
              </a:rPr>
              <a:t>Infrastructure events</a:t>
            </a:r>
            <a:endParaRPr lang="en-IN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1053720" y="5488200"/>
            <a:ext cx="123480" cy="123480"/>
          </a:xfrm>
          <a:custGeom>
            <a:avLst/>
            <a:gdLst>
              <a:gd name="textAreaLeft" fmla="*/ 0 w 123480"/>
              <a:gd name="textAreaRight" fmla="*/ 124200 w 123480"/>
              <a:gd name="textAreaTop" fmla="*/ 0 h 123480"/>
              <a:gd name="textAreaBottom" fmla="*/ 124200 h 123480"/>
            </a:gdLst>
            <a:ahLst/>
            <a:cxnLst/>
            <a:rect l="textAreaLeft" t="textAreaTop" r="textAreaRight" b="textAreaBottom"/>
            <a:pathLst>
              <a:path w="345" h="345">
                <a:moveTo>
                  <a:pt x="345" y="173"/>
                </a:moveTo>
                <a:cubicBezTo>
                  <a:pt x="345" y="185"/>
                  <a:pt x="344" y="196"/>
                  <a:pt x="342" y="207"/>
                </a:cubicBezTo>
                <a:cubicBezTo>
                  <a:pt x="340" y="218"/>
                  <a:pt x="337" y="229"/>
                  <a:pt x="332" y="239"/>
                </a:cubicBezTo>
                <a:cubicBezTo>
                  <a:pt x="328" y="250"/>
                  <a:pt x="323" y="259"/>
                  <a:pt x="316" y="269"/>
                </a:cubicBezTo>
                <a:cubicBezTo>
                  <a:pt x="310" y="278"/>
                  <a:pt x="303" y="287"/>
                  <a:pt x="295" y="295"/>
                </a:cubicBezTo>
                <a:cubicBezTo>
                  <a:pt x="287" y="303"/>
                  <a:pt x="278" y="310"/>
                  <a:pt x="269" y="316"/>
                </a:cubicBezTo>
                <a:cubicBezTo>
                  <a:pt x="260" y="323"/>
                  <a:pt x="250" y="328"/>
                  <a:pt x="239" y="332"/>
                </a:cubicBezTo>
                <a:cubicBezTo>
                  <a:pt x="229" y="337"/>
                  <a:pt x="218" y="340"/>
                  <a:pt x="207" y="342"/>
                </a:cubicBezTo>
                <a:cubicBezTo>
                  <a:pt x="196" y="344"/>
                  <a:pt x="185" y="345"/>
                  <a:pt x="173" y="345"/>
                </a:cubicBezTo>
                <a:cubicBezTo>
                  <a:pt x="162" y="345"/>
                  <a:pt x="151" y="344"/>
                  <a:pt x="140" y="342"/>
                </a:cubicBezTo>
                <a:cubicBezTo>
                  <a:pt x="129" y="340"/>
                  <a:pt x="118" y="337"/>
                  <a:pt x="108" y="332"/>
                </a:cubicBezTo>
                <a:cubicBezTo>
                  <a:pt x="97" y="328"/>
                  <a:pt x="87" y="323"/>
                  <a:pt x="78" y="316"/>
                </a:cubicBezTo>
                <a:cubicBezTo>
                  <a:pt x="68" y="310"/>
                  <a:pt x="60" y="303"/>
                  <a:pt x="52" y="295"/>
                </a:cubicBezTo>
                <a:cubicBezTo>
                  <a:pt x="44" y="287"/>
                  <a:pt x="37" y="278"/>
                  <a:pt x="29" y="269"/>
                </a:cubicBezTo>
                <a:cubicBezTo>
                  <a:pt x="23" y="259"/>
                  <a:pt x="18" y="250"/>
                  <a:pt x="14" y="239"/>
                </a:cubicBezTo>
                <a:cubicBezTo>
                  <a:pt x="9" y="229"/>
                  <a:pt x="6" y="218"/>
                  <a:pt x="4" y="207"/>
                </a:cubicBezTo>
                <a:cubicBezTo>
                  <a:pt x="2" y="196"/>
                  <a:pt x="0" y="185"/>
                  <a:pt x="0" y="173"/>
                </a:cubicBezTo>
                <a:cubicBezTo>
                  <a:pt x="0" y="161"/>
                  <a:pt x="2" y="150"/>
                  <a:pt x="4" y="139"/>
                </a:cubicBezTo>
                <a:cubicBezTo>
                  <a:pt x="6" y="128"/>
                  <a:pt x="9" y="117"/>
                  <a:pt x="14" y="107"/>
                </a:cubicBezTo>
                <a:cubicBezTo>
                  <a:pt x="18" y="96"/>
                  <a:pt x="23" y="86"/>
                  <a:pt x="29" y="77"/>
                </a:cubicBezTo>
                <a:cubicBezTo>
                  <a:pt x="37" y="67"/>
                  <a:pt x="44" y="59"/>
                  <a:pt x="52" y="51"/>
                </a:cubicBezTo>
                <a:cubicBezTo>
                  <a:pt x="60" y="43"/>
                  <a:pt x="68" y="36"/>
                  <a:pt x="78" y="29"/>
                </a:cubicBezTo>
                <a:cubicBezTo>
                  <a:pt x="87" y="23"/>
                  <a:pt x="97" y="18"/>
                  <a:pt x="108" y="13"/>
                </a:cubicBezTo>
                <a:cubicBezTo>
                  <a:pt x="118" y="9"/>
                  <a:pt x="129" y="6"/>
                  <a:pt x="140" y="4"/>
                </a:cubicBezTo>
                <a:cubicBezTo>
                  <a:pt x="151" y="1"/>
                  <a:pt x="162" y="0"/>
                  <a:pt x="173" y="0"/>
                </a:cubicBezTo>
                <a:cubicBezTo>
                  <a:pt x="185" y="0"/>
                  <a:pt x="196" y="1"/>
                  <a:pt x="207" y="4"/>
                </a:cubicBezTo>
                <a:cubicBezTo>
                  <a:pt x="218" y="6"/>
                  <a:pt x="229" y="9"/>
                  <a:pt x="239" y="13"/>
                </a:cubicBezTo>
                <a:cubicBezTo>
                  <a:pt x="250" y="18"/>
                  <a:pt x="260" y="23"/>
                  <a:pt x="269" y="29"/>
                </a:cubicBezTo>
                <a:cubicBezTo>
                  <a:pt x="278" y="36"/>
                  <a:pt x="287" y="43"/>
                  <a:pt x="295" y="51"/>
                </a:cubicBezTo>
                <a:cubicBezTo>
                  <a:pt x="303" y="59"/>
                  <a:pt x="310" y="67"/>
                  <a:pt x="316" y="77"/>
                </a:cubicBezTo>
                <a:cubicBezTo>
                  <a:pt x="323" y="86"/>
                  <a:pt x="328" y="96"/>
                  <a:pt x="332" y="107"/>
                </a:cubicBezTo>
                <a:cubicBezTo>
                  <a:pt x="337" y="117"/>
                  <a:pt x="340" y="128"/>
                  <a:pt x="342" y="139"/>
                </a:cubicBezTo>
                <a:cubicBezTo>
                  <a:pt x="344" y="150"/>
                  <a:pt x="345" y="161"/>
                  <a:pt x="345" y="17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1368360" y="4874400"/>
            <a:ext cx="452088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FFFFF"/>
                </a:solidFill>
                <a:effectLst/>
                <a:uFillTx/>
                <a:latin typeface="BeVietnam"/>
                <a:ea typeface="BeVietnam"/>
              </a:rPr>
              <a:t>VM start, VM stop, VM deletion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1053720" y="5916960"/>
            <a:ext cx="123480" cy="123480"/>
          </a:xfrm>
          <a:custGeom>
            <a:avLst/>
            <a:gdLst>
              <a:gd name="textAreaLeft" fmla="*/ 0 w 123480"/>
              <a:gd name="textAreaRight" fmla="*/ 124200 w 123480"/>
              <a:gd name="textAreaTop" fmla="*/ 0 h 123480"/>
              <a:gd name="textAreaBottom" fmla="*/ 124200 h 123480"/>
            </a:gdLst>
            <a:ahLst/>
            <a:cxnLst/>
            <a:rect l="textAreaLeft" t="textAreaTop" r="textAreaRight" b="textAreaBottom"/>
            <a:pathLst>
              <a:path w="345" h="345">
                <a:moveTo>
                  <a:pt x="345" y="172"/>
                </a:moveTo>
                <a:cubicBezTo>
                  <a:pt x="345" y="183"/>
                  <a:pt x="344" y="194"/>
                  <a:pt x="342" y="206"/>
                </a:cubicBezTo>
                <a:cubicBezTo>
                  <a:pt x="340" y="217"/>
                  <a:pt x="337" y="227"/>
                  <a:pt x="332" y="238"/>
                </a:cubicBezTo>
                <a:cubicBezTo>
                  <a:pt x="328" y="248"/>
                  <a:pt x="323" y="258"/>
                  <a:pt x="316" y="267"/>
                </a:cubicBezTo>
                <a:cubicBezTo>
                  <a:pt x="310" y="277"/>
                  <a:pt x="303" y="286"/>
                  <a:pt x="295" y="294"/>
                </a:cubicBezTo>
                <a:cubicBezTo>
                  <a:pt x="287" y="302"/>
                  <a:pt x="278" y="309"/>
                  <a:pt x="269" y="315"/>
                </a:cubicBezTo>
                <a:cubicBezTo>
                  <a:pt x="260" y="321"/>
                  <a:pt x="250" y="327"/>
                  <a:pt x="239" y="331"/>
                </a:cubicBezTo>
                <a:cubicBezTo>
                  <a:pt x="229" y="335"/>
                  <a:pt x="218" y="338"/>
                  <a:pt x="207" y="341"/>
                </a:cubicBezTo>
                <a:cubicBezTo>
                  <a:pt x="196" y="344"/>
                  <a:pt x="185" y="345"/>
                  <a:pt x="173" y="345"/>
                </a:cubicBezTo>
                <a:cubicBezTo>
                  <a:pt x="162" y="345"/>
                  <a:pt x="151" y="344"/>
                  <a:pt x="140" y="341"/>
                </a:cubicBezTo>
                <a:cubicBezTo>
                  <a:pt x="129" y="338"/>
                  <a:pt x="118" y="335"/>
                  <a:pt x="108" y="331"/>
                </a:cubicBezTo>
                <a:cubicBezTo>
                  <a:pt x="97" y="327"/>
                  <a:pt x="87" y="321"/>
                  <a:pt x="78" y="315"/>
                </a:cubicBezTo>
                <a:cubicBezTo>
                  <a:pt x="68" y="309"/>
                  <a:pt x="60" y="302"/>
                  <a:pt x="52" y="294"/>
                </a:cubicBezTo>
                <a:cubicBezTo>
                  <a:pt x="44" y="286"/>
                  <a:pt x="37" y="277"/>
                  <a:pt x="29" y="267"/>
                </a:cubicBezTo>
                <a:cubicBezTo>
                  <a:pt x="23" y="258"/>
                  <a:pt x="18" y="248"/>
                  <a:pt x="14" y="238"/>
                </a:cubicBezTo>
                <a:cubicBezTo>
                  <a:pt x="9" y="227"/>
                  <a:pt x="6" y="217"/>
                  <a:pt x="4" y="206"/>
                </a:cubicBezTo>
                <a:cubicBezTo>
                  <a:pt x="2" y="194"/>
                  <a:pt x="0" y="183"/>
                  <a:pt x="0" y="172"/>
                </a:cubicBezTo>
                <a:cubicBezTo>
                  <a:pt x="0" y="161"/>
                  <a:pt x="2" y="149"/>
                  <a:pt x="4" y="138"/>
                </a:cubicBezTo>
                <a:cubicBezTo>
                  <a:pt x="6" y="127"/>
                  <a:pt x="9" y="117"/>
                  <a:pt x="14" y="106"/>
                </a:cubicBezTo>
                <a:cubicBezTo>
                  <a:pt x="18" y="96"/>
                  <a:pt x="23" y="86"/>
                  <a:pt x="29" y="76"/>
                </a:cubicBezTo>
                <a:cubicBezTo>
                  <a:pt x="37" y="67"/>
                  <a:pt x="44" y="58"/>
                  <a:pt x="52" y="50"/>
                </a:cubicBezTo>
                <a:cubicBezTo>
                  <a:pt x="60" y="42"/>
                  <a:pt x="68" y="35"/>
                  <a:pt x="78" y="29"/>
                </a:cubicBezTo>
                <a:cubicBezTo>
                  <a:pt x="87" y="23"/>
                  <a:pt x="97" y="17"/>
                  <a:pt x="108" y="13"/>
                </a:cubicBezTo>
                <a:cubicBezTo>
                  <a:pt x="118" y="9"/>
                  <a:pt x="129" y="5"/>
                  <a:pt x="140" y="3"/>
                </a:cubicBezTo>
                <a:cubicBezTo>
                  <a:pt x="151" y="1"/>
                  <a:pt x="162" y="0"/>
                  <a:pt x="173" y="0"/>
                </a:cubicBezTo>
                <a:cubicBezTo>
                  <a:pt x="185" y="0"/>
                  <a:pt x="196" y="1"/>
                  <a:pt x="207" y="3"/>
                </a:cubicBezTo>
                <a:cubicBezTo>
                  <a:pt x="218" y="5"/>
                  <a:pt x="229" y="9"/>
                  <a:pt x="239" y="13"/>
                </a:cubicBezTo>
                <a:cubicBezTo>
                  <a:pt x="250" y="17"/>
                  <a:pt x="260" y="23"/>
                  <a:pt x="269" y="29"/>
                </a:cubicBezTo>
                <a:cubicBezTo>
                  <a:pt x="278" y="35"/>
                  <a:pt x="287" y="42"/>
                  <a:pt x="295" y="50"/>
                </a:cubicBezTo>
                <a:cubicBezTo>
                  <a:pt x="303" y="58"/>
                  <a:pt x="310" y="67"/>
                  <a:pt x="316" y="76"/>
                </a:cubicBezTo>
                <a:cubicBezTo>
                  <a:pt x="323" y="86"/>
                  <a:pt x="328" y="96"/>
                  <a:pt x="332" y="106"/>
                </a:cubicBezTo>
                <a:cubicBezTo>
                  <a:pt x="337" y="117"/>
                  <a:pt x="340" y="127"/>
                  <a:pt x="342" y="138"/>
                </a:cubicBezTo>
                <a:cubicBezTo>
                  <a:pt x="344" y="149"/>
                  <a:pt x="345" y="161"/>
                  <a:pt x="345" y="17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1368360" y="5303160"/>
            <a:ext cx="252792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FFFFF"/>
                </a:solidFill>
                <a:effectLst/>
                <a:uFillTx/>
                <a:latin typeface="BeVietnam"/>
                <a:ea typeface="BeVietnam"/>
              </a:rPr>
              <a:t>Instance restarts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1053720" y="6345720"/>
            <a:ext cx="123480" cy="123480"/>
          </a:xfrm>
          <a:custGeom>
            <a:avLst/>
            <a:gdLst>
              <a:gd name="textAreaLeft" fmla="*/ 0 w 123480"/>
              <a:gd name="textAreaRight" fmla="*/ 124200 w 123480"/>
              <a:gd name="textAreaTop" fmla="*/ 0 h 123480"/>
              <a:gd name="textAreaBottom" fmla="*/ 124200 h 123480"/>
            </a:gdLst>
            <a:ahLst/>
            <a:cxnLst/>
            <a:rect l="textAreaLeft" t="textAreaTop" r="textAreaRight" b="textAreaBottom"/>
            <a:pathLst>
              <a:path w="345" h="345">
                <a:moveTo>
                  <a:pt x="345" y="172"/>
                </a:moveTo>
                <a:cubicBezTo>
                  <a:pt x="345" y="184"/>
                  <a:pt x="344" y="195"/>
                  <a:pt x="342" y="206"/>
                </a:cubicBezTo>
                <a:cubicBezTo>
                  <a:pt x="340" y="217"/>
                  <a:pt x="337" y="228"/>
                  <a:pt x="332" y="238"/>
                </a:cubicBezTo>
                <a:cubicBezTo>
                  <a:pt x="328" y="249"/>
                  <a:pt x="323" y="259"/>
                  <a:pt x="316" y="268"/>
                </a:cubicBezTo>
                <a:cubicBezTo>
                  <a:pt x="310" y="278"/>
                  <a:pt x="303" y="286"/>
                  <a:pt x="295" y="294"/>
                </a:cubicBezTo>
                <a:cubicBezTo>
                  <a:pt x="287" y="302"/>
                  <a:pt x="278" y="309"/>
                  <a:pt x="269" y="316"/>
                </a:cubicBezTo>
                <a:cubicBezTo>
                  <a:pt x="260" y="322"/>
                  <a:pt x="250" y="327"/>
                  <a:pt x="239" y="331"/>
                </a:cubicBezTo>
                <a:cubicBezTo>
                  <a:pt x="229" y="336"/>
                  <a:pt x="218" y="339"/>
                  <a:pt x="207" y="341"/>
                </a:cubicBezTo>
                <a:cubicBezTo>
                  <a:pt x="196" y="343"/>
                  <a:pt x="185" y="345"/>
                  <a:pt x="173" y="345"/>
                </a:cubicBezTo>
                <a:cubicBezTo>
                  <a:pt x="162" y="345"/>
                  <a:pt x="151" y="343"/>
                  <a:pt x="140" y="341"/>
                </a:cubicBezTo>
                <a:cubicBezTo>
                  <a:pt x="129" y="339"/>
                  <a:pt x="118" y="336"/>
                  <a:pt x="108" y="331"/>
                </a:cubicBezTo>
                <a:cubicBezTo>
                  <a:pt x="97" y="327"/>
                  <a:pt x="87" y="322"/>
                  <a:pt x="78" y="316"/>
                </a:cubicBezTo>
                <a:cubicBezTo>
                  <a:pt x="68" y="309"/>
                  <a:pt x="60" y="302"/>
                  <a:pt x="52" y="294"/>
                </a:cubicBezTo>
                <a:cubicBezTo>
                  <a:pt x="44" y="286"/>
                  <a:pt x="37" y="278"/>
                  <a:pt x="29" y="268"/>
                </a:cubicBezTo>
                <a:cubicBezTo>
                  <a:pt x="23" y="259"/>
                  <a:pt x="18" y="249"/>
                  <a:pt x="14" y="238"/>
                </a:cubicBezTo>
                <a:cubicBezTo>
                  <a:pt x="9" y="228"/>
                  <a:pt x="6" y="217"/>
                  <a:pt x="4" y="206"/>
                </a:cubicBezTo>
                <a:cubicBezTo>
                  <a:pt x="2" y="195"/>
                  <a:pt x="0" y="184"/>
                  <a:pt x="0" y="172"/>
                </a:cubicBezTo>
                <a:cubicBezTo>
                  <a:pt x="0" y="160"/>
                  <a:pt x="2" y="149"/>
                  <a:pt x="4" y="138"/>
                </a:cubicBezTo>
                <a:cubicBezTo>
                  <a:pt x="6" y="127"/>
                  <a:pt x="9" y="116"/>
                  <a:pt x="14" y="106"/>
                </a:cubicBezTo>
                <a:cubicBezTo>
                  <a:pt x="18" y="95"/>
                  <a:pt x="23" y="85"/>
                  <a:pt x="29" y="76"/>
                </a:cubicBezTo>
                <a:cubicBezTo>
                  <a:pt x="37" y="67"/>
                  <a:pt x="44" y="58"/>
                  <a:pt x="52" y="50"/>
                </a:cubicBezTo>
                <a:cubicBezTo>
                  <a:pt x="60" y="42"/>
                  <a:pt x="68" y="35"/>
                  <a:pt x="78" y="29"/>
                </a:cubicBezTo>
                <a:cubicBezTo>
                  <a:pt x="87" y="22"/>
                  <a:pt x="97" y="17"/>
                  <a:pt x="108" y="13"/>
                </a:cubicBezTo>
                <a:cubicBezTo>
                  <a:pt x="118" y="8"/>
                  <a:pt x="129" y="5"/>
                  <a:pt x="140" y="3"/>
                </a:cubicBezTo>
                <a:cubicBezTo>
                  <a:pt x="151" y="1"/>
                  <a:pt x="162" y="0"/>
                  <a:pt x="173" y="0"/>
                </a:cubicBezTo>
                <a:cubicBezTo>
                  <a:pt x="185" y="0"/>
                  <a:pt x="196" y="1"/>
                  <a:pt x="207" y="3"/>
                </a:cubicBezTo>
                <a:cubicBezTo>
                  <a:pt x="218" y="5"/>
                  <a:pt x="229" y="8"/>
                  <a:pt x="239" y="13"/>
                </a:cubicBezTo>
                <a:cubicBezTo>
                  <a:pt x="250" y="17"/>
                  <a:pt x="260" y="22"/>
                  <a:pt x="269" y="29"/>
                </a:cubicBezTo>
                <a:cubicBezTo>
                  <a:pt x="278" y="35"/>
                  <a:pt x="287" y="42"/>
                  <a:pt x="295" y="50"/>
                </a:cubicBezTo>
                <a:cubicBezTo>
                  <a:pt x="303" y="58"/>
                  <a:pt x="310" y="67"/>
                  <a:pt x="316" y="76"/>
                </a:cubicBezTo>
                <a:cubicBezTo>
                  <a:pt x="323" y="85"/>
                  <a:pt x="328" y="95"/>
                  <a:pt x="332" y="106"/>
                </a:cubicBezTo>
                <a:cubicBezTo>
                  <a:pt x="337" y="116"/>
                  <a:pt x="340" y="127"/>
                  <a:pt x="342" y="138"/>
                </a:cubicBezTo>
                <a:cubicBezTo>
                  <a:pt x="344" y="149"/>
                  <a:pt x="345" y="160"/>
                  <a:pt x="345" y="17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1368360" y="5731560"/>
            <a:ext cx="451908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FFFFF"/>
                </a:solidFill>
                <a:effectLst/>
                <a:uFillTx/>
                <a:latin typeface="BeVietnam"/>
                <a:ea typeface="BeVietnam"/>
              </a:rPr>
              <a:t>CPU utilization, disk utilization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9371880" y="3886920"/>
            <a:ext cx="8627400" cy="5713200"/>
          </a:xfrm>
          <a:custGeom>
            <a:avLst/>
            <a:gdLst>
              <a:gd name="textAreaLeft" fmla="*/ 0 w 8627400"/>
              <a:gd name="textAreaRight" fmla="*/ 8628120 w 8627400"/>
              <a:gd name="textAreaTop" fmla="*/ 0 h 5713200"/>
              <a:gd name="textAreaBottom" fmla="*/ 5713920 h 5713200"/>
            </a:gdLst>
            <a:ahLst/>
            <a:cxnLst/>
            <a:rect l="textAreaLeft" t="textAreaTop" r="textAreaRight" b="textAreaBottom"/>
            <a:pathLst>
              <a:path w="23967" h="15872">
                <a:moveTo>
                  <a:pt x="0" y="0"/>
                </a:moveTo>
                <a:lnTo>
                  <a:pt x="23967" y="0"/>
                </a:lnTo>
                <a:lnTo>
                  <a:pt x="23967" y="15872"/>
                </a:lnTo>
                <a:lnTo>
                  <a:pt x="0" y="15872"/>
                </a:lnTo>
                <a:lnTo>
                  <a:pt x="0" y="0"/>
                </a:lnTo>
                <a:close/>
              </a:path>
            </a:pathLst>
          </a:custGeom>
          <a:solidFill>
            <a:srgbClr val="521A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1368360" y="6160320"/>
            <a:ext cx="16092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FFFFF"/>
                </a:solidFill>
                <a:effectLst/>
                <a:uFillTx/>
                <a:latin typeface="BeVietnam"/>
                <a:ea typeface="BeVietnam"/>
              </a:rPr>
              <a:t>Host errors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9668160" y="4992480"/>
            <a:ext cx="123480" cy="123480"/>
          </a:xfrm>
          <a:custGeom>
            <a:avLst/>
            <a:gdLst>
              <a:gd name="textAreaLeft" fmla="*/ 0 w 123480"/>
              <a:gd name="textAreaRight" fmla="*/ 124200 w 123480"/>
              <a:gd name="textAreaTop" fmla="*/ 0 h 123480"/>
              <a:gd name="textAreaBottom" fmla="*/ 124200 h 123480"/>
            </a:gdLst>
            <a:ahLst/>
            <a:cxnLst/>
            <a:rect l="textAreaLeft" t="textAreaTop" r="textAreaRight" b="textAreaBottom"/>
            <a:pathLst>
              <a:path w="345" h="345">
                <a:moveTo>
                  <a:pt x="345" y="172"/>
                </a:moveTo>
                <a:cubicBezTo>
                  <a:pt x="345" y="184"/>
                  <a:pt x="344" y="196"/>
                  <a:pt x="342" y="207"/>
                </a:cubicBezTo>
                <a:cubicBezTo>
                  <a:pt x="340" y="218"/>
                  <a:pt x="337" y="229"/>
                  <a:pt x="332" y="239"/>
                </a:cubicBezTo>
                <a:cubicBezTo>
                  <a:pt x="328" y="249"/>
                  <a:pt x="323" y="259"/>
                  <a:pt x="316" y="269"/>
                </a:cubicBezTo>
                <a:cubicBezTo>
                  <a:pt x="310" y="278"/>
                  <a:pt x="303" y="287"/>
                  <a:pt x="295" y="295"/>
                </a:cubicBezTo>
                <a:cubicBezTo>
                  <a:pt x="287" y="303"/>
                  <a:pt x="278" y="310"/>
                  <a:pt x="269" y="316"/>
                </a:cubicBezTo>
                <a:cubicBezTo>
                  <a:pt x="260" y="322"/>
                  <a:pt x="249" y="328"/>
                  <a:pt x="238" y="332"/>
                </a:cubicBezTo>
                <a:cubicBezTo>
                  <a:pt x="228" y="336"/>
                  <a:pt x="217" y="340"/>
                  <a:pt x="206" y="342"/>
                </a:cubicBezTo>
                <a:cubicBezTo>
                  <a:pt x="195" y="344"/>
                  <a:pt x="184" y="345"/>
                  <a:pt x="172" y="345"/>
                </a:cubicBezTo>
                <a:cubicBezTo>
                  <a:pt x="161" y="345"/>
                  <a:pt x="150" y="344"/>
                  <a:pt x="139" y="342"/>
                </a:cubicBezTo>
                <a:cubicBezTo>
                  <a:pt x="128" y="340"/>
                  <a:pt x="117" y="336"/>
                  <a:pt x="107" y="332"/>
                </a:cubicBezTo>
                <a:cubicBezTo>
                  <a:pt x="96" y="328"/>
                  <a:pt x="86" y="322"/>
                  <a:pt x="77" y="316"/>
                </a:cubicBezTo>
                <a:cubicBezTo>
                  <a:pt x="67" y="310"/>
                  <a:pt x="59" y="303"/>
                  <a:pt x="51" y="295"/>
                </a:cubicBezTo>
                <a:cubicBezTo>
                  <a:pt x="43" y="287"/>
                  <a:pt x="36" y="278"/>
                  <a:pt x="29" y="269"/>
                </a:cubicBezTo>
                <a:cubicBezTo>
                  <a:pt x="23" y="259"/>
                  <a:pt x="18" y="249"/>
                  <a:pt x="13" y="239"/>
                </a:cubicBezTo>
                <a:cubicBezTo>
                  <a:pt x="9" y="229"/>
                  <a:pt x="6" y="218"/>
                  <a:pt x="4" y="207"/>
                </a:cubicBezTo>
                <a:cubicBezTo>
                  <a:pt x="2" y="196"/>
                  <a:pt x="0" y="184"/>
                  <a:pt x="0" y="172"/>
                </a:cubicBezTo>
                <a:cubicBezTo>
                  <a:pt x="0" y="161"/>
                  <a:pt x="2" y="150"/>
                  <a:pt x="4" y="139"/>
                </a:cubicBezTo>
                <a:cubicBezTo>
                  <a:pt x="6" y="128"/>
                  <a:pt x="9" y="117"/>
                  <a:pt x="13" y="106"/>
                </a:cubicBezTo>
                <a:cubicBezTo>
                  <a:pt x="18" y="96"/>
                  <a:pt x="23" y="86"/>
                  <a:pt x="29" y="77"/>
                </a:cubicBezTo>
                <a:cubicBezTo>
                  <a:pt x="36" y="67"/>
                  <a:pt x="43" y="59"/>
                  <a:pt x="51" y="51"/>
                </a:cubicBezTo>
                <a:cubicBezTo>
                  <a:pt x="59" y="43"/>
                  <a:pt x="67" y="35"/>
                  <a:pt x="77" y="29"/>
                </a:cubicBezTo>
                <a:cubicBezTo>
                  <a:pt x="86" y="23"/>
                  <a:pt x="96" y="18"/>
                  <a:pt x="107" y="13"/>
                </a:cubicBezTo>
                <a:cubicBezTo>
                  <a:pt x="117" y="9"/>
                  <a:pt x="128" y="6"/>
                  <a:pt x="139" y="4"/>
                </a:cubicBezTo>
                <a:cubicBezTo>
                  <a:pt x="150" y="1"/>
                  <a:pt x="161" y="0"/>
                  <a:pt x="172" y="0"/>
                </a:cubicBezTo>
                <a:cubicBezTo>
                  <a:pt x="184" y="0"/>
                  <a:pt x="195" y="1"/>
                  <a:pt x="206" y="4"/>
                </a:cubicBezTo>
                <a:cubicBezTo>
                  <a:pt x="217" y="6"/>
                  <a:pt x="228" y="9"/>
                  <a:pt x="238" y="13"/>
                </a:cubicBezTo>
                <a:cubicBezTo>
                  <a:pt x="249" y="18"/>
                  <a:pt x="260" y="23"/>
                  <a:pt x="269" y="29"/>
                </a:cubicBezTo>
                <a:cubicBezTo>
                  <a:pt x="278" y="35"/>
                  <a:pt x="287" y="43"/>
                  <a:pt x="295" y="51"/>
                </a:cubicBezTo>
                <a:cubicBezTo>
                  <a:pt x="303" y="59"/>
                  <a:pt x="310" y="67"/>
                  <a:pt x="316" y="77"/>
                </a:cubicBezTo>
                <a:cubicBezTo>
                  <a:pt x="323" y="86"/>
                  <a:pt x="328" y="96"/>
                  <a:pt x="332" y="106"/>
                </a:cubicBezTo>
                <a:cubicBezTo>
                  <a:pt x="337" y="117"/>
                  <a:pt x="340" y="128"/>
                  <a:pt x="342" y="139"/>
                </a:cubicBezTo>
                <a:cubicBezTo>
                  <a:pt x="344" y="150"/>
                  <a:pt x="345" y="161"/>
                  <a:pt x="345" y="172"/>
                </a:cubicBezTo>
                <a:close/>
              </a:path>
            </a:pathLst>
          </a:custGeom>
          <a:solidFill>
            <a:srgbClr val="F0E2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9509040" y="3960000"/>
            <a:ext cx="831024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3900" b="1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Configuration / security events</a:t>
            </a:r>
            <a:endParaRPr lang="en-IN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9668160" y="5421240"/>
            <a:ext cx="123480" cy="123480"/>
          </a:xfrm>
          <a:custGeom>
            <a:avLst/>
            <a:gdLst>
              <a:gd name="textAreaLeft" fmla="*/ 0 w 123480"/>
              <a:gd name="textAreaRight" fmla="*/ 124200 w 123480"/>
              <a:gd name="textAreaTop" fmla="*/ 0 h 123480"/>
              <a:gd name="textAreaBottom" fmla="*/ 124200 h 123480"/>
            </a:gdLst>
            <a:ahLst/>
            <a:cxnLst/>
            <a:rect l="textAreaLeft" t="textAreaTop" r="textAreaRight" b="textAreaBottom"/>
            <a:pathLst>
              <a:path w="345" h="345">
                <a:moveTo>
                  <a:pt x="345" y="173"/>
                </a:moveTo>
                <a:cubicBezTo>
                  <a:pt x="345" y="184"/>
                  <a:pt x="344" y="195"/>
                  <a:pt x="342" y="206"/>
                </a:cubicBezTo>
                <a:cubicBezTo>
                  <a:pt x="340" y="217"/>
                  <a:pt x="337" y="228"/>
                  <a:pt x="332" y="239"/>
                </a:cubicBezTo>
                <a:cubicBezTo>
                  <a:pt x="328" y="249"/>
                  <a:pt x="323" y="259"/>
                  <a:pt x="316" y="268"/>
                </a:cubicBezTo>
                <a:cubicBezTo>
                  <a:pt x="310" y="278"/>
                  <a:pt x="303" y="286"/>
                  <a:pt x="295" y="294"/>
                </a:cubicBezTo>
                <a:cubicBezTo>
                  <a:pt x="287" y="302"/>
                  <a:pt x="278" y="310"/>
                  <a:pt x="269" y="316"/>
                </a:cubicBezTo>
                <a:cubicBezTo>
                  <a:pt x="260" y="322"/>
                  <a:pt x="249" y="327"/>
                  <a:pt x="238" y="332"/>
                </a:cubicBezTo>
                <a:cubicBezTo>
                  <a:pt x="228" y="336"/>
                  <a:pt x="217" y="339"/>
                  <a:pt x="206" y="341"/>
                </a:cubicBezTo>
                <a:cubicBezTo>
                  <a:pt x="195" y="344"/>
                  <a:pt x="184" y="345"/>
                  <a:pt x="172" y="345"/>
                </a:cubicBezTo>
                <a:cubicBezTo>
                  <a:pt x="161" y="345"/>
                  <a:pt x="150" y="344"/>
                  <a:pt x="139" y="341"/>
                </a:cubicBezTo>
                <a:cubicBezTo>
                  <a:pt x="128" y="339"/>
                  <a:pt x="117" y="336"/>
                  <a:pt x="107" y="332"/>
                </a:cubicBezTo>
                <a:cubicBezTo>
                  <a:pt x="96" y="327"/>
                  <a:pt x="86" y="322"/>
                  <a:pt x="77" y="316"/>
                </a:cubicBezTo>
                <a:cubicBezTo>
                  <a:pt x="67" y="310"/>
                  <a:pt x="59" y="302"/>
                  <a:pt x="51" y="294"/>
                </a:cubicBezTo>
                <a:cubicBezTo>
                  <a:pt x="43" y="286"/>
                  <a:pt x="36" y="278"/>
                  <a:pt x="29" y="268"/>
                </a:cubicBezTo>
                <a:cubicBezTo>
                  <a:pt x="23" y="259"/>
                  <a:pt x="18" y="249"/>
                  <a:pt x="13" y="239"/>
                </a:cubicBezTo>
                <a:cubicBezTo>
                  <a:pt x="9" y="228"/>
                  <a:pt x="6" y="217"/>
                  <a:pt x="4" y="206"/>
                </a:cubicBezTo>
                <a:cubicBezTo>
                  <a:pt x="2" y="195"/>
                  <a:pt x="0" y="184"/>
                  <a:pt x="0" y="173"/>
                </a:cubicBezTo>
                <a:cubicBezTo>
                  <a:pt x="0" y="162"/>
                  <a:pt x="2" y="150"/>
                  <a:pt x="4" y="139"/>
                </a:cubicBezTo>
                <a:cubicBezTo>
                  <a:pt x="6" y="128"/>
                  <a:pt x="9" y="117"/>
                  <a:pt x="13" y="107"/>
                </a:cubicBezTo>
                <a:cubicBezTo>
                  <a:pt x="18" y="97"/>
                  <a:pt x="23" y="87"/>
                  <a:pt x="29" y="77"/>
                </a:cubicBezTo>
                <a:cubicBezTo>
                  <a:pt x="36" y="68"/>
                  <a:pt x="43" y="59"/>
                  <a:pt x="51" y="51"/>
                </a:cubicBezTo>
                <a:cubicBezTo>
                  <a:pt x="59" y="43"/>
                  <a:pt x="67" y="36"/>
                  <a:pt x="77" y="30"/>
                </a:cubicBezTo>
                <a:cubicBezTo>
                  <a:pt x="86" y="24"/>
                  <a:pt x="96" y="17"/>
                  <a:pt x="107" y="13"/>
                </a:cubicBezTo>
                <a:cubicBezTo>
                  <a:pt x="117" y="9"/>
                  <a:pt x="128" y="5"/>
                  <a:pt x="139" y="3"/>
                </a:cubicBezTo>
                <a:cubicBezTo>
                  <a:pt x="150" y="1"/>
                  <a:pt x="161" y="0"/>
                  <a:pt x="172" y="0"/>
                </a:cubicBezTo>
                <a:cubicBezTo>
                  <a:pt x="184" y="0"/>
                  <a:pt x="195" y="1"/>
                  <a:pt x="206" y="3"/>
                </a:cubicBezTo>
                <a:cubicBezTo>
                  <a:pt x="217" y="5"/>
                  <a:pt x="228" y="9"/>
                  <a:pt x="238" y="13"/>
                </a:cubicBezTo>
                <a:cubicBezTo>
                  <a:pt x="249" y="17"/>
                  <a:pt x="260" y="24"/>
                  <a:pt x="269" y="30"/>
                </a:cubicBezTo>
                <a:cubicBezTo>
                  <a:pt x="278" y="36"/>
                  <a:pt x="287" y="43"/>
                  <a:pt x="295" y="51"/>
                </a:cubicBezTo>
                <a:cubicBezTo>
                  <a:pt x="303" y="59"/>
                  <a:pt x="310" y="68"/>
                  <a:pt x="316" y="77"/>
                </a:cubicBezTo>
                <a:cubicBezTo>
                  <a:pt x="323" y="87"/>
                  <a:pt x="328" y="97"/>
                  <a:pt x="332" y="107"/>
                </a:cubicBezTo>
                <a:cubicBezTo>
                  <a:pt x="337" y="117"/>
                  <a:pt x="340" y="128"/>
                  <a:pt x="342" y="139"/>
                </a:cubicBezTo>
                <a:cubicBezTo>
                  <a:pt x="344" y="150"/>
                  <a:pt x="345" y="162"/>
                  <a:pt x="345" y="173"/>
                </a:cubicBezTo>
                <a:close/>
              </a:path>
            </a:pathLst>
          </a:custGeom>
          <a:solidFill>
            <a:srgbClr val="F0E2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9982800" y="4807440"/>
            <a:ext cx="289476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IAM policy changes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9668160" y="5849640"/>
            <a:ext cx="123480" cy="123480"/>
          </a:xfrm>
          <a:custGeom>
            <a:avLst/>
            <a:gdLst>
              <a:gd name="textAreaLeft" fmla="*/ 0 w 123480"/>
              <a:gd name="textAreaRight" fmla="*/ 124200 w 123480"/>
              <a:gd name="textAreaTop" fmla="*/ 0 h 123480"/>
              <a:gd name="textAreaBottom" fmla="*/ 124200 h 123480"/>
            </a:gdLst>
            <a:ahLst/>
            <a:cxnLst/>
            <a:rect l="textAreaLeft" t="textAreaTop" r="textAreaRight" b="textAreaBottom"/>
            <a:pathLst>
              <a:path w="345" h="345">
                <a:moveTo>
                  <a:pt x="345" y="172"/>
                </a:moveTo>
                <a:cubicBezTo>
                  <a:pt x="345" y="184"/>
                  <a:pt x="344" y="195"/>
                  <a:pt x="342" y="207"/>
                </a:cubicBezTo>
                <a:cubicBezTo>
                  <a:pt x="340" y="218"/>
                  <a:pt x="337" y="229"/>
                  <a:pt x="332" y="239"/>
                </a:cubicBezTo>
                <a:cubicBezTo>
                  <a:pt x="328" y="250"/>
                  <a:pt x="323" y="260"/>
                  <a:pt x="316" y="269"/>
                </a:cubicBezTo>
                <a:cubicBezTo>
                  <a:pt x="310" y="278"/>
                  <a:pt x="303" y="287"/>
                  <a:pt x="295" y="295"/>
                </a:cubicBezTo>
                <a:cubicBezTo>
                  <a:pt x="287" y="303"/>
                  <a:pt x="278" y="310"/>
                  <a:pt x="269" y="316"/>
                </a:cubicBezTo>
                <a:cubicBezTo>
                  <a:pt x="260" y="323"/>
                  <a:pt x="249" y="328"/>
                  <a:pt x="238" y="332"/>
                </a:cubicBezTo>
                <a:cubicBezTo>
                  <a:pt x="228" y="337"/>
                  <a:pt x="217" y="340"/>
                  <a:pt x="206" y="342"/>
                </a:cubicBezTo>
                <a:cubicBezTo>
                  <a:pt x="195" y="344"/>
                  <a:pt x="184" y="345"/>
                  <a:pt x="172" y="345"/>
                </a:cubicBezTo>
                <a:cubicBezTo>
                  <a:pt x="161" y="345"/>
                  <a:pt x="150" y="344"/>
                  <a:pt x="139" y="342"/>
                </a:cubicBezTo>
                <a:cubicBezTo>
                  <a:pt x="128" y="340"/>
                  <a:pt x="117" y="337"/>
                  <a:pt x="107" y="332"/>
                </a:cubicBezTo>
                <a:cubicBezTo>
                  <a:pt x="96" y="328"/>
                  <a:pt x="86" y="323"/>
                  <a:pt x="77" y="316"/>
                </a:cubicBezTo>
                <a:cubicBezTo>
                  <a:pt x="67" y="310"/>
                  <a:pt x="59" y="303"/>
                  <a:pt x="51" y="295"/>
                </a:cubicBezTo>
                <a:cubicBezTo>
                  <a:pt x="43" y="287"/>
                  <a:pt x="36" y="278"/>
                  <a:pt x="29" y="269"/>
                </a:cubicBezTo>
                <a:cubicBezTo>
                  <a:pt x="23" y="260"/>
                  <a:pt x="18" y="250"/>
                  <a:pt x="13" y="239"/>
                </a:cubicBezTo>
                <a:cubicBezTo>
                  <a:pt x="9" y="229"/>
                  <a:pt x="6" y="218"/>
                  <a:pt x="4" y="207"/>
                </a:cubicBezTo>
                <a:cubicBezTo>
                  <a:pt x="2" y="195"/>
                  <a:pt x="0" y="184"/>
                  <a:pt x="0" y="172"/>
                </a:cubicBezTo>
                <a:cubicBezTo>
                  <a:pt x="0" y="161"/>
                  <a:pt x="2" y="150"/>
                  <a:pt x="4" y="139"/>
                </a:cubicBezTo>
                <a:cubicBezTo>
                  <a:pt x="6" y="128"/>
                  <a:pt x="9" y="117"/>
                  <a:pt x="13" y="107"/>
                </a:cubicBezTo>
                <a:cubicBezTo>
                  <a:pt x="18" y="96"/>
                  <a:pt x="23" y="86"/>
                  <a:pt x="29" y="77"/>
                </a:cubicBezTo>
                <a:cubicBezTo>
                  <a:pt x="36" y="68"/>
                  <a:pt x="43" y="59"/>
                  <a:pt x="51" y="51"/>
                </a:cubicBezTo>
                <a:cubicBezTo>
                  <a:pt x="59" y="43"/>
                  <a:pt x="67" y="36"/>
                  <a:pt x="77" y="29"/>
                </a:cubicBezTo>
                <a:cubicBezTo>
                  <a:pt x="86" y="23"/>
                  <a:pt x="96" y="18"/>
                  <a:pt x="107" y="14"/>
                </a:cubicBezTo>
                <a:cubicBezTo>
                  <a:pt x="117" y="9"/>
                  <a:pt x="128" y="6"/>
                  <a:pt x="139" y="4"/>
                </a:cubicBezTo>
                <a:cubicBezTo>
                  <a:pt x="150" y="2"/>
                  <a:pt x="161" y="0"/>
                  <a:pt x="172" y="0"/>
                </a:cubicBezTo>
                <a:cubicBezTo>
                  <a:pt x="184" y="0"/>
                  <a:pt x="195" y="2"/>
                  <a:pt x="206" y="4"/>
                </a:cubicBezTo>
                <a:cubicBezTo>
                  <a:pt x="217" y="6"/>
                  <a:pt x="228" y="9"/>
                  <a:pt x="238" y="14"/>
                </a:cubicBezTo>
                <a:cubicBezTo>
                  <a:pt x="249" y="18"/>
                  <a:pt x="260" y="23"/>
                  <a:pt x="269" y="29"/>
                </a:cubicBezTo>
                <a:cubicBezTo>
                  <a:pt x="278" y="36"/>
                  <a:pt x="287" y="43"/>
                  <a:pt x="295" y="51"/>
                </a:cubicBezTo>
                <a:cubicBezTo>
                  <a:pt x="303" y="59"/>
                  <a:pt x="310" y="68"/>
                  <a:pt x="316" y="77"/>
                </a:cubicBezTo>
                <a:cubicBezTo>
                  <a:pt x="323" y="86"/>
                  <a:pt x="328" y="96"/>
                  <a:pt x="332" y="107"/>
                </a:cubicBezTo>
                <a:cubicBezTo>
                  <a:pt x="337" y="117"/>
                  <a:pt x="340" y="128"/>
                  <a:pt x="342" y="139"/>
                </a:cubicBezTo>
                <a:cubicBezTo>
                  <a:pt x="344" y="150"/>
                  <a:pt x="345" y="161"/>
                  <a:pt x="345" y="172"/>
                </a:cubicBezTo>
                <a:close/>
              </a:path>
            </a:pathLst>
          </a:custGeom>
          <a:solidFill>
            <a:srgbClr val="F0E2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9982800" y="5235840"/>
            <a:ext cx="358668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External IP assignments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9668160" y="6278400"/>
            <a:ext cx="123480" cy="123480"/>
          </a:xfrm>
          <a:custGeom>
            <a:avLst/>
            <a:gdLst>
              <a:gd name="textAreaLeft" fmla="*/ 0 w 123480"/>
              <a:gd name="textAreaRight" fmla="*/ 124200 w 123480"/>
              <a:gd name="textAreaTop" fmla="*/ 0 h 123480"/>
              <a:gd name="textAreaBottom" fmla="*/ 124200 h 123480"/>
            </a:gdLst>
            <a:ahLst/>
            <a:cxnLst/>
            <a:rect l="textAreaLeft" t="textAreaTop" r="textAreaRight" b="textAreaBottom"/>
            <a:pathLst>
              <a:path w="345" h="345">
                <a:moveTo>
                  <a:pt x="345" y="173"/>
                </a:moveTo>
                <a:cubicBezTo>
                  <a:pt x="345" y="184"/>
                  <a:pt x="344" y="196"/>
                  <a:pt x="342" y="207"/>
                </a:cubicBezTo>
                <a:cubicBezTo>
                  <a:pt x="340" y="218"/>
                  <a:pt x="337" y="228"/>
                  <a:pt x="332" y="239"/>
                </a:cubicBezTo>
                <a:cubicBezTo>
                  <a:pt x="328" y="249"/>
                  <a:pt x="323" y="259"/>
                  <a:pt x="316" y="269"/>
                </a:cubicBezTo>
                <a:cubicBezTo>
                  <a:pt x="310" y="278"/>
                  <a:pt x="303" y="287"/>
                  <a:pt x="295" y="295"/>
                </a:cubicBezTo>
                <a:cubicBezTo>
                  <a:pt x="287" y="303"/>
                  <a:pt x="278" y="310"/>
                  <a:pt x="269" y="316"/>
                </a:cubicBezTo>
                <a:cubicBezTo>
                  <a:pt x="260" y="322"/>
                  <a:pt x="249" y="328"/>
                  <a:pt x="238" y="332"/>
                </a:cubicBezTo>
                <a:cubicBezTo>
                  <a:pt x="228" y="336"/>
                  <a:pt x="217" y="340"/>
                  <a:pt x="206" y="342"/>
                </a:cubicBezTo>
                <a:cubicBezTo>
                  <a:pt x="195" y="344"/>
                  <a:pt x="184" y="345"/>
                  <a:pt x="172" y="345"/>
                </a:cubicBezTo>
                <a:cubicBezTo>
                  <a:pt x="161" y="345"/>
                  <a:pt x="150" y="344"/>
                  <a:pt x="139" y="342"/>
                </a:cubicBezTo>
                <a:cubicBezTo>
                  <a:pt x="128" y="340"/>
                  <a:pt x="117" y="336"/>
                  <a:pt x="107" y="332"/>
                </a:cubicBezTo>
                <a:cubicBezTo>
                  <a:pt x="96" y="328"/>
                  <a:pt x="86" y="322"/>
                  <a:pt x="77" y="316"/>
                </a:cubicBezTo>
                <a:cubicBezTo>
                  <a:pt x="67" y="310"/>
                  <a:pt x="59" y="303"/>
                  <a:pt x="51" y="295"/>
                </a:cubicBezTo>
                <a:cubicBezTo>
                  <a:pt x="43" y="287"/>
                  <a:pt x="36" y="278"/>
                  <a:pt x="29" y="269"/>
                </a:cubicBezTo>
                <a:cubicBezTo>
                  <a:pt x="23" y="259"/>
                  <a:pt x="18" y="249"/>
                  <a:pt x="13" y="239"/>
                </a:cubicBezTo>
                <a:cubicBezTo>
                  <a:pt x="9" y="228"/>
                  <a:pt x="6" y="218"/>
                  <a:pt x="4" y="207"/>
                </a:cubicBezTo>
                <a:cubicBezTo>
                  <a:pt x="2" y="196"/>
                  <a:pt x="0" y="184"/>
                  <a:pt x="0" y="173"/>
                </a:cubicBezTo>
                <a:cubicBezTo>
                  <a:pt x="0" y="162"/>
                  <a:pt x="2" y="151"/>
                  <a:pt x="4" y="140"/>
                </a:cubicBezTo>
                <a:cubicBezTo>
                  <a:pt x="6" y="128"/>
                  <a:pt x="9" y="118"/>
                  <a:pt x="13" y="107"/>
                </a:cubicBezTo>
                <a:cubicBezTo>
                  <a:pt x="18" y="97"/>
                  <a:pt x="23" y="87"/>
                  <a:pt x="29" y="78"/>
                </a:cubicBezTo>
                <a:cubicBezTo>
                  <a:pt x="36" y="68"/>
                  <a:pt x="43" y="59"/>
                  <a:pt x="51" y="51"/>
                </a:cubicBezTo>
                <a:cubicBezTo>
                  <a:pt x="59" y="43"/>
                  <a:pt x="67" y="35"/>
                  <a:pt x="77" y="29"/>
                </a:cubicBezTo>
                <a:cubicBezTo>
                  <a:pt x="86" y="23"/>
                  <a:pt x="96" y="18"/>
                  <a:pt x="107" y="13"/>
                </a:cubicBezTo>
                <a:cubicBezTo>
                  <a:pt x="117" y="9"/>
                  <a:pt x="128" y="6"/>
                  <a:pt x="139" y="3"/>
                </a:cubicBezTo>
                <a:cubicBezTo>
                  <a:pt x="150" y="1"/>
                  <a:pt x="161" y="0"/>
                  <a:pt x="172" y="0"/>
                </a:cubicBezTo>
                <a:cubicBezTo>
                  <a:pt x="184" y="0"/>
                  <a:pt x="195" y="1"/>
                  <a:pt x="206" y="3"/>
                </a:cubicBezTo>
                <a:cubicBezTo>
                  <a:pt x="217" y="6"/>
                  <a:pt x="228" y="9"/>
                  <a:pt x="238" y="13"/>
                </a:cubicBezTo>
                <a:cubicBezTo>
                  <a:pt x="249" y="18"/>
                  <a:pt x="260" y="23"/>
                  <a:pt x="269" y="29"/>
                </a:cubicBezTo>
                <a:cubicBezTo>
                  <a:pt x="278" y="35"/>
                  <a:pt x="287" y="43"/>
                  <a:pt x="295" y="51"/>
                </a:cubicBezTo>
                <a:cubicBezTo>
                  <a:pt x="303" y="59"/>
                  <a:pt x="310" y="68"/>
                  <a:pt x="316" y="78"/>
                </a:cubicBezTo>
                <a:cubicBezTo>
                  <a:pt x="323" y="87"/>
                  <a:pt x="328" y="97"/>
                  <a:pt x="332" y="107"/>
                </a:cubicBezTo>
                <a:cubicBezTo>
                  <a:pt x="337" y="118"/>
                  <a:pt x="340" y="128"/>
                  <a:pt x="342" y="140"/>
                </a:cubicBezTo>
                <a:cubicBezTo>
                  <a:pt x="344" y="151"/>
                  <a:pt x="345" y="162"/>
                  <a:pt x="345" y="173"/>
                </a:cubicBezTo>
                <a:close/>
              </a:path>
            </a:pathLst>
          </a:custGeom>
          <a:solidFill>
            <a:srgbClr val="F0E2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9982800" y="5664600"/>
            <a:ext cx="25484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Firewall changes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9668160" y="6707160"/>
            <a:ext cx="123480" cy="123480"/>
          </a:xfrm>
          <a:custGeom>
            <a:avLst/>
            <a:gdLst>
              <a:gd name="textAreaLeft" fmla="*/ 0 w 123480"/>
              <a:gd name="textAreaRight" fmla="*/ 124200 w 123480"/>
              <a:gd name="textAreaTop" fmla="*/ 0 h 123480"/>
              <a:gd name="textAreaBottom" fmla="*/ 124200 h 123480"/>
            </a:gdLst>
            <a:ahLst/>
            <a:cxnLst/>
            <a:rect l="textAreaLeft" t="textAreaTop" r="textAreaRight" b="textAreaBottom"/>
            <a:pathLst>
              <a:path w="345" h="345">
                <a:moveTo>
                  <a:pt x="345" y="172"/>
                </a:moveTo>
                <a:cubicBezTo>
                  <a:pt x="345" y="183"/>
                  <a:pt x="344" y="194"/>
                  <a:pt x="342" y="205"/>
                </a:cubicBezTo>
                <a:cubicBezTo>
                  <a:pt x="340" y="216"/>
                  <a:pt x="337" y="228"/>
                  <a:pt x="332" y="239"/>
                </a:cubicBezTo>
                <a:cubicBezTo>
                  <a:pt x="328" y="249"/>
                  <a:pt x="323" y="259"/>
                  <a:pt x="316" y="268"/>
                </a:cubicBezTo>
                <a:cubicBezTo>
                  <a:pt x="310" y="278"/>
                  <a:pt x="303" y="286"/>
                  <a:pt x="295" y="294"/>
                </a:cubicBezTo>
                <a:cubicBezTo>
                  <a:pt x="287" y="302"/>
                  <a:pt x="278" y="309"/>
                  <a:pt x="269" y="316"/>
                </a:cubicBezTo>
                <a:cubicBezTo>
                  <a:pt x="260" y="322"/>
                  <a:pt x="249" y="327"/>
                  <a:pt x="238" y="332"/>
                </a:cubicBezTo>
                <a:cubicBezTo>
                  <a:pt x="228" y="336"/>
                  <a:pt x="217" y="339"/>
                  <a:pt x="206" y="341"/>
                </a:cubicBezTo>
                <a:cubicBezTo>
                  <a:pt x="195" y="344"/>
                  <a:pt x="184" y="345"/>
                  <a:pt x="172" y="345"/>
                </a:cubicBezTo>
                <a:cubicBezTo>
                  <a:pt x="161" y="345"/>
                  <a:pt x="150" y="344"/>
                  <a:pt x="139" y="341"/>
                </a:cubicBezTo>
                <a:cubicBezTo>
                  <a:pt x="128" y="339"/>
                  <a:pt x="117" y="336"/>
                  <a:pt x="107" y="332"/>
                </a:cubicBezTo>
                <a:cubicBezTo>
                  <a:pt x="96" y="327"/>
                  <a:pt x="86" y="322"/>
                  <a:pt x="77" y="316"/>
                </a:cubicBezTo>
                <a:cubicBezTo>
                  <a:pt x="67" y="309"/>
                  <a:pt x="59" y="302"/>
                  <a:pt x="51" y="294"/>
                </a:cubicBezTo>
                <a:cubicBezTo>
                  <a:pt x="43" y="286"/>
                  <a:pt x="36" y="278"/>
                  <a:pt x="29" y="268"/>
                </a:cubicBezTo>
                <a:cubicBezTo>
                  <a:pt x="23" y="259"/>
                  <a:pt x="18" y="249"/>
                  <a:pt x="13" y="239"/>
                </a:cubicBezTo>
                <a:cubicBezTo>
                  <a:pt x="9" y="228"/>
                  <a:pt x="6" y="216"/>
                  <a:pt x="4" y="205"/>
                </a:cubicBezTo>
                <a:cubicBezTo>
                  <a:pt x="2" y="194"/>
                  <a:pt x="0" y="183"/>
                  <a:pt x="0" y="172"/>
                </a:cubicBezTo>
                <a:cubicBezTo>
                  <a:pt x="0" y="160"/>
                  <a:pt x="2" y="149"/>
                  <a:pt x="4" y="138"/>
                </a:cubicBezTo>
                <a:cubicBezTo>
                  <a:pt x="6" y="127"/>
                  <a:pt x="9" y="116"/>
                  <a:pt x="13" y="106"/>
                </a:cubicBezTo>
                <a:cubicBezTo>
                  <a:pt x="18" y="95"/>
                  <a:pt x="23" y="86"/>
                  <a:pt x="29" y="76"/>
                </a:cubicBezTo>
                <a:cubicBezTo>
                  <a:pt x="36" y="67"/>
                  <a:pt x="43" y="58"/>
                  <a:pt x="51" y="50"/>
                </a:cubicBezTo>
                <a:cubicBezTo>
                  <a:pt x="59" y="42"/>
                  <a:pt x="67" y="35"/>
                  <a:pt x="77" y="29"/>
                </a:cubicBezTo>
                <a:cubicBezTo>
                  <a:pt x="86" y="22"/>
                  <a:pt x="96" y="17"/>
                  <a:pt x="107" y="13"/>
                </a:cubicBezTo>
                <a:cubicBezTo>
                  <a:pt x="117" y="8"/>
                  <a:pt x="128" y="5"/>
                  <a:pt x="139" y="3"/>
                </a:cubicBezTo>
                <a:cubicBezTo>
                  <a:pt x="150" y="1"/>
                  <a:pt x="161" y="0"/>
                  <a:pt x="172" y="0"/>
                </a:cubicBezTo>
                <a:cubicBezTo>
                  <a:pt x="184" y="0"/>
                  <a:pt x="195" y="1"/>
                  <a:pt x="206" y="3"/>
                </a:cubicBezTo>
                <a:cubicBezTo>
                  <a:pt x="217" y="5"/>
                  <a:pt x="228" y="8"/>
                  <a:pt x="238" y="13"/>
                </a:cubicBezTo>
                <a:cubicBezTo>
                  <a:pt x="249" y="17"/>
                  <a:pt x="260" y="22"/>
                  <a:pt x="269" y="29"/>
                </a:cubicBezTo>
                <a:cubicBezTo>
                  <a:pt x="278" y="35"/>
                  <a:pt x="287" y="42"/>
                  <a:pt x="295" y="50"/>
                </a:cubicBezTo>
                <a:cubicBezTo>
                  <a:pt x="303" y="58"/>
                  <a:pt x="310" y="67"/>
                  <a:pt x="316" y="76"/>
                </a:cubicBezTo>
                <a:cubicBezTo>
                  <a:pt x="323" y="86"/>
                  <a:pt x="328" y="95"/>
                  <a:pt x="332" y="106"/>
                </a:cubicBezTo>
                <a:cubicBezTo>
                  <a:pt x="337" y="116"/>
                  <a:pt x="340" y="127"/>
                  <a:pt x="342" y="138"/>
                </a:cubicBezTo>
                <a:cubicBezTo>
                  <a:pt x="344" y="149"/>
                  <a:pt x="345" y="160"/>
                  <a:pt x="345" y="172"/>
                </a:cubicBezTo>
                <a:close/>
              </a:path>
            </a:pathLst>
          </a:custGeom>
          <a:solidFill>
            <a:srgbClr val="F0E2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9982800" y="6093360"/>
            <a:ext cx="639756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Storage bucket operations, disk operations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685800" y="3886920"/>
            <a:ext cx="8228880" cy="5713200"/>
          </a:xfrm>
          <a:custGeom>
            <a:avLst/>
            <a:gdLst>
              <a:gd name="textAreaLeft" fmla="*/ 0 w 8228880"/>
              <a:gd name="textAreaRight" fmla="*/ 8229600 w 8228880"/>
              <a:gd name="textAreaTop" fmla="*/ 0 h 5713200"/>
              <a:gd name="textAreaBottom" fmla="*/ 5713920 h 5713200"/>
            </a:gdLst>
            <a:ahLst/>
            <a:cxnLst/>
            <a:rect l="textAreaLeft" t="textAreaTop" r="textAreaRight" b="textAreaBottom"/>
            <a:pathLst>
              <a:path w="22860" h="15872">
                <a:moveTo>
                  <a:pt x="0" y="0"/>
                </a:moveTo>
                <a:lnTo>
                  <a:pt x="22860" y="0"/>
                </a:lnTo>
                <a:lnTo>
                  <a:pt x="22860" y="15872"/>
                </a:lnTo>
                <a:lnTo>
                  <a:pt x="0" y="1587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9371880" y="3886920"/>
            <a:ext cx="8228880" cy="5713200"/>
          </a:xfrm>
          <a:custGeom>
            <a:avLst/>
            <a:gdLst>
              <a:gd name="textAreaLeft" fmla="*/ 0 w 8228880"/>
              <a:gd name="textAreaRight" fmla="*/ 8229600 w 8228880"/>
              <a:gd name="textAreaTop" fmla="*/ 0 h 5713200"/>
              <a:gd name="textAreaBottom" fmla="*/ 5713920 h 5713200"/>
            </a:gdLst>
            <a:ahLst/>
            <a:cxnLst/>
            <a:rect l="textAreaLeft" t="textAreaTop" r="textAreaRight" b="textAreaBottom"/>
            <a:pathLst>
              <a:path w="22860" h="15872">
                <a:moveTo>
                  <a:pt x="0" y="0"/>
                </a:moveTo>
                <a:lnTo>
                  <a:pt x="22860" y="0"/>
                </a:lnTo>
                <a:lnTo>
                  <a:pt x="22860" y="15872"/>
                </a:lnTo>
                <a:lnTo>
                  <a:pt x="0" y="1587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9982800" y="6521760"/>
            <a:ext cx="35046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Machine-type changes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0" y="0"/>
            <a:ext cx="18287280" cy="10286280"/>
          </a:xfrm>
          <a:custGeom>
            <a:avLst/>
            <a:gdLst>
              <a:gd name="textAreaLeft" fmla="*/ 0 w 18287280"/>
              <a:gd name="textAreaRight" fmla="*/ 18288000 w 18287280"/>
              <a:gd name="textAreaTop" fmla="*/ 0 h 10286280"/>
              <a:gd name="textAreaBottom" fmla="*/ 10287000 h 10286280"/>
            </a:gdLst>
            <a:ahLst/>
            <a:cxnLst/>
            <a:rect l="textAreaLeft" t="textAreaTop" r="textAreaRight" b="textAreaBottom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solidFill>
            <a:srgbClr val="22060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solidFill>
            <a:srgbClr val="3A0C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0" y="0"/>
            <a:ext cx="18286560" cy="243648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2436480"/>
              <a:gd name="textAreaBottom" fmla="*/ 2437200 h 2436480"/>
            </a:gdLst>
            <a:ahLst/>
            <a:cxnLst/>
            <a:rect l="textAreaLeft" t="textAreaTop" r="textAreaRight" b="textAreaBottom"/>
            <a:pathLst>
              <a:path w="50798" h="6770">
                <a:moveTo>
                  <a:pt x="0" y="0"/>
                </a:moveTo>
                <a:lnTo>
                  <a:pt x="50798" y="0"/>
                </a:lnTo>
                <a:lnTo>
                  <a:pt x="50798" y="6770"/>
                </a:lnTo>
                <a:lnTo>
                  <a:pt x="0" y="6770"/>
                </a:lnTo>
                <a:lnTo>
                  <a:pt x="0" y="0"/>
                </a:lnTo>
                <a:close/>
              </a:path>
            </a:pathLst>
          </a:custGeom>
          <a:solidFill>
            <a:srgbClr val="FF85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685800" y="690120"/>
            <a:ext cx="259704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729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SECURITY MONITORING</a:t>
            </a:r>
            <a:endParaRPr lang="en-IN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685800" y="763920"/>
            <a:ext cx="15716880" cy="12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6000" b="0" u="none" strike="noStrike">
                <a:solidFill>
                  <a:srgbClr val="000000"/>
                </a:solidFill>
                <a:effectLst/>
                <a:uFillTx/>
                <a:latin typeface="Saira"/>
                <a:ea typeface="Saira"/>
              </a:rPr>
              <a:t>Security monitoring across Google Cloud and</a:t>
            </a:r>
            <a:endParaRPr lang="en-IN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0" y="2875320"/>
            <a:ext cx="5808960" cy="7410960"/>
          </a:xfrm>
          <a:custGeom>
            <a:avLst/>
            <a:gdLst>
              <a:gd name="textAreaLeft" fmla="*/ 0 w 5808960"/>
              <a:gd name="textAreaRight" fmla="*/ 5809680 w 5808960"/>
              <a:gd name="textAreaTop" fmla="*/ 0 h 7410960"/>
              <a:gd name="textAreaBottom" fmla="*/ 7411680 h 7410960"/>
            </a:gdLst>
            <a:ahLst/>
            <a:cxnLst/>
            <a:rect l="textAreaLeft" t="textAreaTop" r="textAreaRight" b="textAreaBottom"/>
            <a:pathLst>
              <a:path w="16138" h="20588">
                <a:moveTo>
                  <a:pt x="0" y="0"/>
                </a:moveTo>
                <a:lnTo>
                  <a:pt x="16138" y="0"/>
                </a:lnTo>
                <a:lnTo>
                  <a:pt x="16138" y="20588"/>
                </a:lnTo>
                <a:lnTo>
                  <a:pt x="0" y="20588"/>
                </a:lnTo>
                <a:lnTo>
                  <a:pt x="0" y="0"/>
                </a:lnTo>
                <a:close/>
              </a:path>
            </a:pathLst>
          </a:custGeom>
          <a:noFill/>
          <a:ln w="75960">
            <a:solidFill>
              <a:srgbClr val="1934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7800" tIns="37800" rIns="37800" bIns="3780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685800" y="1373760"/>
            <a:ext cx="4848480" cy="12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6000" b="0" u="none" strike="noStrike">
                <a:solidFill>
                  <a:srgbClr val="000000"/>
                </a:solidFill>
                <a:effectLst/>
                <a:uFillTx/>
                <a:latin typeface="Saira"/>
                <a:ea typeface="Saira"/>
              </a:rPr>
              <a:t>Huawei Cloud</a:t>
            </a:r>
            <a:endParaRPr lang="en-IN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723960" y="3567600"/>
            <a:ext cx="417636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700" b="1" u="none" strike="noStrike">
                <a:solidFill>
                  <a:srgbClr val="FBF1E4"/>
                </a:solidFill>
                <a:effectLst/>
                <a:uFillTx/>
                <a:latin typeface="BeVietnam"/>
                <a:ea typeface="BeVietnam"/>
              </a:rPr>
              <a:t>Google Cloud Security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723960" y="3900960"/>
            <a:ext cx="32389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700" b="1" u="none" strike="noStrike">
                <a:solidFill>
                  <a:srgbClr val="FBF1E4"/>
                </a:solidFill>
                <a:effectLst/>
                <a:uFillTx/>
                <a:latin typeface="BeVietnam"/>
                <a:ea typeface="BeVietnam"/>
              </a:rPr>
              <a:t>Command Center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723960" y="4544640"/>
            <a:ext cx="334008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Identify major security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723960" y="4973400"/>
            <a:ext cx="256356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findings; analyze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723960" y="5401800"/>
            <a:ext cx="20592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infrastructure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723960" y="5830560"/>
            <a:ext cx="281592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misconfigurations;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723960" y="6259320"/>
            <a:ext cx="42746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investigate potential impact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723960" y="6687720"/>
            <a:ext cx="30024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and review affected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723960" y="7116480"/>
            <a:ext cx="340308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infrastructure; prepare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723960" y="7544880"/>
            <a:ext cx="368676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security documentation;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723960" y="7973640"/>
            <a:ext cx="39312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recommend configuration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6229080" y="2875320"/>
            <a:ext cx="5828040" cy="7410960"/>
          </a:xfrm>
          <a:custGeom>
            <a:avLst/>
            <a:gdLst>
              <a:gd name="textAreaLeft" fmla="*/ 0 w 5828040"/>
              <a:gd name="textAreaRight" fmla="*/ 5828760 w 5828040"/>
              <a:gd name="textAreaTop" fmla="*/ 0 h 7410960"/>
              <a:gd name="textAreaBottom" fmla="*/ 7411680 h 7410960"/>
            </a:gdLst>
            <a:ahLst/>
            <a:cxnLst/>
            <a:rect l="textAreaLeft" t="textAreaTop" r="textAreaRight" b="textAreaBottom"/>
            <a:pathLst>
              <a:path w="16191" h="20588">
                <a:moveTo>
                  <a:pt x="0" y="0"/>
                </a:moveTo>
                <a:lnTo>
                  <a:pt x="16191" y="0"/>
                </a:lnTo>
                <a:lnTo>
                  <a:pt x="16191" y="20588"/>
                </a:lnTo>
                <a:lnTo>
                  <a:pt x="0" y="20588"/>
                </a:lnTo>
                <a:lnTo>
                  <a:pt x="0" y="0"/>
                </a:lnTo>
                <a:close/>
              </a:path>
            </a:pathLst>
          </a:custGeom>
          <a:noFill/>
          <a:ln w="75960">
            <a:solidFill>
              <a:srgbClr val="1934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7800" tIns="37800" rIns="37800" bIns="3780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723960" y="8402400"/>
            <a:ext cx="22694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improvements.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6971760" y="3567600"/>
            <a:ext cx="43819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700" b="1" u="none" strike="noStrike">
                <a:solidFill>
                  <a:srgbClr val="FBF1E4"/>
                </a:solidFill>
                <a:effectLst/>
                <a:uFillTx/>
                <a:latin typeface="BeVietnam"/>
                <a:ea typeface="BeVietnam"/>
              </a:rPr>
              <a:t>Gemini in Google Cloud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6971760" y="4544640"/>
            <a:ext cx="40824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Infrastructure and resource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6971760" y="4973400"/>
            <a:ext cx="34362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analysis; configuration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6971760" y="5401800"/>
            <a:ext cx="426312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analysis, recommendations;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6971760" y="5830560"/>
            <a:ext cx="220968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potential issue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12458520" y="2875320"/>
            <a:ext cx="5828040" cy="7410960"/>
          </a:xfrm>
          <a:custGeom>
            <a:avLst/>
            <a:gdLst>
              <a:gd name="textAreaLeft" fmla="*/ 0 w 5828040"/>
              <a:gd name="textAreaRight" fmla="*/ 5828760 w 5828040"/>
              <a:gd name="textAreaTop" fmla="*/ 0 h 7410960"/>
              <a:gd name="textAreaBottom" fmla="*/ 7411680 h 7410960"/>
            </a:gdLst>
            <a:ahLst/>
            <a:cxnLst/>
            <a:rect l="textAreaLeft" t="textAreaTop" r="textAreaRight" b="textAreaBottom"/>
            <a:pathLst>
              <a:path w="16191" h="20588">
                <a:moveTo>
                  <a:pt x="0" y="0"/>
                </a:moveTo>
                <a:lnTo>
                  <a:pt x="16191" y="0"/>
                </a:lnTo>
                <a:lnTo>
                  <a:pt x="16191" y="20588"/>
                </a:lnTo>
                <a:lnTo>
                  <a:pt x="0" y="20588"/>
                </a:lnTo>
                <a:lnTo>
                  <a:pt x="0" y="0"/>
                </a:lnTo>
                <a:close/>
              </a:path>
            </a:pathLst>
          </a:custGeom>
          <a:noFill/>
          <a:ln w="75960">
            <a:solidFill>
              <a:srgbClr val="1934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7800" tIns="37800" rIns="37800" bIns="3780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6971760" y="6259320"/>
            <a:ext cx="20880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identification.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13220280" y="3567600"/>
            <a:ext cx="468684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700" b="1" u="none" strike="noStrike">
                <a:solidFill>
                  <a:srgbClr val="FBF1E4"/>
                </a:solidFill>
                <a:effectLst/>
                <a:uFillTx/>
                <a:latin typeface="BeVietnam"/>
                <a:ea typeface="BeVietnam"/>
              </a:rPr>
              <a:t>Huawei Cloud: Cloud Eye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13220280" y="3900960"/>
            <a:ext cx="3854520" cy="41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700" b="1" u="none" strike="noStrike">
                <a:solidFill>
                  <a:srgbClr val="FBF1E4"/>
                </a:solidFill>
                <a:effectLst/>
                <a:uFillTx/>
                <a:latin typeface="BeVietnam"/>
                <a:ea typeface="BeVietnam"/>
              </a:rPr>
              <a:t>and Simple Message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13220280" y="4234320"/>
            <a:ext cx="3442320" cy="41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700" b="1" u="none" strike="noStrike">
                <a:solidFill>
                  <a:srgbClr val="FBF1E4"/>
                </a:solidFill>
                <a:effectLst/>
                <a:uFillTx/>
                <a:latin typeface="BeVietnam"/>
                <a:ea typeface="BeVietnam"/>
              </a:rPr>
              <a:t>Notification (SMN)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13220280" y="4921560"/>
            <a:ext cx="30308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Monitoring, alerting,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13220280" y="5350320"/>
            <a:ext cx="425556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notifications; critical/severe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13220280" y="5778720"/>
            <a:ext cx="429228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infrastructure events; multi-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13220280" y="6207480"/>
            <a:ext cx="401148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account and multi-project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0" y="0"/>
            <a:ext cx="18286560" cy="243648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2436480"/>
              <a:gd name="textAreaBottom" fmla="*/ 2437200 h 2436480"/>
            </a:gdLst>
            <a:ahLst/>
            <a:cxnLst/>
            <a:rect l="textAreaLeft" t="textAreaTop" r="textAreaRight" b="textAreaBottom"/>
            <a:pathLst>
              <a:path w="50798" h="6770">
                <a:moveTo>
                  <a:pt x="0" y="0"/>
                </a:moveTo>
                <a:lnTo>
                  <a:pt x="50798" y="0"/>
                </a:lnTo>
                <a:lnTo>
                  <a:pt x="50798" y="6770"/>
                </a:lnTo>
                <a:lnTo>
                  <a:pt x="0" y="677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0" y="2875320"/>
            <a:ext cx="5808960" cy="7410960"/>
          </a:xfrm>
          <a:custGeom>
            <a:avLst/>
            <a:gdLst>
              <a:gd name="textAreaLeft" fmla="*/ 0 w 5808960"/>
              <a:gd name="textAreaRight" fmla="*/ 5809680 w 5808960"/>
              <a:gd name="textAreaTop" fmla="*/ 0 h 7410960"/>
              <a:gd name="textAreaBottom" fmla="*/ 7411680 h 7410960"/>
            </a:gdLst>
            <a:ahLst/>
            <a:cxnLst/>
            <a:rect l="textAreaLeft" t="textAreaTop" r="textAreaRight" b="textAreaBottom"/>
            <a:pathLst>
              <a:path w="16138" h="20588">
                <a:moveTo>
                  <a:pt x="0" y="0"/>
                </a:moveTo>
                <a:lnTo>
                  <a:pt x="16138" y="0"/>
                </a:lnTo>
                <a:lnTo>
                  <a:pt x="16138" y="20588"/>
                </a:lnTo>
                <a:lnTo>
                  <a:pt x="0" y="205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6229080" y="2875320"/>
            <a:ext cx="5828040" cy="7410960"/>
          </a:xfrm>
          <a:custGeom>
            <a:avLst/>
            <a:gdLst>
              <a:gd name="textAreaLeft" fmla="*/ 0 w 5828040"/>
              <a:gd name="textAreaRight" fmla="*/ 5828760 w 5828040"/>
              <a:gd name="textAreaTop" fmla="*/ 0 h 7410960"/>
              <a:gd name="textAreaBottom" fmla="*/ 7411680 h 7410960"/>
            </a:gdLst>
            <a:ahLst/>
            <a:cxnLst/>
            <a:rect l="textAreaLeft" t="textAreaTop" r="textAreaRight" b="textAreaBottom"/>
            <a:pathLst>
              <a:path w="16191" h="20588">
                <a:moveTo>
                  <a:pt x="0" y="0"/>
                </a:moveTo>
                <a:lnTo>
                  <a:pt x="16191" y="0"/>
                </a:lnTo>
                <a:lnTo>
                  <a:pt x="16191" y="20588"/>
                </a:lnTo>
                <a:lnTo>
                  <a:pt x="0" y="205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12458520" y="2875320"/>
            <a:ext cx="5828040" cy="7410960"/>
          </a:xfrm>
          <a:custGeom>
            <a:avLst/>
            <a:gdLst>
              <a:gd name="textAreaLeft" fmla="*/ 0 w 5828040"/>
              <a:gd name="textAreaRight" fmla="*/ 5828760 w 5828040"/>
              <a:gd name="textAreaTop" fmla="*/ 0 h 7410960"/>
              <a:gd name="textAreaBottom" fmla="*/ 7411680 h 7410960"/>
            </a:gdLst>
            <a:ahLst/>
            <a:cxnLst/>
            <a:rect l="textAreaLeft" t="textAreaTop" r="textAreaRight" b="textAreaBottom"/>
            <a:pathLst>
              <a:path w="16191" h="20588">
                <a:moveTo>
                  <a:pt x="0" y="0"/>
                </a:moveTo>
                <a:lnTo>
                  <a:pt x="16191" y="0"/>
                </a:lnTo>
                <a:lnTo>
                  <a:pt x="16191" y="20588"/>
                </a:lnTo>
                <a:lnTo>
                  <a:pt x="0" y="2058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13220280" y="6636240"/>
            <a:ext cx="21578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environments.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"/>
          <p:cNvSpPr/>
          <p:nvPr/>
        </p:nvSpPr>
        <p:spPr>
          <a:xfrm>
            <a:off x="0" y="0"/>
            <a:ext cx="18287280" cy="10286280"/>
          </a:xfrm>
          <a:custGeom>
            <a:avLst/>
            <a:gdLst>
              <a:gd name="textAreaLeft" fmla="*/ 0 w 18287280"/>
              <a:gd name="textAreaRight" fmla="*/ 18288000 w 18287280"/>
              <a:gd name="textAreaTop" fmla="*/ 0 h 10286280"/>
              <a:gd name="textAreaBottom" fmla="*/ 10287000 h 10286280"/>
            </a:gdLst>
            <a:ahLst/>
            <a:cxnLst/>
            <a:rect l="textAreaLeft" t="textAreaTop" r="textAreaRight" b="textAreaBottom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solidFill>
            <a:srgbClr val="22060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solidFill>
            <a:srgbClr val="3A0C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685800" y="690120"/>
            <a:ext cx="278028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729" b="0" u="none" strike="noStrike">
                <a:solidFill>
                  <a:srgbClr val="B8F03A"/>
                </a:solidFill>
                <a:effectLst/>
                <a:uFillTx/>
                <a:latin typeface="arial"/>
                <a:ea typeface="arial"/>
              </a:rPr>
              <a:t>MULTI-CLOUD EXPOSURE</a:t>
            </a:r>
            <a:endParaRPr lang="en-IN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685800" y="894960"/>
            <a:ext cx="4922640" cy="14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7500" b="0" u="none" strike="noStrike">
                <a:solidFill>
                  <a:srgbClr val="FBF1E4"/>
                </a:solidFill>
                <a:effectLst/>
                <a:uFillTx/>
                <a:latin typeface="Saira"/>
                <a:ea typeface="Saira"/>
              </a:rPr>
              <a:t>BEYOND A</a:t>
            </a:r>
            <a:endParaRPr lang="en-IN" sz="7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685800" y="1656720"/>
            <a:ext cx="8944560" cy="14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7500" b="0" u="none" strike="noStrike">
                <a:solidFill>
                  <a:srgbClr val="B8F03A"/>
                </a:solidFill>
                <a:effectLst/>
                <a:uFillTx/>
                <a:latin typeface="Saira"/>
                <a:ea typeface="Saira"/>
              </a:rPr>
              <a:t>SINGLE PLATFORM</a:t>
            </a:r>
            <a:endParaRPr lang="en-IN" sz="7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685800" y="2851920"/>
            <a:ext cx="361080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3900" b="1" u="none" strike="noStrike">
                <a:solidFill>
                  <a:srgbClr val="FBF1E4"/>
                </a:solidFill>
                <a:effectLst/>
                <a:uFillTx/>
                <a:latin typeface="BeVietnam"/>
                <a:ea typeface="BeVietnam"/>
              </a:rPr>
              <a:t>Google Cloud</a:t>
            </a:r>
            <a:endParaRPr lang="en-IN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685800" y="3642480"/>
            <a:ext cx="360792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Monitoring, security and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685800" y="4070880"/>
            <a:ext cx="20592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infrastructure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6134040" y="2851920"/>
            <a:ext cx="374256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3900" b="1" u="none" strike="noStrike">
                <a:solidFill>
                  <a:srgbClr val="FBF1E4"/>
                </a:solidFill>
                <a:effectLst/>
                <a:uFillTx/>
                <a:latin typeface="BeVietnam"/>
                <a:ea typeface="BeVietnam"/>
              </a:rPr>
              <a:t>Huawei Cloud</a:t>
            </a:r>
            <a:endParaRPr lang="en-IN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6134040" y="3642480"/>
            <a:ext cx="288972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Cloud Eye and SMN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685800" y="5173920"/>
            <a:ext cx="124236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3900" b="1" u="none" strike="noStrike">
                <a:solidFill>
                  <a:srgbClr val="FBF1E4"/>
                </a:solidFill>
                <a:effectLst/>
                <a:uFillTx/>
                <a:latin typeface="BeVietnam"/>
                <a:ea typeface="BeVietnam"/>
              </a:rPr>
              <a:t>AWS</a:t>
            </a:r>
            <a:endParaRPr lang="en-IN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685800" y="5963760"/>
            <a:ext cx="469908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Cloud knowledge and practical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685800" y="6392520"/>
            <a:ext cx="137808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exposure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6134040" y="5173920"/>
            <a:ext cx="99072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3900" b="1" u="none" strike="noStrike">
                <a:solidFill>
                  <a:srgbClr val="FBF1E4"/>
                </a:solidFill>
                <a:effectLst/>
                <a:uFillTx/>
                <a:latin typeface="BeVietnam"/>
                <a:ea typeface="BeVietnam"/>
              </a:rPr>
              <a:t>OCI</a:t>
            </a:r>
            <a:endParaRPr lang="en-IN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685440" y="7242120"/>
            <a:ext cx="3368160" cy="56520"/>
          </a:xfrm>
          <a:custGeom>
            <a:avLst/>
            <a:gdLst>
              <a:gd name="textAreaLeft" fmla="*/ 0 w 3368160"/>
              <a:gd name="textAreaRight" fmla="*/ 3368880 w 3368160"/>
              <a:gd name="textAreaTop" fmla="*/ 0 h 56520"/>
              <a:gd name="textAreaBottom" fmla="*/ 57240 h 56520"/>
            </a:gdLst>
            <a:ahLst/>
            <a:cxnLst/>
            <a:rect l="textAreaLeft" t="textAreaTop" r="textAreaRight" b="textAreaBottom"/>
            <a:pathLst>
              <a:path w="9358" h="159">
                <a:moveTo>
                  <a:pt x="79" y="0"/>
                </a:moveTo>
                <a:lnTo>
                  <a:pt x="9280" y="0"/>
                </a:lnTo>
                <a:cubicBezTo>
                  <a:pt x="9321" y="0"/>
                  <a:pt x="9354" y="32"/>
                  <a:pt x="9358" y="73"/>
                </a:cubicBezTo>
                <a:lnTo>
                  <a:pt x="9358" y="88"/>
                </a:lnTo>
                <a:cubicBezTo>
                  <a:pt x="9355" y="126"/>
                  <a:pt x="9324" y="156"/>
                  <a:pt x="9285" y="159"/>
                </a:cubicBezTo>
                <a:lnTo>
                  <a:pt x="74" y="159"/>
                </a:lnTo>
                <a:cubicBezTo>
                  <a:pt x="33" y="156"/>
                  <a:pt x="0" y="122"/>
                  <a:pt x="0" y="80"/>
                </a:cubicBezTo>
                <a:cubicBezTo>
                  <a:pt x="0" y="36"/>
                  <a:pt x="36" y="0"/>
                  <a:pt x="79" y="0"/>
                </a:cubicBezTo>
                <a:close/>
              </a:path>
            </a:pathLst>
          </a:custGeom>
          <a:solidFill>
            <a:srgbClr val="2F5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6134040" y="5963760"/>
            <a:ext cx="234216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Cloud exposure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685800" y="7838280"/>
            <a:ext cx="886968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3900" b="1" u="none" strike="noStrike">
                <a:solidFill>
                  <a:srgbClr val="FBF1E4"/>
                </a:solidFill>
                <a:effectLst/>
                <a:uFillTx/>
                <a:latin typeface="BeVietnam"/>
                <a:ea typeface="BeVietnam"/>
              </a:rPr>
              <a:t>AWS Certified Cloud Practitioner</a:t>
            </a:r>
            <a:endParaRPr lang="en-IN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685800" y="8628840"/>
            <a:ext cx="1013328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The certification was sponsored by Al Watania Information Systems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2" name=""/>
          <p:cNvPicPr/>
          <p:nvPr/>
        </p:nvPicPr>
        <p:blipFill>
          <a:blip r:embed="rId1"/>
          <a:stretch/>
        </p:blipFill>
        <p:spPr>
          <a:xfrm>
            <a:off x="11576160" y="0"/>
            <a:ext cx="6712920" cy="1028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"/>
          <p:cNvSpPr/>
          <p:nvPr/>
        </p:nvSpPr>
        <p:spPr>
          <a:xfrm>
            <a:off x="5781600" y="2925000"/>
            <a:ext cx="18000" cy="1977840"/>
          </a:xfrm>
          <a:custGeom>
            <a:avLst/>
            <a:gdLst>
              <a:gd name="textAreaLeft" fmla="*/ 0 w 18000"/>
              <a:gd name="textAreaRight" fmla="*/ 18720 w 18000"/>
              <a:gd name="textAreaTop" fmla="*/ 0 h 1977840"/>
              <a:gd name="textAreaBottom" fmla="*/ 1978560 h 1977840"/>
            </a:gdLst>
            <a:ahLst/>
            <a:cxnLst/>
            <a:rect l="textAreaLeft" t="textAreaTop" r="textAreaRight" b="textAreaBottom"/>
            <a:pathLst>
              <a:path w="52" h="5496">
                <a:moveTo>
                  <a:pt x="0" y="0"/>
                </a:moveTo>
                <a:lnTo>
                  <a:pt x="52" y="0"/>
                </a:lnTo>
                <a:lnTo>
                  <a:pt x="52" y="5496"/>
                </a:lnTo>
                <a:lnTo>
                  <a:pt x="0" y="5496"/>
                </a:lnTo>
                <a:lnTo>
                  <a:pt x="0" y="0"/>
                </a:lnTo>
                <a:close/>
              </a:path>
            </a:pathLst>
          </a:custGeom>
          <a:solidFill>
            <a:srgbClr val="2F5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685440" y="4894560"/>
            <a:ext cx="5104440" cy="18000"/>
          </a:xfrm>
          <a:custGeom>
            <a:avLst/>
            <a:gdLst>
              <a:gd name="textAreaLeft" fmla="*/ 0 w 5104440"/>
              <a:gd name="textAreaRight" fmla="*/ 5105160 w 5104440"/>
              <a:gd name="textAreaTop" fmla="*/ 0 h 18000"/>
              <a:gd name="textAreaBottom" fmla="*/ 18720 h 18000"/>
            </a:gdLst>
            <a:ahLst/>
            <a:cxnLst/>
            <a:rect l="textAreaLeft" t="textAreaTop" r="textAreaRight" b="textAreaBottom"/>
            <a:pathLst>
              <a:path w="14181" h="52">
                <a:moveTo>
                  <a:pt x="0" y="0"/>
                </a:moveTo>
                <a:lnTo>
                  <a:pt x="14181" y="0"/>
                </a:lnTo>
                <a:lnTo>
                  <a:pt x="14181" y="52"/>
                </a:lnTo>
                <a:lnTo>
                  <a:pt x="0" y="52"/>
                </a:lnTo>
                <a:lnTo>
                  <a:pt x="0" y="0"/>
                </a:lnTo>
                <a:close/>
              </a:path>
            </a:pathLst>
          </a:custGeom>
          <a:solidFill>
            <a:srgbClr val="2F5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5781600" y="4903920"/>
            <a:ext cx="18000" cy="1977840"/>
          </a:xfrm>
          <a:custGeom>
            <a:avLst/>
            <a:gdLst>
              <a:gd name="textAreaLeft" fmla="*/ 0 w 18000"/>
              <a:gd name="textAreaRight" fmla="*/ 18720 w 18000"/>
              <a:gd name="textAreaTop" fmla="*/ 0 h 1977840"/>
              <a:gd name="textAreaBottom" fmla="*/ 1978560 h 1977840"/>
            </a:gdLst>
            <a:ahLst/>
            <a:cxnLst/>
            <a:rect l="textAreaLeft" t="textAreaTop" r="textAreaRight" b="textAreaBottom"/>
            <a:pathLst>
              <a:path w="52" h="5496">
                <a:moveTo>
                  <a:pt x="0" y="0"/>
                </a:moveTo>
                <a:lnTo>
                  <a:pt x="52" y="0"/>
                </a:lnTo>
                <a:lnTo>
                  <a:pt x="52" y="5496"/>
                </a:lnTo>
                <a:lnTo>
                  <a:pt x="0" y="5496"/>
                </a:lnTo>
                <a:lnTo>
                  <a:pt x="0" y="0"/>
                </a:lnTo>
                <a:close/>
              </a:path>
            </a:pathLst>
          </a:custGeom>
          <a:solidFill>
            <a:srgbClr val="2F5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5790960" y="4894560"/>
            <a:ext cx="5104080" cy="18000"/>
          </a:xfrm>
          <a:custGeom>
            <a:avLst/>
            <a:gdLst>
              <a:gd name="textAreaLeft" fmla="*/ 0 w 5104080"/>
              <a:gd name="textAreaRight" fmla="*/ 5104800 w 5104080"/>
              <a:gd name="textAreaTop" fmla="*/ 0 h 18000"/>
              <a:gd name="textAreaBottom" fmla="*/ 18720 h 18000"/>
            </a:gdLst>
            <a:ahLst/>
            <a:cxnLst/>
            <a:rect l="textAreaLeft" t="textAreaTop" r="textAreaRight" b="textAreaBottom"/>
            <a:pathLst>
              <a:path w="14180" h="52">
                <a:moveTo>
                  <a:pt x="0" y="0"/>
                </a:moveTo>
                <a:lnTo>
                  <a:pt x="14180" y="0"/>
                </a:lnTo>
                <a:lnTo>
                  <a:pt x="14180" y="52"/>
                </a:lnTo>
                <a:lnTo>
                  <a:pt x="0" y="52"/>
                </a:lnTo>
                <a:lnTo>
                  <a:pt x="0" y="0"/>
                </a:lnTo>
                <a:close/>
              </a:path>
            </a:pathLst>
          </a:custGeom>
          <a:solidFill>
            <a:srgbClr val="2F5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5781600" y="2925000"/>
            <a:ext cx="18000" cy="1977840"/>
          </a:xfrm>
          <a:custGeom>
            <a:avLst/>
            <a:gdLst>
              <a:gd name="textAreaLeft" fmla="*/ 0 w 18000"/>
              <a:gd name="textAreaRight" fmla="*/ 18720 w 18000"/>
              <a:gd name="textAreaTop" fmla="*/ 0 h 1977840"/>
              <a:gd name="textAreaBottom" fmla="*/ 1978560 h 1977840"/>
            </a:gdLst>
            <a:ahLst/>
            <a:cxnLst/>
            <a:rect l="textAreaLeft" t="textAreaTop" r="textAreaRight" b="textAreaBottom"/>
            <a:pathLst>
              <a:path w="52" h="5496">
                <a:moveTo>
                  <a:pt x="0" y="0"/>
                </a:moveTo>
                <a:lnTo>
                  <a:pt x="52" y="0"/>
                </a:lnTo>
                <a:lnTo>
                  <a:pt x="52" y="5496"/>
                </a:lnTo>
                <a:lnTo>
                  <a:pt x="0" y="549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685800" y="4894560"/>
            <a:ext cx="5104440" cy="18000"/>
          </a:xfrm>
          <a:custGeom>
            <a:avLst/>
            <a:gdLst>
              <a:gd name="textAreaLeft" fmla="*/ 0 w 5104440"/>
              <a:gd name="textAreaRight" fmla="*/ 5105160 w 5104440"/>
              <a:gd name="textAreaTop" fmla="*/ 0 h 18000"/>
              <a:gd name="textAreaBottom" fmla="*/ 18720 h 18000"/>
            </a:gdLst>
            <a:ahLst/>
            <a:cxnLst/>
            <a:rect l="textAreaLeft" t="textAreaTop" r="textAreaRight" b="textAreaBottom"/>
            <a:pathLst>
              <a:path w="14181" h="52">
                <a:moveTo>
                  <a:pt x="0" y="0"/>
                </a:moveTo>
                <a:lnTo>
                  <a:pt x="14181" y="0"/>
                </a:lnTo>
                <a:lnTo>
                  <a:pt x="14181" y="52"/>
                </a:lnTo>
                <a:lnTo>
                  <a:pt x="0" y="5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5790960" y="4894560"/>
            <a:ext cx="5104080" cy="18000"/>
          </a:xfrm>
          <a:custGeom>
            <a:avLst/>
            <a:gdLst>
              <a:gd name="textAreaLeft" fmla="*/ 0 w 5104080"/>
              <a:gd name="textAreaRight" fmla="*/ 5104800 w 5104080"/>
              <a:gd name="textAreaTop" fmla="*/ 0 h 18000"/>
              <a:gd name="textAreaBottom" fmla="*/ 18720 h 18000"/>
            </a:gdLst>
            <a:ahLst/>
            <a:cxnLst/>
            <a:rect l="textAreaLeft" t="textAreaTop" r="textAreaRight" b="textAreaBottom"/>
            <a:pathLst>
              <a:path w="14180" h="52">
                <a:moveTo>
                  <a:pt x="0" y="0"/>
                </a:moveTo>
                <a:lnTo>
                  <a:pt x="14180" y="0"/>
                </a:lnTo>
                <a:lnTo>
                  <a:pt x="14180" y="52"/>
                </a:lnTo>
                <a:lnTo>
                  <a:pt x="0" y="5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5781600" y="4903920"/>
            <a:ext cx="18000" cy="1977840"/>
          </a:xfrm>
          <a:custGeom>
            <a:avLst/>
            <a:gdLst>
              <a:gd name="textAreaLeft" fmla="*/ 0 w 18000"/>
              <a:gd name="textAreaRight" fmla="*/ 18720 w 18000"/>
              <a:gd name="textAreaTop" fmla="*/ 0 h 1977840"/>
              <a:gd name="textAreaBottom" fmla="*/ 1978560 h 1977840"/>
            </a:gdLst>
            <a:ahLst/>
            <a:cxnLst/>
            <a:rect l="textAreaLeft" t="textAreaTop" r="textAreaRight" b="textAreaBottom"/>
            <a:pathLst>
              <a:path w="52" h="5496">
                <a:moveTo>
                  <a:pt x="0" y="0"/>
                </a:moveTo>
                <a:lnTo>
                  <a:pt x="52" y="0"/>
                </a:lnTo>
                <a:lnTo>
                  <a:pt x="52" y="5496"/>
                </a:lnTo>
                <a:lnTo>
                  <a:pt x="0" y="549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685800" y="7242120"/>
            <a:ext cx="3368160" cy="56520"/>
          </a:xfrm>
          <a:custGeom>
            <a:avLst/>
            <a:gdLst>
              <a:gd name="textAreaLeft" fmla="*/ 0 w 3368160"/>
              <a:gd name="textAreaRight" fmla="*/ 3368880 w 3368160"/>
              <a:gd name="textAreaTop" fmla="*/ 0 h 56520"/>
              <a:gd name="textAreaBottom" fmla="*/ 57240 h 56520"/>
            </a:gdLst>
            <a:ahLst/>
            <a:cxnLst/>
            <a:rect l="textAreaLeft" t="textAreaTop" r="textAreaRight" b="textAreaBottom"/>
            <a:pathLst>
              <a:path w="9358" h="159">
                <a:moveTo>
                  <a:pt x="0" y="0"/>
                </a:moveTo>
                <a:lnTo>
                  <a:pt x="9358" y="0"/>
                </a:lnTo>
                <a:lnTo>
                  <a:pt x="9358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685800" y="9057240"/>
            <a:ext cx="316116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during my internship.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"/>
          <p:cNvSpPr/>
          <p:nvPr/>
        </p:nvSpPr>
        <p:spPr>
          <a:xfrm>
            <a:off x="0" y="0"/>
            <a:ext cx="18287280" cy="10286280"/>
          </a:xfrm>
          <a:custGeom>
            <a:avLst/>
            <a:gdLst>
              <a:gd name="textAreaLeft" fmla="*/ 0 w 18287280"/>
              <a:gd name="textAreaRight" fmla="*/ 18288000 w 18287280"/>
              <a:gd name="textAreaTop" fmla="*/ 0 h 10286280"/>
              <a:gd name="textAreaBottom" fmla="*/ 10287000 h 10286280"/>
            </a:gdLst>
            <a:ahLst/>
            <a:cxnLst/>
            <a:rect l="textAreaLeft" t="textAreaTop" r="textAreaRight" b="textAreaBottom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36" name=""/>
          <p:cNvPicPr/>
          <p:nvPr/>
        </p:nvPicPr>
        <p:blipFill>
          <a:blip r:embed="rId1"/>
          <a:stretch/>
        </p:blipFill>
        <p:spPr>
          <a:xfrm>
            <a:off x="0" y="0"/>
            <a:ext cx="18286920" cy="1028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solidFill>
            <a:srgbClr val="22060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solidFill>
            <a:srgbClr val="3A0C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39" name=""/>
          <p:cNvPicPr/>
          <p:nvPr/>
        </p:nvPicPr>
        <p:blipFill>
          <a:blip r:embed="rId2"/>
          <a:stretch/>
        </p:blipFill>
        <p:spPr>
          <a:xfrm>
            <a:off x="634320" y="2062080"/>
            <a:ext cx="4055040" cy="228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"/>
          <p:cNvSpPr/>
          <p:nvPr/>
        </p:nvSpPr>
        <p:spPr>
          <a:xfrm>
            <a:off x="562320" y="494640"/>
            <a:ext cx="10012680" cy="17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8700" b="0" u="none" strike="noStrike">
                <a:solidFill>
                  <a:srgbClr val="FBF1E4"/>
                </a:solidFill>
                <a:effectLst/>
                <a:uFillTx/>
                <a:latin typeface="Saira"/>
                <a:ea typeface="Saira"/>
              </a:rPr>
              <a:t>Internship evidence</a:t>
            </a:r>
            <a:endParaRPr lang="en-IN" sz="8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1" name=""/>
          <p:cNvPicPr/>
          <p:nvPr/>
        </p:nvPicPr>
        <p:blipFill>
          <a:blip r:embed="rId3"/>
          <a:stretch/>
        </p:blipFill>
        <p:spPr>
          <a:xfrm>
            <a:off x="4920480" y="2062080"/>
            <a:ext cx="4055040" cy="228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2" name=""/>
          <p:cNvSpPr/>
          <p:nvPr/>
        </p:nvSpPr>
        <p:spPr>
          <a:xfrm>
            <a:off x="1930320" y="4478400"/>
            <a:ext cx="155412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IN" sz="1650" b="0" u="none" strike="noStrike">
                <a:solidFill>
                  <a:srgbClr val="C9A9AE"/>
                </a:solidFill>
                <a:effectLst/>
                <a:uFillTx/>
                <a:latin typeface="arial"/>
                <a:ea typeface="arial"/>
              </a:rPr>
              <a:t>WORKSTATION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3" name=""/>
          <p:cNvPicPr/>
          <p:nvPr/>
        </p:nvPicPr>
        <p:blipFill>
          <a:blip r:embed="rId4"/>
          <a:stretch/>
        </p:blipFill>
        <p:spPr>
          <a:xfrm>
            <a:off x="9151560" y="2063880"/>
            <a:ext cx="4100760" cy="657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" name=""/>
          <p:cNvSpPr/>
          <p:nvPr/>
        </p:nvSpPr>
        <p:spPr>
          <a:xfrm>
            <a:off x="5496480" y="4478400"/>
            <a:ext cx="276120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650" b="0" u="none" strike="noStrike">
                <a:solidFill>
                  <a:srgbClr val="C9A9AE"/>
                </a:solidFill>
                <a:effectLst/>
                <a:uFillTx/>
                <a:latin typeface="arial"/>
                <a:ea typeface="arial"/>
              </a:rPr>
              <a:t>WITH COLLEAGUES / TEAM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9198000" y="8689320"/>
            <a:ext cx="375840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650" b="0" u="none" strike="noStrike">
                <a:solidFill>
                  <a:srgbClr val="C9A9AE"/>
                </a:solidFill>
                <a:effectLst/>
                <a:uFillTx/>
                <a:latin typeface="arial"/>
                <a:ea typeface="arial"/>
              </a:rPr>
              <a:t>INTERNSHIP TRAINING COMPLETION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6" name=""/>
          <p:cNvPicPr/>
          <p:nvPr/>
        </p:nvPicPr>
        <p:blipFill>
          <a:blip r:embed="rId5"/>
          <a:stretch/>
        </p:blipFill>
        <p:spPr>
          <a:xfrm>
            <a:off x="13493160" y="2070000"/>
            <a:ext cx="4053240" cy="688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7" name=""/>
          <p:cNvPicPr/>
          <p:nvPr/>
        </p:nvPicPr>
        <p:blipFill>
          <a:blip r:embed="rId6"/>
          <a:srcRect l="0" t="4255" r="0" b="4257"/>
          <a:stretch/>
        </p:blipFill>
        <p:spPr>
          <a:xfrm rot="16200000">
            <a:off x="2628360" y="2899080"/>
            <a:ext cx="4282920" cy="827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"/>
          <p:cNvSpPr/>
          <p:nvPr/>
        </p:nvSpPr>
        <p:spPr>
          <a:xfrm>
            <a:off x="10478520" y="8927280"/>
            <a:ext cx="136872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650" b="0" u="none" strike="noStrike">
                <a:solidFill>
                  <a:srgbClr val="C9A9AE"/>
                </a:solidFill>
                <a:effectLst/>
                <a:uFillTx/>
                <a:latin typeface="arial"/>
                <a:ea typeface="arial"/>
              </a:rPr>
              <a:t>CERTIFICATE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15084000" y="9036360"/>
            <a:ext cx="110232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650" b="0" u="none" strike="noStrike">
                <a:solidFill>
                  <a:srgbClr val="C9A9AE"/>
                </a:solidFill>
                <a:effectLst/>
                <a:uFillTx/>
                <a:latin typeface="arial"/>
                <a:ea typeface="arial"/>
              </a:rPr>
              <a:t>Workstation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"/>
          <p:cNvSpPr/>
          <p:nvPr/>
        </p:nvSpPr>
        <p:spPr>
          <a:xfrm>
            <a:off x="0" y="0"/>
            <a:ext cx="18287280" cy="10286280"/>
          </a:xfrm>
          <a:custGeom>
            <a:avLst/>
            <a:gdLst>
              <a:gd name="textAreaLeft" fmla="*/ 0 w 18287280"/>
              <a:gd name="textAreaRight" fmla="*/ 18288000 w 18287280"/>
              <a:gd name="textAreaTop" fmla="*/ 0 h 10286280"/>
              <a:gd name="textAreaBottom" fmla="*/ 10287000 h 10286280"/>
            </a:gdLst>
            <a:ahLst/>
            <a:cxnLst/>
            <a:rect l="textAreaLeft" t="textAreaTop" r="textAreaRight" b="textAreaBottom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solidFill>
            <a:srgbClr val="22060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solidFill>
            <a:srgbClr val="3A0C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0" y="0"/>
            <a:ext cx="6703920" cy="10284840"/>
          </a:xfrm>
          <a:custGeom>
            <a:avLst/>
            <a:gdLst>
              <a:gd name="textAreaLeft" fmla="*/ 0 w 6703920"/>
              <a:gd name="textAreaRight" fmla="*/ 6704640 w 6703920"/>
              <a:gd name="textAreaTop" fmla="*/ 0 h 10284840"/>
              <a:gd name="textAreaBottom" fmla="*/ 10285560 h 10284840"/>
            </a:gdLst>
            <a:ahLst/>
            <a:cxnLst/>
            <a:rect l="textAreaLeft" t="textAreaTop" r="textAreaRight" b="textAreaBottom"/>
            <a:pathLst>
              <a:path w="18624" h="28571">
                <a:moveTo>
                  <a:pt x="0" y="0"/>
                </a:moveTo>
                <a:lnTo>
                  <a:pt x="18624" y="0"/>
                </a:lnTo>
                <a:lnTo>
                  <a:pt x="18624" y="28571"/>
                </a:lnTo>
                <a:lnTo>
                  <a:pt x="0" y="28571"/>
                </a:lnTo>
                <a:lnTo>
                  <a:pt x="0" y="0"/>
                </a:lnTo>
                <a:close/>
              </a:path>
            </a:pathLst>
          </a:custGeom>
          <a:solidFill>
            <a:srgbClr val="2F5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685800" y="690120"/>
            <a:ext cx="224352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729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ACADEMIC PROJECT</a:t>
            </a:r>
            <a:endParaRPr lang="en-IN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162720" y="915120"/>
            <a:ext cx="6508800" cy="14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7500" b="0" u="none" strike="noStrike">
                <a:solidFill>
                  <a:srgbClr val="FFFFFF"/>
                </a:solidFill>
                <a:effectLst/>
                <a:uFillTx/>
                <a:latin typeface="Saira"/>
                <a:ea typeface="Saira"/>
              </a:rPr>
              <a:t>MULTI-CLOUD</a:t>
            </a:r>
            <a:endParaRPr lang="en-IN" sz="7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198720" y="1677240"/>
            <a:ext cx="4763520" cy="14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7500" b="0" u="none" strike="noStrike">
                <a:solidFill>
                  <a:srgbClr val="FFFFFF"/>
                </a:solidFill>
                <a:effectLst/>
                <a:uFillTx/>
                <a:latin typeface="Saira"/>
                <a:ea typeface="Saira"/>
              </a:rPr>
              <a:t>ALERTING</a:t>
            </a:r>
            <a:endParaRPr lang="en-IN" sz="7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162720" y="2439000"/>
            <a:ext cx="5186160" cy="14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7500" b="0" u="none" strike="noStrike">
                <a:solidFill>
                  <a:srgbClr val="FFFFFF"/>
                </a:solidFill>
                <a:effectLst/>
                <a:uFillTx/>
                <a:latin typeface="Saira"/>
                <a:ea typeface="Saira"/>
              </a:rPr>
              <a:t>PLATFORM</a:t>
            </a:r>
            <a:endParaRPr lang="en-IN" sz="7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342720" y="3857040"/>
            <a:ext cx="44240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FFFFF"/>
                </a:solidFill>
                <a:effectLst/>
                <a:uFillTx/>
                <a:latin typeface="BeVietnam"/>
                <a:ea typeface="BeVietnam"/>
              </a:rPr>
              <a:t>Design and Development of a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342720" y="4285800"/>
            <a:ext cx="39578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FFFFF"/>
                </a:solidFill>
                <a:effectLst/>
                <a:uFillTx/>
                <a:latin typeface="BeVietnam"/>
                <a:ea typeface="BeVietnam"/>
              </a:rPr>
              <a:t>Multi-Cloud Infrastructure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342720" y="4714200"/>
            <a:ext cx="481788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FFFFF"/>
                </a:solidFill>
                <a:effectLst/>
                <a:uFillTx/>
                <a:latin typeface="BeVietnam"/>
                <a:ea typeface="BeVietnam"/>
              </a:rPr>
              <a:t>Monitoring and Security Alerting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342720" y="5142960"/>
            <a:ext cx="13158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FFFFF"/>
                </a:solidFill>
                <a:effectLst/>
                <a:uFillTx/>
                <a:latin typeface="BeVietnam"/>
                <a:ea typeface="BeVietnam"/>
              </a:rPr>
              <a:t>Platform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685800" y="9109800"/>
            <a:ext cx="399024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6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ISOLATED · NON-PRODUCTION · ZERO-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685800" y="9348120"/>
            <a:ext cx="308556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6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COST ACADEMIC PROTOTYPE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7391160" y="633960"/>
            <a:ext cx="909432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Inspired by internship exposure to cloud monitoring, alerting,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7391160" y="1062720"/>
            <a:ext cx="938556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security findings, multi-cloud environments and infrastructure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7391160" y="1491120"/>
            <a:ext cx="109656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events.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7390800" y="2707920"/>
            <a:ext cx="1858320" cy="27720"/>
          </a:xfrm>
          <a:custGeom>
            <a:avLst/>
            <a:gdLst>
              <a:gd name="textAreaLeft" fmla="*/ 0 w 1858320"/>
              <a:gd name="textAreaRight" fmla="*/ 1859040 w 1858320"/>
              <a:gd name="textAreaTop" fmla="*/ 0 h 27720"/>
              <a:gd name="textAreaBottom" fmla="*/ 28440 h 27720"/>
            </a:gdLst>
            <a:ahLst/>
            <a:cxnLst/>
            <a:rect l="textAreaLeft" t="textAreaTop" r="textAreaRight" b="textAreaBottom"/>
            <a:pathLst>
              <a:path w="5164" h="79">
                <a:moveTo>
                  <a:pt x="0" y="0"/>
                </a:moveTo>
                <a:lnTo>
                  <a:pt x="5164" y="0"/>
                </a:lnTo>
                <a:lnTo>
                  <a:pt x="5164" y="79"/>
                </a:lnTo>
                <a:lnTo>
                  <a:pt x="0" y="79"/>
                </a:lnTo>
                <a:lnTo>
                  <a:pt x="0" y="0"/>
                </a:lnTo>
                <a:close/>
              </a:path>
            </a:pathLst>
          </a:custGeom>
          <a:solidFill>
            <a:srgbClr val="2F5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7391160" y="2219400"/>
            <a:ext cx="3492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2F5BFF"/>
                </a:solidFill>
                <a:effectLst/>
                <a:uFillTx/>
                <a:latin typeface="BeVietnam"/>
                <a:ea typeface="BeVietnam"/>
              </a:rPr>
              <a:t>01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7391160" y="2874240"/>
            <a:ext cx="106704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700" b="1" u="none" strike="noStrike">
                <a:solidFill>
                  <a:srgbClr val="FBF1E4"/>
                </a:solidFill>
                <a:effectLst/>
                <a:uFillTx/>
                <a:latin typeface="BeVietnam"/>
                <a:ea typeface="BeVietnam"/>
              </a:rPr>
              <a:t>Cloud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7391160" y="3207600"/>
            <a:ext cx="19810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700" b="1" u="none" strike="noStrike">
                <a:solidFill>
                  <a:srgbClr val="FBF1E4"/>
                </a:solidFill>
                <a:effectLst/>
                <a:uFillTx/>
                <a:latin typeface="BeVietnam"/>
                <a:ea typeface="BeVietnam"/>
              </a:rPr>
              <a:t>Environme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7391160" y="3540960"/>
            <a:ext cx="720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700" b="1" u="none" strike="noStrike">
                <a:solidFill>
                  <a:srgbClr val="FBF1E4"/>
                </a:solidFill>
                <a:effectLst/>
                <a:uFillTx/>
                <a:latin typeface="BeVietnam"/>
                <a:ea typeface="BeVietnam"/>
              </a:rPr>
              <a:t>-nts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9478800" y="2707920"/>
            <a:ext cx="1858320" cy="27720"/>
          </a:xfrm>
          <a:custGeom>
            <a:avLst/>
            <a:gdLst>
              <a:gd name="textAreaLeft" fmla="*/ 0 w 1858320"/>
              <a:gd name="textAreaRight" fmla="*/ 1859040 w 1858320"/>
              <a:gd name="textAreaTop" fmla="*/ 0 h 27720"/>
              <a:gd name="textAreaBottom" fmla="*/ 28440 h 27720"/>
            </a:gdLst>
            <a:ahLst/>
            <a:cxnLst/>
            <a:rect l="textAreaLeft" t="textAreaTop" r="textAreaRight" b="textAreaBottom"/>
            <a:pathLst>
              <a:path w="5164" h="79">
                <a:moveTo>
                  <a:pt x="0" y="0"/>
                </a:moveTo>
                <a:lnTo>
                  <a:pt x="5164" y="0"/>
                </a:lnTo>
                <a:lnTo>
                  <a:pt x="5164" y="79"/>
                </a:lnTo>
                <a:lnTo>
                  <a:pt x="0" y="79"/>
                </a:lnTo>
                <a:lnTo>
                  <a:pt x="0" y="0"/>
                </a:lnTo>
                <a:close/>
              </a:path>
            </a:pathLst>
          </a:custGeom>
          <a:solidFill>
            <a:srgbClr val="2F5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9479160" y="2219400"/>
            <a:ext cx="37368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2F5BFF"/>
                </a:solidFill>
                <a:effectLst/>
                <a:uFillTx/>
                <a:latin typeface="BeVietnam"/>
                <a:ea typeface="BeVietnam"/>
              </a:rPr>
              <a:t>02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9479160" y="2874600"/>
            <a:ext cx="19998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700" b="1" u="none" strike="noStrike">
                <a:solidFill>
                  <a:srgbClr val="FBF1E4"/>
                </a:solidFill>
                <a:effectLst/>
                <a:uFillTx/>
                <a:latin typeface="BeVietnam"/>
                <a:ea typeface="BeVietnam"/>
              </a:rPr>
              <a:t>Monitoring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11566440" y="2707920"/>
            <a:ext cx="1858320" cy="27720"/>
          </a:xfrm>
          <a:custGeom>
            <a:avLst/>
            <a:gdLst>
              <a:gd name="textAreaLeft" fmla="*/ 0 w 1858320"/>
              <a:gd name="textAreaRight" fmla="*/ 1859040 w 1858320"/>
              <a:gd name="textAreaTop" fmla="*/ 0 h 27720"/>
              <a:gd name="textAreaBottom" fmla="*/ 28440 h 27720"/>
            </a:gdLst>
            <a:ahLst/>
            <a:cxnLst/>
            <a:rect l="textAreaLeft" t="textAreaTop" r="textAreaRight" b="textAreaBottom"/>
            <a:pathLst>
              <a:path w="5164" h="79">
                <a:moveTo>
                  <a:pt x="0" y="0"/>
                </a:moveTo>
                <a:lnTo>
                  <a:pt x="5164" y="0"/>
                </a:lnTo>
                <a:lnTo>
                  <a:pt x="5164" y="79"/>
                </a:lnTo>
                <a:lnTo>
                  <a:pt x="0" y="79"/>
                </a:lnTo>
                <a:lnTo>
                  <a:pt x="0" y="0"/>
                </a:lnTo>
                <a:close/>
              </a:path>
            </a:pathLst>
          </a:custGeom>
          <a:solidFill>
            <a:srgbClr val="2F5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11566800" y="2219400"/>
            <a:ext cx="3744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2F5BFF"/>
                </a:solidFill>
                <a:effectLst/>
                <a:uFillTx/>
                <a:latin typeface="BeVietnam"/>
                <a:ea typeface="BeVietnam"/>
              </a:rPr>
              <a:t>03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11566800" y="2874240"/>
            <a:ext cx="1561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700" b="1" u="none" strike="noStrike">
                <a:solidFill>
                  <a:srgbClr val="FBF1E4"/>
                </a:solidFill>
                <a:effectLst/>
                <a:uFillTx/>
                <a:latin typeface="BeVietnam"/>
                <a:ea typeface="BeVietnam"/>
              </a:rPr>
              <a:t>Security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11566800" y="3207600"/>
            <a:ext cx="1047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700" b="1" u="none" strike="noStrike">
                <a:solidFill>
                  <a:srgbClr val="FBF1E4"/>
                </a:solidFill>
                <a:effectLst/>
                <a:uFillTx/>
                <a:latin typeface="BeVietnam"/>
                <a:ea typeface="BeVietnam"/>
              </a:rPr>
              <a:t>Rules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13654080" y="2707920"/>
            <a:ext cx="1858320" cy="27720"/>
          </a:xfrm>
          <a:custGeom>
            <a:avLst/>
            <a:gdLst>
              <a:gd name="textAreaLeft" fmla="*/ 0 w 1858320"/>
              <a:gd name="textAreaRight" fmla="*/ 1859040 w 1858320"/>
              <a:gd name="textAreaTop" fmla="*/ 0 h 27720"/>
              <a:gd name="textAreaBottom" fmla="*/ 28440 h 27720"/>
            </a:gdLst>
            <a:ahLst/>
            <a:cxnLst/>
            <a:rect l="textAreaLeft" t="textAreaTop" r="textAreaRight" b="textAreaBottom"/>
            <a:pathLst>
              <a:path w="5164" h="79">
                <a:moveTo>
                  <a:pt x="0" y="0"/>
                </a:moveTo>
                <a:lnTo>
                  <a:pt x="5164" y="0"/>
                </a:lnTo>
                <a:lnTo>
                  <a:pt x="5164" y="79"/>
                </a:lnTo>
                <a:lnTo>
                  <a:pt x="0" y="79"/>
                </a:lnTo>
                <a:lnTo>
                  <a:pt x="0" y="0"/>
                </a:lnTo>
                <a:close/>
              </a:path>
            </a:pathLst>
          </a:custGeom>
          <a:solidFill>
            <a:srgbClr val="2F5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13654440" y="2219400"/>
            <a:ext cx="37908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2F5BFF"/>
                </a:solidFill>
                <a:effectLst/>
                <a:uFillTx/>
                <a:latin typeface="BeVietnam"/>
                <a:ea typeface="BeVietnam"/>
              </a:rPr>
              <a:t>04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13654440" y="2874600"/>
            <a:ext cx="11235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700" b="1" u="none" strike="noStrike">
                <a:solidFill>
                  <a:srgbClr val="FBF1E4"/>
                </a:solidFill>
                <a:effectLst/>
                <a:uFillTx/>
                <a:latin typeface="BeVietnam"/>
                <a:ea typeface="BeVietnam"/>
              </a:rPr>
              <a:t>Alerts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15742080" y="2707920"/>
            <a:ext cx="1857960" cy="27720"/>
          </a:xfrm>
          <a:custGeom>
            <a:avLst/>
            <a:gdLst>
              <a:gd name="textAreaLeft" fmla="*/ 0 w 1857960"/>
              <a:gd name="textAreaRight" fmla="*/ 1858680 w 1857960"/>
              <a:gd name="textAreaTop" fmla="*/ 0 h 27720"/>
              <a:gd name="textAreaBottom" fmla="*/ 28440 h 27720"/>
            </a:gdLst>
            <a:ahLst/>
            <a:cxnLst/>
            <a:rect l="textAreaLeft" t="textAreaTop" r="textAreaRight" b="textAreaBottom"/>
            <a:pathLst>
              <a:path w="5163" h="79">
                <a:moveTo>
                  <a:pt x="0" y="0"/>
                </a:moveTo>
                <a:lnTo>
                  <a:pt x="5163" y="0"/>
                </a:lnTo>
                <a:lnTo>
                  <a:pt x="5163" y="79"/>
                </a:lnTo>
                <a:lnTo>
                  <a:pt x="0" y="79"/>
                </a:lnTo>
                <a:lnTo>
                  <a:pt x="0" y="0"/>
                </a:lnTo>
                <a:close/>
              </a:path>
            </a:pathLst>
          </a:custGeom>
          <a:solidFill>
            <a:srgbClr val="2F5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15742080" y="2219400"/>
            <a:ext cx="3794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2F5BFF"/>
                </a:solidFill>
                <a:effectLst/>
                <a:uFillTx/>
                <a:latin typeface="BeVietnam"/>
                <a:ea typeface="BeVietnam"/>
              </a:rPr>
              <a:t>05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7390800" y="6787080"/>
            <a:ext cx="10207800" cy="2813040"/>
          </a:xfrm>
          <a:custGeom>
            <a:avLst/>
            <a:gdLst>
              <a:gd name="textAreaLeft" fmla="*/ 0 w 10207800"/>
              <a:gd name="textAreaRight" fmla="*/ 10208520 w 10207800"/>
              <a:gd name="textAreaTop" fmla="*/ 0 h 2813040"/>
              <a:gd name="textAreaBottom" fmla="*/ 2813760 h 2813040"/>
            </a:gdLst>
            <a:ahLst/>
            <a:cxnLst/>
            <a:rect l="textAreaLeft" t="textAreaTop" r="textAreaRight" b="textAreaBottom"/>
            <a:pathLst>
              <a:path w="28357" h="7816">
                <a:moveTo>
                  <a:pt x="0" y="0"/>
                </a:moveTo>
                <a:lnTo>
                  <a:pt x="28357" y="0"/>
                </a:lnTo>
                <a:lnTo>
                  <a:pt x="28357" y="7816"/>
                </a:lnTo>
                <a:lnTo>
                  <a:pt x="0" y="7816"/>
                </a:lnTo>
                <a:lnTo>
                  <a:pt x="0" y="0"/>
                </a:lnTo>
                <a:close/>
              </a:path>
            </a:pathLst>
          </a:custGeom>
          <a:solidFill>
            <a:srgbClr val="B8F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15742080" y="2874240"/>
            <a:ext cx="20005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700" b="1" u="none" strike="noStrike">
                <a:solidFill>
                  <a:srgbClr val="FBF1E4"/>
                </a:solidFill>
                <a:effectLst/>
                <a:uFillTx/>
                <a:latin typeface="BeVietnam"/>
                <a:ea typeface="BeVietnam"/>
              </a:rPr>
              <a:t>Dashboard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7733880" y="6899760"/>
            <a:ext cx="3452400" cy="185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9300" b="0" u="none" strike="noStrike">
                <a:solidFill>
                  <a:srgbClr val="000000"/>
                </a:solidFill>
                <a:effectLst/>
                <a:uFillTx/>
                <a:latin typeface="Saira"/>
                <a:ea typeface="Saira"/>
              </a:rPr>
              <a:t>20/20</a:t>
            </a:r>
            <a:endParaRPr lang="en-IN" sz="9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7733880" y="8344800"/>
            <a:ext cx="651996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000000"/>
                </a:solidFill>
                <a:effectLst/>
                <a:uFillTx/>
                <a:latin typeface="BeVietnam"/>
                <a:ea typeface="BeVietnam"/>
              </a:rPr>
              <a:t>Automated tests implemented and passing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0" y="0"/>
            <a:ext cx="6703920" cy="10285920"/>
          </a:xfrm>
          <a:custGeom>
            <a:avLst/>
            <a:gdLst>
              <a:gd name="textAreaLeft" fmla="*/ 0 w 6703920"/>
              <a:gd name="textAreaRight" fmla="*/ 6704640 w 670392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18624" h="28574">
                <a:moveTo>
                  <a:pt x="0" y="0"/>
                </a:moveTo>
                <a:lnTo>
                  <a:pt x="18624" y="0"/>
                </a:lnTo>
                <a:lnTo>
                  <a:pt x="18624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7390800" y="2707920"/>
            <a:ext cx="1858320" cy="27720"/>
          </a:xfrm>
          <a:custGeom>
            <a:avLst/>
            <a:gdLst>
              <a:gd name="textAreaLeft" fmla="*/ 0 w 1858320"/>
              <a:gd name="textAreaRight" fmla="*/ 1859040 w 1858320"/>
              <a:gd name="textAreaTop" fmla="*/ 0 h 27720"/>
              <a:gd name="textAreaBottom" fmla="*/ 28440 h 27720"/>
            </a:gdLst>
            <a:ahLst/>
            <a:cxnLst/>
            <a:rect l="textAreaLeft" t="textAreaTop" r="textAreaRight" b="textAreaBottom"/>
            <a:pathLst>
              <a:path w="5164" h="79">
                <a:moveTo>
                  <a:pt x="0" y="0"/>
                </a:moveTo>
                <a:lnTo>
                  <a:pt x="5164" y="0"/>
                </a:lnTo>
                <a:lnTo>
                  <a:pt x="5164" y="79"/>
                </a:lnTo>
                <a:lnTo>
                  <a:pt x="0" y="7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9478800" y="2707920"/>
            <a:ext cx="1858320" cy="27720"/>
          </a:xfrm>
          <a:custGeom>
            <a:avLst/>
            <a:gdLst>
              <a:gd name="textAreaLeft" fmla="*/ 0 w 1858320"/>
              <a:gd name="textAreaRight" fmla="*/ 1859040 w 1858320"/>
              <a:gd name="textAreaTop" fmla="*/ 0 h 27720"/>
              <a:gd name="textAreaBottom" fmla="*/ 28440 h 27720"/>
            </a:gdLst>
            <a:ahLst/>
            <a:cxnLst/>
            <a:rect l="textAreaLeft" t="textAreaTop" r="textAreaRight" b="textAreaBottom"/>
            <a:pathLst>
              <a:path w="5164" h="79">
                <a:moveTo>
                  <a:pt x="0" y="0"/>
                </a:moveTo>
                <a:lnTo>
                  <a:pt x="5164" y="0"/>
                </a:lnTo>
                <a:lnTo>
                  <a:pt x="5164" y="79"/>
                </a:lnTo>
                <a:lnTo>
                  <a:pt x="0" y="7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11566440" y="2707920"/>
            <a:ext cx="1858320" cy="27720"/>
          </a:xfrm>
          <a:custGeom>
            <a:avLst/>
            <a:gdLst>
              <a:gd name="textAreaLeft" fmla="*/ 0 w 1858320"/>
              <a:gd name="textAreaRight" fmla="*/ 1859040 w 1858320"/>
              <a:gd name="textAreaTop" fmla="*/ 0 h 27720"/>
              <a:gd name="textAreaBottom" fmla="*/ 28440 h 27720"/>
            </a:gdLst>
            <a:ahLst/>
            <a:cxnLst/>
            <a:rect l="textAreaLeft" t="textAreaTop" r="textAreaRight" b="textAreaBottom"/>
            <a:pathLst>
              <a:path w="5164" h="79">
                <a:moveTo>
                  <a:pt x="0" y="0"/>
                </a:moveTo>
                <a:lnTo>
                  <a:pt x="5164" y="0"/>
                </a:lnTo>
                <a:lnTo>
                  <a:pt x="5164" y="79"/>
                </a:lnTo>
                <a:lnTo>
                  <a:pt x="0" y="7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13654080" y="2707920"/>
            <a:ext cx="1858320" cy="27720"/>
          </a:xfrm>
          <a:custGeom>
            <a:avLst/>
            <a:gdLst>
              <a:gd name="textAreaLeft" fmla="*/ 0 w 1858320"/>
              <a:gd name="textAreaRight" fmla="*/ 1859040 w 1858320"/>
              <a:gd name="textAreaTop" fmla="*/ 0 h 27720"/>
              <a:gd name="textAreaBottom" fmla="*/ 28440 h 27720"/>
            </a:gdLst>
            <a:ahLst/>
            <a:cxnLst/>
            <a:rect l="textAreaLeft" t="textAreaTop" r="textAreaRight" b="textAreaBottom"/>
            <a:pathLst>
              <a:path w="5164" h="79">
                <a:moveTo>
                  <a:pt x="0" y="0"/>
                </a:moveTo>
                <a:lnTo>
                  <a:pt x="5164" y="0"/>
                </a:lnTo>
                <a:lnTo>
                  <a:pt x="5164" y="79"/>
                </a:lnTo>
                <a:lnTo>
                  <a:pt x="0" y="7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15742080" y="2707920"/>
            <a:ext cx="1858320" cy="27720"/>
          </a:xfrm>
          <a:custGeom>
            <a:avLst/>
            <a:gdLst>
              <a:gd name="textAreaLeft" fmla="*/ 0 w 1858320"/>
              <a:gd name="textAreaRight" fmla="*/ 1859040 w 1858320"/>
              <a:gd name="textAreaTop" fmla="*/ 0 h 27720"/>
              <a:gd name="textAreaBottom" fmla="*/ 28440 h 27720"/>
            </a:gdLst>
            <a:ahLst/>
            <a:cxnLst/>
            <a:rect l="textAreaLeft" t="textAreaTop" r="textAreaRight" b="textAreaBottom"/>
            <a:pathLst>
              <a:path w="5164" h="79">
                <a:moveTo>
                  <a:pt x="0" y="0"/>
                </a:moveTo>
                <a:lnTo>
                  <a:pt x="5164" y="0"/>
                </a:lnTo>
                <a:lnTo>
                  <a:pt x="5164" y="79"/>
                </a:lnTo>
                <a:lnTo>
                  <a:pt x="0" y="7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7390800" y="6787080"/>
            <a:ext cx="10209600" cy="2813040"/>
          </a:xfrm>
          <a:custGeom>
            <a:avLst/>
            <a:gdLst>
              <a:gd name="textAreaLeft" fmla="*/ 0 w 10209600"/>
              <a:gd name="textAreaRight" fmla="*/ 10210320 w 10209600"/>
              <a:gd name="textAreaTop" fmla="*/ 0 h 2813040"/>
              <a:gd name="textAreaBottom" fmla="*/ 2813760 h 2813040"/>
            </a:gdLst>
            <a:ahLst/>
            <a:cxnLst/>
            <a:rect l="textAreaLeft" t="textAreaTop" r="textAreaRight" b="textAreaBottom"/>
            <a:pathLst>
              <a:path w="28362" h="7816">
                <a:moveTo>
                  <a:pt x="0" y="0"/>
                </a:moveTo>
                <a:lnTo>
                  <a:pt x="28362" y="0"/>
                </a:lnTo>
                <a:lnTo>
                  <a:pt x="28362" y="7816"/>
                </a:lnTo>
                <a:lnTo>
                  <a:pt x="0" y="781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7733880" y="9014400"/>
            <a:ext cx="809784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6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100% PASS RATE FOR THE IMPLEMENTED TEST SUITE · NOT CODE COVERAGE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"/>
          <p:cNvSpPr/>
          <p:nvPr/>
        </p:nvSpPr>
        <p:spPr>
          <a:xfrm>
            <a:off x="0" y="0"/>
            <a:ext cx="18287280" cy="10286280"/>
          </a:xfrm>
          <a:custGeom>
            <a:avLst/>
            <a:gdLst>
              <a:gd name="textAreaLeft" fmla="*/ 0 w 18287280"/>
              <a:gd name="textAreaRight" fmla="*/ 18288000 w 18287280"/>
              <a:gd name="textAreaTop" fmla="*/ 0 h 10286280"/>
              <a:gd name="textAreaBottom" fmla="*/ 10287000 h 10286280"/>
            </a:gdLst>
            <a:ahLst/>
            <a:cxnLst/>
            <a:rect l="textAreaLeft" t="textAreaTop" r="textAreaRight" b="textAreaBottom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solidFill>
            <a:srgbClr val="22060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solidFill>
            <a:srgbClr val="3A0C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0" y="0"/>
            <a:ext cx="6095160" cy="10285560"/>
          </a:xfrm>
          <a:custGeom>
            <a:avLst/>
            <a:gdLst>
              <a:gd name="textAreaLeft" fmla="*/ 0 w 6095160"/>
              <a:gd name="textAreaRight" fmla="*/ 6095880 w 6095160"/>
              <a:gd name="textAreaTop" fmla="*/ 0 h 10285560"/>
              <a:gd name="textAreaBottom" fmla="*/ 10286280 h 10285560"/>
            </a:gdLst>
            <a:ahLst/>
            <a:cxnLst/>
            <a:rect l="textAreaLeft" t="textAreaTop" r="textAreaRight" b="textAreaBottom"/>
            <a:pathLst>
              <a:path w="16933" h="28573">
                <a:moveTo>
                  <a:pt x="0" y="0"/>
                </a:moveTo>
                <a:lnTo>
                  <a:pt x="16933" y="0"/>
                </a:lnTo>
                <a:lnTo>
                  <a:pt x="16933" y="28573"/>
                </a:lnTo>
                <a:lnTo>
                  <a:pt x="0" y="28573"/>
                </a:lnTo>
                <a:lnTo>
                  <a:pt x="0" y="0"/>
                </a:lnTo>
                <a:close/>
              </a:path>
            </a:pathLst>
          </a:custGeom>
          <a:solidFill>
            <a:srgbClr val="FFB6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429840" y="690120"/>
            <a:ext cx="138996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729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REFLECTION</a:t>
            </a:r>
            <a:endParaRPr lang="en-IN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357840" y="884160"/>
            <a:ext cx="3189960" cy="168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8420" b="0" u="none" strike="noStrike">
                <a:solidFill>
                  <a:srgbClr val="000000"/>
                </a:solidFill>
                <a:effectLst/>
                <a:uFillTx/>
                <a:latin typeface="Saira"/>
                <a:ea typeface="Saira"/>
              </a:rPr>
              <a:t>WHAT</a:t>
            </a:r>
            <a:endParaRPr lang="en-IN" sz="8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357840" y="1773360"/>
            <a:ext cx="5648040" cy="168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8420" b="0" u="none" strike="noStrike">
                <a:solidFill>
                  <a:srgbClr val="000000"/>
                </a:solidFill>
                <a:effectLst/>
                <a:uFillTx/>
                <a:latin typeface="Saira"/>
                <a:ea typeface="Saira"/>
              </a:rPr>
              <a:t>I LEARNED</a:t>
            </a:r>
            <a:endParaRPr lang="en-IN" sz="8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685800" y="9357120"/>
            <a:ext cx="380556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6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SUMMER 2026 · MANAGED SERVICES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6781680" y="612360"/>
            <a:ext cx="154116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3900" b="1" u="none" strike="noStrike">
                <a:solidFill>
                  <a:srgbClr val="FBF1E4"/>
                </a:solidFill>
                <a:effectLst/>
                <a:uFillTx/>
                <a:latin typeface="BeVietnam"/>
                <a:ea typeface="BeVietnam"/>
              </a:rPr>
              <a:t>Cloud</a:t>
            </a:r>
            <a:endParaRPr lang="en-IN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6781680" y="1402560"/>
            <a:ext cx="453096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GCP, Huawei Cloud, AWS, OCI,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6781680" y="1830960"/>
            <a:ext cx="329868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multi-cloud concepts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12534480" y="612360"/>
            <a:ext cx="225576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3900" b="1" u="none" strike="noStrike">
                <a:solidFill>
                  <a:srgbClr val="FBF1E4"/>
                </a:solidFill>
                <a:effectLst/>
                <a:uFillTx/>
                <a:latin typeface="BeVietnam"/>
                <a:ea typeface="BeVietnam"/>
              </a:rPr>
              <a:t>Security</a:t>
            </a:r>
            <a:endParaRPr lang="en-IN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12534480" y="1402560"/>
            <a:ext cx="491652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IAM, security findings, audit logs,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12534480" y="1830960"/>
            <a:ext cx="34826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firewall configurations,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12534480" y="2259720"/>
            <a:ext cx="332136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infrastructure security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6781680" y="3835800"/>
            <a:ext cx="297144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3900" b="1" u="none" strike="noStrike">
                <a:solidFill>
                  <a:srgbClr val="FBF1E4"/>
                </a:solidFill>
                <a:effectLst/>
                <a:uFillTx/>
                <a:latin typeface="BeVietnam"/>
                <a:ea typeface="BeVietnam"/>
              </a:rPr>
              <a:t>Operations</a:t>
            </a:r>
            <a:endParaRPr lang="en-IN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6781680" y="4625640"/>
            <a:ext cx="30308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Monitoring, alerting,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6781680" y="5054400"/>
            <a:ext cx="488412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troubleshooting, documentation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12534480" y="3835800"/>
            <a:ext cx="335700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3900" b="1" u="none" strike="noStrike">
                <a:solidFill>
                  <a:srgbClr val="FBF1E4"/>
                </a:solidFill>
                <a:effectLst/>
                <a:uFillTx/>
                <a:latin typeface="BeVietnam"/>
                <a:ea typeface="BeVietnam"/>
              </a:rPr>
              <a:t>Professional</a:t>
            </a:r>
            <a:endParaRPr lang="en-IN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12534480" y="4625640"/>
            <a:ext cx="463968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Team collaboration, enterprise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12534480" y="5054400"/>
            <a:ext cx="35024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environment, technical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12534480" y="5482800"/>
            <a:ext cx="496908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BeVietnam"/>
                <a:ea typeface="BeVietnam"/>
              </a:rPr>
              <a:t>communication, problem solving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7093440" y="7377480"/>
            <a:ext cx="1034316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Arial"/>
                <a:ea typeface="Arial"/>
              </a:rPr>
              <a:t>THE INTERNSHIP CONNECTED ACADEMIC CLOUD CONCEPTS WITH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7093440" y="7672680"/>
            <a:ext cx="926244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Arial"/>
                <a:ea typeface="Arial"/>
              </a:rPr>
              <a:t>PRACTICAL EXPOSURE TO ENTERPRISE INFRASTRUCTURE,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6781680" y="7020000"/>
            <a:ext cx="41760" cy="1616400"/>
          </a:xfrm>
          <a:custGeom>
            <a:avLst/>
            <a:gdLst>
              <a:gd name="textAreaLeft" fmla="*/ 0 w 41760"/>
              <a:gd name="textAreaRight" fmla="*/ 42480 w 41760"/>
              <a:gd name="textAreaTop" fmla="*/ 0 h 1616400"/>
              <a:gd name="textAreaBottom" fmla="*/ 1617120 h 1616400"/>
            </a:gdLst>
            <a:ahLst/>
            <a:cxnLst/>
            <a:rect l="textAreaLeft" t="textAreaTop" r="textAreaRight" b="textAreaBottom"/>
            <a:pathLst>
              <a:path w="118" h="4492">
                <a:moveTo>
                  <a:pt x="0" y="58"/>
                </a:moveTo>
                <a:cubicBezTo>
                  <a:pt x="0" y="26"/>
                  <a:pt x="27" y="0"/>
                  <a:pt x="59" y="0"/>
                </a:cubicBezTo>
                <a:cubicBezTo>
                  <a:pt x="92" y="0"/>
                  <a:pt x="118" y="26"/>
                  <a:pt x="118" y="58"/>
                </a:cubicBezTo>
                <a:lnTo>
                  <a:pt x="118" y="4433"/>
                </a:lnTo>
                <a:cubicBezTo>
                  <a:pt x="118" y="4465"/>
                  <a:pt x="92" y="4492"/>
                  <a:pt x="59" y="4492"/>
                </a:cubicBezTo>
                <a:cubicBezTo>
                  <a:pt x="27" y="4492"/>
                  <a:pt x="0" y="4465"/>
                  <a:pt x="0" y="4433"/>
                </a:cubicBezTo>
                <a:lnTo>
                  <a:pt x="0" y="58"/>
                </a:lnTo>
                <a:close/>
              </a:path>
            </a:pathLst>
          </a:custGeom>
          <a:solidFill>
            <a:srgbClr val="2F5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6781680" y="8690040"/>
            <a:ext cx="3569760" cy="56520"/>
          </a:xfrm>
          <a:custGeom>
            <a:avLst/>
            <a:gdLst>
              <a:gd name="textAreaLeft" fmla="*/ 0 w 3569760"/>
              <a:gd name="textAreaRight" fmla="*/ 3570480 w 3569760"/>
              <a:gd name="textAreaTop" fmla="*/ 0 h 56520"/>
              <a:gd name="textAreaBottom" fmla="*/ 57240 h 56520"/>
            </a:gdLst>
            <a:ahLst/>
            <a:cxnLst/>
            <a:rect l="textAreaLeft" t="textAreaTop" r="textAreaRight" b="textAreaBottom"/>
            <a:pathLst>
              <a:path w="9918" h="159">
                <a:moveTo>
                  <a:pt x="0" y="79"/>
                </a:moveTo>
                <a:cubicBezTo>
                  <a:pt x="0" y="35"/>
                  <a:pt x="35" y="0"/>
                  <a:pt x="79" y="0"/>
                </a:cubicBezTo>
                <a:lnTo>
                  <a:pt x="9839" y="0"/>
                </a:lnTo>
                <a:cubicBezTo>
                  <a:pt x="9882" y="0"/>
                  <a:pt x="9918" y="35"/>
                  <a:pt x="9918" y="79"/>
                </a:cubicBezTo>
                <a:cubicBezTo>
                  <a:pt x="9918" y="121"/>
                  <a:pt x="9885" y="156"/>
                  <a:pt x="9844" y="159"/>
                </a:cubicBezTo>
                <a:lnTo>
                  <a:pt x="74" y="159"/>
                </a:lnTo>
                <a:cubicBezTo>
                  <a:pt x="33" y="156"/>
                  <a:pt x="0" y="122"/>
                  <a:pt x="0" y="79"/>
                </a:cubicBezTo>
                <a:close/>
              </a:path>
            </a:pathLst>
          </a:custGeom>
          <a:solidFill>
            <a:srgbClr val="2F5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7093440" y="7967880"/>
            <a:ext cx="798912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470" b="0" u="none" strike="noStrike">
                <a:solidFill>
                  <a:srgbClr val="F0E2D6"/>
                </a:solidFill>
                <a:effectLst/>
                <a:uFillTx/>
                <a:latin typeface="Arial"/>
                <a:ea typeface="Arial"/>
              </a:rPr>
              <a:t>MONITORING, SECURITY AND MANAGED SERVICES.</a:t>
            </a:r>
            <a:endParaRPr lang="en-IN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6781680" y="9109800"/>
            <a:ext cx="921168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650" b="0" u="none" strike="noStrike">
                <a:solidFill>
                  <a:srgbClr val="C9A9AE"/>
                </a:solidFill>
                <a:effectLst/>
                <a:uFillTx/>
                <a:latin typeface="arial"/>
                <a:ea typeface="arial"/>
              </a:rPr>
              <a:t>THANK YOU · AQUIB JAWAID ANSARI · REG. NO. 12508688 · B.TECH CSE — 5TH SEMESTER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12182040" y="685800"/>
            <a:ext cx="18360" cy="2879280"/>
          </a:xfrm>
          <a:custGeom>
            <a:avLst/>
            <a:gdLst>
              <a:gd name="textAreaLeft" fmla="*/ 0 w 18360"/>
              <a:gd name="textAreaRight" fmla="*/ 19080 w 18360"/>
              <a:gd name="textAreaTop" fmla="*/ 0 h 2879280"/>
              <a:gd name="textAreaBottom" fmla="*/ 2880000 h 2879280"/>
            </a:gdLst>
            <a:ahLst/>
            <a:cxnLst/>
            <a:rect l="textAreaLeft" t="textAreaTop" r="textAreaRight" b="textAreaBottom"/>
            <a:pathLst>
              <a:path w="53" h="8000">
                <a:moveTo>
                  <a:pt x="0" y="0"/>
                </a:moveTo>
                <a:lnTo>
                  <a:pt x="53" y="0"/>
                </a:lnTo>
                <a:lnTo>
                  <a:pt x="53" y="8000"/>
                </a:lnTo>
                <a:lnTo>
                  <a:pt x="0" y="8000"/>
                </a:lnTo>
                <a:lnTo>
                  <a:pt x="0" y="0"/>
                </a:lnTo>
                <a:close/>
              </a:path>
            </a:pathLst>
          </a:custGeom>
          <a:solidFill>
            <a:srgbClr val="2F5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6781680" y="3556440"/>
            <a:ext cx="5409360" cy="18000"/>
          </a:xfrm>
          <a:custGeom>
            <a:avLst/>
            <a:gdLst>
              <a:gd name="textAreaLeft" fmla="*/ 0 w 5409360"/>
              <a:gd name="textAreaRight" fmla="*/ 5410080 w 5409360"/>
              <a:gd name="textAreaTop" fmla="*/ 0 h 18000"/>
              <a:gd name="textAreaBottom" fmla="*/ 18720 h 18000"/>
            </a:gdLst>
            <a:ahLst/>
            <a:cxnLst/>
            <a:rect l="textAreaLeft" t="textAreaTop" r="textAreaRight" b="textAreaBottom"/>
            <a:pathLst>
              <a:path w="15028" h="52">
                <a:moveTo>
                  <a:pt x="0" y="0"/>
                </a:moveTo>
                <a:lnTo>
                  <a:pt x="15028" y="0"/>
                </a:lnTo>
                <a:lnTo>
                  <a:pt x="15028" y="52"/>
                </a:lnTo>
                <a:lnTo>
                  <a:pt x="0" y="52"/>
                </a:lnTo>
                <a:lnTo>
                  <a:pt x="0" y="0"/>
                </a:lnTo>
                <a:close/>
              </a:path>
            </a:pathLst>
          </a:custGeom>
          <a:solidFill>
            <a:srgbClr val="2F5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12182040" y="3566160"/>
            <a:ext cx="18360" cy="2879280"/>
          </a:xfrm>
          <a:custGeom>
            <a:avLst/>
            <a:gdLst>
              <a:gd name="textAreaLeft" fmla="*/ 0 w 18360"/>
              <a:gd name="textAreaRight" fmla="*/ 19080 w 18360"/>
              <a:gd name="textAreaTop" fmla="*/ 0 h 2879280"/>
              <a:gd name="textAreaBottom" fmla="*/ 2880000 h 2879280"/>
            </a:gdLst>
            <a:ahLst/>
            <a:cxnLst/>
            <a:rect l="textAreaLeft" t="textAreaTop" r="textAreaRight" b="textAreaBottom"/>
            <a:pathLst>
              <a:path w="53" h="8000">
                <a:moveTo>
                  <a:pt x="0" y="0"/>
                </a:moveTo>
                <a:lnTo>
                  <a:pt x="53" y="0"/>
                </a:lnTo>
                <a:lnTo>
                  <a:pt x="53" y="8000"/>
                </a:lnTo>
                <a:lnTo>
                  <a:pt x="0" y="8000"/>
                </a:lnTo>
                <a:lnTo>
                  <a:pt x="0" y="0"/>
                </a:lnTo>
                <a:close/>
              </a:path>
            </a:pathLst>
          </a:custGeom>
          <a:solidFill>
            <a:srgbClr val="2F5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12191400" y="3556440"/>
            <a:ext cx="5409360" cy="18000"/>
          </a:xfrm>
          <a:custGeom>
            <a:avLst/>
            <a:gdLst>
              <a:gd name="textAreaLeft" fmla="*/ 0 w 5409360"/>
              <a:gd name="textAreaRight" fmla="*/ 5410080 w 5409360"/>
              <a:gd name="textAreaTop" fmla="*/ 0 h 18000"/>
              <a:gd name="textAreaBottom" fmla="*/ 18720 h 18000"/>
            </a:gdLst>
            <a:ahLst/>
            <a:cxnLst/>
            <a:rect l="textAreaLeft" t="textAreaTop" r="textAreaRight" b="textAreaBottom"/>
            <a:pathLst>
              <a:path w="15028" h="52">
                <a:moveTo>
                  <a:pt x="0" y="0"/>
                </a:moveTo>
                <a:lnTo>
                  <a:pt x="15028" y="0"/>
                </a:lnTo>
                <a:lnTo>
                  <a:pt x="15028" y="52"/>
                </a:lnTo>
                <a:lnTo>
                  <a:pt x="0" y="52"/>
                </a:lnTo>
                <a:lnTo>
                  <a:pt x="0" y="0"/>
                </a:lnTo>
                <a:close/>
              </a:path>
            </a:pathLst>
          </a:custGeom>
          <a:solidFill>
            <a:srgbClr val="2F5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0" y="0"/>
            <a:ext cx="18286560" cy="10285920"/>
          </a:xfrm>
          <a:custGeom>
            <a:avLst/>
            <a:gdLst>
              <a:gd name="textAreaLeft" fmla="*/ 0 w 18286560"/>
              <a:gd name="textAreaRight" fmla="*/ 18287280 w 182865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50798" h="28574">
                <a:moveTo>
                  <a:pt x="0" y="0"/>
                </a:moveTo>
                <a:lnTo>
                  <a:pt x="50798" y="0"/>
                </a:lnTo>
                <a:lnTo>
                  <a:pt x="50798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0" y="0"/>
            <a:ext cx="6095160" cy="10285920"/>
          </a:xfrm>
          <a:custGeom>
            <a:avLst/>
            <a:gdLst>
              <a:gd name="textAreaLeft" fmla="*/ 0 w 6095160"/>
              <a:gd name="textAreaRight" fmla="*/ 6095880 w 6095160"/>
              <a:gd name="textAreaTop" fmla="*/ 0 h 10285920"/>
              <a:gd name="textAreaBottom" fmla="*/ 10286640 h 10285920"/>
            </a:gdLst>
            <a:ahLst/>
            <a:cxnLst/>
            <a:rect l="textAreaLeft" t="textAreaTop" r="textAreaRight" b="textAreaBottom"/>
            <a:pathLst>
              <a:path w="16933" h="28574">
                <a:moveTo>
                  <a:pt x="0" y="0"/>
                </a:moveTo>
                <a:lnTo>
                  <a:pt x="16933" y="0"/>
                </a:lnTo>
                <a:lnTo>
                  <a:pt x="16933" y="28574"/>
                </a:lnTo>
                <a:lnTo>
                  <a:pt x="0" y="2857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12182040" y="685440"/>
            <a:ext cx="18360" cy="2879640"/>
          </a:xfrm>
          <a:custGeom>
            <a:avLst/>
            <a:gdLst>
              <a:gd name="textAreaLeft" fmla="*/ 0 w 18360"/>
              <a:gd name="textAreaRight" fmla="*/ 19080 w 18360"/>
              <a:gd name="textAreaTop" fmla="*/ 0 h 2879640"/>
              <a:gd name="textAreaBottom" fmla="*/ 2880360 h 2879640"/>
            </a:gdLst>
            <a:ahLst/>
            <a:cxnLst/>
            <a:rect l="textAreaLeft" t="textAreaTop" r="textAreaRight" b="textAreaBottom"/>
            <a:pathLst>
              <a:path w="53" h="8001">
                <a:moveTo>
                  <a:pt x="0" y="0"/>
                </a:moveTo>
                <a:lnTo>
                  <a:pt x="53" y="0"/>
                </a:lnTo>
                <a:lnTo>
                  <a:pt x="53" y="8001"/>
                </a:lnTo>
                <a:lnTo>
                  <a:pt x="0" y="800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6781680" y="3556440"/>
            <a:ext cx="5409360" cy="18000"/>
          </a:xfrm>
          <a:custGeom>
            <a:avLst/>
            <a:gdLst>
              <a:gd name="textAreaLeft" fmla="*/ 0 w 5409360"/>
              <a:gd name="textAreaRight" fmla="*/ 5410080 w 5409360"/>
              <a:gd name="textAreaTop" fmla="*/ 0 h 18000"/>
              <a:gd name="textAreaBottom" fmla="*/ 18720 h 18000"/>
            </a:gdLst>
            <a:ahLst/>
            <a:cxnLst/>
            <a:rect l="textAreaLeft" t="textAreaTop" r="textAreaRight" b="textAreaBottom"/>
            <a:pathLst>
              <a:path w="15028" h="52">
                <a:moveTo>
                  <a:pt x="0" y="0"/>
                </a:moveTo>
                <a:lnTo>
                  <a:pt x="15028" y="0"/>
                </a:lnTo>
                <a:lnTo>
                  <a:pt x="15028" y="52"/>
                </a:lnTo>
                <a:lnTo>
                  <a:pt x="0" y="5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12191400" y="3556440"/>
            <a:ext cx="5409360" cy="18000"/>
          </a:xfrm>
          <a:custGeom>
            <a:avLst/>
            <a:gdLst>
              <a:gd name="textAreaLeft" fmla="*/ 0 w 5409360"/>
              <a:gd name="textAreaRight" fmla="*/ 5410080 w 5409360"/>
              <a:gd name="textAreaTop" fmla="*/ 0 h 18000"/>
              <a:gd name="textAreaBottom" fmla="*/ 18720 h 18000"/>
            </a:gdLst>
            <a:ahLst/>
            <a:cxnLst/>
            <a:rect l="textAreaLeft" t="textAreaTop" r="textAreaRight" b="textAreaBottom"/>
            <a:pathLst>
              <a:path w="15028" h="52">
                <a:moveTo>
                  <a:pt x="0" y="0"/>
                </a:moveTo>
                <a:lnTo>
                  <a:pt x="15028" y="0"/>
                </a:lnTo>
                <a:lnTo>
                  <a:pt x="15028" y="52"/>
                </a:lnTo>
                <a:lnTo>
                  <a:pt x="0" y="5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12182040" y="3565800"/>
            <a:ext cx="18360" cy="2879640"/>
          </a:xfrm>
          <a:custGeom>
            <a:avLst/>
            <a:gdLst>
              <a:gd name="textAreaLeft" fmla="*/ 0 w 18360"/>
              <a:gd name="textAreaRight" fmla="*/ 19080 w 18360"/>
              <a:gd name="textAreaTop" fmla="*/ 0 h 2879640"/>
              <a:gd name="textAreaBottom" fmla="*/ 2880360 h 2879640"/>
            </a:gdLst>
            <a:ahLst/>
            <a:cxnLst/>
            <a:rect l="textAreaLeft" t="textAreaTop" r="textAreaRight" b="textAreaBottom"/>
            <a:pathLst>
              <a:path w="53" h="8001">
                <a:moveTo>
                  <a:pt x="0" y="0"/>
                </a:moveTo>
                <a:lnTo>
                  <a:pt x="53" y="0"/>
                </a:lnTo>
                <a:lnTo>
                  <a:pt x="53" y="8001"/>
                </a:lnTo>
                <a:lnTo>
                  <a:pt x="0" y="800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6781680" y="7020000"/>
            <a:ext cx="41760" cy="1616400"/>
          </a:xfrm>
          <a:custGeom>
            <a:avLst/>
            <a:gdLst>
              <a:gd name="textAreaLeft" fmla="*/ 0 w 41760"/>
              <a:gd name="textAreaRight" fmla="*/ 42480 w 41760"/>
              <a:gd name="textAreaTop" fmla="*/ 0 h 1616400"/>
              <a:gd name="textAreaBottom" fmla="*/ 1617120 h 1616400"/>
            </a:gdLst>
            <a:ahLst/>
            <a:cxnLst/>
            <a:rect l="textAreaLeft" t="textAreaTop" r="textAreaRight" b="textAreaBottom"/>
            <a:pathLst>
              <a:path w="118" h="4492">
                <a:moveTo>
                  <a:pt x="0" y="0"/>
                </a:moveTo>
                <a:lnTo>
                  <a:pt x="118" y="0"/>
                </a:lnTo>
                <a:lnTo>
                  <a:pt x="118" y="4492"/>
                </a:lnTo>
                <a:lnTo>
                  <a:pt x="0" y="449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6781680" y="8690040"/>
            <a:ext cx="3569400" cy="56520"/>
          </a:xfrm>
          <a:custGeom>
            <a:avLst/>
            <a:gdLst>
              <a:gd name="textAreaLeft" fmla="*/ 0 w 3569400"/>
              <a:gd name="textAreaRight" fmla="*/ 3570120 w 3569400"/>
              <a:gd name="textAreaTop" fmla="*/ 0 h 56520"/>
              <a:gd name="textAreaBottom" fmla="*/ 57240 h 56520"/>
            </a:gdLst>
            <a:ahLst/>
            <a:cxnLst/>
            <a:rect l="textAreaLeft" t="textAreaTop" r="textAreaRight" b="textAreaBottom"/>
            <a:pathLst>
              <a:path w="9917" h="159">
                <a:moveTo>
                  <a:pt x="0" y="0"/>
                </a:moveTo>
                <a:lnTo>
                  <a:pt x="9917" y="0"/>
                </a:lnTo>
                <a:lnTo>
                  <a:pt x="9917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9373680" y="9384120"/>
            <a:ext cx="380556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650" b="0" u="none" strike="noStrike">
                <a:solidFill>
                  <a:srgbClr val="C9A9AE"/>
                </a:solidFill>
                <a:effectLst/>
                <a:uFillTx/>
                <a:latin typeface="arial"/>
                <a:ea typeface="arial"/>
              </a:rPr>
              <a:t>LOVELY PROFESSIONAL UNIVERSITY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LibreOffice/26.8.0.3$Windows_X86_64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dcterms:modified xsi:type="dcterms:W3CDTF">2026-10-01T23:16:15Z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