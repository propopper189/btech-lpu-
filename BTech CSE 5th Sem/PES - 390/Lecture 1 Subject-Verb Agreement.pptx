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3" r:id="rId19"/>
    <p:sldId id="275" r:id="rId20"/>
    <p:sldId id="276" r:id="rId21"/>
    <p:sldId id="277" r:id="rId22"/>
    <p:sldId id="282" r:id="rId23"/>
    <p:sldId id="283" r:id="rId24"/>
    <p:sldId id="284"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588" y="-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8/7/2023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4884912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8/7/2023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989807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8/7/2023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638813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8/7/2023</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452033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8/7/2023</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8937276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8/7/2023</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7285798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8/7/2023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459763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8/7/2023</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17188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8/7/2023</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9508691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8/7/2023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9364730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8/7/2023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9877709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8/7/2023</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540508"/>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96926"/>
            <a:ext cx="7315200" cy="3255264"/>
          </a:xfrm>
          <a:scene3d>
            <a:camera prst="orthographicFront"/>
            <a:lightRig rig="threePt" dir="t"/>
          </a:scene3d>
          <a:sp3d>
            <a:bevelT prst="relaxedInset"/>
          </a:sp3d>
        </p:spPr>
        <p:txBody>
          <a:bodyPr>
            <a:normAutofit/>
          </a:bodyPr>
          <a:lstStyle/>
          <a:p>
            <a:r>
              <a:rPr lang="en-US" sz="8000" u="sng" dirty="0">
                <a:solidFill>
                  <a:schemeClr val="accent4">
                    <a:lumMod val="50000"/>
                  </a:schemeClr>
                </a:solidFill>
                <a:latin typeface="Algerian" panose="04020705040A02060702" pitchFamily="82" charset="0"/>
              </a:rPr>
              <a:t>Subject-Verb Agreement</a:t>
            </a:r>
          </a:p>
        </p:txBody>
      </p:sp>
      <p:pic>
        <p:nvPicPr>
          <p:cNvPr id="15" name="Picture 14"/>
          <p:cNvPicPr>
            <a:picLocks noChangeAspect="1"/>
          </p:cNvPicPr>
          <p:nvPr/>
        </p:nvPicPr>
        <p:blipFill>
          <a:blip r:embed="rId2"/>
          <a:stretch>
            <a:fillRect/>
          </a:stretch>
        </p:blipFill>
        <p:spPr>
          <a:xfrm>
            <a:off x="5988677" y="2846231"/>
            <a:ext cx="2884867" cy="303941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31715527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solidFill>
                  <a:schemeClr val="accent4">
                    <a:lumMod val="50000"/>
                  </a:schemeClr>
                </a:solidFill>
                <a:latin typeface="Algerian" panose="04020705040A02060702" pitchFamily="82" charset="0"/>
              </a:rPr>
              <a:t>Subject</a:t>
            </a:r>
          </a:p>
        </p:txBody>
      </p:sp>
      <p:sp>
        <p:nvSpPr>
          <p:cNvPr id="3" name="Content Placeholder 2"/>
          <p:cNvSpPr>
            <a:spLocks noGrp="1"/>
          </p:cNvSpPr>
          <p:nvPr>
            <p:ph idx="1"/>
          </p:nvPr>
        </p:nvSpPr>
        <p:spPr/>
        <p:txBody>
          <a:bodyPr/>
          <a:lstStyle/>
          <a:p>
            <a:r>
              <a:rPr lang="en-IN" sz="2800" b="1" dirty="0">
                <a:latin typeface="Arial" panose="020B0604020202020204" pitchFamily="34" charset="0"/>
                <a:cs typeface="Arial" panose="020B0604020202020204" pitchFamily="34" charset="0"/>
              </a:rPr>
              <a:t>The subject is the doer of the action. Alternatively, it can be described as who or what the sentence is about. It is important for you to be able to identify the subject in the sentence. Once you have identified the subject, you need to check whether it agrees the verb or not</a:t>
            </a:r>
            <a:r>
              <a:rPr lang="en-IN" dirty="0"/>
              <a:t>.</a:t>
            </a:r>
            <a:endParaRPr lang="en-US" dirty="0"/>
          </a:p>
          <a:p>
            <a:endParaRPr lang="en-US" dirty="0"/>
          </a:p>
        </p:txBody>
      </p:sp>
    </p:spTree>
    <p:extLst>
      <p:ext uri="{BB962C8B-B14F-4D97-AF65-F5344CB8AC3E}">
        <p14:creationId xmlns:p14="http://schemas.microsoft.com/office/powerpoint/2010/main" val="246257596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solidFill>
                  <a:schemeClr val="accent4">
                    <a:lumMod val="50000"/>
                  </a:schemeClr>
                </a:solidFill>
                <a:latin typeface="Algerian" panose="04020705040A02060702" pitchFamily="82" charset="0"/>
              </a:rPr>
              <a:t>Verb</a:t>
            </a:r>
          </a:p>
        </p:txBody>
      </p:sp>
      <p:sp>
        <p:nvSpPr>
          <p:cNvPr id="3" name="Content Placeholder 2"/>
          <p:cNvSpPr>
            <a:spLocks noGrp="1"/>
          </p:cNvSpPr>
          <p:nvPr>
            <p:ph idx="1"/>
          </p:nvPr>
        </p:nvSpPr>
        <p:spPr/>
        <p:txBody>
          <a:bodyPr/>
          <a:lstStyle/>
          <a:p>
            <a:r>
              <a:rPr lang="en-IN" sz="3200" b="1" dirty="0">
                <a:latin typeface="Arial" panose="020B0604020202020204" pitchFamily="34" charset="0"/>
                <a:cs typeface="Arial" panose="020B0604020202020204" pitchFamily="34" charset="0"/>
              </a:rPr>
              <a:t>Verbs are words that express an action, state or occurrence. However, not all verbs are action words. Some verbs as: </a:t>
            </a:r>
            <a:r>
              <a:rPr lang="en-IN" sz="3200" b="1" dirty="0" err="1">
                <a:latin typeface="Arial" panose="020B0604020202020204" pitchFamily="34" charset="0"/>
                <a:cs typeface="Arial" panose="020B0604020202020204" pitchFamily="34" charset="0"/>
              </a:rPr>
              <a:t>is,am</a:t>
            </a:r>
            <a:r>
              <a:rPr lang="en-IN" sz="3200" b="1" dirty="0">
                <a:latin typeface="Arial" panose="020B0604020202020204" pitchFamily="34" charset="0"/>
                <a:cs typeface="Arial" panose="020B0604020202020204" pitchFamily="34" charset="0"/>
              </a:rPr>
              <a:t>, are was, were, etc. describe the state and not the action.</a:t>
            </a:r>
            <a:endParaRPr lang="en-US" sz="3200" b="1"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62428878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8494" y="1030309"/>
            <a:ext cx="8649291" cy="2189409"/>
          </a:xfrm>
        </p:spPr>
        <p:txBody>
          <a:bodyPr>
            <a:noAutofit/>
          </a:bodyPr>
          <a:lstStyle/>
          <a:p>
            <a:pPr algn="ctr"/>
            <a:r>
              <a:rPr lang="en-IN" sz="2400" b="1" dirty="0">
                <a:latin typeface="Arial" panose="020B0604020202020204" pitchFamily="34" charset="0"/>
                <a:cs typeface="Arial" panose="020B0604020202020204" pitchFamily="34" charset="0"/>
              </a:rPr>
              <a:t>Subject-verb agreement refers to the relationship between the subject and predicate of the sentence. </a:t>
            </a:r>
            <a:endParaRPr lang="en-IN" sz="2400" b="1" dirty="0" smtClean="0">
              <a:latin typeface="Arial" panose="020B0604020202020204" pitchFamily="34" charset="0"/>
              <a:cs typeface="Arial" panose="020B0604020202020204" pitchFamily="34" charset="0"/>
            </a:endParaRPr>
          </a:p>
          <a:p>
            <a:pPr algn="ctr"/>
            <a:r>
              <a:rPr lang="en-IN" sz="2400" b="1" u="sng" dirty="0" smtClean="0">
                <a:latin typeface="Arial" panose="020B0604020202020204" pitchFamily="34" charset="0"/>
                <a:cs typeface="Arial" panose="020B0604020202020204" pitchFamily="34" charset="0"/>
              </a:rPr>
              <a:t>Subjects </a:t>
            </a:r>
            <a:r>
              <a:rPr lang="en-IN" sz="2400" b="1" u="sng" dirty="0">
                <a:latin typeface="Arial" panose="020B0604020202020204" pitchFamily="34" charset="0"/>
                <a:cs typeface="Arial" panose="020B0604020202020204" pitchFamily="34" charset="0"/>
              </a:rPr>
              <a:t>and verbs must always agree in </a:t>
            </a:r>
            <a:r>
              <a:rPr lang="en-IN" sz="2400" b="1" u="sng" dirty="0" smtClean="0">
                <a:latin typeface="Arial" panose="020B0604020202020204" pitchFamily="34" charset="0"/>
                <a:cs typeface="Arial" panose="020B0604020202020204" pitchFamily="34" charset="0"/>
              </a:rPr>
              <a:t>number</a:t>
            </a:r>
            <a:r>
              <a:rPr lang="en-IN" sz="2400" b="1" u="sng" dirty="0">
                <a:latin typeface="Arial" panose="020B0604020202020204" pitchFamily="34" charset="0"/>
                <a:cs typeface="Arial" panose="020B0604020202020204" pitchFamily="34" charset="0"/>
              </a:rPr>
              <a:t>. </a:t>
            </a:r>
            <a:endParaRPr lang="en-US" sz="2400" b="1"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2485621" y="2884868"/>
            <a:ext cx="4881093" cy="3129566"/>
          </a:xfrm>
          <a:prstGeom prst="rect">
            <a:avLst/>
          </a:prstGeom>
        </p:spPr>
      </p:pic>
    </p:spTree>
    <p:extLst>
      <p:ext uri="{BB962C8B-B14F-4D97-AF65-F5344CB8AC3E}">
        <p14:creationId xmlns:p14="http://schemas.microsoft.com/office/powerpoint/2010/main" val="297035318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648971" y="186100"/>
            <a:ext cx="3474720" cy="5120640"/>
          </a:xfrm>
        </p:spPr>
        <p:txBody>
          <a:bodyPr>
            <a:noAutofit/>
          </a:bodyPr>
          <a:lstStyle/>
          <a:p>
            <a:r>
              <a:rPr lang="en-IN" sz="2400" b="1" dirty="0">
                <a:latin typeface="Arial" panose="020B0604020202020204" pitchFamily="34" charset="0"/>
                <a:cs typeface="Arial" panose="020B0604020202020204" pitchFamily="34" charset="0"/>
              </a:rPr>
              <a:t>For example:</a:t>
            </a:r>
            <a:endParaRPr lang="en-US" sz="2400" b="1" dirty="0">
              <a:latin typeface="Arial" panose="020B0604020202020204" pitchFamily="34" charset="0"/>
              <a:cs typeface="Arial" panose="020B0604020202020204" pitchFamily="34" charset="0"/>
            </a:endParaRPr>
          </a:p>
          <a:p>
            <a:pPr marL="0" indent="0">
              <a:buNone/>
            </a:pPr>
            <a:r>
              <a:rPr lang="en-IN" sz="2400" b="1" dirty="0">
                <a:latin typeface="Arial" panose="020B0604020202020204" pitchFamily="34" charset="0"/>
                <a:cs typeface="Arial" panose="020B0604020202020204" pitchFamily="34" charset="0"/>
              </a:rPr>
              <a:t>The light in the  lamppost </a:t>
            </a:r>
            <a:r>
              <a:rPr lang="en-IN" sz="2400" b="1" u="sng" dirty="0">
                <a:latin typeface="Arial" panose="020B0604020202020204" pitchFamily="34" charset="0"/>
                <a:cs typeface="Arial" panose="020B0604020202020204" pitchFamily="34" charset="0"/>
              </a:rPr>
              <a:t>flickers</a:t>
            </a:r>
            <a:r>
              <a:rPr lang="en-IN" sz="2400" b="1" dirty="0">
                <a:latin typeface="Arial" panose="020B0604020202020204" pitchFamily="34" charset="0"/>
                <a:cs typeface="Arial" panose="020B0604020202020204" pitchFamily="34" charset="0"/>
              </a:rPr>
              <a:t> each night.</a:t>
            </a:r>
            <a:endParaRPr lang="en-US" sz="2400" b="1" dirty="0">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In this sentence, the subject </a:t>
            </a:r>
            <a:r>
              <a:rPr lang="en-IN" sz="2400" b="1" u="sng" dirty="0">
                <a:latin typeface="Arial" panose="020B0604020202020204" pitchFamily="34" charset="0"/>
                <a:cs typeface="Arial" panose="020B0604020202020204" pitchFamily="34" charset="0"/>
              </a:rPr>
              <a:t>light is singular</a:t>
            </a:r>
            <a:r>
              <a:rPr lang="en-IN" sz="2400" b="1" dirty="0">
                <a:latin typeface="Arial" panose="020B0604020202020204" pitchFamily="34" charset="0"/>
                <a:cs typeface="Arial" panose="020B0604020202020204" pitchFamily="34" charset="0"/>
              </a:rPr>
              <a:t>; therefore, the verb that describes the action of the subject must also be </a:t>
            </a:r>
            <a:r>
              <a:rPr lang="en-IN" sz="2400" b="1" u="sng" dirty="0">
                <a:latin typeface="Arial" panose="020B0604020202020204" pitchFamily="34" charset="0"/>
                <a:cs typeface="Arial" panose="020B0604020202020204" pitchFamily="34" charset="0"/>
              </a:rPr>
              <a:t>singular</a:t>
            </a:r>
            <a:r>
              <a:rPr lang="en-IN" sz="2400" b="1" dirty="0">
                <a:latin typeface="Arial" panose="020B0604020202020204" pitchFamily="34" charset="0"/>
                <a:cs typeface="Arial" panose="020B0604020202020204" pitchFamily="34" charset="0"/>
              </a:rPr>
              <a:t>: flickers. </a:t>
            </a:r>
            <a:endParaRPr lang="en-US" sz="2400" b="1" dirty="0">
              <a:latin typeface="Arial" panose="020B0604020202020204" pitchFamily="34" charset="0"/>
              <a:cs typeface="Arial" panose="020B0604020202020204" pitchFamily="34" charset="0"/>
            </a:endParaRPr>
          </a:p>
          <a:p>
            <a:endParaRPr lang="en-US" sz="2400" b="1" dirty="0">
              <a:latin typeface="Arial" panose="020B0604020202020204" pitchFamily="34" charset="0"/>
              <a:cs typeface="Arial" panose="020B0604020202020204" pitchFamily="34" charset="0"/>
            </a:endParaRPr>
          </a:p>
        </p:txBody>
      </p:sp>
      <p:sp>
        <p:nvSpPr>
          <p:cNvPr id="4" name="Content Placeholder 3"/>
          <p:cNvSpPr>
            <a:spLocks noGrp="1"/>
          </p:cNvSpPr>
          <p:nvPr>
            <p:ph sz="half" idx="2"/>
          </p:nvPr>
        </p:nvSpPr>
        <p:spPr>
          <a:xfrm>
            <a:off x="7830998" y="1538382"/>
            <a:ext cx="3474720" cy="5120640"/>
          </a:xfrm>
        </p:spPr>
        <p:txBody>
          <a:bodyPr>
            <a:normAutofit fontScale="92500" lnSpcReduction="10000"/>
          </a:bodyPr>
          <a:lstStyle/>
          <a:p>
            <a:pPr marL="0" indent="0">
              <a:buNone/>
            </a:pPr>
            <a:endParaRPr lang="en-US" dirty="0"/>
          </a:p>
          <a:p>
            <a:r>
              <a:rPr lang="en-IN" sz="2400" b="1" dirty="0">
                <a:latin typeface="Arial" panose="020B0604020202020204" pitchFamily="34" charset="0"/>
                <a:cs typeface="Arial" panose="020B0604020202020204" pitchFamily="34" charset="0"/>
              </a:rPr>
              <a:t>If the subject was </a:t>
            </a:r>
            <a:r>
              <a:rPr lang="en-IN" sz="2400" b="1" u="sng" dirty="0">
                <a:latin typeface="Arial" panose="020B0604020202020204" pitchFamily="34" charset="0"/>
                <a:cs typeface="Arial" panose="020B0604020202020204" pitchFamily="34" charset="0"/>
              </a:rPr>
              <a:t>plural</a:t>
            </a:r>
            <a:r>
              <a:rPr lang="en-IN" sz="2400" b="1" dirty="0">
                <a:latin typeface="Arial" panose="020B0604020202020204" pitchFamily="34" charset="0"/>
                <a:cs typeface="Arial" panose="020B0604020202020204" pitchFamily="34" charset="0"/>
              </a:rPr>
              <a:t>, the verbs would have to change form to agree with the subject.</a:t>
            </a:r>
            <a:endParaRPr lang="en-US" sz="2400" b="1" dirty="0">
              <a:latin typeface="Arial" panose="020B0604020202020204" pitchFamily="34" charset="0"/>
              <a:cs typeface="Arial" panose="020B0604020202020204" pitchFamily="34" charset="0"/>
            </a:endParaRPr>
          </a:p>
          <a:p>
            <a:pPr marL="0" indent="0">
              <a:buNone/>
            </a:pPr>
            <a:r>
              <a:rPr lang="en-IN" sz="2400" b="1" dirty="0">
                <a:latin typeface="Arial" panose="020B0604020202020204" pitchFamily="34" charset="0"/>
                <a:cs typeface="Arial" panose="020B0604020202020204" pitchFamily="34" charset="0"/>
              </a:rPr>
              <a:t>For example: </a:t>
            </a:r>
            <a:endParaRPr lang="en-US" sz="2400" b="1" dirty="0">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The </a:t>
            </a:r>
            <a:r>
              <a:rPr lang="en-IN" sz="2400" b="1" u="sng" dirty="0">
                <a:latin typeface="Arial" panose="020B0604020202020204" pitchFamily="34" charset="0"/>
                <a:cs typeface="Arial" panose="020B0604020202020204" pitchFamily="34" charset="0"/>
              </a:rPr>
              <a:t>lights</a:t>
            </a:r>
            <a:r>
              <a:rPr lang="en-IN" sz="2400" b="1" dirty="0">
                <a:latin typeface="Arial" panose="020B0604020202020204" pitchFamily="34" charset="0"/>
                <a:cs typeface="Arial" panose="020B0604020202020204" pitchFamily="34" charset="0"/>
              </a:rPr>
              <a:t> in the lampposts </a:t>
            </a:r>
            <a:r>
              <a:rPr lang="en-IN" sz="2400" b="1" u="sng" dirty="0">
                <a:latin typeface="Arial" panose="020B0604020202020204" pitchFamily="34" charset="0"/>
                <a:cs typeface="Arial" panose="020B0604020202020204" pitchFamily="34" charset="0"/>
              </a:rPr>
              <a:t>flicker</a:t>
            </a:r>
            <a:r>
              <a:rPr lang="en-IN" sz="2400" b="1" dirty="0">
                <a:latin typeface="Arial" panose="020B0604020202020204" pitchFamily="34" charset="0"/>
                <a:cs typeface="Arial" panose="020B0604020202020204" pitchFamily="34" charset="0"/>
              </a:rPr>
              <a:t> each night.</a:t>
            </a:r>
            <a:endParaRPr lang="en-US" sz="2400" b="1" dirty="0">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In this sentence, since the subject is now plural, the -s has to be removed from the verb in order to have subject-verb agreement.</a:t>
            </a:r>
            <a:endParaRPr lang="en-US" sz="2400" b="1"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1193224" y="734097"/>
            <a:ext cx="5846571" cy="5280338"/>
          </a:xfrm>
          <a:prstGeom prst="rect">
            <a:avLst/>
          </a:prstGeom>
        </p:spPr>
      </p:pic>
    </p:spTree>
    <p:extLst>
      <p:ext uri="{BB962C8B-B14F-4D97-AF65-F5344CB8AC3E}">
        <p14:creationId xmlns:p14="http://schemas.microsoft.com/office/powerpoint/2010/main" val="1468448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645" y="-460265"/>
            <a:ext cx="3108467" cy="4601183"/>
          </a:xfrm>
        </p:spPr>
        <p:txBody>
          <a:bodyPr>
            <a:normAutofit/>
          </a:bodyPr>
          <a:lstStyle/>
          <a:p>
            <a:r>
              <a:rPr lang="en-IN" sz="4000" b="1" dirty="0">
                <a:solidFill>
                  <a:schemeClr val="accent4">
                    <a:lumMod val="50000"/>
                  </a:schemeClr>
                </a:solidFill>
                <a:latin typeface="Arial" panose="020B0604020202020204" pitchFamily="34" charset="0"/>
                <a:cs typeface="Arial" panose="020B0604020202020204" pitchFamily="34" charset="0"/>
              </a:rPr>
              <a:t>Let’s Learn the basics first:- </a:t>
            </a:r>
            <a:endParaRPr lang="en-US" sz="4000" b="1" dirty="0">
              <a:solidFill>
                <a:schemeClr val="accent4">
                  <a:lumMod val="50000"/>
                </a:schemeClr>
              </a:solidFill>
              <a:latin typeface="Arial" panose="020B0604020202020204" pitchFamily="34" charset="0"/>
              <a:cs typeface="Arial" panose="020B0604020202020204" pitchFamily="34" charset="0"/>
            </a:endParaRPr>
          </a:p>
        </p:txBody>
      </p:sp>
      <p:pic>
        <p:nvPicPr>
          <p:cNvPr id="4" name="Content Placeholder 3"/>
          <p:cNvPicPr>
            <a:picLocks noGrp="1"/>
          </p:cNvPicPr>
          <p:nvPr>
            <p:ph idx="1"/>
          </p:nvPr>
        </p:nvPicPr>
        <p:blipFill>
          <a:blip r:embed="rId2"/>
          <a:stretch>
            <a:fillRect/>
          </a:stretch>
        </p:blipFill>
        <p:spPr>
          <a:xfrm>
            <a:off x="3659465" y="3258355"/>
            <a:ext cx="6836816" cy="3387144"/>
          </a:xfrm>
          <a:prstGeom prst="rect">
            <a:avLst/>
          </a:prstGeom>
        </p:spPr>
      </p:pic>
      <p:sp>
        <p:nvSpPr>
          <p:cNvPr id="5" name="Rectangle 4"/>
          <p:cNvSpPr/>
          <p:nvPr/>
        </p:nvSpPr>
        <p:spPr>
          <a:xfrm>
            <a:off x="3659465" y="798490"/>
            <a:ext cx="6695149" cy="22666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b="1" dirty="0">
                <a:solidFill>
                  <a:schemeClr val="bg1"/>
                </a:solidFill>
                <a:latin typeface="Arial" panose="020B0604020202020204" pitchFamily="34" charset="0"/>
                <a:cs typeface="Arial" panose="020B0604020202020204" pitchFamily="34" charset="0"/>
              </a:rPr>
              <a:t>In the present tense, verbs agree with their subjects in number (singular/plural) and in person (first, second, or third). The present tense ending –s (or –</a:t>
            </a:r>
            <a:r>
              <a:rPr lang="en-IN" sz="2000" b="1" dirty="0" err="1">
                <a:solidFill>
                  <a:schemeClr val="bg1"/>
                </a:solidFill>
                <a:latin typeface="Arial" panose="020B0604020202020204" pitchFamily="34" charset="0"/>
                <a:cs typeface="Arial" panose="020B0604020202020204" pitchFamily="34" charset="0"/>
              </a:rPr>
              <a:t>es</a:t>
            </a:r>
            <a:r>
              <a:rPr lang="en-IN" sz="2000" b="1" dirty="0">
                <a:solidFill>
                  <a:schemeClr val="bg1"/>
                </a:solidFill>
                <a:latin typeface="Arial" panose="020B0604020202020204" pitchFamily="34" charset="0"/>
                <a:cs typeface="Arial" panose="020B0604020202020204" pitchFamily="34" charset="0"/>
              </a:rPr>
              <a:t>) is used on a verb if the subject is third person singular. Otherwise, the verb takes no ending</a:t>
            </a:r>
            <a:r>
              <a:rPr lang="en-IN" dirty="0">
                <a:solidFill>
                  <a:schemeClr val="bg1"/>
                </a:solidFill>
              </a:rPr>
              <a:t>.      </a:t>
            </a:r>
            <a:endParaRPr lang="en-US" dirty="0">
              <a:solidFill>
                <a:schemeClr val="bg1"/>
              </a:solidFill>
            </a:endParaRPr>
          </a:p>
        </p:txBody>
      </p:sp>
    </p:spTree>
    <p:extLst>
      <p:ext uri="{BB962C8B-B14F-4D97-AF65-F5344CB8AC3E}">
        <p14:creationId xmlns:p14="http://schemas.microsoft.com/office/powerpoint/2010/main" val="277503830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6812" y="-247018"/>
            <a:ext cx="7315200" cy="3255264"/>
          </a:xfrm>
        </p:spPr>
        <p:txBody>
          <a:bodyPr>
            <a:normAutofit/>
          </a:bodyPr>
          <a:lstStyle/>
          <a:p>
            <a:r>
              <a:rPr lang="en-IN" sz="4800" b="1" dirty="0">
                <a:solidFill>
                  <a:schemeClr val="accent1">
                    <a:lumMod val="50000"/>
                  </a:schemeClr>
                </a:solidFill>
                <a:latin typeface="Arial" panose="020B0604020202020204" pitchFamily="34" charset="0"/>
                <a:cs typeface="Arial" panose="020B0604020202020204" pitchFamily="34" charset="0"/>
              </a:rPr>
              <a:t>Subject–Verb Agreement Rules</a:t>
            </a:r>
            <a:r>
              <a:rPr lang="en-US" sz="4800" b="1" dirty="0">
                <a:solidFill>
                  <a:schemeClr val="accent1">
                    <a:lumMod val="50000"/>
                  </a:schemeClr>
                </a:solidFill>
                <a:latin typeface="Arial" panose="020B0604020202020204" pitchFamily="34" charset="0"/>
                <a:cs typeface="Arial" panose="020B0604020202020204" pitchFamily="34" charset="0"/>
              </a:rPr>
              <a:t/>
            </a:r>
            <a:br>
              <a:rPr lang="en-US" sz="4800" b="1" dirty="0">
                <a:solidFill>
                  <a:schemeClr val="accent1">
                    <a:lumMod val="50000"/>
                  </a:schemeClr>
                </a:solidFill>
                <a:latin typeface="Arial" panose="020B0604020202020204" pitchFamily="34" charset="0"/>
                <a:cs typeface="Arial" panose="020B0604020202020204" pitchFamily="34" charset="0"/>
              </a:rPr>
            </a:br>
            <a:endParaRPr lang="en-US" sz="4800" b="1" dirty="0">
              <a:solidFill>
                <a:schemeClr val="accent1">
                  <a:lumMod val="50000"/>
                </a:schemeClr>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553791" y="2692712"/>
            <a:ext cx="8036417" cy="3386115"/>
          </a:xfrm>
        </p:spPr>
        <p:txBody>
          <a:bodyPr>
            <a:normAutofit/>
          </a:bodyPr>
          <a:lstStyle/>
          <a:p>
            <a:pPr lvl="0"/>
            <a:r>
              <a:rPr lang="en-IN" b="1" dirty="0">
                <a:solidFill>
                  <a:schemeClr val="accent1">
                    <a:lumMod val="50000"/>
                  </a:schemeClr>
                </a:solidFill>
                <a:latin typeface="Arial" panose="020B0604020202020204" pitchFamily="34" charset="0"/>
                <a:cs typeface="Arial" panose="020B0604020202020204" pitchFamily="34" charset="0"/>
              </a:rPr>
              <a:t>1.   If the subject is singular, the verb must be singular too.</a:t>
            </a:r>
            <a:endParaRPr lang="en-US" b="1" dirty="0">
              <a:solidFill>
                <a:schemeClr val="accent1">
                  <a:lumMod val="50000"/>
                </a:schemeClr>
              </a:solidFill>
              <a:latin typeface="Arial" panose="020B0604020202020204" pitchFamily="34" charset="0"/>
              <a:cs typeface="Arial" panose="020B0604020202020204" pitchFamily="34" charset="0"/>
            </a:endParaRPr>
          </a:p>
          <a:p>
            <a:r>
              <a:rPr lang="en-IN" b="1" dirty="0">
                <a:solidFill>
                  <a:schemeClr val="accent1">
                    <a:lumMod val="50000"/>
                  </a:schemeClr>
                </a:solidFill>
                <a:latin typeface="Arial" panose="020B0604020202020204" pitchFamily="34" charset="0"/>
                <a:cs typeface="Arial" panose="020B0604020202020204" pitchFamily="34" charset="0"/>
              </a:rPr>
              <a:t>      </a:t>
            </a:r>
            <a:r>
              <a:rPr lang="en-IN" b="1" dirty="0">
                <a:solidFill>
                  <a:schemeClr val="bg1"/>
                </a:solidFill>
                <a:latin typeface="Arial" panose="020B0604020202020204" pitchFamily="34" charset="0"/>
                <a:cs typeface="Arial" panose="020B0604020202020204" pitchFamily="34" charset="0"/>
              </a:rPr>
              <a:t>Example: </a:t>
            </a:r>
            <a:r>
              <a:rPr lang="en-IN" b="1" u="sng" dirty="0">
                <a:solidFill>
                  <a:schemeClr val="bg1"/>
                </a:solidFill>
                <a:latin typeface="Arial" panose="020B0604020202020204" pitchFamily="34" charset="0"/>
                <a:cs typeface="Arial" panose="020B0604020202020204" pitchFamily="34" charset="0"/>
              </a:rPr>
              <a:t>She</a:t>
            </a:r>
            <a:r>
              <a:rPr lang="en-IN" b="1" dirty="0">
                <a:solidFill>
                  <a:schemeClr val="bg1"/>
                </a:solidFill>
                <a:latin typeface="Arial" panose="020B0604020202020204" pitchFamily="34" charset="0"/>
                <a:cs typeface="Arial" panose="020B0604020202020204" pitchFamily="34" charset="0"/>
              </a:rPr>
              <a:t> </a:t>
            </a:r>
            <a:r>
              <a:rPr lang="en-IN" b="1" i="1" dirty="0">
                <a:solidFill>
                  <a:schemeClr val="bg1"/>
                </a:solidFill>
                <a:latin typeface="Arial" panose="020B0604020202020204" pitchFamily="34" charset="0"/>
                <a:cs typeface="Arial" panose="020B0604020202020204" pitchFamily="34" charset="0"/>
              </a:rPr>
              <a:t>writes</a:t>
            </a:r>
            <a:r>
              <a:rPr lang="en-IN" b="1" dirty="0">
                <a:solidFill>
                  <a:schemeClr val="bg1"/>
                </a:solidFill>
                <a:latin typeface="Arial" panose="020B0604020202020204" pitchFamily="34" charset="0"/>
                <a:cs typeface="Arial" panose="020B0604020202020204" pitchFamily="34" charset="0"/>
              </a:rPr>
              <a:t> every day.</a:t>
            </a:r>
            <a:endParaRPr lang="en-US" b="1" dirty="0">
              <a:solidFill>
                <a:schemeClr val="bg1"/>
              </a:solidFill>
              <a:latin typeface="Arial" panose="020B0604020202020204" pitchFamily="34" charset="0"/>
              <a:cs typeface="Arial" panose="020B0604020202020204" pitchFamily="34" charset="0"/>
            </a:endParaRPr>
          </a:p>
          <a:p>
            <a:r>
              <a:rPr lang="en-IN" b="1" dirty="0">
                <a:solidFill>
                  <a:schemeClr val="bg1"/>
                </a:solidFill>
                <a:latin typeface="Arial" panose="020B0604020202020204" pitchFamily="34" charset="0"/>
                <a:cs typeface="Arial" panose="020B0604020202020204" pitchFamily="34" charset="0"/>
              </a:rPr>
              <a:t>      Exception: When using the singular "they," use plural      verb forms.</a:t>
            </a:r>
            <a:endParaRPr lang="en-US" b="1" dirty="0">
              <a:solidFill>
                <a:schemeClr val="bg1"/>
              </a:solidFill>
              <a:latin typeface="Arial" panose="020B0604020202020204" pitchFamily="34" charset="0"/>
              <a:cs typeface="Arial" panose="020B0604020202020204" pitchFamily="34" charset="0"/>
            </a:endParaRPr>
          </a:p>
          <a:p>
            <a:r>
              <a:rPr lang="en-IN" b="1" dirty="0">
                <a:solidFill>
                  <a:schemeClr val="bg1"/>
                </a:solidFill>
                <a:latin typeface="Arial" panose="020B0604020202020204" pitchFamily="34" charset="0"/>
                <a:cs typeface="Arial" panose="020B0604020202020204" pitchFamily="34" charset="0"/>
              </a:rPr>
              <a:t>      If the subject is plural, the verb must also be plural.</a:t>
            </a:r>
            <a:endParaRPr lang="en-US" b="1" dirty="0">
              <a:solidFill>
                <a:schemeClr val="bg1"/>
              </a:solidFill>
              <a:latin typeface="Arial" panose="020B0604020202020204" pitchFamily="34" charset="0"/>
              <a:cs typeface="Arial" panose="020B0604020202020204" pitchFamily="34" charset="0"/>
            </a:endParaRPr>
          </a:p>
          <a:p>
            <a:r>
              <a:rPr lang="en-IN" b="1" dirty="0">
                <a:solidFill>
                  <a:schemeClr val="bg1"/>
                </a:solidFill>
                <a:latin typeface="Arial" panose="020B0604020202020204" pitchFamily="34" charset="0"/>
                <a:cs typeface="Arial" panose="020B0604020202020204" pitchFamily="34" charset="0"/>
              </a:rPr>
              <a:t>      Example: </a:t>
            </a:r>
            <a:r>
              <a:rPr lang="en-IN" b="1" u="sng" dirty="0">
                <a:solidFill>
                  <a:schemeClr val="bg1"/>
                </a:solidFill>
                <a:latin typeface="Arial" panose="020B0604020202020204" pitchFamily="34" charset="0"/>
                <a:cs typeface="Arial" panose="020B0604020202020204" pitchFamily="34" charset="0"/>
              </a:rPr>
              <a:t>They</a:t>
            </a:r>
            <a:r>
              <a:rPr lang="en-IN" b="1" dirty="0">
                <a:solidFill>
                  <a:schemeClr val="bg1"/>
                </a:solidFill>
                <a:latin typeface="Arial" panose="020B0604020202020204" pitchFamily="34" charset="0"/>
                <a:cs typeface="Arial" panose="020B0604020202020204" pitchFamily="34" charset="0"/>
              </a:rPr>
              <a:t> </a:t>
            </a:r>
            <a:r>
              <a:rPr lang="en-IN" b="1" i="1" dirty="0">
                <a:solidFill>
                  <a:schemeClr val="bg1"/>
                </a:solidFill>
                <a:latin typeface="Arial" panose="020B0604020202020204" pitchFamily="34" charset="0"/>
                <a:cs typeface="Arial" panose="020B0604020202020204" pitchFamily="34" charset="0"/>
              </a:rPr>
              <a:t>write</a:t>
            </a:r>
            <a:r>
              <a:rPr lang="en-IN" b="1" dirty="0">
                <a:solidFill>
                  <a:schemeClr val="bg1"/>
                </a:solidFill>
                <a:latin typeface="Arial" panose="020B0604020202020204" pitchFamily="34" charset="0"/>
                <a:cs typeface="Arial" panose="020B0604020202020204" pitchFamily="34" charset="0"/>
              </a:rPr>
              <a:t> every day.</a:t>
            </a:r>
            <a:endParaRPr lang="en-US" b="1" dirty="0">
              <a:solidFill>
                <a:schemeClr val="bg1"/>
              </a:solidFill>
              <a:latin typeface="Arial" panose="020B0604020202020204" pitchFamily="34" charset="0"/>
              <a:cs typeface="Arial" panose="020B0604020202020204" pitchFamily="34" charset="0"/>
            </a:endParaRPr>
          </a:p>
          <a:p>
            <a:r>
              <a:rPr lang="en-IN" b="1" dirty="0">
                <a:solidFill>
                  <a:schemeClr val="bg1"/>
                </a:solidFill>
                <a:latin typeface="Arial" panose="020B0604020202020204" pitchFamily="34" charset="0"/>
                <a:cs typeface="Arial" panose="020B0604020202020204" pitchFamily="34" charset="0"/>
              </a:rPr>
              <a:t> </a:t>
            </a:r>
            <a:endParaRPr lang="en-US" b="1" dirty="0">
              <a:solidFill>
                <a:schemeClr val="bg1"/>
              </a:solidFill>
              <a:latin typeface="Arial" panose="020B0604020202020204" pitchFamily="34" charset="0"/>
              <a:cs typeface="Arial" panose="020B0604020202020204" pitchFamily="34" charset="0"/>
            </a:endParaRPr>
          </a:p>
          <a:p>
            <a:endParaRPr lang="en-US" sz="2600" b="1" dirty="0">
              <a:latin typeface="Arial" panose="020B0604020202020204" pitchFamily="34" charset="0"/>
              <a:cs typeface="Arial" panose="020B0604020202020204" pitchFamily="34" charset="0"/>
            </a:endParaRPr>
          </a:p>
          <a:p>
            <a:endParaRPr lang="en-US" sz="2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420781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5448" y="-491715"/>
            <a:ext cx="7315200" cy="2874307"/>
          </a:xfrm>
        </p:spPr>
        <p:txBody>
          <a:bodyPr>
            <a:normAutofit/>
          </a:bodyPr>
          <a:lstStyle/>
          <a:p>
            <a:pPr lvl="0"/>
            <a:r>
              <a:rPr lang="en-IN" sz="3100" b="1" dirty="0">
                <a:solidFill>
                  <a:schemeClr val="accent1">
                    <a:lumMod val="50000"/>
                  </a:schemeClr>
                </a:solidFill>
                <a:latin typeface="Arial" panose="020B0604020202020204" pitchFamily="34" charset="0"/>
                <a:cs typeface="Arial" panose="020B0604020202020204" pitchFamily="34" charset="0"/>
              </a:rPr>
              <a:t>2</a:t>
            </a:r>
            <a:r>
              <a:rPr lang="en-IN" sz="2400" b="1" dirty="0">
                <a:solidFill>
                  <a:schemeClr val="accent1">
                    <a:lumMod val="50000"/>
                  </a:schemeClr>
                </a:solidFill>
                <a:latin typeface="Arial" panose="020B0604020202020204" pitchFamily="34" charset="0"/>
                <a:cs typeface="Arial" panose="020B0604020202020204" pitchFamily="34" charset="0"/>
              </a:rPr>
              <a:t>. When the subject of the sentence is composed of two or more nouns or pronouns connected by and, use a plural verb.</a:t>
            </a:r>
            <a:r>
              <a:rPr lang="en-US" sz="2400" b="1" dirty="0"/>
              <a:t/>
            </a:r>
            <a:br>
              <a:rPr lang="en-US" sz="2400" b="1" dirty="0"/>
            </a:br>
            <a:endParaRPr lang="en-US" sz="2400" b="1" dirty="0"/>
          </a:p>
        </p:txBody>
      </p:sp>
      <p:pic>
        <p:nvPicPr>
          <p:cNvPr id="4" name="Picture 3"/>
          <p:cNvPicPr>
            <a:picLocks noChangeAspect="1"/>
          </p:cNvPicPr>
          <p:nvPr/>
        </p:nvPicPr>
        <p:blipFill>
          <a:blip r:embed="rId2"/>
          <a:stretch>
            <a:fillRect/>
          </a:stretch>
        </p:blipFill>
        <p:spPr>
          <a:xfrm>
            <a:off x="6194087" y="3932102"/>
            <a:ext cx="5821902" cy="2078374"/>
          </a:xfrm>
          <a:prstGeom prst="rect">
            <a:avLst/>
          </a:prstGeom>
        </p:spPr>
      </p:pic>
      <p:sp>
        <p:nvSpPr>
          <p:cNvPr id="3" name="Subtitle 2"/>
          <p:cNvSpPr>
            <a:spLocks noGrp="1"/>
          </p:cNvSpPr>
          <p:nvPr>
            <p:ph type="subTitle" idx="1"/>
          </p:nvPr>
        </p:nvSpPr>
        <p:spPr>
          <a:xfrm>
            <a:off x="155448" y="2150771"/>
            <a:ext cx="7315200" cy="3305085"/>
          </a:xfrm>
        </p:spPr>
        <p:txBody>
          <a:bodyPr/>
          <a:lstStyle/>
          <a:p>
            <a:r>
              <a:rPr lang="en-IN" b="1" dirty="0">
                <a:latin typeface="Arial" panose="020B0604020202020204" pitchFamily="34" charset="0"/>
                <a:cs typeface="Arial" panose="020B0604020202020204" pitchFamily="34" charset="0"/>
              </a:rPr>
              <a:t>Example: The doctoral student and the committee members </a:t>
            </a:r>
            <a:r>
              <a:rPr lang="en-IN" b="1" dirty="0" smtClean="0">
                <a:latin typeface="Arial" panose="020B0604020202020204" pitchFamily="34" charset="0"/>
                <a:cs typeface="Arial" panose="020B0604020202020204" pitchFamily="34" charset="0"/>
              </a:rPr>
              <a:t>___________ (write/writes) </a:t>
            </a:r>
            <a:r>
              <a:rPr lang="en-IN" b="1" dirty="0">
                <a:latin typeface="Arial" panose="020B0604020202020204" pitchFamily="34" charset="0"/>
                <a:cs typeface="Arial" panose="020B0604020202020204" pitchFamily="34" charset="0"/>
              </a:rPr>
              <a:t>every day.</a:t>
            </a:r>
            <a:endParaRPr lang="en-US" b="1"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Example: The percentage of employees who called in sick and the number of employees who left their jobs within 2 years </a:t>
            </a:r>
            <a:r>
              <a:rPr lang="en-IN" b="1" i="1" dirty="0" smtClean="0">
                <a:latin typeface="Arial" panose="020B0604020202020204" pitchFamily="34" charset="0"/>
                <a:cs typeface="Arial" panose="020B0604020202020204" pitchFamily="34" charset="0"/>
              </a:rPr>
              <a:t>__________</a:t>
            </a:r>
            <a:r>
              <a:rPr lang="en-IN" b="1" dirty="0" smtClean="0">
                <a:latin typeface="Arial" panose="020B0604020202020204" pitchFamily="34" charset="0"/>
                <a:cs typeface="Arial" panose="020B0604020202020204" pitchFamily="34" charset="0"/>
              </a:rPr>
              <a:t> (is/are) reflective </a:t>
            </a:r>
            <a:r>
              <a:rPr lang="en-IN" b="1" dirty="0">
                <a:latin typeface="Arial" panose="020B0604020202020204" pitchFamily="34" charset="0"/>
                <a:cs typeface="Arial" panose="020B0604020202020204" pitchFamily="34" charset="0"/>
              </a:rPr>
              <a:t>of the level of job satisfaction.</a:t>
            </a:r>
            <a:endParaRPr lang="en-US" b="1"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39312355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1206" y="860566"/>
            <a:ext cx="7315200" cy="3255264"/>
          </a:xfrm>
        </p:spPr>
        <p:txBody>
          <a:bodyPr>
            <a:normAutofit fontScale="90000"/>
          </a:bodyPr>
          <a:lstStyle/>
          <a:p>
            <a:pPr lvl="0"/>
            <a:r>
              <a:rPr lang="en-IN" sz="2700" b="1" dirty="0">
                <a:solidFill>
                  <a:schemeClr val="accent4">
                    <a:lumMod val="75000"/>
                  </a:schemeClr>
                </a:solidFill>
                <a:latin typeface="Arial" panose="020B0604020202020204" pitchFamily="34" charset="0"/>
                <a:cs typeface="Arial" panose="020B0604020202020204" pitchFamily="34" charset="0"/>
              </a:rPr>
              <a:t>3. When there is one subject and more than one verb, the verbs throughout the sentence must agree with the subject.</a:t>
            </a:r>
            <a:r>
              <a:rPr lang="en-US" sz="2700" dirty="0">
                <a:solidFill>
                  <a:schemeClr val="accent4">
                    <a:lumMod val="75000"/>
                  </a:schemeClr>
                </a:solidFill>
                <a:latin typeface="Arial" panose="020B0604020202020204" pitchFamily="34" charset="0"/>
                <a:cs typeface="Arial" panose="020B0604020202020204" pitchFamily="34" charset="0"/>
              </a:rPr>
              <a:t/>
            </a:r>
            <a:br>
              <a:rPr lang="en-US" sz="2700" dirty="0">
                <a:solidFill>
                  <a:schemeClr val="accent4">
                    <a:lumMod val="75000"/>
                  </a:schemeClr>
                </a:solidFill>
                <a:latin typeface="Arial" panose="020B0604020202020204" pitchFamily="34" charset="0"/>
                <a:cs typeface="Arial" panose="020B0604020202020204" pitchFamily="34" charset="0"/>
              </a:rPr>
            </a:br>
            <a:r>
              <a:rPr lang="en-IN" sz="2700" b="1" dirty="0">
                <a:latin typeface="Arial" panose="020B0604020202020204" pitchFamily="34" charset="0"/>
                <a:cs typeface="Arial" panose="020B0604020202020204" pitchFamily="34" charset="0"/>
              </a:rPr>
              <a:t> </a:t>
            </a:r>
            <a:r>
              <a:rPr lang="en-US" sz="2700" dirty="0">
                <a:latin typeface="Arial" panose="020B0604020202020204" pitchFamily="34" charset="0"/>
                <a:cs typeface="Arial" panose="020B0604020202020204" pitchFamily="34" charset="0"/>
              </a:rPr>
              <a:t/>
            </a:r>
            <a:br>
              <a:rPr lang="en-US" sz="2700" dirty="0">
                <a:latin typeface="Arial" panose="020B0604020202020204" pitchFamily="34" charset="0"/>
                <a:cs typeface="Arial" panose="020B0604020202020204" pitchFamily="34" charset="0"/>
              </a:rPr>
            </a:br>
            <a:r>
              <a:rPr lang="en-IN" sz="2400" b="1" dirty="0">
                <a:latin typeface="Arial" panose="020B0604020202020204" pitchFamily="34" charset="0"/>
                <a:cs typeface="Arial" panose="020B0604020202020204" pitchFamily="34" charset="0"/>
              </a:rPr>
              <a:t>Example</a:t>
            </a:r>
            <a:r>
              <a:rPr lang="en-IN" sz="2400" dirty="0">
                <a:latin typeface="Arial" panose="020B0604020202020204" pitchFamily="34" charset="0"/>
                <a:cs typeface="Arial" panose="020B0604020202020204" pitchFamily="34" charset="0"/>
              </a:rPr>
              <a:t>: </a:t>
            </a:r>
            <a:r>
              <a:rPr lang="en-IN" sz="2400" b="1" u="sng" dirty="0">
                <a:latin typeface="Arial" panose="020B0604020202020204" pitchFamily="34" charset="0"/>
                <a:cs typeface="Arial" panose="020B0604020202020204" pitchFamily="34" charset="0"/>
              </a:rPr>
              <a:t>Interviews</a:t>
            </a:r>
            <a:r>
              <a:rPr lang="en-IN" sz="2400" b="1" dirty="0">
                <a:latin typeface="Arial" panose="020B0604020202020204" pitchFamily="34" charset="0"/>
                <a:cs typeface="Arial" panose="020B0604020202020204" pitchFamily="34" charset="0"/>
              </a:rPr>
              <a:t> are one way to collect data and </a:t>
            </a:r>
            <a:r>
              <a:rPr lang="en-IN" sz="2400" b="1" dirty="0" smtClean="0">
                <a:latin typeface="Arial" panose="020B0604020202020204" pitchFamily="34" charset="0"/>
                <a:cs typeface="Arial" panose="020B0604020202020204" pitchFamily="34" charset="0"/>
              </a:rPr>
              <a:t>_________ (allow/allows) researchers </a:t>
            </a:r>
            <a:r>
              <a:rPr lang="en-IN" sz="2400" b="1" dirty="0">
                <a:latin typeface="Arial" panose="020B0604020202020204" pitchFamily="34" charset="0"/>
                <a:cs typeface="Arial" panose="020B0604020202020204" pitchFamily="34" charset="0"/>
              </a:rPr>
              <a:t>to gain an in-depth understanding of participants.</a:t>
            </a:r>
            <a:r>
              <a:rPr lang="en-US" b="1" dirty="0"/>
              <a:t/>
            </a:r>
            <a:br>
              <a:rPr lang="en-US" b="1" dirty="0"/>
            </a:br>
            <a:endParaRPr lang="en-US" b="1" dirty="0"/>
          </a:p>
        </p:txBody>
      </p:sp>
      <p:sp>
        <p:nvSpPr>
          <p:cNvPr id="3" name="Subtitle 2"/>
          <p:cNvSpPr>
            <a:spLocks noGrp="1"/>
          </p:cNvSpPr>
          <p:nvPr>
            <p:ph type="subTitle" idx="1"/>
          </p:nvPr>
        </p:nvSpPr>
        <p:spPr>
          <a:xfrm>
            <a:off x="181206" y="3490175"/>
            <a:ext cx="7315200" cy="1978561"/>
          </a:xfrm>
        </p:spPr>
        <p:txBody>
          <a:bodyPr>
            <a:normAutofit/>
          </a:bodyPr>
          <a:lstStyle/>
          <a:p>
            <a:r>
              <a:rPr lang="en-IN" b="1" dirty="0">
                <a:solidFill>
                  <a:schemeClr val="bg1"/>
                </a:solidFill>
                <a:latin typeface="Arial" panose="020B0604020202020204" pitchFamily="34" charset="0"/>
                <a:cs typeface="Arial" panose="020B0604020202020204" pitchFamily="34" charset="0"/>
              </a:rPr>
              <a:t>Example: An assumption </a:t>
            </a:r>
            <a:r>
              <a:rPr lang="en-IN" b="1" dirty="0" smtClean="0">
                <a:solidFill>
                  <a:schemeClr val="bg1"/>
                </a:solidFill>
                <a:latin typeface="Arial" panose="020B0604020202020204" pitchFamily="34" charset="0"/>
                <a:cs typeface="Arial" panose="020B0604020202020204" pitchFamily="34" charset="0"/>
              </a:rPr>
              <a:t>_________ (is/are) </a:t>
            </a:r>
            <a:r>
              <a:rPr lang="en-IN" b="1" dirty="0">
                <a:solidFill>
                  <a:schemeClr val="bg1"/>
                </a:solidFill>
                <a:latin typeface="Arial" panose="020B0604020202020204" pitchFamily="34" charset="0"/>
                <a:cs typeface="Arial" panose="020B0604020202020204" pitchFamily="34" charset="0"/>
              </a:rPr>
              <a:t>something that is generally accepted as true and is an important consideration when conducting a doctoral study.</a:t>
            </a:r>
            <a:endParaRPr lang="en-US" b="1" dirty="0">
              <a:solidFill>
                <a:schemeClr val="bg1"/>
              </a:solidFill>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89586725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8942" y="991675"/>
            <a:ext cx="8286426" cy="2112136"/>
          </a:xfrm>
        </p:spPr>
        <p:txBody>
          <a:bodyPr>
            <a:normAutofit fontScale="90000"/>
          </a:bodyPr>
          <a:lstStyle/>
          <a:p>
            <a:pPr lvl="0"/>
            <a:r>
              <a:rPr lang="en-IN" sz="2700" b="1" dirty="0">
                <a:solidFill>
                  <a:schemeClr val="accent6">
                    <a:lumMod val="75000"/>
                  </a:schemeClr>
                </a:solidFill>
                <a:latin typeface="Arial" panose="020B0604020202020204" pitchFamily="34" charset="0"/>
                <a:cs typeface="Arial" panose="020B0604020202020204" pitchFamily="34" charset="0"/>
              </a:rPr>
              <a:t>4. When a phrase comes between the subject and the verb, remember that the verb still agrees with the subject, not the noun or pronoun in the phrase following the subject of the sentence.</a:t>
            </a:r>
            <a:r>
              <a:rPr lang="en-US" dirty="0">
                <a:solidFill>
                  <a:schemeClr val="accent6">
                    <a:lumMod val="75000"/>
                  </a:schemeClr>
                </a:solidFill>
              </a:rPr>
              <a:t/>
            </a:r>
            <a:br>
              <a:rPr lang="en-US" dirty="0">
                <a:solidFill>
                  <a:schemeClr val="accent6">
                    <a:lumMod val="75000"/>
                  </a:schemeClr>
                </a:solidFill>
              </a:rPr>
            </a:br>
            <a:endParaRPr lang="en-US" dirty="0">
              <a:solidFill>
                <a:schemeClr val="accent6">
                  <a:lumMod val="75000"/>
                </a:schemeClr>
              </a:solidFill>
            </a:endParaRPr>
          </a:p>
        </p:txBody>
      </p:sp>
      <p:sp>
        <p:nvSpPr>
          <p:cNvPr id="3" name="Subtitle 2"/>
          <p:cNvSpPr>
            <a:spLocks noGrp="1"/>
          </p:cNvSpPr>
          <p:nvPr>
            <p:ph type="subTitle" idx="1"/>
          </p:nvPr>
        </p:nvSpPr>
        <p:spPr>
          <a:xfrm>
            <a:off x="1190168" y="2408350"/>
            <a:ext cx="7315200" cy="3683357"/>
          </a:xfrm>
        </p:spPr>
        <p:txBody>
          <a:bodyPr/>
          <a:lstStyle/>
          <a:p>
            <a:r>
              <a:rPr lang="en-IN" b="1" dirty="0">
                <a:latin typeface="Arial" panose="020B0604020202020204" pitchFamily="34" charset="0"/>
                <a:cs typeface="Arial" panose="020B0604020202020204" pitchFamily="34" charset="0"/>
              </a:rPr>
              <a:t>Example: The student, as well as the committee members, </a:t>
            </a:r>
            <a:r>
              <a:rPr lang="en-IN" b="1" dirty="0" smtClean="0">
                <a:latin typeface="Arial" panose="020B0604020202020204" pitchFamily="34" charset="0"/>
                <a:cs typeface="Arial" panose="020B0604020202020204" pitchFamily="34" charset="0"/>
              </a:rPr>
              <a:t>_________ (is/are) </a:t>
            </a:r>
            <a:r>
              <a:rPr lang="en-IN" b="1" dirty="0">
                <a:latin typeface="Arial" panose="020B0604020202020204" pitchFamily="34" charset="0"/>
                <a:cs typeface="Arial" panose="020B0604020202020204" pitchFamily="34" charset="0"/>
              </a:rPr>
              <a:t>excited.</a:t>
            </a:r>
            <a:endParaRPr lang="en-US" b="1"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Example: The student with all the master’s degrees </a:t>
            </a:r>
            <a:r>
              <a:rPr lang="en-IN" b="1" i="1" dirty="0" smtClean="0">
                <a:latin typeface="Arial" panose="020B0604020202020204" pitchFamily="34" charset="0"/>
                <a:cs typeface="Arial" panose="020B0604020202020204" pitchFamily="34" charset="0"/>
              </a:rPr>
              <a:t>__________ </a:t>
            </a:r>
            <a:r>
              <a:rPr lang="en-IN" b="1" dirty="0" smtClean="0">
                <a:latin typeface="Arial" panose="020B0604020202020204" pitchFamily="34" charset="0"/>
                <a:cs typeface="Arial" panose="020B0604020202020204" pitchFamily="34" charset="0"/>
              </a:rPr>
              <a:t>(is/are) </a:t>
            </a:r>
            <a:r>
              <a:rPr lang="en-IN" b="1" dirty="0">
                <a:latin typeface="Arial" panose="020B0604020202020204" pitchFamily="34" charset="0"/>
                <a:cs typeface="Arial" panose="020B0604020202020204" pitchFamily="34" charset="0"/>
              </a:rPr>
              <a:t>very motivated.</a:t>
            </a:r>
            <a:endParaRPr lang="en-US" b="1"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Example: </a:t>
            </a:r>
            <a:r>
              <a:rPr lang="en-IN" b="1" u="sng" dirty="0">
                <a:latin typeface="Arial" panose="020B0604020202020204" pitchFamily="34" charset="0"/>
                <a:cs typeface="Arial" panose="020B0604020202020204" pitchFamily="34" charset="0"/>
              </a:rPr>
              <a:t>Strategies</a:t>
            </a:r>
            <a:r>
              <a:rPr lang="en-IN" b="1" dirty="0">
                <a:latin typeface="Arial" panose="020B0604020202020204" pitchFamily="34" charset="0"/>
                <a:cs typeface="Arial" panose="020B0604020202020204" pitchFamily="34" charset="0"/>
              </a:rPr>
              <a:t> that the teacher uses to encourage classroom participation </a:t>
            </a:r>
            <a:r>
              <a:rPr lang="en-IN" b="1" dirty="0" smtClean="0">
                <a:latin typeface="Arial" panose="020B0604020202020204" pitchFamily="34" charset="0"/>
                <a:cs typeface="Arial" panose="020B0604020202020204" pitchFamily="34" charset="0"/>
              </a:rPr>
              <a:t>___________ (include/includes) using </a:t>
            </a:r>
            <a:r>
              <a:rPr lang="en-IN" b="1" dirty="0">
                <a:latin typeface="Arial" panose="020B0604020202020204" pitchFamily="34" charset="0"/>
                <a:cs typeface="Arial" panose="020B0604020202020204" pitchFamily="34" charset="0"/>
              </a:rPr>
              <a:t>small groups and clarifying expectations</a:t>
            </a:r>
            <a:r>
              <a:rPr lang="en-IN"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37974492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6812" y="-1212932"/>
            <a:ext cx="8602186" cy="3255264"/>
          </a:xfrm>
        </p:spPr>
        <p:txBody>
          <a:bodyPr>
            <a:normAutofit/>
          </a:bodyPr>
          <a:lstStyle/>
          <a:p>
            <a:r>
              <a:rPr lang="en-IN" sz="2800" b="1" dirty="0">
                <a:solidFill>
                  <a:schemeClr val="accent6">
                    <a:lumMod val="75000"/>
                  </a:schemeClr>
                </a:solidFill>
                <a:latin typeface="Arial" panose="020B0604020202020204" pitchFamily="34" charset="0"/>
                <a:cs typeface="Arial" panose="020B0604020202020204" pitchFamily="34" charset="0"/>
              </a:rPr>
              <a:t>5. </a:t>
            </a:r>
            <a:r>
              <a:rPr lang="en-IN" sz="2400" b="1" dirty="0">
                <a:solidFill>
                  <a:schemeClr val="accent6">
                    <a:lumMod val="75000"/>
                  </a:schemeClr>
                </a:solidFill>
                <a:latin typeface="Arial" panose="020B0604020202020204" pitchFamily="34" charset="0"/>
                <a:cs typeface="Arial" panose="020B0604020202020204" pitchFamily="34" charset="0"/>
              </a:rPr>
              <a:t>If two subjects are joined with correlative conjunctions such as “Either- or” , “ neither-nor” , “not only- but also” etc...then the verb follows the subject that is closer to it.</a:t>
            </a:r>
            <a:endParaRPr lang="en-US" sz="2400" dirty="0">
              <a:solidFill>
                <a:schemeClr val="accent6">
                  <a:lumMod val="75000"/>
                </a:schemeClr>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2397966" y="2096408"/>
            <a:ext cx="6514213" cy="3802116"/>
          </a:xfrm>
          <a:prstGeom prst="rect">
            <a:avLst/>
          </a:prstGeom>
        </p:spPr>
      </p:pic>
    </p:spTree>
    <p:extLst>
      <p:ext uri="{BB962C8B-B14F-4D97-AF65-F5344CB8AC3E}">
        <p14:creationId xmlns:p14="http://schemas.microsoft.com/office/powerpoint/2010/main" val="387886250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592428"/>
            <a:ext cx="8859763" cy="3255264"/>
          </a:xfrm>
        </p:spPr>
        <p:txBody>
          <a:bodyPr>
            <a:normAutofit/>
          </a:bodyPr>
          <a:lstStyle/>
          <a:p>
            <a:pPr lvl="0"/>
            <a:r>
              <a:rPr lang="en-IN" sz="2400" b="1" dirty="0">
                <a:solidFill>
                  <a:schemeClr val="accent6">
                    <a:lumMod val="75000"/>
                  </a:schemeClr>
                </a:solidFill>
                <a:latin typeface="Arial" panose="020B0604020202020204" pitchFamily="34" charset="0"/>
                <a:cs typeface="Arial" panose="020B0604020202020204" pitchFamily="34" charset="0"/>
              </a:rPr>
              <a:t>6. The words and phrases "each," "each one," "either," "neither," "everyone," "everybody," "anyone," "anybody," "nobody," "somebody," "someone," and "no one" are singular and require a singular verb.</a:t>
            </a:r>
            <a:r>
              <a:rPr lang="en-US" sz="2400" dirty="0"/>
              <a:t/>
            </a:r>
            <a:br>
              <a:rPr lang="en-US" sz="2400" dirty="0"/>
            </a:br>
            <a:endParaRPr lang="en-US" sz="2400" dirty="0"/>
          </a:p>
        </p:txBody>
      </p:sp>
      <p:pic>
        <p:nvPicPr>
          <p:cNvPr id="4" name="Picture 3"/>
          <p:cNvPicPr>
            <a:picLocks noChangeAspect="1"/>
          </p:cNvPicPr>
          <p:nvPr/>
        </p:nvPicPr>
        <p:blipFill>
          <a:blip r:embed="rId2"/>
          <a:stretch>
            <a:fillRect/>
          </a:stretch>
        </p:blipFill>
        <p:spPr>
          <a:xfrm>
            <a:off x="2384797" y="2187864"/>
            <a:ext cx="6284890" cy="3665694"/>
          </a:xfrm>
          <a:prstGeom prst="rect">
            <a:avLst/>
          </a:prstGeom>
        </p:spPr>
      </p:pic>
    </p:spTree>
    <p:extLst>
      <p:ext uri="{BB962C8B-B14F-4D97-AF65-F5344CB8AC3E}">
        <p14:creationId xmlns:p14="http://schemas.microsoft.com/office/powerpoint/2010/main" val="298521927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303" y="231819"/>
            <a:ext cx="11449319" cy="12750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b="1" dirty="0">
                <a:latin typeface="Arial" panose="020B0604020202020204" pitchFamily="34" charset="0"/>
                <a:cs typeface="Arial" panose="020B0604020202020204" pitchFamily="34" charset="0"/>
              </a:rPr>
              <a:t>However, the following indefinite pronouns always take plural verbs</a:t>
            </a:r>
            <a:r>
              <a:rPr lang="en-IN" dirty="0"/>
              <a:t>.</a:t>
            </a:r>
            <a:endParaRPr lang="en-US" dirty="0"/>
          </a:p>
        </p:txBody>
      </p:sp>
      <p:pic>
        <p:nvPicPr>
          <p:cNvPr id="3" name="Picture 2"/>
          <p:cNvPicPr>
            <a:picLocks noChangeAspect="1"/>
          </p:cNvPicPr>
          <p:nvPr/>
        </p:nvPicPr>
        <p:blipFill>
          <a:blip r:embed="rId2"/>
          <a:stretch>
            <a:fillRect/>
          </a:stretch>
        </p:blipFill>
        <p:spPr>
          <a:xfrm>
            <a:off x="180303" y="1725709"/>
            <a:ext cx="7405351" cy="579607"/>
          </a:xfrm>
          <a:prstGeom prst="rect">
            <a:avLst/>
          </a:prstGeom>
        </p:spPr>
      </p:pic>
      <p:pic>
        <p:nvPicPr>
          <p:cNvPr id="4" name="Picture 3"/>
          <p:cNvPicPr>
            <a:picLocks noChangeAspect="1"/>
          </p:cNvPicPr>
          <p:nvPr/>
        </p:nvPicPr>
        <p:blipFill>
          <a:blip r:embed="rId3"/>
          <a:stretch>
            <a:fillRect/>
          </a:stretch>
        </p:blipFill>
        <p:spPr>
          <a:xfrm>
            <a:off x="4790941" y="2524198"/>
            <a:ext cx="7263683" cy="4186104"/>
          </a:xfrm>
          <a:prstGeom prst="rect">
            <a:avLst/>
          </a:prstGeom>
        </p:spPr>
      </p:pic>
    </p:spTree>
    <p:extLst>
      <p:ext uri="{BB962C8B-B14F-4D97-AF65-F5344CB8AC3E}">
        <p14:creationId xmlns:p14="http://schemas.microsoft.com/office/powerpoint/2010/main" val="225928499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8956" y="-285654"/>
            <a:ext cx="8256259" cy="1792482"/>
          </a:xfrm>
        </p:spPr>
        <p:txBody>
          <a:bodyPr>
            <a:normAutofit/>
          </a:bodyPr>
          <a:lstStyle/>
          <a:p>
            <a:r>
              <a:rPr lang="en-US" sz="2400" b="1" dirty="0">
                <a:solidFill>
                  <a:schemeClr val="accent4">
                    <a:lumMod val="75000"/>
                  </a:schemeClr>
                </a:solidFill>
                <a:latin typeface="Arial" panose="020B0604020202020204" pitchFamily="34" charset="0"/>
                <a:cs typeface="Arial" panose="020B0604020202020204" pitchFamily="34" charset="0"/>
              </a:rPr>
              <a:t>7. Noncountable nouns take a singular verb</a:t>
            </a:r>
          </a:p>
        </p:txBody>
      </p:sp>
      <p:sp>
        <p:nvSpPr>
          <p:cNvPr id="3" name="Subtitle 2"/>
          <p:cNvSpPr>
            <a:spLocks noGrp="1"/>
          </p:cNvSpPr>
          <p:nvPr>
            <p:ph type="subTitle" idx="1"/>
          </p:nvPr>
        </p:nvSpPr>
        <p:spPr>
          <a:xfrm>
            <a:off x="158956" y="1197734"/>
            <a:ext cx="8804739" cy="4687911"/>
          </a:xfrm>
        </p:spPr>
        <p:txBody>
          <a:bodyPr>
            <a:normAutofit lnSpcReduction="10000"/>
          </a:bodyPr>
          <a:lstStyle/>
          <a:p>
            <a:pPr lvl="0"/>
            <a:endParaRPr lang="en-US" dirty="0"/>
          </a:p>
          <a:p>
            <a:r>
              <a:rPr lang="en-IN" sz="2600" b="1" dirty="0">
                <a:latin typeface="Arial" panose="020B0604020202020204" pitchFamily="34" charset="0"/>
                <a:cs typeface="Arial" panose="020B0604020202020204" pitchFamily="34" charset="0"/>
              </a:rPr>
              <a:t>Example: Education </a:t>
            </a:r>
            <a:r>
              <a:rPr lang="en-IN" sz="2600" b="1" dirty="0" smtClean="0">
                <a:latin typeface="Arial" panose="020B0604020202020204" pitchFamily="34" charset="0"/>
                <a:cs typeface="Arial" panose="020B0604020202020204" pitchFamily="34" charset="0"/>
              </a:rPr>
              <a:t>_________</a:t>
            </a:r>
            <a:r>
              <a:rPr lang="en-IN" sz="2600" b="1" dirty="0">
                <a:latin typeface="Arial" panose="020B0604020202020204" pitchFamily="34" charset="0"/>
                <a:cs typeface="Arial" panose="020B0604020202020204" pitchFamily="34" charset="0"/>
              </a:rPr>
              <a:t> the key to success.</a:t>
            </a:r>
            <a:endParaRPr lang="en-US" sz="2600" b="1" dirty="0">
              <a:latin typeface="Arial" panose="020B0604020202020204" pitchFamily="34" charset="0"/>
              <a:cs typeface="Arial" panose="020B0604020202020204" pitchFamily="34" charset="0"/>
            </a:endParaRPr>
          </a:p>
          <a:p>
            <a:r>
              <a:rPr lang="en-IN" sz="2600" b="1" dirty="0">
                <a:latin typeface="Arial" panose="020B0604020202020204" pitchFamily="34" charset="0"/>
                <a:cs typeface="Arial" panose="020B0604020202020204" pitchFamily="34" charset="0"/>
              </a:rPr>
              <a:t>Example: </a:t>
            </a:r>
            <a:r>
              <a:rPr lang="en-IN" sz="2600" b="1" dirty="0" smtClean="0">
                <a:latin typeface="Arial" panose="020B0604020202020204" pitchFamily="34" charset="0"/>
                <a:cs typeface="Arial" panose="020B0604020202020204" pitchFamily="34" charset="0"/>
              </a:rPr>
              <a:t>Diabetes</a:t>
            </a:r>
            <a:r>
              <a:rPr lang="en-IN" sz="2600" b="1" dirty="0">
                <a:latin typeface="Arial" panose="020B0604020202020204" pitchFamily="34" charset="0"/>
                <a:cs typeface="Arial" panose="020B0604020202020204" pitchFamily="34" charset="0"/>
              </a:rPr>
              <a:t> </a:t>
            </a:r>
            <a:r>
              <a:rPr lang="en-IN" sz="2600" b="1" dirty="0" smtClean="0">
                <a:latin typeface="Arial" panose="020B0604020202020204" pitchFamily="34" charset="0"/>
                <a:cs typeface="Arial" panose="020B0604020202020204" pitchFamily="34" charset="0"/>
              </a:rPr>
              <a:t>__________</a:t>
            </a:r>
            <a:r>
              <a:rPr lang="en-IN" sz="2600" b="1" dirty="0">
                <a:latin typeface="Arial" panose="020B0604020202020204" pitchFamily="34" charset="0"/>
                <a:cs typeface="Arial" panose="020B0604020202020204" pitchFamily="34" charset="0"/>
              </a:rPr>
              <a:t> many people around the world</a:t>
            </a:r>
            <a:r>
              <a:rPr lang="en-IN" sz="2600" dirty="0"/>
              <a:t>.</a:t>
            </a:r>
            <a:r>
              <a:rPr lang="en-IN" sz="2600" b="1" dirty="0"/>
              <a:t>      </a:t>
            </a:r>
            <a:endParaRPr lang="en-US" sz="2600" dirty="0"/>
          </a:p>
          <a:p>
            <a:pPr lvl="0"/>
            <a:r>
              <a:rPr lang="en-US" sz="2600" b="1" dirty="0">
                <a:solidFill>
                  <a:schemeClr val="accent4">
                    <a:lumMod val="75000"/>
                  </a:schemeClr>
                </a:solidFill>
                <a:latin typeface="Arial" panose="020B0604020202020204" pitchFamily="34" charset="0"/>
                <a:cs typeface="Arial" panose="020B0604020202020204" pitchFamily="34" charset="0"/>
              </a:rPr>
              <a:t>8.</a:t>
            </a:r>
            <a:r>
              <a:rPr lang="en-US" sz="2600" dirty="0"/>
              <a:t> </a:t>
            </a:r>
            <a:r>
              <a:rPr lang="en-IN" sz="2600" b="1" dirty="0">
                <a:solidFill>
                  <a:schemeClr val="accent4">
                    <a:lumMod val="75000"/>
                  </a:schemeClr>
                </a:solidFill>
                <a:latin typeface="Arial" panose="020B0604020202020204" pitchFamily="34" charset="0"/>
                <a:cs typeface="Arial" panose="020B0604020202020204" pitchFamily="34" charset="0"/>
              </a:rPr>
              <a:t>Some countable nouns in English such as </a:t>
            </a:r>
            <a:r>
              <a:rPr lang="en-IN" sz="2600" b="1" i="1" dirty="0">
                <a:solidFill>
                  <a:schemeClr val="accent4">
                    <a:lumMod val="75000"/>
                  </a:schemeClr>
                </a:solidFill>
                <a:latin typeface="Arial" panose="020B0604020202020204" pitchFamily="34" charset="0"/>
                <a:cs typeface="Arial" panose="020B0604020202020204" pitchFamily="34" charset="0"/>
              </a:rPr>
              <a:t>earnings, goods, odds, surroundings, proceeds, contents, </a:t>
            </a:r>
            <a:r>
              <a:rPr lang="en-IN" sz="2600" b="1" dirty="0">
                <a:solidFill>
                  <a:schemeClr val="accent4">
                    <a:lumMod val="75000"/>
                  </a:schemeClr>
                </a:solidFill>
                <a:latin typeface="Arial" panose="020B0604020202020204" pitchFamily="34" charset="0"/>
                <a:cs typeface="Arial" panose="020B0604020202020204" pitchFamily="34" charset="0"/>
              </a:rPr>
              <a:t>and </a:t>
            </a:r>
            <a:r>
              <a:rPr lang="en-IN" sz="2600" b="1" i="1" dirty="0">
                <a:solidFill>
                  <a:schemeClr val="accent4">
                    <a:lumMod val="75000"/>
                  </a:schemeClr>
                </a:solidFill>
                <a:latin typeface="Arial" panose="020B0604020202020204" pitchFamily="34" charset="0"/>
                <a:cs typeface="Arial" panose="020B0604020202020204" pitchFamily="34" charset="0"/>
              </a:rPr>
              <a:t>valuables</a:t>
            </a:r>
            <a:r>
              <a:rPr lang="en-IN" sz="2600" b="1" dirty="0">
                <a:solidFill>
                  <a:schemeClr val="accent4">
                    <a:lumMod val="75000"/>
                  </a:schemeClr>
                </a:solidFill>
                <a:latin typeface="Arial" panose="020B0604020202020204" pitchFamily="34" charset="0"/>
                <a:cs typeface="Arial" panose="020B0604020202020204" pitchFamily="34" charset="0"/>
              </a:rPr>
              <a:t> only have a plural form and take a plural verb.</a:t>
            </a:r>
            <a:endParaRPr lang="en-US" sz="2600" dirty="0">
              <a:solidFill>
                <a:schemeClr val="accent4">
                  <a:lumMod val="75000"/>
                </a:schemeClr>
              </a:solidFill>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Example: The earnings for </a:t>
            </a:r>
            <a:r>
              <a:rPr lang="en-IN" sz="2400" b="1" dirty="0" smtClean="0">
                <a:latin typeface="Arial" panose="020B0604020202020204" pitchFamily="34" charset="0"/>
                <a:cs typeface="Arial" panose="020B0604020202020204" pitchFamily="34" charset="0"/>
              </a:rPr>
              <a:t>this quarter</a:t>
            </a:r>
            <a:r>
              <a:rPr lang="en-IN" sz="2400" b="1" dirty="0">
                <a:latin typeface="Arial" panose="020B0604020202020204" pitchFamily="34" charset="0"/>
                <a:cs typeface="Arial" panose="020B0604020202020204" pitchFamily="34" charset="0"/>
              </a:rPr>
              <a:t> </a:t>
            </a:r>
            <a:r>
              <a:rPr lang="en-IN" sz="2400" b="1" i="1" dirty="0" smtClean="0">
                <a:latin typeface="Arial" panose="020B0604020202020204" pitchFamily="34" charset="0"/>
                <a:cs typeface="Arial" panose="020B0604020202020204" pitchFamily="34" charset="0"/>
              </a:rPr>
              <a:t>___________ (exceed/exceeds)</a:t>
            </a:r>
            <a:r>
              <a:rPr lang="en-IN" sz="2400" b="1" dirty="0">
                <a:latin typeface="Arial" panose="020B0604020202020204" pitchFamily="34" charset="0"/>
                <a:cs typeface="Arial" panose="020B0604020202020204" pitchFamily="34" charset="0"/>
              </a:rPr>
              <a:t> expectations.          </a:t>
            </a:r>
            <a:endParaRPr lang="en-US" sz="2400" b="1" dirty="0">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Example: Locally produced goods </a:t>
            </a:r>
            <a:r>
              <a:rPr lang="en-IN" sz="2400" b="1" dirty="0" smtClean="0">
                <a:latin typeface="Arial" panose="020B0604020202020204" pitchFamily="34" charset="0"/>
                <a:cs typeface="Arial" panose="020B0604020202020204" pitchFamily="34" charset="0"/>
              </a:rPr>
              <a:t>___________ (has/have)</a:t>
            </a:r>
            <a:r>
              <a:rPr lang="en-IN" sz="2400" b="1" dirty="0">
                <a:latin typeface="Arial" panose="020B0604020202020204" pitchFamily="34" charset="0"/>
                <a:cs typeface="Arial" panose="020B0604020202020204" pitchFamily="34" charset="0"/>
              </a:rPr>
              <a:t> the advantage of shorter supply chains.</a:t>
            </a:r>
            <a:endParaRPr lang="en-US" sz="2400" b="1" dirty="0">
              <a:latin typeface="Arial" panose="020B0604020202020204" pitchFamily="34" charset="0"/>
              <a:cs typeface="Arial" panose="020B0604020202020204" pitchFamily="34" charset="0"/>
            </a:endParaRPr>
          </a:p>
          <a:p>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50653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5910" y="978794"/>
            <a:ext cx="8912180" cy="4919730"/>
          </a:xfrm>
        </p:spPr>
        <p:txBody>
          <a:bodyPr/>
          <a:lstStyle/>
          <a:p>
            <a:pPr lvl="0"/>
            <a:r>
              <a:rPr lang="en-IN" sz="2400" b="1" dirty="0">
                <a:solidFill>
                  <a:schemeClr val="accent4">
                    <a:lumMod val="75000"/>
                  </a:schemeClr>
                </a:solidFill>
                <a:latin typeface="Arial" panose="020B0604020202020204" pitchFamily="34" charset="0"/>
                <a:cs typeface="Arial" panose="020B0604020202020204" pitchFamily="34" charset="0"/>
              </a:rPr>
              <a:t>9. In sentences beginning with "there is" or "there are," the subject follows the verb. Since "there" is not the subject, the verb agrees with what follows the verb.</a:t>
            </a:r>
            <a:endParaRPr lang="en-US" sz="2400" b="1" dirty="0">
              <a:solidFill>
                <a:schemeClr val="accent4">
                  <a:lumMod val="75000"/>
                </a:schemeClr>
              </a:solidFill>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Example: There </a:t>
            </a:r>
            <a:r>
              <a:rPr lang="en-IN" sz="2400" b="1" i="1" dirty="0" smtClean="0">
                <a:latin typeface="Arial" panose="020B0604020202020204" pitchFamily="34" charset="0"/>
                <a:cs typeface="Arial" panose="020B0604020202020204" pitchFamily="34" charset="0"/>
              </a:rPr>
              <a:t>_____</a:t>
            </a:r>
            <a:r>
              <a:rPr lang="en-IN" sz="2400" b="1" dirty="0">
                <a:latin typeface="Arial" panose="020B0604020202020204" pitchFamily="34" charset="0"/>
                <a:cs typeface="Arial" panose="020B0604020202020204" pitchFamily="34" charset="0"/>
              </a:rPr>
              <a:t> little </a:t>
            </a:r>
            <a:r>
              <a:rPr lang="en-IN" sz="2400" b="1" u="sng" dirty="0">
                <a:latin typeface="Arial" panose="020B0604020202020204" pitchFamily="34" charset="0"/>
                <a:cs typeface="Arial" panose="020B0604020202020204" pitchFamily="34" charset="0"/>
              </a:rPr>
              <a:t>administrative support</a:t>
            </a:r>
            <a:r>
              <a:rPr lang="en-IN" sz="2400" b="1" dirty="0">
                <a:latin typeface="Arial" panose="020B0604020202020204" pitchFamily="34" charset="0"/>
                <a:cs typeface="Arial" panose="020B0604020202020204" pitchFamily="34" charset="0"/>
              </a:rPr>
              <a:t>.</a:t>
            </a:r>
            <a:endParaRPr lang="en-US" sz="2400" b="1" dirty="0">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Example: There </a:t>
            </a:r>
            <a:r>
              <a:rPr lang="en-IN" sz="2400" b="1" i="1" dirty="0" smtClean="0">
                <a:latin typeface="Arial" panose="020B0604020202020204" pitchFamily="34" charset="0"/>
                <a:cs typeface="Arial" panose="020B0604020202020204" pitchFamily="34" charset="0"/>
              </a:rPr>
              <a:t>______</a:t>
            </a:r>
            <a:r>
              <a:rPr lang="en-IN" sz="2400" b="1" dirty="0">
                <a:latin typeface="Arial" panose="020B0604020202020204" pitchFamily="34" charset="0"/>
                <a:cs typeface="Arial" panose="020B0604020202020204" pitchFamily="34" charset="0"/>
              </a:rPr>
              <a:t> many </a:t>
            </a:r>
            <a:r>
              <a:rPr lang="en-IN" sz="2400" b="1" u="sng" dirty="0">
                <a:latin typeface="Arial" panose="020B0604020202020204" pitchFamily="34" charset="0"/>
                <a:cs typeface="Arial" panose="020B0604020202020204" pitchFamily="34" charset="0"/>
              </a:rPr>
              <a:t>factors</a:t>
            </a:r>
            <a:r>
              <a:rPr lang="en-IN" sz="2400" b="1" dirty="0">
                <a:latin typeface="Arial" panose="020B0604020202020204" pitchFamily="34" charset="0"/>
                <a:cs typeface="Arial" panose="020B0604020202020204" pitchFamily="34" charset="0"/>
              </a:rPr>
              <a:t> affecting teacher retention.</a:t>
            </a:r>
            <a:endParaRPr lang="en-US" sz="2400" b="1" dirty="0">
              <a:latin typeface="Arial" panose="020B0604020202020204" pitchFamily="34" charset="0"/>
              <a:cs typeface="Arial" panose="020B0604020202020204" pitchFamily="34" charset="0"/>
            </a:endParaRPr>
          </a:p>
          <a:p>
            <a:pPr lvl="0"/>
            <a:r>
              <a:rPr lang="en-IN" sz="2400" b="1" dirty="0">
                <a:solidFill>
                  <a:schemeClr val="accent4">
                    <a:lumMod val="75000"/>
                  </a:schemeClr>
                </a:solidFill>
                <a:latin typeface="Arial" panose="020B0604020202020204" pitchFamily="34" charset="0"/>
                <a:cs typeface="Arial" panose="020B0604020202020204" pitchFamily="34" charset="0"/>
              </a:rPr>
              <a:t>10. Collective nouns are words that imply more than one person but are considered singular and take a singular verb. Some examples are "group," "team," "committee," "family," and "class."</a:t>
            </a:r>
            <a:endParaRPr lang="en-US" sz="2400" b="1" dirty="0">
              <a:solidFill>
                <a:schemeClr val="accent4">
                  <a:lumMod val="75000"/>
                </a:schemeClr>
              </a:solidFill>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Example: The group </a:t>
            </a:r>
            <a:r>
              <a:rPr lang="en-IN" sz="2400" b="1" dirty="0" smtClean="0">
                <a:latin typeface="Arial" panose="020B0604020202020204" pitchFamily="34" charset="0"/>
                <a:cs typeface="Arial" panose="020B0604020202020204" pitchFamily="34" charset="0"/>
              </a:rPr>
              <a:t>__________ (meet/meets)</a:t>
            </a:r>
            <a:r>
              <a:rPr lang="en-IN" sz="2400" b="1" dirty="0">
                <a:latin typeface="Arial" panose="020B0604020202020204" pitchFamily="34" charset="0"/>
                <a:cs typeface="Arial" panose="020B0604020202020204" pitchFamily="34" charset="0"/>
              </a:rPr>
              <a:t> every week.</a:t>
            </a:r>
            <a:endParaRPr lang="en-US" sz="2400" b="1" dirty="0">
              <a:latin typeface="Arial" panose="020B0604020202020204" pitchFamily="34" charset="0"/>
              <a:cs typeface="Arial" panose="020B0604020202020204" pitchFamily="34" charset="0"/>
            </a:endParaRPr>
          </a:p>
          <a:p>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434342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2804" y="991674"/>
            <a:ext cx="10766737" cy="940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800" b="1" dirty="0">
                <a:latin typeface="Arial" panose="020B0604020202020204" pitchFamily="34" charset="0"/>
                <a:cs typeface="Arial" panose="020B0604020202020204" pitchFamily="34" charset="0"/>
              </a:rPr>
              <a:t>Underline the subject (or compound subject) and then identify the verb that agrees with it.</a:t>
            </a:r>
            <a:endParaRPr lang="en-US" sz="2800" dirty="0">
              <a:latin typeface="Arial" panose="020B0604020202020204" pitchFamily="34" charset="0"/>
              <a:cs typeface="Arial" panose="020B0604020202020204" pitchFamily="34" charset="0"/>
            </a:endParaRPr>
          </a:p>
        </p:txBody>
      </p:sp>
      <p:sp>
        <p:nvSpPr>
          <p:cNvPr id="3" name="Rounded Rectangle 2"/>
          <p:cNvSpPr/>
          <p:nvPr/>
        </p:nvSpPr>
        <p:spPr>
          <a:xfrm>
            <a:off x="850003" y="2537137"/>
            <a:ext cx="10212947" cy="35545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solidFill>
                  <a:schemeClr val="tx1"/>
                </a:solidFill>
                <a:latin typeface="Arial" panose="020B0604020202020204" pitchFamily="34" charset="0"/>
                <a:cs typeface="Arial" panose="020B0604020202020204" pitchFamily="34" charset="0"/>
              </a:rPr>
              <a:t>1. Neither the professor nor his assistants (was/were) able to solve the mystery of the eerie glow in the laboratory.</a:t>
            </a:r>
          </a:p>
          <a:p>
            <a:endParaRPr lang="en-US"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2. Many hours at the driving range (has/have) led us to design golf balls with GPS locators in them.</a:t>
            </a:r>
          </a:p>
          <a:p>
            <a:endParaRPr lang="en-IN"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3. Every year, during the midsummer festival, the smoke of village bonfires (fills/fill) the sky.</a:t>
            </a:r>
            <a:endParaRPr lang="en-US" sz="2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35944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15155" y="1313645"/>
            <a:ext cx="11243256" cy="42113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solidFill>
                  <a:schemeClr val="tx1"/>
                </a:solidFill>
                <a:latin typeface="Arial" panose="020B0604020202020204" pitchFamily="34" charset="0"/>
                <a:cs typeface="Arial" panose="020B0604020202020204" pitchFamily="34" charset="0"/>
              </a:rPr>
              <a:t>4. Your friendship over the years and your support (has/have) meant a great deal to us.</a:t>
            </a:r>
          </a:p>
          <a:p>
            <a:endParaRPr lang="en-US"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5. Hamilton Family Centre, a shelter for teenage runaways in San Francisco, (offers/offer) a wide variety of services.</a:t>
            </a:r>
          </a:p>
          <a:p>
            <a:endParaRPr lang="en-IN"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6. The story performers (was/were) surrounded by children and adults eager to see magical tales</a:t>
            </a:r>
            <a:endParaRPr lang="en-US" sz="2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379599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0868" y="528035"/>
            <a:ext cx="10586435" cy="1558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latin typeface="Arial" panose="020B0604020202020204" pitchFamily="34" charset="0"/>
                <a:cs typeface="Arial" panose="020B0604020202020204" pitchFamily="34" charset="0"/>
              </a:rPr>
              <a:t>In the following sentences, underline the subject(s) and the verb(s). If an agreement error exists, correct the error. If there is no error(s), mark the sentence as correct.</a:t>
            </a:r>
            <a:endParaRPr lang="en-US" sz="2400" dirty="0">
              <a:latin typeface="Arial" panose="020B0604020202020204" pitchFamily="34" charset="0"/>
              <a:cs typeface="Arial" panose="020B0604020202020204" pitchFamily="34" charset="0"/>
            </a:endParaRPr>
          </a:p>
        </p:txBody>
      </p:sp>
      <p:sp>
        <p:nvSpPr>
          <p:cNvPr id="3" name="Rounded Rectangle 2"/>
          <p:cNvSpPr/>
          <p:nvPr/>
        </p:nvSpPr>
        <p:spPr>
          <a:xfrm>
            <a:off x="470868" y="2781836"/>
            <a:ext cx="10895526" cy="2575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solidFill>
                  <a:schemeClr val="tx1"/>
                </a:solidFill>
                <a:latin typeface="Arial" panose="020B0604020202020204" pitchFamily="34" charset="0"/>
                <a:cs typeface="Arial" panose="020B0604020202020204" pitchFamily="34" charset="0"/>
              </a:rPr>
              <a:t>1. By taking emphasis off the play instincts of the human race, new vigour and effectiveness is lost because recreation for the body and for the mind is almost non-existent.</a:t>
            </a:r>
          </a:p>
          <a:p>
            <a:endParaRPr lang="en-US"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2. Rhonda Holmes is one of the scientists’ aides who have been so helpful to the committee staff.</a:t>
            </a:r>
            <a:endParaRPr lang="en-US" sz="2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089985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79550" y="656823"/>
            <a:ext cx="10676585" cy="54220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solidFill>
                  <a:schemeClr val="tx1"/>
                </a:solidFill>
                <a:latin typeface="Arial" panose="020B0604020202020204" pitchFamily="34" charset="0"/>
                <a:cs typeface="Arial" panose="020B0604020202020204" pitchFamily="34" charset="0"/>
              </a:rPr>
              <a:t>3.This class of students are more intelligent.</a:t>
            </a:r>
          </a:p>
          <a:p>
            <a:endParaRPr lang="en-US"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4. The principles of science is difficult to understand.</a:t>
            </a:r>
          </a:p>
          <a:p>
            <a:endParaRPr lang="en-US"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5. There is four thousand students in the university.</a:t>
            </a:r>
          </a:p>
          <a:p>
            <a:endParaRPr lang="en-IN"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6. The student who conducted the research for the last three months have determined that the amount of sales generated will decrease by five percent.</a:t>
            </a:r>
          </a:p>
          <a:p>
            <a:endParaRPr lang="en-US"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7. The gorilla, along with two monkeys, a kangaroo, and a white bird, were seen on the deck of an old, weathered boat yesterday during a cloud-break.</a:t>
            </a:r>
            <a:endParaRPr lang="en-US" sz="2400" b="1" dirty="0">
              <a:solidFill>
                <a:schemeClr val="tx1"/>
              </a:solidFill>
              <a:latin typeface="Arial" panose="020B0604020202020204" pitchFamily="34" charset="0"/>
              <a:cs typeface="Arial" panose="020B0604020202020204" pitchFamily="34" charset="0"/>
            </a:endParaRPr>
          </a:p>
          <a:p>
            <a:endParaRPr lang="en-US" sz="2400" b="1" dirty="0">
              <a:solidFill>
                <a:schemeClr val="accent4">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97479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0608" y="399245"/>
            <a:ext cx="11191741" cy="9659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latin typeface="Arial" panose="020B0604020202020204" pitchFamily="34" charset="0"/>
                <a:cs typeface="Arial" panose="020B0604020202020204" pitchFamily="34" charset="0"/>
              </a:rPr>
              <a:t>Underline the subject (or compound subject) and then identify the verb that agrees with it.</a:t>
            </a:r>
            <a:endParaRPr lang="en-US" sz="2400" dirty="0">
              <a:latin typeface="Arial" panose="020B0604020202020204" pitchFamily="34" charset="0"/>
              <a:cs typeface="Arial" panose="020B0604020202020204" pitchFamily="34" charset="0"/>
            </a:endParaRPr>
          </a:p>
        </p:txBody>
      </p:sp>
      <p:sp>
        <p:nvSpPr>
          <p:cNvPr id="3" name="Rounded Rectangle 2"/>
          <p:cNvSpPr/>
          <p:nvPr/>
        </p:nvSpPr>
        <p:spPr>
          <a:xfrm>
            <a:off x="1030310" y="1957589"/>
            <a:ext cx="10522039" cy="41727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solidFill>
                  <a:schemeClr val="tx1"/>
                </a:solidFill>
                <a:latin typeface="Arial" panose="020B0604020202020204" pitchFamily="34" charset="0"/>
                <a:cs typeface="Arial" panose="020B0604020202020204" pitchFamily="34" charset="0"/>
              </a:rPr>
              <a:t>1.The samples on the tray in the lab (need/needs) testing.</a:t>
            </a:r>
          </a:p>
          <a:p>
            <a:endParaRPr lang="en-US"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2. Mary and John usually (plays/play) together.</a:t>
            </a:r>
          </a:p>
          <a:p>
            <a:endParaRPr lang="en-US"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3. Both of the dogs (has/have) collars.</a:t>
            </a:r>
          </a:p>
          <a:p>
            <a:endParaRPr lang="en-US"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4. Neither the dogs nor the cat (is/are) very hungry.</a:t>
            </a:r>
          </a:p>
          <a:p>
            <a:endParaRPr lang="en-US"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5. Either the girls or the boy (walk/walks) in the evening</a:t>
            </a:r>
            <a:endParaRPr lang="en-US" sz="2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089247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88642" y="1120461"/>
            <a:ext cx="9865217" cy="41598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solidFill>
                  <a:schemeClr val="tx1"/>
                </a:solidFill>
                <a:latin typeface="Arial" panose="020B0604020202020204" pitchFamily="34" charset="0"/>
                <a:cs typeface="Arial" panose="020B0604020202020204" pitchFamily="34" charset="0"/>
              </a:rPr>
              <a:t>6. The student, as well as his teacher, (was/were) going on the field trip.</a:t>
            </a:r>
          </a:p>
          <a:p>
            <a:endParaRPr lang="en-US"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7. The hard tests (comes/come) at the end of the fall.</a:t>
            </a:r>
          </a:p>
          <a:p>
            <a:endParaRPr lang="en-US"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8. Both of my roommates (has/have) decided to live in the dorms.</a:t>
            </a:r>
          </a:p>
          <a:p>
            <a:endParaRPr lang="en-IN" sz="2400" b="1" dirty="0">
              <a:solidFill>
                <a:schemeClr val="tx1"/>
              </a:solidFill>
              <a:latin typeface="Arial" panose="020B0604020202020204" pitchFamily="34" charset="0"/>
              <a:cs typeface="Arial" panose="020B0604020202020204" pitchFamily="34" charset="0"/>
            </a:endParaRPr>
          </a:p>
          <a:p>
            <a:r>
              <a:rPr lang="en-IN" sz="2400" b="1" dirty="0">
                <a:solidFill>
                  <a:schemeClr val="tx1"/>
                </a:solidFill>
                <a:latin typeface="Arial" panose="020B0604020202020204" pitchFamily="34" charset="0"/>
                <a:cs typeface="Arial" panose="020B0604020202020204" pitchFamily="34" charset="0"/>
              </a:rPr>
              <a:t>9. The student, as well as his teacher, (was/were) going on the field trip.</a:t>
            </a:r>
            <a:endParaRPr lang="en-US" sz="2400" b="1" dirty="0">
              <a:solidFill>
                <a:schemeClr val="tx1"/>
              </a:solidFill>
              <a:latin typeface="Arial" panose="020B0604020202020204" pitchFamily="34" charset="0"/>
              <a:cs typeface="Arial" panose="020B0604020202020204" pitchFamily="34" charset="0"/>
            </a:endParaRPr>
          </a:p>
          <a:p>
            <a:endParaRPr lang="en-US" sz="2400" b="1" dirty="0">
              <a:solidFill>
                <a:schemeClr val="accent4">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949884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2973357A-0049-D578-814C-5FB4D9DAEAAA}"/>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4347449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 y="0"/>
            <a:ext cx="12303125"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764763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358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13200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3026535" y="1017432"/>
            <a:ext cx="5215944" cy="50098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b="1" dirty="0">
                <a:latin typeface="Algerian" panose="04020705040A02060702" pitchFamily="82" charset="0"/>
              </a:rPr>
              <a:t>Thank you</a:t>
            </a:r>
          </a:p>
        </p:txBody>
      </p:sp>
    </p:spTree>
    <p:extLst>
      <p:ext uri="{BB962C8B-B14F-4D97-AF65-F5344CB8AC3E}">
        <p14:creationId xmlns:p14="http://schemas.microsoft.com/office/powerpoint/2010/main" val="18558155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heme/theme1.xml><?xml version="1.0" encoding="utf-8"?>
<a:theme xmlns:a="http://schemas.openxmlformats.org/drawingml/2006/main" name="Frame">
  <a:themeElements>
    <a:clrScheme name="Fram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xmlns="" name="Frame" id="{F226E7A2-7162-461C-9490-D27D9DC04E43}" vid="{39D77354-939E-4A26-AE51-B3F9618B14B7}"/>
    </a:ext>
  </a:extLst>
</a:theme>
</file>

<file path=docProps/app.xml><?xml version="1.0" encoding="utf-8"?>
<Properties xmlns="http://schemas.openxmlformats.org/officeDocument/2006/extended-properties" xmlns:vt="http://schemas.openxmlformats.org/officeDocument/2006/docPropsVTypes">
  <Template>TM03457475[[fn=Frame]]</Template>
  <TotalTime>315</TotalTime>
  <Words>1213</Words>
  <Application>Microsoft Office PowerPoint</Application>
  <PresentationFormat>Custom</PresentationFormat>
  <Paragraphs>90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Frame</vt:lpstr>
      <vt:lpstr>Subject-Verb Agreement</vt:lpstr>
      <vt:lpstr>Subject</vt:lpstr>
      <vt:lpstr>Verb</vt:lpstr>
      <vt:lpstr>PowerPoint Presentation</vt:lpstr>
      <vt:lpstr>PowerPoint Presentation</vt:lpstr>
      <vt:lpstr>Let’s Learn the basics first:- </vt:lpstr>
      <vt:lpstr>Subject–Verb Agreement Rules </vt:lpstr>
      <vt:lpstr>2. When the subject of the sentence is composed of two or more nouns or pronouns connected by and, use a plural verb. </vt:lpstr>
      <vt:lpstr>3. When there is one subject and more than one verb, the verbs throughout the sentence must agree with the subject.   Example: Interviews are one way to collect data and _________ (allow/allows) researchers to gain an in-depth understanding of participants. </vt:lpstr>
      <vt:lpstr>4. When a phrase comes between the subject and the verb, remember that the verb still agrees with the subject, not the noun or pronoun in the phrase following the subject of the sentence. </vt:lpstr>
      <vt:lpstr>5. If two subjects are joined with correlative conjunctions such as “Either- or” , “ neither-nor” , “not only- but also” etc...then the verb follows the subject that is closer to it.</vt:lpstr>
      <vt:lpstr>6. The words and phrases "each," "each one," "either," "neither," "everyone," "everybody," "anyone," "anybody," "nobody," "somebody," "someone," and "no one" are singular and require a singular verb. </vt:lpstr>
      <vt:lpstr>PowerPoint Presentation</vt:lpstr>
      <vt:lpstr>7. Noncountable nouns take a singular verb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Subject-Verb Agreement</dc:title>
  <dc:creator>Microsoft account</dc:creator>
  <cp:lastModifiedBy>HP</cp:lastModifiedBy>
  <cp:revision>29</cp:revision>
  <dcterms:created xsi:type="dcterms:W3CDTF">2023-07-26T16:19:21Z</dcterms:created>
  <dcterms:modified xsi:type="dcterms:W3CDTF">2023-08-07T06:39:25Z</dcterms:modified>
</cp:coreProperties>
</file>