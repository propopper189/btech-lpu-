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4028" r:id="rId2"/>
    <p:sldId id="4031" r:id="rId3"/>
    <p:sldId id="4032" r:id="rId4"/>
    <p:sldId id="4033" r:id="rId5"/>
    <p:sldId id="4034" r:id="rId6"/>
    <p:sldId id="4035" r:id="rId7"/>
    <p:sldId id="4036" r:id="rId8"/>
    <p:sldId id="4037" r:id="rId9"/>
    <p:sldId id="4038" r:id="rId10"/>
    <p:sldId id="4055" r:id="rId11"/>
    <p:sldId id="4040" r:id="rId12"/>
    <p:sldId id="4057" r:id="rId13"/>
    <p:sldId id="4041" r:id="rId14"/>
    <p:sldId id="4058" r:id="rId15"/>
    <p:sldId id="4059" r:id="rId16"/>
    <p:sldId id="4042" r:id="rId17"/>
    <p:sldId id="4043" r:id="rId18"/>
    <p:sldId id="4044" r:id="rId19"/>
    <p:sldId id="4045" r:id="rId20"/>
    <p:sldId id="4046" r:id="rId21"/>
    <p:sldId id="4060" r:id="rId22"/>
    <p:sldId id="4047" r:id="rId23"/>
    <p:sldId id="4056" r:id="rId24"/>
    <p:sldId id="4048" r:id="rId25"/>
    <p:sldId id="4049" r:id="rId26"/>
    <p:sldId id="4050" r:id="rId27"/>
    <p:sldId id="4051" r:id="rId28"/>
    <p:sldId id="4061" r:id="rId29"/>
    <p:sldId id="4052" r:id="rId30"/>
    <p:sldId id="4053" r:id="rId31"/>
    <p:sldId id="4074" r:id="rId32"/>
    <p:sldId id="4075" r:id="rId33"/>
    <p:sldId id="4076" r:id="rId34"/>
    <p:sldId id="4077" r:id="rId35"/>
    <p:sldId id="4078" r:id="rId36"/>
    <p:sldId id="4079" r:id="rId37"/>
    <p:sldId id="4080" r:id="rId38"/>
    <p:sldId id="4081" r:id="rId39"/>
    <p:sldId id="4082" r:id="rId40"/>
    <p:sldId id="4085" r:id="rId41"/>
    <p:sldId id="4083" r:id="rId42"/>
    <p:sldId id="4084" r:id="rId43"/>
    <p:sldId id="4086" r:id="rId44"/>
    <p:sldId id="4087" r:id="rId45"/>
    <p:sldId id="4088" r:id="rId46"/>
    <p:sldId id="4089" r:id="rId47"/>
    <p:sldId id="4062" r:id="rId48"/>
    <p:sldId id="4072" r:id="rId49"/>
    <p:sldId id="4073" r:id="rId50"/>
    <p:sldId id="4063" r:id="rId51"/>
    <p:sldId id="4064" r:id="rId52"/>
    <p:sldId id="4065" r:id="rId53"/>
    <p:sldId id="4066" r:id="rId54"/>
    <p:sldId id="4067" r:id="rId55"/>
    <p:sldId id="4068" r:id="rId56"/>
    <p:sldId id="4069" r:id="rId57"/>
    <p:sldId id="4070" r:id="rId58"/>
    <p:sldId id="4071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wapnil Srivastava" userId="8e7a524a12681a1a" providerId="LiveId" clId="{3392755C-FEE6-4A1C-A916-8E762528AC6E}"/>
    <pc:docChg chg="addSld delSld">
      <pc:chgData name="Dr. Swapnil Srivastava" userId="8e7a524a12681a1a" providerId="LiveId" clId="{3392755C-FEE6-4A1C-A916-8E762528AC6E}" dt="2026-04-16T06:55:51.431" v="9" actId="2696"/>
      <pc:docMkLst>
        <pc:docMk/>
      </pc:docMkLst>
      <pc:sldChg chg="new del">
        <pc:chgData name="Dr. Swapnil Srivastava" userId="8e7a524a12681a1a" providerId="LiveId" clId="{3392755C-FEE6-4A1C-A916-8E762528AC6E}" dt="2026-04-16T06:55:51.431" v="9" actId="2696"/>
        <pc:sldMkLst>
          <pc:docMk/>
          <pc:sldMk cId="3932272409" sldId="4090"/>
        </pc:sldMkLst>
      </pc:sldChg>
      <pc:sldChg chg="new del">
        <pc:chgData name="Dr. Swapnil Srivastava" userId="8e7a524a12681a1a" providerId="LiveId" clId="{3392755C-FEE6-4A1C-A916-8E762528AC6E}" dt="2026-04-16T06:55:45.915" v="8" actId="2696"/>
        <pc:sldMkLst>
          <pc:docMk/>
          <pc:sldMk cId="2825339296" sldId="40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Applications/Example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pic>
        <p:nvPicPr>
          <p:cNvPr id="7" name="Picture 2" descr="What Is Computer Memory | Computer Memory Units , Types , Hierarc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465" y="1344256"/>
            <a:ext cx="8625070" cy="482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2260" y="405825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435289" y="1390967"/>
            <a:ext cx="3321422" cy="52834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Memory Hierarchy 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Main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Auxiliary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Associative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Cache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Virtual Memory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>
                <a:latin typeface="Arial" pitchFamily="34" charset="0"/>
                <a:cs typeface="Arial" pitchFamily="34" charset="0"/>
              </a:rPr>
              <a:t>Parallel Computing</a:t>
            </a: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Pipelining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Multiprocessors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Interconnection Structures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30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Hierarchy</a:t>
            </a:r>
          </a:p>
        </p:txBody>
      </p:sp>
      <p:grpSp>
        <p:nvGrpSpPr>
          <p:cNvPr id="2" name="Group 81"/>
          <p:cNvGrpSpPr/>
          <p:nvPr/>
        </p:nvGrpSpPr>
        <p:grpSpPr>
          <a:xfrm>
            <a:off x="3525838" y="2057400"/>
            <a:ext cx="5084762" cy="4419600"/>
            <a:chOff x="1287463" y="1917700"/>
            <a:chExt cx="5160962" cy="457358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1403350" y="1917700"/>
              <a:ext cx="862325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550988" y="2081213"/>
              <a:ext cx="592238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tapes</a:t>
              </a: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404938" y="2417763"/>
              <a:ext cx="862325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1577975" y="2571750"/>
              <a:ext cx="58410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disks</a:t>
              </a: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3624263" y="2071688"/>
              <a:ext cx="395368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I/O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311525" y="2235200"/>
              <a:ext cx="938795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processor</a:t>
              </a: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3492500" y="3022600"/>
              <a:ext cx="514141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5600700" y="2071688"/>
              <a:ext cx="562952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5510213" y="2225675"/>
              <a:ext cx="790735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578475" y="2986088"/>
              <a:ext cx="657319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5519738" y="3128963"/>
              <a:ext cx="790735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1287463" y="1920875"/>
              <a:ext cx="1150937" cy="3651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1287463" y="2420938"/>
              <a:ext cx="1150937" cy="3556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244850" y="1949450"/>
              <a:ext cx="1150938" cy="6350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3244850" y="2765425"/>
              <a:ext cx="1150938" cy="6445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Arc 19"/>
            <p:cNvSpPr>
              <a:spLocks/>
            </p:cNvSpPr>
            <p:nvPr/>
          </p:nvSpPr>
          <p:spPr bwMode="auto">
            <a:xfrm>
              <a:off x="3106738" y="2149475"/>
              <a:ext cx="133350" cy="71438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Arc 20"/>
            <p:cNvSpPr>
              <a:spLocks/>
            </p:cNvSpPr>
            <p:nvPr/>
          </p:nvSpPr>
          <p:spPr bwMode="auto">
            <a:xfrm>
              <a:off x="2460625" y="2149475"/>
              <a:ext cx="131763" cy="71438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573338" y="2182813"/>
              <a:ext cx="568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Arc 22"/>
            <p:cNvSpPr>
              <a:spLocks/>
            </p:cNvSpPr>
            <p:nvPr/>
          </p:nvSpPr>
          <p:spPr bwMode="auto">
            <a:xfrm>
              <a:off x="3106738" y="2474913"/>
              <a:ext cx="133350" cy="74612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Arc 23"/>
            <p:cNvSpPr>
              <a:spLocks/>
            </p:cNvSpPr>
            <p:nvPr/>
          </p:nvSpPr>
          <p:spPr bwMode="auto">
            <a:xfrm>
              <a:off x="2460625" y="2474913"/>
              <a:ext cx="131763" cy="74612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563813" y="2509838"/>
              <a:ext cx="5826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25"/>
            <p:cNvSpPr>
              <a:spLocks noChangeArrowheads="1"/>
            </p:cNvSpPr>
            <p:nvPr/>
          </p:nvSpPr>
          <p:spPr bwMode="auto">
            <a:xfrm>
              <a:off x="5365750" y="1949450"/>
              <a:ext cx="1082675" cy="6350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26"/>
            <p:cNvSpPr>
              <a:spLocks noChangeArrowheads="1"/>
            </p:cNvSpPr>
            <p:nvPr/>
          </p:nvSpPr>
          <p:spPr bwMode="auto">
            <a:xfrm>
              <a:off x="5532438" y="2986088"/>
              <a:ext cx="765175" cy="3667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Arc 27"/>
            <p:cNvSpPr>
              <a:spLocks/>
            </p:cNvSpPr>
            <p:nvPr/>
          </p:nvSpPr>
          <p:spPr bwMode="auto">
            <a:xfrm>
              <a:off x="5229225" y="2120900"/>
              <a:ext cx="131763" cy="7302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Arc 28"/>
            <p:cNvSpPr>
              <a:spLocks/>
            </p:cNvSpPr>
            <p:nvPr/>
          </p:nvSpPr>
          <p:spPr bwMode="auto">
            <a:xfrm>
              <a:off x="4416425" y="2120900"/>
              <a:ext cx="131763" cy="73025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4533900" y="2155825"/>
              <a:ext cx="6937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Arc 30"/>
            <p:cNvSpPr>
              <a:spLocks/>
            </p:cNvSpPr>
            <p:nvPr/>
          </p:nvSpPr>
          <p:spPr bwMode="auto">
            <a:xfrm>
              <a:off x="5224463" y="2400300"/>
              <a:ext cx="131762" cy="7302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4967288" y="2435225"/>
              <a:ext cx="2667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4972050" y="2439988"/>
              <a:ext cx="0" cy="527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Arc 33"/>
            <p:cNvSpPr>
              <a:spLocks/>
            </p:cNvSpPr>
            <p:nvPr/>
          </p:nvSpPr>
          <p:spPr bwMode="auto">
            <a:xfrm>
              <a:off x="4416425" y="2943225"/>
              <a:ext cx="131763" cy="74613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 flipH="1">
              <a:off x="4516438" y="2973388"/>
              <a:ext cx="473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Arc 35"/>
            <p:cNvSpPr>
              <a:spLocks/>
            </p:cNvSpPr>
            <p:nvPr/>
          </p:nvSpPr>
          <p:spPr bwMode="auto">
            <a:xfrm>
              <a:off x="5395913" y="3157538"/>
              <a:ext cx="131762" cy="7302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Arc 36"/>
            <p:cNvSpPr>
              <a:spLocks/>
            </p:cNvSpPr>
            <p:nvPr/>
          </p:nvSpPr>
          <p:spPr bwMode="auto">
            <a:xfrm>
              <a:off x="4416425" y="3157538"/>
              <a:ext cx="131763" cy="73025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4535488" y="3192463"/>
              <a:ext cx="876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Arc 38"/>
            <p:cNvSpPr>
              <a:spLocks/>
            </p:cNvSpPr>
            <p:nvPr/>
          </p:nvSpPr>
          <p:spPr bwMode="auto">
            <a:xfrm>
              <a:off x="5862638" y="2882900"/>
              <a:ext cx="106362" cy="9048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Arc 39"/>
            <p:cNvSpPr>
              <a:spLocks/>
            </p:cNvSpPr>
            <p:nvPr/>
          </p:nvSpPr>
          <p:spPr bwMode="auto">
            <a:xfrm>
              <a:off x="5862638" y="2589213"/>
              <a:ext cx="106362" cy="90487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5915025" y="2679700"/>
              <a:ext cx="0" cy="2111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3206750" y="4230688"/>
              <a:ext cx="1489075" cy="2111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3360738" y="3698875"/>
              <a:ext cx="1166812" cy="2111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44"/>
            <p:cNvSpPr>
              <a:spLocks noChangeArrowheads="1"/>
            </p:cNvSpPr>
            <p:nvPr/>
          </p:nvSpPr>
          <p:spPr bwMode="auto">
            <a:xfrm>
              <a:off x="3548063" y="3686175"/>
              <a:ext cx="808633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auto">
            <a:xfrm>
              <a:off x="3640138" y="4211638"/>
              <a:ext cx="657319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</a:t>
              </a:r>
            </a:p>
          </p:txBody>
        </p:sp>
        <p:sp>
          <p:nvSpPr>
            <p:cNvPr id="52" name="Arc 46"/>
            <p:cNvSpPr>
              <a:spLocks/>
            </p:cNvSpPr>
            <p:nvPr/>
          </p:nvSpPr>
          <p:spPr bwMode="auto">
            <a:xfrm>
              <a:off x="3708400" y="4122738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Arc 47"/>
            <p:cNvSpPr>
              <a:spLocks/>
            </p:cNvSpPr>
            <p:nvPr/>
          </p:nvSpPr>
          <p:spPr bwMode="auto">
            <a:xfrm>
              <a:off x="3708400" y="39147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760788" y="40100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Arc 49"/>
            <p:cNvSpPr>
              <a:spLocks/>
            </p:cNvSpPr>
            <p:nvPr/>
          </p:nvSpPr>
          <p:spPr bwMode="auto">
            <a:xfrm>
              <a:off x="4102100" y="4122738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Arc 50"/>
            <p:cNvSpPr>
              <a:spLocks/>
            </p:cNvSpPr>
            <p:nvPr/>
          </p:nvSpPr>
          <p:spPr bwMode="auto">
            <a:xfrm>
              <a:off x="4102100" y="39147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154488" y="40100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Arc 52"/>
            <p:cNvSpPr>
              <a:spLocks/>
            </p:cNvSpPr>
            <p:nvPr/>
          </p:nvSpPr>
          <p:spPr bwMode="auto">
            <a:xfrm>
              <a:off x="3708400" y="46545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Arc 53"/>
            <p:cNvSpPr>
              <a:spLocks/>
            </p:cNvSpPr>
            <p:nvPr/>
          </p:nvSpPr>
          <p:spPr bwMode="auto">
            <a:xfrm>
              <a:off x="3708400" y="444658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54"/>
            <p:cNvSpPr>
              <a:spLocks noChangeShapeType="1"/>
            </p:cNvSpPr>
            <p:nvPr/>
          </p:nvSpPr>
          <p:spPr bwMode="auto">
            <a:xfrm>
              <a:off x="3760788" y="454183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Arc 55"/>
            <p:cNvSpPr>
              <a:spLocks/>
            </p:cNvSpPr>
            <p:nvPr/>
          </p:nvSpPr>
          <p:spPr bwMode="auto">
            <a:xfrm>
              <a:off x="4102100" y="46545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Arc 56"/>
            <p:cNvSpPr>
              <a:spLocks/>
            </p:cNvSpPr>
            <p:nvPr/>
          </p:nvSpPr>
          <p:spPr bwMode="auto">
            <a:xfrm>
              <a:off x="4102100" y="444658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Line 57"/>
            <p:cNvSpPr>
              <a:spLocks noChangeShapeType="1"/>
            </p:cNvSpPr>
            <p:nvPr/>
          </p:nvSpPr>
          <p:spPr bwMode="auto">
            <a:xfrm>
              <a:off x="4154488" y="454183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Rectangle 58"/>
            <p:cNvSpPr>
              <a:spLocks noChangeArrowheads="1"/>
            </p:cNvSpPr>
            <p:nvPr/>
          </p:nvSpPr>
          <p:spPr bwMode="auto">
            <a:xfrm>
              <a:off x="3387725" y="4783138"/>
              <a:ext cx="122352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2967038" y="4764088"/>
              <a:ext cx="1968500" cy="3016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Arc 60"/>
            <p:cNvSpPr>
              <a:spLocks/>
            </p:cNvSpPr>
            <p:nvPr/>
          </p:nvSpPr>
          <p:spPr bwMode="auto">
            <a:xfrm>
              <a:off x="3708400" y="52768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Arc 61"/>
            <p:cNvSpPr>
              <a:spLocks/>
            </p:cNvSpPr>
            <p:nvPr/>
          </p:nvSpPr>
          <p:spPr bwMode="auto">
            <a:xfrm>
              <a:off x="3708400" y="50704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62"/>
            <p:cNvSpPr>
              <a:spLocks noChangeShapeType="1"/>
            </p:cNvSpPr>
            <p:nvPr/>
          </p:nvSpPr>
          <p:spPr bwMode="auto">
            <a:xfrm>
              <a:off x="3760788" y="51657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Arc 63"/>
            <p:cNvSpPr>
              <a:spLocks/>
            </p:cNvSpPr>
            <p:nvPr/>
          </p:nvSpPr>
          <p:spPr bwMode="auto">
            <a:xfrm>
              <a:off x="4102100" y="52768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Arc 64"/>
            <p:cNvSpPr>
              <a:spLocks/>
            </p:cNvSpPr>
            <p:nvPr/>
          </p:nvSpPr>
          <p:spPr bwMode="auto">
            <a:xfrm>
              <a:off x="4102100" y="50704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Line 65"/>
            <p:cNvSpPr>
              <a:spLocks noChangeShapeType="1"/>
            </p:cNvSpPr>
            <p:nvPr/>
          </p:nvSpPr>
          <p:spPr bwMode="auto">
            <a:xfrm>
              <a:off x="4154488" y="51657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Rectangle 66"/>
            <p:cNvSpPr>
              <a:spLocks noChangeArrowheads="1"/>
            </p:cNvSpPr>
            <p:nvPr/>
          </p:nvSpPr>
          <p:spPr bwMode="auto">
            <a:xfrm>
              <a:off x="2728913" y="5386388"/>
              <a:ext cx="2444750" cy="3810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Arc 67"/>
            <p:cNvSpPr>
              <a:spLocks/>
            </p:cNvSpPr>
            <p:nvPr/>
          </p:nvSpPr>
          <p:spPr bwMode="auto">
            <a:xfrm>
              <a:off x="3708400" y="5980113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Arc 68"/>
            <p:cNvSpPr>
              <a:spLocks/>
            </p:cNvSpPr>
            <p:nvPr/>
          </p:nvSpPr>
          <p:spPr bwMode="auto">
            <a:xfrm>
              <a:off x="3708400" y="577373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69"/>
            <p:cNvSpPr>
              <a:spLocks noChangeShapeType="1"/>
            </p:cNvSpPr>
            <p:nvPr/>
          </p:nvSpPr>
          <p:spPr bwMode="auto">
            <a:xfrm>
              <a:off x="3760788" y="586898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Arc 70"/>
            <p:cNvSpPr>
              <a:spLocks/>
            </p:cNvSpPr>
            <p:nvPr/>
          </p:nvSpPr>
          <p:spPr bwMode="auto">
            <a:xfrm>
              <a:off x="4102100" y="5980113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Arc 71"/>
            <p:cNvSpPr>
              <a:spLocks/>
            </p:cNvSpPr>
            <p:nvPr/>
          </p:nvSpPr>
          <p:spPr bwMode="auto">
            <a:xfrm>
              <a:off x="4102100" y="577373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Line 72"/>
            <p:cNvSpPr>
              <a:spLocks noChangeShapeType="1"/>
            </p:cNvSpPr>
            <p:nvPr/>
          </p:nvSpPr>
          <p:spPr bwMode="auto">
            <a:xfrm>
              <a:off x="4154488" y="586898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Rectangle 73"/>
            <p:cNvSpPr>
              <a:spLocks noChangeArrowheads="1"/>
            </p:cNvSpPr>
            <p:nvPr/>
          </p:nvSpPr>
          <p:spPr bwMode="auto">
            <a:xfrm>
              <a:off x="3365500" y="5440363"/>
              <a:ext cx="123491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 Disk</a:t>
              </a:r>
            </a:p>
          </p:txBody>
        </p:sp>
        <p:sp>
          <p:nvSpPr>
            <p:cNvPr id="80" name="Rectangle 74"/>
            <p:cNvSpPr>
              <a:spLocks noChangeArrowheads="1"/>
            </p:cNvSpPr>
            <p:nvPr/>
          </p:nvSpPr>
          <p:spPr bwMode="auto">
            <a:xfrm>
              <a:off x="2489200" y="6089650"/>
              <a:ext cx="2924175" cy="4016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75"/>
            <p:cNvSpPr>
              <a:spLocks noChangeArrowheads="1"/>
            </p:cNvSpPr>
            <p:nvPr/>
          </p:nvSpPr>
          <p:spPr bwMode="auto">
            <a:xfrm>
              <a:off x="3322638" y="6148388"/>
              <a:ext cx="125912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 Tape</a:t>
              </a:r>
            </a:p>
          </p:txBody>
        </p:sp>
      </p:grp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2057400" y="1239839"/>
            <a:ext cx="7924800" cy="5883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Memory Hierarchy is to obtain the highest possible access speed.</a:t>
            </a: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While minimizing the total cost of the memory system.</a:t>
            </a:r>
          </a:p>
        </p:txBody>
      </p:sp>
      <p:sp>
        <p:nvSpPr>
          <p:cNvPr id="84" name="Rectangle 78"/>
          <p:cNvSpPr>
            <a:spLocks noChangeArrowheads="1"/>
          </p:cNvSpPr>
          <p:nvPr/>
        </p:nvSpPr>
        <p:spPr bwMode="auto">
          <a:xfrm>
            <a:off x="2082800" y="1204914"/>
            <a:ext cx="7975600" cy="6238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81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Main Memory </a:t>
            </a:r>
          </a:p>
        </p:txBody>
      </p:sp>
      <p:grpSp>
        <p:nvGrpSpPr>
          <p:cNvPr id="2" name="Group 152"/>
          <p:cNvGrpSpPr/>
          <p:nvPr/>
        </p:nvGrpSpPr>
        <p:grpSpPr>
          <a:xfrm>
            <a:off x="2463800" y="1095376"/>
            <a:ext cx="6931025" cy="5457825"/>
            <a:chOff x="482600" y="1095375"/>
            <a:chExt cx="6931025" cy="5457825"/>
          </a:xfrm>
        </p:grpSpPr>
        <p:sp>
          <p:nvSpPr>
            <p:cNvPr id="82" name="Rectangle 3"/>
            <p:cNvSpPr>
              <a:spLocks noChangeArrowheads="1"/>
            </p:cNvSpPr>
            <p:nvPr/>
          </p:nvSpPr>
          <p:spPr bwMode="auto">
            <a:xfrm>
              <a:off x="482600" y="1095375"/>
              <a:ext cx="2346796" cy="3338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2000"/>
                </a:lnSpc>
              </a:pPr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RAM and ROM Chips</a:t>
              </a:r>
            </a:p>
          </p:txBody>
        </p:sp>
        <p:sp>
          <p:nvSpPr>
            <p:cNvPr id="85" name="Rectangle 4"/>
            <p:cNvSpPr>
              <a:spLocks noChangeArrowheads="1"/>
            </p:cNvSpPr>
            <p:nvPr/>
          </p:nvSpPr>
          <p:spPr bwMode="auto">
            <a:xfrm>
              <a:off x="774700" y="1427163"/>
              <a:ext cx="1910844" cy="3310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Typical RAM chip</a:t>
              </a:r>
            </a:p>
          </p:txBody>
        </p:sp>
        <p:sp>
          <p:nvSpPr>
            <p:cNvPr id="86" name="Rectangle 5"/>
            <p:cNvSpPr>
              <a:spLocks noChangeArrowheads="1"/>
            </p:cNvSpPr>
            <p:nvPr/>
          </p:nvSpPr>
          <p:spPr bwMode="auto">
            <a:xfrm>
              <a:off x="774700" y="4891088"/>
              <a:ext cx="1936492" cy="3310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Typical ROM chip</a:t>
              </a:r>
            </a:p>
          </p:txBody>
        </p:sp>
        <p:sp>
          <p:nvSpPr>
            <p:cNvPr id="87" name="Line 6"/>
            <p:cNvSpPr>
              <a:spLocks noChangeShapeType="1"/>
            </p:cNvSpPr>
            <p:nvPr/>
          </p:nvSpPr>
          <p:spPr bwMode="auto">
            <a:xfrm>
              <a:off x="3530600" y="2065338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7"/>
            <p:cNvSpPr>
              <a:spLocks noChangeArrowheads="1"/>
            </p:cNvSpPr>
            <p:nvPr/>
          </p:nvSpPr>
          <p:spPr bwMode="auto">
            <a:xfrm>
              <a:off x="2370137" y="1943100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1</a:t>
              </a:r>
            </a:p>
          </p:txBody>
        </p:sp>
        <p:sp>
          <p:nvSpPr>
            <p:cNvPr id="89" name="Line 8"/>
            <p:cNvSpPr>
              <a:spLocks noChangeShapeType="1"/>
            </p:cNvSpPr>
            <p:nvPr/>
          </p:nvSpPr>
          <p:spPr bwMode="auto">
            <a:xfrm>
              <a:off x="3530600" y="2263775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Rectangle 9"/>
            <p:cNvSpPr>
              <a:spLocks noChangeArrowheads="1"/>
            </p:cNvSpPr>
            <p:nvPr/>
          </p:nvSpPr>
          <p:spPr bwMode="auto">
            <a:xfrm>
              <a:off x="2370137" y="2138363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2</a:t>
              </a:r>
            </a:p>
          </p:txBody>
        </p:sp>
        <p:sp>
          <p:nvSpPr>
            <p:cNvPr id="91" name="Line 10"/>
            <p:cNvSpPr>
              <a:spLocks noChangeShapeType="1"/>
            </p:cNvSpPr>
            <p:nvPr/>
          </p:nvSpPr>
          <p:spPr bwMode="auto">
            <a:xfrm>
              <a:off x="3530600" y="2459038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11"/>
            <p:cNvSpPr>
              <a:spLocks noChangeShapeType="1"/>
            </p:cNvSpPr>
            <p:nvPr/>
          </p:nvSpPr>
          <p:spPr bwMode="auto">
            <a:xfrm>
              <a:off x="3530600" y="2655888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Line 12"/>
            <p:cNvSpPr>
              <a:spLocks noChangeShapeType="1"/>
            </p:cNvSpPr>
            <p:nvPr/>
          </p:nvSpPr>
          <p:spPr bwMode="auto">
            <a:xfrm>
              <a:off x="3530600" y="2851150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13"/>
            <p:cNvSpPr>
              <a:spLocks noChangeArrowheads="1"/>
            </p:cNvSpPr>
            <p:nvPr/>
          </p:nvSpPr>
          <p:spPr bwMode="auto">
            <a:xfrm>
              <a:off x="2908300" y="2335213"/>
              <a:ext cx="552450" cy="254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95" name="Rectangle 14"/>
            <p:cNvSpPr>
              <a:spLocks noChangeArrowheads="1"/>
            </p:cNvSpPr>
            <p:nvPr/>
          </p:nvSpPr>
          <p:spPr bwMode="auto">
            <a:xfrm>
              <a:off x="2908300" y="2530475"/>
              <a:ext cx="53905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</a:t>
              </a:r>
            </a:p>
          </p:txBody>
        </p:sp>
        <p:sp>
          <p:nvSpPr>
            <p:cNvPr id="96" name="Rectangle 15"/>
            <p:cNvSpPr>
              <a:spLocks noChangeArrowheads="1"/>
            </p:cNvSpPr>
            <p:nvPr/>
          </p:nvSpPr>
          <p:spPr bwMode="auto">
            <a:xfrm>
              <a:off x="2370137" y="2725738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7-bit address</a:t>
              </a:r>
            </a:p>
          </p:txBody>
        </p:sp>
        <p:sp>
          <p:nvSpPr>
            <p:cNvPr id="97" name="Rectangle 16"/>
            <p:cNvSpPr>
              <a:spLocks noChangeArrowheads="1"/>
            </p:cNvSpPr>
            <p:nvPr/>
          </p:nvSpPr>
          <p:spPr bwMode="auto">
            <a:xfrm>
              <a:off x="3890962" y="1943100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98" name="Rectangle 17"/>
            <p:cNvSpPr>
              <a:spLocks noChangeArrowheads="1"/>
            </p:cNvSpPr>
            <p:nvPr/>
          </p:nvSpPr>
          <p:spPr bwMode="auto">
            <a:xfrm>
              <a:off x="3890962" y="2138363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99" name="Rectangle 18"/>
            <p:cNvSpPr>
              <a:spLocks noChangeArrowheads="1"/>
            </p:cNvSpPr>
            <p:nvPr/>
          </p:nvSpPr>
          <p:spPr bwMode="auto">
            <a:xfrm>
              <a:off x="3890962" y="2335213"/>
              <a:ext cx="40395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00" name="Rectangle 19"/>
            <p:cNvSpPr>
              <a:spLocks noChangeArrowheads="1"/>
            </p:cNvSpPr>
            <p:nvPr/>
          </p:nvSpPr>
          <p:spPr bwMode="auto">
            <a:xfrm>
              <a:off x="3890962" y="2530475"/>
              <a:ext cx="4392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01" name="Rectangle 20"/>
            <p:cNvSpPr>
              <a:spLocks noChangeArrowheads="1"/>
            </p:cNvSpPr>
            <p:nvPr/>
          </p:nvSpPr>
          <p:spPr bwMode="auto">
            <a:xfrm>
              <a:off x="3906837" y="2725738"/>
              <a:ext cx="52418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 7</a:t>
              </a:r>
            </a:p>
          </p:txBody>
        </p:sp>
        <p:sp>
          <p:nvSpPr>
            <p:cNvPr id="102" name="Rectangle 21"/>
            <p:cNvSpPr>
              <a:spLocks noChangeArrowheads="1"/>
            </p:cNvSpPr>
            <p:nvPr/>
          </p:nvSpPr>
          <p:spPr bwMode="auto">
            <a:xfrm>
              <a:off x="4527550" y="2265363"/>
              <a:ext cx="68608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22"/>
            <p:cNvSpPr>
              <a:spLocks noChangeArrowheads="1"/>
            </p:cNvSpPr>
            <p:nvPr/>
          </p:nvSpPr>
          <p:spPr bwMode="auto">
            <a:xfrm>
              <a:off x="4619625" y="2425700"/>
              <a:ext cx="52418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</a:t>
              </a:r>
            </a:p>
          </p:txBody>
        </p:sp>
        <p:sp>
          <p:nvSpPr>
            <p:cNvPr id="104" name="Rectangle 23"/>
            <p:cNvSpPr>
              <a:spLocks noChangeArrowheads="1"/>
            </p:cNvSpPr>
            <p:nvPr/>
          </p:nvSpPr>
          <p:spPr bwMode="auto">
            <a:xfrm>
              <a:off x="3881437" y="1876425"/>
              <a:ext cx="1536700" cy="11461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Arc 24"/>
            <p:cNvSpPr>
              <a:spLocks/>
            </p:cNvSpPr>
            <p:nvPr/>
          </p:nvSpPr>
          <p:spPr bwMode="auto">
            <a:xfrm>
              <a:off x="5999162" y="2403475"/>
              <a:ext cx="128588" cy="889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Arc 25"/>
            <p:cNvSpPr>
              <a:spLocks/>
            </p:cNvSpPr>
            <p:nvPr/>
          </p:nvSpPr>
          <p:spPr bwMode="auto">
            <a:xfrm>
              <a:off x="5438775" y="2403475"/>
              <a:ext cx="127000" cy="889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Line 26"/>
            <p:cNvSpPr>
              <a:spLocks noChangeShapeType="1"/>
            </p:cNvSpPr>
            <p:nvPr/>
          </p:nvSpPr>
          <p:spPr bwMode="auto">
            <a:xfrm>
              <a:off x="5553075" y="2451100"/>
              <a:ext cx="4460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Rectangle 27"/>
            <p:cNvSpPr>
              <a:spLocks noChangeArrowheads="1"/>
            </p:cNvSpPr>
            <p:nvPr/>
          </p:nvSpPr>
          <p:spPr bwMode="auto">
            <a:xfrm>
              <a:off x="6116637" y="2335213"/>
              <a:ext cx="111248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8-bit data bus</a:t>
              </a:r>
            </a:p>
          </p:txBody>
        </p:sp>
        <p:sp>
          <p:nvSpPr>
            <p:cNvPr id="109" name="Line 28"/>
            <p:cNvSpPr>
              <a:spLocks noChangeShapeType="1"/>
            </p:cNvSpPr>
            <p:nvPr/>
          </p:nvSpPr>
          <p:spPr bwMode="auto">
            <a:xfrm>
              <a:off x="3989387" y="2159000"/>
              <a:ext cx="2825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9"/>
            <p:cNvSpPr>
              <a:spLocks noChangeArrowheads="1"/>
            </p:cNvSpPr>
            <p:nvPr/>
          </p:nvSpPr>
          <p:spPr bwMode="auto">
            <a:xfrm>
              <a:off x="2479675" y="3454400"/>
              <a:ext cx="1732848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  CS2     RD    WR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Rectangle 30"/>
            <p:cNvSpPr>
              <a:spLocks noChangeArrowheads="1"/>
            </p:cNvSpPr>
            <p:nvPr/>
          </p:nvSpPr>
          <p:spPr bwMode="auto">
            <a:xfrm>
              <a:off x="2451100" y="3673475"/>
              <a:ext cx="167514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0        0        x        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Rectangle 31"/>
            <p:cNvSpPr>
              <a:spLocks noChangeArrowheads="1"/>
            </p:cNvSpPr>
            <p:nvPr/>
          </p:nvSpPr>
          <p:spPr bwMode="auto">
            <a:xfrm>
              <a:off x="2451100" y="3833813"/>
              <a:ext cx="167514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0        1        x        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32"/>
            <p:cNvSpPr>
              <a:spLocks noChangeArrowheads="1"/>
            </p:cNvSpPr>
            <p:nvPr/>
          </p:nvSpPr>
          <p:spPr bwMode="auto">
            <a:xfrm>
              <a:off x="2451100" y="3997325"/>
              <a:ext cx="169117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1        0        0        0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Rectangle 33"/>
            <p:cNvSpPr>
              <a:spLocks noChangeArrowheads="1"/>
            </p:cNvSpPr>
            <p:nvPr/>
          </p:nvSpPr>
          <p:spPr bwMode="auto">
            <a:xfrm>
              <a:off x="2451100" y="4157663"/>
              <a:ext cx="169117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1        0        0        1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Rectangle 34"/>
            <p:cNvSpPr>
              <a:spLocks noChangeArrowheads="1"/>
            </p:cNvSpPr>
            <p:nvPr/>
          </p:nvSpPr>
          <p:spPr bwMode="auto">
            <a:xfrm>
              <a:off x="2451100" y="4319588"/>
              <a:ext cx="168315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0        1        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35"/>
            <p:cNvSpPr>
              <a:spLocks noChangeArrowheads="1"/>
            </p:cNvSpPr>
            <p:nvPr/>
          </p:nvSpPr>
          <p:spPr bwMode="auto">
            <a:xfrm>
              <a:off x="2451100" y="4479925"/>
              <a:ext cx="16751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1        x        x</a:t>
              </a:r>
            </a:p>
          </p:txBody>
        </p:sp>
        <p:sp>
          <p:nvSpPr>
            <p:cNvPr id="117" name="Rectangle 36"/>
            <p:cNvSpPr>
              <a:spLocks noChangeArrowheads="1"/>
            </p:cNvSpPr>
            <p:nvPr/>
          </p:nvSpPr>
          <p:spPr bwMode="auto">
            <a:xfrm>
              <a:off x="4232275" y="3443288"/>
              <a:ext cx="1317669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function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Rectangle 37"/>
            <p:cNvSpPr>
              <a:spLocks noChangeArrowheads="1"/>
            </p:cNvSpPr>
            <p:nvPr/>
          </p:nvSpPr>
          <p:spPr bwMode="auto">
            <a:xfrm>
              <a:off x="4203700" y="3660775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Rectangle 38"/>
            <p:cNvSpPr>
              <a:spLocks noChangeArrowheads="1"/>
            </p:cNvSpPr>
            <p:nvPr/>
          </p:nvSpPr>
          <p:spPr bwMode="auto">
            <a:xfrm>
              <a:off x="4203700" y="3824288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39"/>
            <p:cNvSpPr>
              <a:spLocks noChangeArrowheads="1"/>
            </p:cNvSpPr>
            <p:nvPr/>
          </p:nvSpPr>
          <p:spPr bwMode="auto">
            <a:xfrm>
              <a:off x="4203700" y="3984625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Rectangle 40"/>
            <p:cNvSpPr>
              <a:spLocks noChangeArrowheads="1"/>
            </p:cNvSpPr>
            <p:nvPr/>
          </p:nvSpPr>
          <p:spPr bwMode="auto">
            <a:xfrm>
              <a:off x="4203700" y="4146550"/>
              <a:ext cx="75546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Write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Rectangle 41"/>
            <p:cNvSpPr>
              <a:spLocks noChangeArrowheads="1"/>
            </p:cNvSpPr>
            <p:nvPr/>
          </p:nvSpPr>
          <p:spPr bwMode="auto">
            <a:xfrm>
              <a:off x="4203700" y="4308475"/>
              <a:ext cx="76463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Read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Rectangle 42"/>
            <p:cNvSpPr>
              <a:spLocks noChangeArrowheads="1"/>
            </p:cNvSpPr>
            <p:nvPr/>
          </p:nvSpPr>
          <p:spPr bwMode="auto">
            <a:xfrm>
              <a:off x="4203700" y="4467225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Rectangle 43"/>
            <p:cNvSpPr>
              <a:spLocks noChangeArrowheads="1"/>
            </p:cNvSpPr>
            <p:nvPr/>
          </p:nvSpPr>
          <p:spPr bwMode="auto">
            <a:xfrm>
              <a:off x="4203700" y="4629150"/>
              <a:ext cx="26930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</p:txBody>
        </p:sp>
        <p:sp>
          <p:nvSpPr>
            <p:cNvPr id="125" name="Rectangle 44"/>
            <p:cNvSpPr>
              <a:spLocks noChangeArrowheads="1"/>
            </p:cNvSpPr>
            <p:nvPr/>
          </p:nvSpPr>
          <p:spPr bwMode="auto">
            <a:xfrm>
              <a:off x="5688012" y="3443288"/>
              <a:ext cx="134492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of data bus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Rectangle 45"/>
            <p:cNvSpPr>
              <a:spLocks noChangeArrowheads="1"/>
            </p:cNvSpPr>
            <p:nvPr/>
          </p:nvSpPr>
          <p:spPr bwMode="auto">
            <a:xfrm>
              <a:off x="5659437" y="3660775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46"/>
            <p:cNvSpPr>
              <a:spLocks noChangeArrowheads="1"/>
            </p:cNvSpPr>
            <p:nvPr/>
          </p:nvSpPr>
          <p:spPr bwMode="auto">
            <a:xfrm>
              <a:off x="5659437" y="3825875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47"/>
            <p:cNvSpPr>
              <a:spLocks noChangeArrowheads="1"/>
            </p:cNvSpPr>
            <p:nvPr/>
          </p:nvSpPr>
          <p:spPr bwMode="auto">
            <a:xfrm>
              <a:off x="5659437" y="3986213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48"/>
            <p:cNvSpPr>
              <a:spLocks noChangeArrowheads="1"/>
            </p:cNvSpPr>
            <p:nvPr/>
          </p:nvSpPr>
          <p:spPr bwMode="auto">
            <a:xfrm>
              <a:off x="5659437" y="4146550"/>
              <a:ext cx="1421865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data to RAM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Rectangle 49"/>
            <p:cNvSpPr>
              <a:spLocks noChangeArrowheads="1"/>
            </p:cNvSpPr>
            <p:nvPr/>
          </p:nvSpPr>
          <p:spPr bwMode="auto">
            <a:xfrm>
              <a:off x="5659437" y="4306888"/>
              <a:ext cx="172162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data from RAM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Rectangle 50"/>
            <p:cNvSpPr>
              <a:spLocks noChangeArrowheads="1"/>
            </p:cNvSpPr>
            <p:nvPr/>
          </p:nvSpPr>
          <p:spPr bwMode="auto">
            <a:xfrm>
              <a:off x="5659437" y="4468813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Line 51"/>
            <p:cNvSpPr>
              <a:spLocks noChangeShapeType="1"/>
            </p:cNvSpPr>
            <p:nvPr/>
          </p:nvSpPr>
          <p:spPr bwMode="auto">
            <a:xfrm>
              <a:off x="2465387" y="3676650"/>
              <a:ext cx="49482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Line 52"/>
            <p:cNvSpPr>
              <a:spLocks noChangeShapeType="1"/>
            </p:cNvSpPr>
            <p:nvPr/>
          </p:nvSpPr>
          <p:spPr bwMode="auto">
            <a:xfrm>
              <a:off x="2465387" y="4686300"/>
              <a:ext cx="49482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Line 53"/>
            <p:cNvSpPr>
              <a:spLocks noChangeShapeType="1"/>
            </p:cNvSpPr>
            <p:nvPr/>
          </p:nvSpPr>
          <p:spPr bwMode="auto">
            <a:xfrm>
              <a:off x="4211637" y="3513138"/>
              <a:ext cx="0" cy="1173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Line 54"/>
            <p:cNvSpPr>
              <a:spLocks noChangeShapeType="1"/>
            </p:cNvSpPr>
            <p:nvPr/>
          </p:nvSpPr>
          <p:spPr bwMode="auto">
            <a:xfrm>
              <a:off x="5586412" y="3513138"/>
              <a:ext cx="0" cy="1173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Line 55"/>
            <p:cNvSpPr>
              <a:spLocks noChangeShapeType="1"/>
            </p:cNvSpPr>
            <p:nvPr/>
          </p:nvSpPr>
          <p:spPr bwMode="auto">
            <a:xfrm>
              <a:off x="2978150" y="3495675"/>
              <a:ext cx="2825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Line 57"/>
            <p:cNvSpPr>
              <a:spLocks noChangeShapeType="1"/>
            </p:cNvSpPr>
            <p:nvPr/>
          </p:nvSpPr>
          <p:spPr bwMode="auto">
            <a:xfrm>
              <a:off x="2746375" y="5548313"/>
              <a:ext cx="331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58"/>
            <p:cNvSpPr>
              <a:spLocks noChangeArrowheads="1"/>
            </p:cNvSpPr>
            <p:nvPr/>
          </p:nvSpPr>
          <p:spPr bwMode="auto">
            <a:xfrm>
              <a:off x="1685925" y="5419725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1</a:t>
              </a:r>
            </a:p>
          </p:txBody>
        </p:sp>
        <p:sp>
          <p:nvSpPr>
            <p:cNvPr id="139" name="Line 59"/>
            <p:cNvSpPr>
              <a:spLocks noChangeShapeType="1"/>
            </p:cNvSpPr>
            <p:nvPr/>
          </p:nvSpPr>
          <p:spPr bwMode="auto">
            <a:xfrm>
              <a:off x="2746375" y="5751513"/>
              <a:ext cx="331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Rectangle 60"/>
            <p:cNvSpPr>
              <a:spLocks noChangeArrowheads="1"/>
            </p:cNvSpPr>
            <p:nvPr/>
          </p:nvSpPr>
          <p:spPr bwMode="auto">
            <a:xfrm>
              <a:off x="1685925" y="5624513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2</a:t>
              </a:r>
            </a:p>
          </p:txBody>
        </p:sp>
        <p:sp>
          <p:nvSpPr>
            <p:cNvPr id="141" name="Line 61"/>
            <p:cNvSpPr>
              <a:spLocks noChangeShapeType="1"/>
            </p:cNvSpPr>
            <p:nvPr/>
          </p:nvSpPr>
          <p:spPr bwMode="auto">
            <a:xfrm>
              <a:off x="2746375" y="6359525"/>
              <a:ext cx="331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Rectangle 62"/>
            <p:cNvSpPr>
              <a:spLocks noChangeArrowheads="1"/>
            </p:cNvSpPr>
            <p:nvPr/>
          </p:nvSpPr>
          <p:spPr bwMode="auto">
            <a:xfrm>
              <a:off x="1685925" y="6230938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9-bit address</a:t>
              </a:r>
            </a:p>
          </p:txBody>
        </p:sp>
        <p:sp>
          <p:nvSpPr>
            <p:cNvPr id="143" name="Rectangle 63"/>
            <p:cNvSpPr>
              <a:spLocks noChangeArrowheads="1"/>
            </p:cNvSpPr>
            <p:nvPr/>
          </p:nvSpPr>
          <p:spPr bwMode="auto">
            <a:xfrm>
              <a:off x="3076575" y="5408613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144" name="Rectangle 64"/>
            <p:cNvSpPr>
              <a:spLocks noChangeArrowheads="1"/>
            </p:cNvSpPr>
            <p:nvPr/>
          </p:nvSpPr>
          <p:spPr bwMode="auto">
            <a:xfrm>
              <a:off x="3076575" y="5611813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145" name="Rectangle 65"/>
            <p:cNvSpPr>
              <a:spLocks noChangeArrowheads="1"/>
            </p:cNvSpPr>
            <p:nvPr/>
          </p:nvSpPr>
          <p:spPr bwMode="auto">
            <a:xfrm>
              <a:off x="3089275" y="6243638"/>
              <a:ext cx="52418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 9</a:t>
              </a:r>
            </a:p>
          </p:txBody>
        </p:sp>
        <p:sp>
          <p:nvSpPr>
            <p:cNvPr id="146" name="Rectangle 66"/>
            <p:cNvSpPr>
              <a:spLocks noChangeArrowheads="1"/>
            </p:cNvSpPr>
            <p:nvPr/>
          </p:nvSpPr>
          <p:spPr bwMode="auto">
            <a:xfrm>
              <a:off x="3667125" y="5765800"/>
              <a:ext cx="68608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67"/>
            <p:cNvSpPr>
              <a:spLocks noChangeArrowheads="1"/>
            </p:cNvSpPr>
            <p:nvPr/>
          </p:nvSpPr>
          <p:spPr bwMode="auto">
            <a:xfrm>
              <a:off x="3754437" y="5934075"/>
              <a:ext cx="54181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</a:p>
          </p:txBody>
        </p:sp>
        <p:sp>
          <p:nvSpPr>
            <p:cNvPr id="148" name="Rectangle 68"/>
            <p:cNvSpPr>
              <a:spLocks noChangeArrowheads="1"/>
            </p:cNvSpPr>
            <p:nvPr/>
          </p:nvSpPr>
          <p:spPr bwMode="auto">
            <a:xfrm>
              <a:off x="3057525" y="5353050"/>
              <a:ext cx="1412875" cy="12001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Arc 69"/>
            <p:cNvSpPr>
              <a:spLocks/>
            </p:cNvSpPr>
            <p:nvPr/>
          </p:nvSpPr>
          <p:spPr bwMode="auto">
            <a:xfrm>
              <a:off x="5000625" y="5897563"/>
              <a:ext cx="117475" cy="9048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Line 70"/>
            <p:cNvSpPr>
              <a:spLocks noChangeShapeType="1"/>
            </p:cNvSpPr>
            <p:nvPr/>
          </p:nvSpPr>
          <p:spPr bwMode="auto">
            <a:xfrm>
              <a:off x="4486275" y="5945188"/>
              <a:ext cx="5222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71"/>
            <p:cNvSpPr>
              <a:spLocks noChangeArrowheads="1"/>
            </p:cNvSpPr>
            <p:nvPr/>
          </p:nvSpPr>
          <p:spPr bwMode="auto">
            <a:xfrm>
              <a:off x="5108575" y="5813425"/>
              <a:ext cx="111248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8-bit data bus</a:t>
              </a:r>
            </a:p>
          </p:txBody>
        </p:sp>
        <p:sp>
          <p:nvSpPr>
            <p:cNvPr id="152" name="Line 72"/>
            <p:cNvSpPr>
              <a:spLocks noChangeShapeType="1"/>
            </p:cNvSpPr>
            <p:nvPr/>
          </p:nvSpPr>
          <p:spPr bwMode="auto">
            <a:xfrm>
              <a:off x="3165475" y="5643563"/>
              <a:ext cx="295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477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 Address Map</a:t>
            </a:r>
          </a:p>
        </p:txBody>
      </p:sp>
      <p:sp>
        <p:nvSpPr>
          <p:cNvPr id="77" name="Rectangle 17"/>
          <p:cNvSpPr>
            <a:spLocks noChangeArrowheads="1"/>
          </p:cNvSpPr>
          <p:nvPr/>
        </p:nvSpPr>
        <p:spPr bwMode="auto">
          <a:xfrm>
            <a:off x="2386012" y="1105509"/>
            <a:ext cx="6137900" cy="1114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Address space assignment to each memory chip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Example:  512 bytes RAM and 512 bytes ROM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294063" y="2331060"/>
            <a:ext cx="4837113" cy="1582737"/>
            <a:chOff x="1030" y="1353"/>
            <a:chExt cx="3047" cy="997"/>
          </a:xfrm>
        </p:grpSpPr>
        <p:sp>
          <p:nvSpPr>
            <p:cNvPr id="79" name="Rectangle 3"/>
            <p:cNvSpPr>
              <a:spLocks noChangeArrowheads="1"/>
            </p:cNvSpPr>
            <p:nvPr/>
          </p:nvSpPr>
          <p:spPr bwMode="auto">
            <a:xfrm>
              <a:off x="1095" y="1684"/>
              <a:ext cx="409" cy="6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1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2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3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4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</a:p>
          </p:txBody>
        </p:sp>
        <p:sp>
          <p:nvSpPr>
            <p:cNvPr id="80" name="Rectangle 4"/>
            <p:cNvSpPr>
              <a:spLocks noChangeArrowheads="1"/>
            </p:cNvSpPr>
            <p:nvPr/>
          </p:nvSpPr>
          <p:spPr bwMode="auto">
            <a:xfrm>
              <a:off x="1794" y="1684"/>
              <a:ext cx="608" cy="6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0000 - 007F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0080 - 00FF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0100 - 017F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0180 - 01FF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0200 - 03FF</a:t>
              </a:r>
            </a:p>
          </p:txBody>
        </p:sp>
        <p:sp>
          <p:nvSpPr>
            <p:cNvPr id="81" name="Rectangle 5"/>
            <p:cNvSpPr>
              <a:spLocks noChangeArrowheads="1"/>
            </p:cNvSpPr>
            <p:nvPr/>
          </p:nvSpPr>
          <p:spPr bwMode="auto">
            <a:xfrm>
              <a:off x="1030" y="1470"/>
              <a:ext cx="620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Component</a:t>
              </a:r>
            </a:p>
          </p:txBody>
        </p:sp>
        <p:sp>
          <p:nvSpPr>
            <p:cNvPr id="83" name="Rectangle 6"/>
            <p:cNvSpPr>
              <a:spLocks noChangeArrowheads="1"/>
            </p:cNvSpPr>
            <p:nvPr/>
          </p:nvSpPr>
          <p:spPr bwMode="auto">
            <a:xfrm>
              <a:off x="1840" y="1400"/>
              <a:ext cx="45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Hexa</a:t>
              </a:r>
            </a:p>
            <a:p>
              <a:pPr algn="ctr"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84" name="Rectangle 7"/>
            <p:cNvSpPr>
              <a:spLocks noChangeArrowheads="1"/>
            </p:cNvSpPr>
            <p:nvPr/>
          </p:nvSpPr>
          <p:spPr bwMode="auto">
            <a:xfrm>
              <a:off x="2552" y="1684"/>
              <a:ext cx="1488" cy="6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0     0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0     1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1     0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1     1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1   x 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85000"/>
                </a:lnSpc>
              </a:pP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Rectangle 8"/>
            <p:cNvSpPr>
              <a:spLocks noChangeArrowheads="1"/>
            </p:cNvSpPr>
            <p:nvPr/>
          </p:nvSpPr>
          <p:spPr bwMode="auto">
            <a:xfrm>
              <a:off x="2494" y="1521"/>
              <a:ext cx="1515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10   9     8   7   6   5     4   3   2   1</a:t>
              </a:r>
            </a:p>
          </p:txBody>
        </p:sp>
        <p:sp>
          <p:nvSpPr>
            <p:cNvPr id="154" name="Rectangle 9"/>
            <p:cNvSpPr>
              <a:spLocks noChangeArrowheads="1"/>
            </p:cNvSpPr>
            <p:nvPr/>
          </p:nvSpPr>
          <p:spPr bwMode="auto">
            <a:xfrm>
              <a:off x="2865" y="1358"/>
              <a:ext cx="667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Address bus</a:t>
              </a:r>
            </a:p>
          </p:txBody>
        </p:sp>
        <p:sp>
          <p:nvSpPr>
            <p:cNvPr id="155" name="Rectangle 10"/>
            <p:cNvSpPr>
              <a:spLocks noChangeArrowheads="1"/>
            </p:cNvSpPr>
            <p:nvPr/>
          </p:nvSpPr>
          <p:spPr bwMode="auto">
            <a:xfrm>
              <a:off x="1042" y="1353"/>
              <a:ext cx="3035" cy="9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Line 11"/>
            <p:cNvSpPr>
              <a:spLocks noChangeShapeType="1"/>
            </p:cNvSpPr>
            <p:nvPr/>
          </p:nvSpPr>
          <p:spPr bwMode="auto">
            <a:xfrm>
              <a:off x="1042" y="1675"/>
              <a:ext cx="30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Line 12"/>
            <p:cNvSpPr>
              <a:spLocks noChangeShapeType="1"/>
            </p:cNvSpPr>
            <p:nvPr/>
          </p:nvSpPr>
          <p:spPr bwMode="auto">
            <a:xfrm>
              <a:off x="2431" y="1353"/>
              <a:ext cx="0" cy="9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Line 13"/>
            <p:cNvSpPr>
              <a:spLocks noChangeShapeType="1"/>
            </p:cNvSpPr>
            <p:nvPr/>
          </p:nvSpPr>
          <p:spPr bwMode="auto">
            <a:xfrm>
              <a:off x="2443" y="1512"/>
              <a:ext cx="16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019035" y="4000873"/>
            <a:ext cx="8077730" cy="2369801"/>
            <a:chOff x="392" y="3200"/>
            <a:chExt cx="2989" cy="2156"/>
          </a:xfrm>
        </p:grpSpPr>
        <p:sp>
          <p:nvSpPr>
            <p:cNvPr id="160" name="Rectangle 14"/>
            <p:cNvSpPr>
              <a:spLocks noChangeArrowheads="1"/>
            </p:cNvSpPr>
            <p:nvPr/>
          </p:nvSpPr>
          <p:spPr bwMode="auto">
            <a:xfrm>
              <a:off x="392" y="3200"/>
              <a:ext cx="1177" cy="2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Memory Connection to CPU</a:t>
              </a:r>
            </a:p>
          </p:txBody>
        </p:sp>
        <p:sp>
          <p:nvSpPr>
            <p:cNvPr id="161" name="Rectangle 15"/>
            <p:cNvSpPr>
              <a:spLocks noChangeArrowheads="1"/>
            </p:cNvSpPr>
            <p:nvPr/>
          </p:nvSpPr>
          <p:spPr bwMode="auto">
            <a:xfrm>
              <a:off x="584" y="3495"/>
              <a:ext cx="2797" cy="18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defTabSz="762000">
                <a:lnSpc>
                  <a:spcPct val="90000"/>
                </a:lnSpc>
                <a:buFontTx/>
                <a:buChar char="-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RAM and ROM chips are connected to a CPU through the data and address buses</a:t>
              </a: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The low-order lines in the address bus select the byte within the chips </a:t>
              </a: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And other lines in the address bus select a particular chip through its chip select inputs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533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Connection of Memory to CPU</a:t>
            </a:r>
          </a:p>
        </p:txBody>
      </p:sp>
      <p:grpSp>
        <p:nvGrpSpPr>
          <p:cNvPr id="2" name="Group 204"/>
          <p:cNvGrpSpPr/>
          <p:nvPr/>
        </p:nvGrpSpPr>
        <p:grpSpPr>
          <a:xfrm>
            <a:off x="3420791" y="1219532"/>
            <a:ext cx="4582722" cy="5333668"/>
            <a:chOff x="1336675" y="933782"/>
            <a:chExt cx="4660254" cy="5562268"/>
          </a:xfrm>
        </p:grpSpPr>
        <p:pic>
          <p:nvPicPr>
            <p:cNvPr id="23" name="Picture 3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40175" y="6008688"/>
              <a:ext cx="228600" cy="4603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24" name="Arc 4"/>
            <p:cNvSpPr>
              <a:spLocks/>
            </p:cNvSpPr>
            <p:nvPr/>
          </p:nvSpPr>
          <p:spPr bwMode="auto">
            <a:xfrm>
              <a:off x="3889375" y="209073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5"/>
            <p:cNvSpPr>
              <a:spLocks noChangeShapeType="1"/>
            </p:cNvSpPr>
            <p:nvPr/>
          </p:nvSpPr>
          <p:spPr bwMode="auto">
            <a:xfrm>
              <a:off x="2713038" y="2128838"/>
              <a:ext cx="11763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Arc 6"/>
            <p:cNvSpPr>
              <a:spLocks/>
            </p:cNvSpPr>
            <p:nvPr/>
          </p:nvSpPr>
          <p:spPr bwMode="auto">
            <a:xfrm>
              <a:off x="3894138" y="240188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3492500" y="2433638"/>
              <a:ext cx="415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Arc 8"/>
            <p:cNvSpPr>
              <a:spLocks/>
            </p:cNvSpPr>
            <p:nvPr/>
          </p:nvSpPr>
          <p:spPr bwMode="auto">
            <a:xfrm>
              <a:off x="3889375" y="2555875"/>
              <a:ext cx="107950" cy="69850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3689350" y="2587625"/>
              <a:ext cx="200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Arc 10"/>
            <p:cNvSpPr>
              <a:spLocks/>
            </p:cNvSpPr>
            <p:nvPr/>
          </p:nvSpPr>
          <p:spPr bwMode="auto">
            <a:xfrm>
              <a:off x="3894138" y="2706688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3103563" y="274002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3986213" y="2016124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3986213" y="2168525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3986213" y="2324100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3986213" y="2484438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3997325" y="2638425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4398963" y="2278063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18"/>
            <p:cNvSpPr>
              <a:spLocks noChangeArrowheads="1"/>
            </p:cNvSpPr>
            <p:nvPr/>
          </p:nvSpPr>
          <p:spPr bwMode="auto">
            <a:xfrm>
              <a:off x="4398963" y="2405063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1</a:t>
              </a:r>
            </a:p>
          </p:txBody>
        </p:sp>
        <p:sp>
          <p:nvSpPr>
            <p:cNvPr id="39" name="Rectangle 19"/>
            <p:cNvSpPr>
              <a:spLocks noChangeArrowheads="1"/>
            </p:cNvSpPr>
            <p:nvPr/>
          </p:nvSpPr>
          <p:spPr bwMode="auto">
            <a:xfrm>
              <a:off x="4008438" y="2025650"/>
              <a:ext cx="1279525" cy="7985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Arc 20"/>
            <p:cNvSpPr>
              <a:spLocks/>
            </p:cNvSpPr>
            <p:nvPr/>
          </p:nvSpPr>
          <p:spPr bwMode="auto">
            <a:xfrm>
              <a:off x="5522913" y="239077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Arc 21"/>
            <p:cNvSpPr>
              <a:spLocks/>
            </p:cNvSpPr>
            <p:nvPr/>
          </p:nvSpPr>
          <p:spPr bwMode="auto">
            <a:xfrm>
              <a:off x="5307013" y="2390775"/>
              <a:ext cx="107950" cy="68263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5407025" y="2425700"/>
              <a:ext cx="119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>
              <a:off x="4086225" y="2203450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Arc 25"/>
            <p:cNvSpPr>
              <a:spLocks/>
            </p:cNvSpPr>
            <p:nvPr/>
          </p:nvSpPr>
          <p:spPr bwMode="auto">
            <a:xfrm>
              <a:off x="3889375" y="3008313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26"/>
            <p:cNvSpPr>
              <a:spLocks noChangeShapeType="1"/>
            </p:cNvSpPr>
            <p:nvPr/>
          </p:nvSpPr>
          <p:spPr bwMode="auto">
            <a:xfrm>
              <a:off x="2519363" y="3046413"/>
              <a:ext cx="13700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Arc 27"/>
            <p:cNvSpPr>
              <a:spLocks/>
            </p:cNvSpPr>
            <p:nvPr/>
          </p:nvSpPr>
          <p:spPr bwMode="auto">
            <a:xfrm>
              <a:off x="3889375" y="3160713"/>
              <a:ext cx="107950" cy="69850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28"/>
            <p:cNvSpPr>
              <a:spLocks noChangeShapeType="1"/>
            </p:cNvSpPr>
            <p:nvPr/>
          </p:nvSpPr>
          <p:spPr bwMode="auto">
            <a:xfrm>
              <a:off x="3298825" y="3198813"/>
              <a:ext cx="590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Arc 29"/>
            <p:cNvSpPr>
              <a:spLocks/>
            </p:cNvSpPr>
            <p:nvPr/>
          </p:nvSpPr>
          <p:spPr bwMode="auto">
            <a:xfrm>
              <a:off x="3894138" y="331787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Line 30"/>
            <p:cNvSpPr>
              <a:spLocks noChangeShapeType="1"/>
            </p:cNvSpPr>
            <p:nvPr/>
          </p:nvSpPr>
          <p:spPr bwMode="auto">
            <a:xfrm>
              <a:off x="3492500" y="3352800"/>
              <a:ext cx="4206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Arc 31"/>
            <p:cNvSpPr>
              <a:spLocks/>
            </p:cNvSpPr>
            <p:nvPr/>
          </p:nvSpPr>
          <p:spPr bwMode="auto">
            <a:xfrm>
              <a:off x="3889375" y="346868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32"/>
            <p:cNvSpPr>
              <a:spLocks noChangeShapeType="1"/>
            </p:cNvSpPr>
            <p:nvPr/>
          </p:nvSpPr>
          <p:spPr bwMode="auto">
            <a:xfrm>
              <a:off x="3689350" y="3506788"/>
              <a:ext cx="200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Arc 33"/>
            <p:cNvSpPr>
              <a:spLocks/>
            </p:cNvSpPr>
            <p:nvPr/>
          </p:nvSpPr>
          <p:spPr bwMode="auto">
            <a:xfrm>
              <a:off x="3889375" y="362585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34"/>
            <p:cNvSpPr>
              <a:spLocks noChangeShapeType="1"/>
            </p:cNvSpPr>
            <p:nvPr/>
          </p:nvSpPr>
          <p:spPr bwMode="auto">
            <a:xfrm>
              <a:off x="3103563" y="3657600"/>
              <a:ext cx="785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35"/>
            <p:cNvSpPr>
              <a:spLocks noChangeArrowheads="1"/>
            </p:cNvSpPr>
            <p:nvPr/>
          </p:nvSpPr>
          <p:spPr bwMode="auto">
            <a:xfrm>
              <a:off x="3986213" y="29352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55" name="Rectangle 36"/>
            <p:cNvSpPr>
              <a:spLocks noChangeArrowheads="1"/>
            </p:cNvSpPr>
            <p:nvPr/>
          </p:nvSpPr>
          <p:spPr bwMode="auto">
            <a:xfrm>
              <a:off x="3986213" y="30876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56" name="Rectangle 37"/>
            <p:cNvSpPr>
              <a:spLocks noChangeArrowheads="1"/>
            </p:cNvSpPr>
            <p:nvPr/>
          </p:nvSpPr>
          <p:spPr bwMode="auto">
            <a:xfrm>
              <a:off x="3986213" y="3243263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57" name="Rectangle 38"/>
            <p:cNvSpPr>
              <a:spLocks noChangeArrowheads="1"/>
            </p:cNvSpPr>
            <p:nvPr/>
          </p:nvSpPr>
          <p:spPr bwMode="auto">
            <a:xfrm>
              <a:off x="3986213" y="3403600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58" name="Rectangle 39"/>
            <p:cNvSpPr>
              <a:spLocks noChangeArrowheads="1"/>
            </p:cNvSpPr>
            <p:nvPr/>
          </p:nvSpPr>
          <p:spPr bwMode="auto">
            <a:xfrm>
              <a:off x="3998913" y="3556000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59" name="Rectangle 40"/>
            <p:cNvSpPr>
              <a:spLocks noChangeArrowheads="1"/>
            </p:cNvSpPr>
            <p:nvPr/>
          </p:nvSpPr>
          <p:spPr bwMode="auto">
            <a:xfrm>
              <a:off x="4398963" y="3206750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41"/>
            <p:cNvSpPr>
              <a:spLocks noChangeArrowheads="1"/>
            </p:cNvSpPr>
            <p:nvPr/>
          </p:nvSpPr>
          <p:spPr bwMode="auto">
            <a:xfrm>
              <a:off x="4398963" y="3330575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2</a:t>
              </a:r>
            </a:p>
          </p:txBody>
        </p:sp>
        <p:sp>
          <p:nvSpPr>
            <p:cNvPr id="61" name="Rectangle 42"/>
            <p:cNvSpPr>
              <a:spLocks noChangeArrowheads="1"/>
            </p:cNvSpPr>
            <p:nvPr/>
          </p:nvSpPr>
          <p:spPr bwMode="auto">
            <a:xfrm>
              <a:off x="4008438" y="2943225"/>
              <a:ext cx="1279525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Arc 43"/>
            <p:cNvSpPr>
              <a:spLocks/>
            </p:cNvSpPr>
            <p:nvPr/>
          </p:nvSpPr>
          <p:spPr bwMode="auto">
            <a:xfrm>
              <a:off x="5522913" y="3306763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Arc 44"/>
            <p:cNvSpPr>
              <a:spLocks/>
            </p:cNvSpPr>
            <p:nvPr/>
          </p:nvSpPr>
          <p:spPr bwMode="auto">
            <a:xfrm>
              <a:off x="5307013" y="3306763"/>
              <a:ext cx="107950" cy="69850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>
              <a:off x="5397500" y="3336925"/>
              <a:ext cx="1285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Line 46"/>
            <p:cNvSpPr>
              <a:spLocks noChangeShapeType="1"/>
            </p:cNvSpPr>
            <p:nvPr/>
          </p:nvSpPr>
          <p:spPr bwMode="auto">
            <a:xfrm>
              <a:off x="4095750" y="3127375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Arc 48"/>
            <p:cNvSpPr>
              <a:spLocks/>
            </p:cNvSpPr>
            <p:nvPr/>
          </p:nvSpPr>
          <p:spPr bwMode="auto">
            <a:xfrm>
              <a:off x="3889375" y="392747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>
              <a:off x="2324100" y="3963988"/>
              <a:ext cx="1565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Arc 50"/>
            <p:cNvSpPr>
              <a:spLocks/>
            </p:cNvSpPr>
            <p:nvPr/>
          </p:nvSpPr>
          <p:spPr bwMode="auto">
            <a:xfrm>
              <a:off x="3889375" y="408463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Line 51"/>
            <p:cNvSpPr>
              <a:spLocks noChangeShapeType="1"/>
            </p:cNvSpPr>
            <p:nvPr/>
          </p:nvSpPr>
          <p:spPr bwMode="auto">
            <a:xfrm>
              <a:off x="3298825" y="4116388"/>
              <a:ext cx="590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Arc 52"/>
            <p:cNvSpPr>
              <a:spLocks/>
            </p:cNvSpPr>
            <p:nvPr/>
          </p:nvSpPr>
          <p:spPr bwMode="auto">
            <a:xfrm>
              <a:off x="3894138" y="4233863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Line 53"/>
            <p:cNvSpPr>
              <a:spLocks noChangeShapeType="1"/>
            </p:cNvSpPr>
            <p:nvPr/>
          </p:nvSpPr>
          <p:spPr bwMode="auto">
            <a:xfrm>
              <a:off x="3492500" y="4270375"/>
              <a:ext cx="4302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Arc 54"/>
            <p:cNvSpPr>
              <a:spLocks/>
            </p:cNvSpPr>
            <p:nvPr/>
          </p:nvSpPr>
          <p:spPr bwMode="auto">
            <a:xfrm>
              <a:off x="3884613" y="4389438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>
              <a:off x="3689350" y="4422775"/>
              <a:ext cx="200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Arc 56"/>
            <p:cNvSpPr>
              <a:spLocks/>
            </p:cNvSpPr>
            <p:nvPr/>
          </p:nvSpPr>
          <p:spPr bwMode="auto">
            <a:xfrm>
              <a:off x="3894138" y="454183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57"/>
            <p:cNvSpPr>
              <a:spLocks noChangeShapeType="1"/>
            </p:cNvSpPr>
            <p:nvPr/>
          </p:nvSpPr>
          <p:spPr bwMode="auto">
            <a:xfrm>
              <a:off x="3103563" y="457517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3986213" y="38623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78" name="Rectangle 59"/>
            <p:cNvSpPr>
              <a:spLocks noChangeArrowheads="1"/>
            </p:cNvSpPr>
            <p:nvPr/>
          </p:nvSpPr>
          <p:spPr bwMode="auto">
            <a:xfrm>
              <a:off x="3986213" y="40147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82" name="Rectangle 60"/>
            <p:cNvSpPr>
              <a:spLocks noChangeArrowheads="1"/>
            </p:cNvSpPr>
            <p:nvPr/>
          </p:nvSpPr>
          <p:spPr bwMode="auto">
            <a:xfrm>
              <a:off x="3986213" y="4168775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85" name="Rectangle 61"/>
            <p:cNvSpPr>
              <a:spLocks noChangeArrowheads="1"/>
            </p:cNvSpPr>
            <p:nvPr/>
          </p:nvSpPr>
          <p:spPr bwMode="auto">
            <a:xfrm>
              <a:off x="3986213" y="4330700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86" name="Rectangle 62"/>
            <p:cNvSpPr>
              <a:spLocks noChangeArrowheads="1"/>
            </p:cNvSpPr>
            <p:nvPr/>
          </p:nvSpPr>
          <p:spPr bwMode="auto">
            <a:xfrm>
              <a:off x="3987800" y="4465638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87" name="Rectangle 63"/>
            <p:cNvSpPr>
              <a:spLocks noChangeArrowheads="1"/>
            </p:cNvSpPr>
            <p:nvPr/>
          </p:nvSpPr>
          <p:spPr bwMode="auto">
            <a:xfrm>
              <a:off x="4398963" y="4114800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64"/>
            <p:cNvSpPr>
              <a:spLocks noChangeArrowheads="1"/>
            </p:cNvSpPr>
            <p:nvPr/>
          </p:nvSpPr>
          <p:spPr bwMode="auto">
            <a:xfrm>
              <a:off x="4398963" y="4240213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3</a:t>
              </a:r>
            </a:p>
          </p:txBody>
        </p:sp>
        <p:sp>
          <p:nvSpPr>
            <p:cNvPr id="89" name="Rectangle 65"/>
            <p:cNvSpPr>
              <a:spLocks noChangeArrowheads="1"/>
            </p:cNvSpPr>
            <p:nvPr/>
          </p:nvSpPr>
          <p:spPr bwMode="auto">
            <a:xfrm>
              <a:off x="4008438" y="3859213"/>
              <a:ext cx="1279525" cy="8001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Arc 66"/>
            <p:cNvSpPr>
              <a:spLocks/>
            </p:cNvSpPr>
            <p:nvPr/>
          </p:nvSpPr>
          <p:spPr bwMode="auto">
            <a:xfrm>
              <a:off x="5522913" y="422592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Arc 67"/>
            <p:cNvSpPr>
              <a:spLocks/>
            </p:cNvSpPr>
            <p:nvPr/>
          </p:nvSpPr>
          <p:spPr bwMode="auto">
            <a:xfrm>
              <a:off x="5307013" y="4225925"/>
              <a:ext cx="107950" cy="69850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68"/>
            <p:cNvSpPr>
              <a:spLocks noChangeShapeType="1"/>
            </p:cNvSpPr>
            <p:nvPr/>
          </p:nvSpPr>
          <p:spPr bwMode="auto">
            <a:xfrm>
              <a:off x="5402263" y="4259263"/>
              <a:ext cx="128587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Line 69"/>
            <p:cNvSpPr>
              <a:spLocks noChangeShapeType="1"/>
            </p:cNvSpPr>
            <p:nvPr/>
          </p:nvSpPr>
          <p:spPr bwMode="auto">
            <a:xfrm>
              <a:off x="4086225" y="405606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Arc 71"/>
            <p:cNvSpPr>
              <a:spLocks/>
            </p:cNvSpPr>
            <p:nvPr/>
          </p:nvSpPr>
          <p:spPr bwMode="auto">
            <a:xfrm>
              <a:off x="3889375" y="4851400"/>
              <a:ext cx="107950" cy="68263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Line 72"/>
            <p:cNvSpPr>
              <a:spLocks noChangeShapeType="1"/>
            </p:cNvSpPr>
            <p:nvPr/>
          </p:nvSpPr>
          <p:spPr bwMode="auto">
            <a:xfrm>
              <a:off x="2060575" y="4881563"/>
              <a:ext cx="1828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Arc 73"/>
            <p:cNvSpPr>
              <a:spLocks/>
            </p:cNvSpPr>
            <p:nvPr/>
          </p:nvSpPr>
          <p:spPr bwMode="auto">
            <a:xfrm>
              <a:off x="3884613" y="5000625"/>
              <a:ext cx="107950" cy="68263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74"/>
            <p:cNvSpPr>
              <a:spLocks noChangeShapeType="1"/>
            </p:cNvSpPr>
            <p:nvPr/>
          </p:nvSpPr>
          <p:spPr bwMode="auto">
            <a:xfrm>
              <a:off x="3298825" y="5035550"/>
              <a:ext cx="590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Arc 75"/>
            <p:cNvSpPr>
              <a:spLocks/>
            </p:cNvSpPr>
            <p:nvPr/>
          </p:nvSpPr>
          <p:spPr bwMode="auto">
            <a:xfrm>
              <a:off x="3889375" y="5154613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Line 76"/>
            <p:cNvSpPr>
              <a:spLocks noChangeShapeType="1"/>
            </p:cNvSpPr>
            <p:nvPr/>
          </p:nvSpPr>
          <p:spPr bwMode="auto">
            <a:xfrm>
              <a:off x="3492500" y="5189538"/>
              <a:ext cx="396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Arc 77"/>
            <p:cNvSpPr>
              <a:spLocks/>
            </p:cNvSpPr>
            <p:nvPr/>
          </p:nvSpPr>
          <p:spPr bwMode="auto">
            <a:xfrm>
              <a:off x="3889375" y="5305425"/>
              <a:ext cx="107950" cy="69850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Line 78"/>
            <p:cNvSpPr>
              <a:spLocks noChangeShapeType="1"/>
            </p:cNvSpPr>
            <p:nvPr/>
          </p:nvSpPr>
          <p:spPr bwMode="auto">
            <a:xfrm>
              <a:off x="3668713" y="5343525"/>
              <a:ext cx="2270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Arc 79"/>
            <p:cNvSpPr>
              <a:spLocks/>
            </p:cNvSpPr>
            <p:nvPr/>
          </p:nvSpPr>
          <p:spPr bwMode="auto">
            <a:xfrm>
              <a:off x="3894138" y="54610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>
              <a:off x="3103563" y="5494338"/>
              <a:ext cx="823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81"/>
            <p:cNvSpPr>
              <a:spLocks noChangeArrowheads="1"/>
            </p:cNvSpPr>
            <p:nvPr/>
          </p:nvSpPr>
          <p:spPr bwMode="auto">
            <a:xfrm>
              <a:off x="3986213" y="4768850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105" name="Rectangle 82"/>
            <p:cNvSpPr>
              <a:spLocks noChangeArrowheads="1"/>
            </p:cNvSpPr>
            <p:nvPr/>
          </p:nvSpPr>
          <p:spPr bwMode="auto">
            <a:xfrm>
              <a:off x="3986213" y="4924425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106" name="Rectangle 83"/>
            <p:cNvSpPr>
              <a:spLocks noChangeArrowheads="1"/>
            </p:cNvSpPr>
            <p:nvPr/>
          </p:nvSpPr>
          <p:spPr bwMode="auto">
            <a:xfrm>
              <a:off x="3986213" y="5075238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07" name="Rectangle 84"/>
            <p:cNvSpPr>
              <a:spLocks noChangeArrowheads="1"/>
            </p:cNvSpPr>
            <p:nvPr/>
          </p:nvSpPr>
          <p:spPr bwMode="auto">
            <a:xfrm>
              <a:off x="3986213" y="5238750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08" name="Rectangle 85"/>
            <p:cNvSpPr>
              <a:spLocks noChangeArrowheads="1"/>
            </p:cNvSpPr>
            <p:nvPr/>
          </p:nvSpPr>
          <p:spPr bwMode="auto">
            <a:xfrm>
              <a:off x="3998913" y="5391150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109" name="Rectangle 86"/>
            <p:cNvSpPr>
              <a:spLocks noChangeArrowheads="1"/>
            </p:cNvSpPr>
            <p:nvPr/>
          </p:nvSpPr>
          <p:spPr bwMode="auto">
            <a:xfrm>
              <a:off x="4398963" y="5040313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87"/>
            <p:cNvSpPr>
              <a:spLocks noChangeArrowheads="1"/>
            </p:cNvSpPr>
            <p:nvPr/>
          </p:nvSpPr>
          <p:spPr bwMode="auto">
            <a:xfrm>
              <a:off x="4398963" y="5167313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4</a:t>
              </a:r>
            </a:p>
          </p:txBody>
        </p:sp>
        <p:sp>
          <p:nvSpPr>
            <p:cNvPr id="111" name="Rectangle 88"/>
            <p:cNvSpPr>
              <a:spLocks noChangeArrowheads="1"/>
            </p:cNvSpPr>
            <p:nvPr/>
          </p:nvSpPr>
          <p:spPr bwMode="auto">
            <a:xfrm>
              <a:off x="4008438" y="4787900"/>
              <a:ext cx="1279525" cy="7889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Arc 89"/>
            <p:cNvSpPr>
              <a:spLocks/>
            </p:cNvSpPr>
            <p:nvPr/>
          </p:nvSpPr>
          <p:spPr bwMode="auto">
            <a:xfrm>
              <a:off x="5522913" y="51435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Arc 90"/>
            <p:cNvSpPr>
              <a:spLocks/>
            </p:cNvSpPr>
            <p:nvPr/>
          </p:nvSpPr>
          <p:spPr bwMode="auto">
            <a:xfrm>
              <a:off x="5307013" y="5143500"/>
              <a:ext cx="107950" cy="68263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Line 91"/>
            <p:cNvSpPr>
              <a:spLocks noChangeShapeType="1"/>
            </p:cNvSpPr>
            <p:nvPr/>
          </p:nvSpPr>
          <p:spPr bwMode="auto">
            <a:xfrm>
              <a:off x="5416550" y="5176838"/>
              <a:ext cx="109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Line 92"/>
            <p:cNvSpPr>
              <a:spLocks noChangeShapeType="1"/>
            </p:cNvSpPr>
            <p:nvPr/>
          </p:nvSpPr>
          <p:spPr bwMode="auto">
            <a:xfrm>
              <a:off x="4076700" y="496411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Line 96"/>
            <p:cNvSpPr>
              <a:spLocks noChangeShapeType="1"/>
            </p:cNvSpPr>
            <p:nvPr/>
          </p:nvSpPr>
          <p:spPr bwMode="auto">
            <a:xfrm>
              <a:off x="3097213" y="1341438"/>
              <a:ext cx="0" cy="4762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Rectangle 97"/>
            <p:cNvSpPr>
              <a:spLocks noChangeArrowheads="1"/>
            </p:cNvSpPr>
            <p:nvPr/>
          </p:nvSpPr>
          <p:spPr bwMode="auto">
            <a:xfrm>
              <a:off x="2038350" y="1736725"/>
              <a:ext cx="756378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Decoder</a:t>
              </a:r>
            </a:p>
          </p:txBody>
        </p:sp>
        <p:sp>
          <p:nvSpPr>
            <p:cNvPr id="118" name="Rectangle 98"/>
            <p:cNvSpPr>
              <a:spLocks noChangeArrowheads="1"/>
            </p:cNvSpPr>
            <p:nvPr/>
          </p:nvSpPr>
          <p:spPr bwMode="auto">
            <a:xfrm>
              <a:off x="1952625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9" name="Rectangle 99"/>
            <p:cNvSpPr>
              <a:spLocks noChangeArrowheads="1"/>
            </p:cNvSpPr>
            <p:nvPr/>
          </p:nvSpPr>
          <p:spPr bwMode="auto">
            <a:xfrm>
              <a:off x="2159000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0" name="Rectangle 100"/>
            <p:cNvSpPr>
              <a:spLocks noChangeArrowheads="1"/>
            </p:cNvSpPr>
            <p:nvPr/>
          </p:nvSpPr>
          <p:spPr bwMode="auto">
            <a:xfrm>
              <a:off x="2354263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1" name="Rectangle 101"/>
            <p:cNvSpPr>
              <a:spLocks noChangeArrowheads="1"/>
            </p:cNvSpPr>
            <p:nvPr/>
          </p:nvSpPr>
          <p:spPr bwMode="auto">
            <a:xfrm>
              <a:off x="2551113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22" name="Rectangle 102"/>
            <p:cNvSpPr>
              <a:spLocks noChangeArrowheads="1"/>
            </p:cNvSpPr>
            <p:nvPr/>
          </p:nvSpPr>
          <p:spPr bwMode="auto">
            <a:xfrm>
              <a:off x="1935163" y="1773238"/>
              <a:ext cx="877887" cy="2841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Line 103"/>
            <p:cNvSpPr>
              <a:spLocks noChangeShapeType="1"/>
            </p:cNvSpPr>
            <p:nvPr/>
          </p:nvSpPr>
          <p:spPr bwMode="auto">
            <a:xfrm>
              <a:off x="2706688" y="2055813"/>
              <a:ext cx="0" cy="87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Line 105"/>
            <p:cNvSpPr>
              <a:spLocks noChangeShapeType="1"/>
            </p:cNvSpPr>
            <p:nvPr/>
          </p:nvSpPr>
          <p:spPr bwMode="auto">
            <a:xfrm>
              <a:off x="2312988" y="2065338"/>
              <a:ext cx="4762" cy="1905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Line 107"/>
            <p:cNvSpPr>
              <a:spLocks noChangeShapeType="1"/>
            </p:cNvSpPr>
            <p:nvPr/>
          </p:nvSpPr>
          <p:spPr bwMode="auto">
            <a:xfrm flipV="1">
              <a:off x="2249488" y="1347788"/>
              <a:ext cx="0" cy="4254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Line 109"/>
            <p:cNvSpPr>
              <a:spLocks noChangeShapeType="1"/>
            </p:cNvSpPr>
            <p:nvPr/>
          </p:nvSpPr>
          <p:spPr bwMode="auto">
            <a:xfrm flipV="1">
              <a:off x="5630863" y="1357313"/>
              <a:ext cx="0" cy="4752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111"/>
            <p:cNvSpPr>
              <a:spLocks noChangeArrowheads="1"/>
            </p:cNvSpPr>
            <p:nvPr/>
          </p:nvSpPr>
          <p:spPr bwMode="auto">
            <a:xfrm>
              <a:off x="3578225" y="1150938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28" name="Rectangle 112"/>
            <p:cNvSpPr>
              <a:spLocks noChangeArrowheads="1"/>
            </p:cNvSpPr>
            <p:nvPr/>
          </p:nvSpPr>
          <p:spPr bwMode="auto">
            <a:xfrm>
              <a:off x="3305175" y="1150938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29" name="Rectangle 113"/>
            <p:cNvSpPr>
              <a:spLocks noChangeArrowheads="1"/>
            </p:cNvSpPr>
            <p:nvPr/>
          </p:nvSpPr>
          <p:spPr bwMode="auto">
            <a:xfrm>
              <a:off x="2116138" y="1150938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30" name="Rectangle 114"/>
            <p:cNvSpPr>
              <a:spLocks noChangeArrowheads="1"/>
            </p:cNvSpPr>
            <p:nvPr/>
          </p:nvSpPr>
          <p:spPr bwMode="auto">
            <a:xfrm>
              <a:off x="2378075" y="1150938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31" name="Rectangle 115"/>
            <p:cNvSpPr>
              <a:spLocks noChangeArrowheads="1"/>
            </p:cNvSpPr>
            <p:nvPr/>
          </p:nvSpPr>
          <p:spPr bwMode="auto">
            <a:xfrm>
              <a:off x="2894013" y="1150938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7-1</a:t>
              </a:r>
            </a:p>
          </p:txBody>
        </p:sp>
        <p:sp>
          <p:nvSpPr>
            <p:cNvPr id="132" name="Freeform 116"/>
            <p:cNvSpPr>
              <a:spLocks/>
            </p:cNvSpPr>
            <p:nvPr/>
          </p:nvSpPr>
          <p:spPr bwMode="auto">
            <a:xfrm>
              <a:off x="1922463" y="1357313"/>
              <a:ext cx="1365250" cy="101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9"/>
                </a:cxn>
                <a:cxn ang="0">
                  <a:pos x="857" y="79"/>
                </a:cxn>
              </a:cxnLst>
              <a:rect l="0" t="0" r="r" b="b"/>
              <a:pathLst>
                <a:path w="858" h="80">
                  <a:moveTo>
                    <a:pt x="0" y="0"/>
                  </a:moveTo>
                  <a:lnTo>
                    <a:pt x="0" y="79"/>
                  </a:lnTo>
                  <a:lnTo>
                    <a:pt x="857" y="79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tangle 117"/>
            <p:cNvSpPr>
              <a:spLocks noChangeArrowheads="1"/>
            </p:cNvSpPr>
            <p:nvPr/>
          </p:nvSpPr>
          <p:spPr bwMode="auto">
            <a:xfrm>
              <a:off x="1792288" y="1150938"/>
              <a:ext cx="348848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34" name="Rectangle 118"/>
            <p:cNvSpPr>
              <a:spLocks noChangeArrowheads="1"/>
            </p:cNvSpPr>
            <p:nvPr/>
          </p:nvSpPr>
          <p:spPr bwMode="auto">
            <a:xfrm>
              <a:off x="1336675" y="1150938"/>
              <a:ext cx="53794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16-11</a:t>
              </a:r>
            </a:p>
          </p:txBody>
        </p:sp>
        <p:sp>
          <p:nvSpPr>
            <p:cNvPr id="135" name="Rectangle 119"/>
            <p:cNvSpPr>
              <a:spLocks noChangeArrowheads="1"/>
            </p:cNvSpPr>
            <p:nvPr/>
          </p:nvSpPr>
          <p:spPr bwMode="auto">
            <a:xfrm>
              <a:off x="1808163" y="987425"/>
              <a:ext cx="1015568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bus</a:t>
              </a:r>
            </a:p>
          </p:txBody>
        </p:sp>
        <p:sp>
          <p:nvSpPr>
            <p:cNvPr id="136" name="Rectangle 120"/>
            <p:cNvSpPr>
              <a:spLocks noChangeArrowheads="1"/>
            </p:cNvSpPr>
            <p:nvPr/>
          </p:nvSpPr>
          <p:spPr bwMode="auto">
            <a:xfrm>
              <a:off x="5232400" y="1150938"/>
              <a:ext cx="764529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bus</a:t>
              </a:r>
            </a:p>
          </p:txBody>
        </p:sp>
        <p:sp>
          <p:nvSpPr>
            <p:cNvPr id="137" name="Rectangle 121"/>
            <p:cNvSpPr>
              <a:spLocks noChangeArrowheads="1"/>
            </p:cNvSpPr>
            <p:nvPr/>
          </p:nvSpPr>
          <p:spPr bwMode="auto">
            <a:xfrm>
              <a:off x="3231735" y="933782"/>
              <a:ext cx="461326" cy="2380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38" name="Line 122"/>
            <p:cNvSpPr>
              <a:spLocks noChangeShapeType="1"/>
            </p:cNvSpPr>
            <p:nvPr/>
          </p:nvSpPr>
          <p:spPr bwMode="auto">
            <a:xfrm flipH="1">
              <a:off x="1528763" y="1562100"/>
              <a:ext cx="7254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 123"/>
            <p:cNvSpPr>
              <a:spLocks/>
            </p:cNvSpPr>
            <p:nvPr/>
          </p:nvSpPr>
          <p:spPr bwMode="auto">
            <a:xfrm>
              <a:off x="1795463" y="1665288"/>
              <a:ext cx="712787" cy="4591050"/>
            </a:xfrm>
            <a:custGeom>
              <a:avLst/>
              <a:gdLst/>
              <a:ahLst/>
              <a:cxnLst>
                <a:cxn ang="0">
                  <a:pos x="446" y="0"/>
                </a:cxn>
                <a:cxn ang="0">
                  <a:pos x="0" y="0"/>
                </a:cxn>
                <a:cxn ang="0">
                  <a:pos x="0" y="3672"/>
                </a:cxn>
              </a:cxnLst>
              <a:rect l="0" t="0" r="r" b="b"/>
              <a:pathLst>
                <a:path w="447" h="3673">
                  <a:moveTo>
                    <a:pt x="446" y="0"/>
                  </a:moveTo>
                  <a:lnTo>
                    <a:pt x="0" y="0"/>
                  </a:lnTo>
                  <a:lnTo>
                    <a:pt x="0" y="3672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Arc 125"/>
            <p:cNvSpPr>
              <a:spLocks/>
            </p:cNvSpPr>
            <p:nvPr/>
          </p:nvSpPr>
          <p:spPr bwMode="auto">
            <a:xfrm>
              <a:off x="3889375" y="22479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Line 126"/>
            <p:cNvSpPr>
              <a:spLocks noChangeShapeType="1"/>
            </p:cNvSpPr>
            <p:nvPr/>
          </p:nvSpPr>
          <p:spPr bwMode="auto">
            <a:xfrm flipH="1">
              <a:off x="3273425" y="2279650"/>
              <a:ext cx="6429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Arc 127"/>
            <p:cNvSpPr>
              <a:spLocks/>
            </p:cNvSpPr>
            <p:nvPr/>
          </p:nvSpPr>
          <p:spPr bwMode="auto">
            <a:xfrm>
              <a:off x="3898900" y="5922963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Line 128"/>
            <p:cNvSpPr>
              <a:spLocks noChangeShapeType="1"/>
            </p:cNvSpPr>
            <p:nvPr/>
          </p:nvSpPr>
          <p:spPr bwMode="auto">
            <a:xfrm>
              <a:off x="3702050" y="5953125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Arc 129"/>
            <p:cNvSpPr>
              <a:spLocks/>
            </p:cNvSpPr>
            <p:nvPr/>
          </p:nvSpPr>
          <p:spPr bwMode="auto">
            <a:xfrm>
              <a:off x="3889375" y="6075363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Line 130"/>
            <p:cNvSpPr>
              <a:spLocks noChangeShapeType="1"/>
            </p:cNvSpPr>
            <p:nvPr/>
          </p:nvSpPr>
          <p:spPr bwMode="auto">
            <a:xfrm>
              <a:off x="3103563" y="6105525"/>
              <a:ext cx="785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Arc 131"/>
            <p:cNvSpPr>
              <a:spLocks/>
            </p:cNvSpPr>
            <p:nvPr/>
          </p:nvSpPr>
          <p:spPr bwMode="auto">
            <a:xfrm>
              <a:off x="3889375" y="6229350"/>
              <a:ext cx="107950" cy="68263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Line 132"/>
            <p:cNvSpPr>
              <a:spLocks noChangeShapeType="1"/>
            </p:cNvSpPr>
            <p:nvPr/>
          </p:nvSpPr>
          <p:spPr bwMode="auto">
            <a:xfrm>
              <a:off x="1808163" y="6259513"/>
              <a:ext cx="20812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Arc 133"/>
            <p:cNvSpPr>
              <a:spLocks/>
            </p:cNvSpPr>
            <p:nvPr/>
          </p:nvSpPr>
          <p:spPr bwMode="auto">
            <a:xfrm>
              <a:off x="3894138" y="63754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Line 134"/>
            <p:cNvSpPr>
              <a:spLocks noChangeShapeType="1"/>
            </p:cNvSpPr>
            <p:nvPr/>
          </p:nvSpPr>
          <p:spPr bwMode="auto">
            <a:xfrm>
              <a:off x="1517650" y="6410325"/>
              <a:ext cx="2400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Rectangle 135"/>
            <p:cNvSpPr>
              <a:spLocks noChangeArrowheads="1"/>
            </p:cNvSpPr>
            <p:nvPr/>
          </p:nvSpPr>
          <p:spPr bwMode="auto">
            <a:xfrm>
              <a:off x="3986213" y="5686425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151" name="Rectangle 136"/>
            <p:cNvSpPr>
              <a:spLocks noChangeArrowheads="1"/>
            </p:cNvSpPr>
            <p:nvPr/>
          </p:nvSpPr>
          <p:spPr bwMode="auto">
            <a:xfrm>
              <a:off x="3986213" y="5840413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152" name="Rectangle 137"/>
            <p:cNvSpPr>
              <a:spLocks noChangeArrowheads="1"/>
            </p:cNvSpPr>
            <p:nvPr/>
          </p:nvSpPr>
          <p:spPr bwMode="auto">
            <a:xfrm>
              <a:off x="4384675" y="5959475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Rectangle 138"/>
            <p:cNvSpPr>
              <a:spLocks noChangeArrowheads="1"/>
            </p:cNvSpPr>
            <p:nvPr/>
          </p:nvSpPr>
          <p:spPr bwMode="auto">
            <a:xfrm>
              <a:off x="4468813" y="6086475"/>
              <a:ext cx="505339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</a:p>
          </p:txBody>
        </p:sp>
        <p:sp>
          <p:nvSpPr>
            <p:cNvPr id="162" name="Rectangle 139"/>
            <p:cNvSpPr>
              <a:spLocks noChangeArrowheads="1"/>
            </p:cNvSpPr>
            <p:nvPr/>
          </p:nvSpPr>
          <p:spPr bwMode="auto">
            <a:xfrm>
              <a:off x="4008438" y="5705475"/>
              <a:ext cx="1279525" cy="7905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Arc 140"/>
            <p:cNvSpPr>
              <a:spLocks/>
            </p:cNvSpPr>
            <p:nvPr/>
          </p:nvSpPr>
          <p:spPr bwMode="auto">
            <a:xfrm>
              <a:off x="5522913" y="606425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Line 141"/>
            <p:cNvSpPr>
              <a:spLocks noChangeShapeType="1"/>
            </p:cNvSpPr>
            <p:nvPr/>
          </p:nvSpPr>
          <p:spPr bwMode="auto">
            <a:xfrm>
              <a:off x="5295900" y="6094413"/>
              <a:ext cx="230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Line 142"/>
            <p:cNvSpPr>
              <a:spLocks noChangeShapeType="1"/>
            </p:cNvSpPr>
            <p:nvPr/>
          </p:nvSpPr>
          <p:spPr bwMode="auto">
            <a:xfrm>
              <a:off x="4105275" y="5880100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Arc 144"/>
            <p:cNvSpPr>
              <a:spLocks/>
            </p:cNvSpPr>
            <p:nvPr/>
          </p:nvSpPr>
          <p:spPr bwMode="auto">
            <a:xfrm>
              <a:off x="3894138" y="576262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Line 145"/>
            <p:cNvSpPr>
              <a:spLocks noChangeShapeType="1"/>
            </p:cNvSpPr>
            <p:nvPr/>
          </p:nvSpPr>
          <p:spPr bwMode="auto">
            <a:xfrm>
              <a:off x="3478213" y="5800725"/>
              <a:ext cx="444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Line 146"/>
            <p:cNvSpPr>
              <a:spLocks noChangeShapeType="1"/>
            </p:cNvSpPr>
            <p:nvPr/>
          </p:nvSpPr>
          <p:spPr bwMode="auto">
            <a:xfrm>
              <a:off x="3298825" y="5953125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Rectangle 147"/>
            <p:cNvSpPr>
              <a:spLocks noChangeArrowheads="1"/>
            </p:cNvSpPr>
            <p:nvPr/>
          </p:nvSpPr>
          <p:spPr bwMode="auto">
            <a:xfrm>
              <a:off x="4046538" y="6151563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AD9</a:t>
              </a:r>
            </a:p>
          </p:txBody>
        </p:sp>
        <p:sp>
          <p:nvSpPr>
            <p:cNvPr id="170" name="Line 148"/>
            <p:cNvSpPr>
              <a:spLocks noChangeShapeType="1"/>
            </p:cNvSpPr>
            <p:nvPr/>
          </p:nvSpPr>
          <p:spPr bwMode="auto">
            <a:xfrm flipH="1">
              <a:off x="3394075" y="5843588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 149"/>
            <p:cNvSpPr>
              <a:spLocks/>
            </p:cNvSpPr>
            <p:nvPr/>
          </p:nvSpPr>
          <p:spPr bwMode="auto">
            <a:xfrm>
              <a:off x="3411538" y="5849938"/>
              <a:ext cx="220662" cy="1984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7" y="79"/>
                </a:cxn>
                <a:cxn ang="0">
                  <a:pos x="0" y="158"/>
                </a:cxn>
              </a:cxnLst>
              <a:rect l="0" t="0" r="r" b="b"/>
              <a:pathLst>
                <a:path w="138" h="159">
                  <a:moveTo>
                    <a:pt x="0" y="0"/>
                  </a:moveTo>
                  <a:lnTo>
                    <a:pt x="137" y="79"/>
                  </a:lnTo>
                  <a:lnTo>
                    <a:pt x="0" y="15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ectangle 152"/>
            <p:cNvSpPr>
              <a:spLocks noChangeArrowheads="1"/>
            </p:cNvSpPr>
            <p:nvPr/>
          </p:nvSpPr>
          <p:spPr bwMode="auto">
            <a:xfrm>
              <a:off x="3540126" y="5929313"/>
              <a:ext cx="422203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1- 7</a:t>
              </a:r>
            </a:p>
          </p:txBody>
        </p:sp>
        <p:sp>
          <p:nvSpPr>
            <p:cNvPr id="173" name="Rectangle 153"/>
            <p:cNvSpPr>
              <a:spLocks noChangeArrowheads="1"/>
            </p:cNvSpPr>
            <p:nvPr/>
          </p:nvSpPr>
          <p:spPr bwMode="auto">
            <a:xfrm>
              <a:off x="3576638" y="6230938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74" name="Rectangle 154"/>
            <p:cNvSpPr>
              <a:spLocks noChangeArrowheads="1"/>
            </p:cNvSpPr>
            <p:nvPr/>
          </p:nvSpPr>
          <p:spPr bwMode="auto">
            <a:xfrm>
              <a:off x="3570288" y="60753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75" name="Line 155"/>
            <p:cNvSpPr>
              <a:spLocks noChangeShapeType="1"/>
            </p:cNvSpPr>
            <p:nvPr/>
          </p:nvSpPr>
          <p:spPr bwMode="auto">
            <a:xfrm flipH="1">
              <a:off x="3287713" y="1468438"/>
              <a:ext cx="4762" cy="4487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auto">
            <a:xfrm>
              <a:off x="2208213" y="1525588"/>
              <a:ext cx="74612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auto">
            <a:xfrm>
              <a:off x="2470150" y="1633538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auto">
            <a:xfrm>
              <a:off x="3248025" y="2246313"/>
              <a:ext cx="74613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auto">
            <a:xfrm>
              <a:off x="3443288" y="2403475"/>
              <a:ext cx="74612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auto">
            <a:xfrm>
              <a:off x="3629025" y="2552700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auto">
            <a:xfrm>
              <a:off x="3060700" y="2706688"/>
              <a:ext cx="76200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Line 181"/>
            <p:cNvSpPr>
              <a:spLocks noChangeShapeType="1"/>
            </p:cNvSpPr>
            <p:nvPr/>
          </p:nvSpPr>
          <p:spPr bwMode="auto">
            <a:xfrm>
              <a:off x="2495550" y="2073275"/>
              <a:ext cx="3175" cy="9826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Line 182"/>
            <p:cNvSpPr>
              <a:spLocks noChangeShapeType="1"/>
            </p:cNvSpPr>
            <p:nvPr/>
          </p:nvSpPr>
          <p:spPr bwMode="auto">
            <a:xfrm>
              <a:off x="2065338" y="2073275"/>
              <a:ext cx="4762" cy="28114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Line 183"/>
            <p:cNvSpPr>
              <a:spLocks noChangeShapeType="1"/>
            </p:cNvSpPr>
            <p:nvPr/>
          </p:nvSpPr>
          <p:spPr bwMode="auto">
            <a:xfrm>
              <a:off x="1520825" y="1562100"/>
              <a:ext cx="7938" cy="4852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Line 184"/>
            <p:cNvSpPr>
              <a:spLocks noChangeShapeType="1"/>
            </p:cNvSpPr>
            <p:nvPr/>
          </p:nvSpPr>
          <p:spPr bwMode="auto">
            <a:xfrm>
              <a:off x="3470275" y="1354138"/>
              <a:ext cx="0" cy="44545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85"/>
            <p:cNvSpPr>
              <a:spLocks noChangeShapeType="1"/>
            </p:cNvSpPr>
            <p:nvPr/>
          </p:nvSpPr>
          <p:spPr bwMode="auto">
            <a:xfrm>
              <a:off x="3673475" y="1346200"/>
              <a:ext cx="0" cy="400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186"/>
            <p:cNvSpPr>
              <a:spLocks noChangeArrowheads="1"/>
            </p:cNvSpPr>
            <p:nvPr/>
          </p:nvSpPr>
          <p:spPr bwMode="auto">
            <a:xfrm>
              <a:off x="3252788" y="3168650"/>
              <a:ext cx="74612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Oval 187"/>
            <p:cNvSpPr>
              <a:spLocks noChangeArrowheads="1"/>
            </p:cNvSpPr>
            <p:nvPr/>
          </p:nvSpPr>
          <p:spPr bwMode="auto">
            <a:xfrm>
              <a:off x="3438525" y="3317875"/>
              <a:ext cx="74613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88"/>
            <p:cNvSpPr>
              <a:spLocks noChangeArrowheads="1"/>
            </p:cNvSpPr>
            <p:nvPr/>
          </p:nvSpPr>
          <p:spPr bwMode="auto">
            <a:xfrm>
              <a:off x="3629025" y="3471863"/>
              <a:ext cx="74613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190"/>
            <p:cNvSpPr>
              <a:spLocks noChangeArrowheads="1"/>
            </p:cNvSpPr>
            <p:nvPr/>
          </p:nvSpPr>
          <p:spPr bwMode="auto">
            <a:xfrm>
              <a:off x="3060700" y="3629025"/>
              <a:ext cx="76200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Oval 191"/>
            <p:cNvSpPr>
              <a:spLocks noChangeArrowheads="1"/>
            </p:cNvSpPr>
            <p:nvPr/>
          </p:nvSpPr>
          <p:spPr bwMode="auto">
            <a:xfrm>
              <a:off x="3248025" y="4087813"/>
              <a:ext cx="74613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Oval 192"/>
            <p:cNvSpPr>
              <a:spLocks noChangeArrowheads="1"/>
            </p:cNvSpPr>
            <p:nvPr/>
          </p:nvSpPr>
          <p:spPr bwMode="auto">
            <a:xfrm>
              <a:off x="3433763" y="4240213"/>
              <a:ext cx="74612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Oval 193"/>
            <p:cNvSpPr>
              <a:spLocks noChangeArrowheads="1"/>
            </p:cNvSpPr>
            <p:nvPr/>
          </p:nvSpPr>
          <p:spPr bwMode="auto">
            <a:xfrm>
              <a:off x="3635375" y="4394200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194"/>
            <p:cNvSpPr>
              <a:spLocks noChangeArrowheads="1"/>
            </p:cNvSpPr>
            <p:nvPr/>
          </p:nvSpPr>
          <p:spPr bwMode="auto">
            <a:xfrm>
              <a:off x="3060700" y="4545013"/>
              <a:ext cx="76200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195"/>
            <p:cNvSpPr>
              <a:spLocks noChangeArrowheads="1"/>
            </p:cNvSpPr>
            <p:nvPr/>
          </p:nvSpPr>
          <p:spPr bwMode="auto">
            <a:xfrm>
              <a:off x="3248025" y="4997450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196"/>
            <p:cNvSpPr>
              <a:spLocks noChangeArrowheads="1"/>
            </p:cNvSpPr>
            <p:nvPr/>
          </p:nvSpPr>
          <p:spPr bwMode="auto">
            <a:xfrm>
              <a:off x="3438525" y="5156200"/>
              <a:ext cx="74613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Oval 197"/>
            <p:cNvSpPr>
              <a:spLocks noChangeArrowheads="1"/>
            </p:cNvSpPr>
            <p:nvPr/>
          </p:nvSpPr>
          <p:spPr bwMode="auto">
            <a:xfrm>
              <a:off x="3057525" y="5459413"/>
              <a:ext cx="74613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Oval 198"/>
            <p:cNvSpPr>
              <a:spLocks noChangeArrowheads="1"/>
            </p:cNvSpPr>
            <p:nvPr/>
          </p:nvSpPr>
          <p:spPr bwMode="auto">
            <a:xfrm>
              <a:off x="3629025" y="5919788"/>
              <a:ext cx="74613" cy="6032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Line 199"/>
            <p:cNvSpPr>
              <a:spLocks noChangeShapeType="1"/>
            </p:cNvSpPr>
            <p:nvPr/>
          </p:nvSpPr>
          <p:spPr bwMode="auto">
            <a:xfrm flipV="1">
              <a:off x="2506663" y="1355725"/>
              <a:ext cx="0" cy="4238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Rectangle 201"/>
            <p:cNvSpPr>
              <a:spLocks noChangeArrowheads="1"/>
            </p:cNvSpPr>
            <p:nvPr/>
          </p:nvSpPr>
          <p:spPr bwMode="auto">
            <a:xfrm rot="16200000">
              <a:off x="4935732" y="2300556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1" name="Rectangle 202"/>
            <p:cNvSpPr>
              <a:spLocks noChangeArrowheads="1"/>
            </p:cNvSpPr>
            <p:nvPr/>
          </p:nvSpPr>
          <p:spPr bwMode="auto">
            <a:xfrm rot="16200000">
              <a:off x="4926207" y="3224481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2" name="Rectangle 203"/>
            <p:cNvSpPr>
              <a:spLocks noChangeArrowheads="1"/>
            </p:cNvSpPr>
            <p:nvPr/>
          </p:nvSpPr>
          <p:spPr bwMode="auto">
            <a:xfrm rot="16200000">
              <a:off x="4935732" y="4138882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3" name="Rectangle 204"/>
            <p:cNvSpPr>
              <a:spLocks noChangeArrowheads="1"/>
            </p:cNvSpPr>
            <p:nvPr/>
          </p:nvSpPr>
          <p:spPr bwMode="auto">
            <a:xfrm rot="16200000">
              <a:off x="4916681" y="5072332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4" name="Rectangle 205"/>
            <p:cNvSpPr>
              <a:spLocks noChangeArrowheads="1"/>
            </p:cNvSpPr>
            <p:nvPr/>
          </p:nvSpPr>
          <p:spPr bwMode="auto">
            <a:xfrm rot="16200000">
              <a:off x="4916681" y="5986731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</p:grpSp>
      <p:sp>
        <p:nvSpPr>
          <p:cNvPr id="206" name="Rectangle 110"/>
          <p:cNvSpPr>
            <a:spLocks noChangeArrowheads="1"/>
          </p:cNvSpPr>
          <p:nvPr/>
        </p:nvSpPr>
        <p:spPr bwMode="auto">
          <a:xfrm>
            <a:off x="3352800" y="1143001"/>
            <a:ext cx="4648200" cy="490537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1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Auxiliary Memory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327568" y="1087934"/>
            <a:ext cx="3954097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Information Organization on Magnetic Tapes</a:t>
            </a:r>
          </a:p>
        </p:txBody>
      </p:sp>
      <p:grpSp>
        <p:nvGrpSpPr>
          <p:cNvPr id="2" name="Group 209"/>
          <p:cNvGrpSpPr>
            <a:grpSpLocks/>
          </p:cNvGrpSpPr>
          <p:nvPr/>
        </p:nvGrpSpPr>
        <p:grpSpPr bwMode="auto">
          <a:xfrm>
            <a:off x="4057944" y="1226056"/>
            <a:ext cx="3943057" cy="1998663"/>
            <a:chOff x="1407" y="1032"/>
            <a:chExt cx="3327" cy="935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1750" y="1302"/>
              <a:ext cx="2328" cy="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48"/>
                </a:cxn>
                <a:cxn ang="0">
                  <a:pos x="1344" y="144"/>
                </a:cxn>
                <a:cxn ang="0">
                  <a:pos x="1680" y="288"/>
                </a:cxn>
              </a:cxnLst>
              <a:rect l="0" t="0" r="r" b="b"/>
              <a:pathLst>
                <a:path w="1681" h="289">
                  <a:moveTo>
                    <a:pt x="0" y="0"/>
                  </a:moveTo>
                  <a:lnTo>
                    <a:pt x="1008" y="48"/>
                  </a:lnTo>
                  <a:lnTo>
                    <a:pt x="1344" y="144"/>
                  </a:lnTo>
                  <a:lnTo>
                    <a:pt x="1680" y="28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1617" y="1401"/>
              <a:ext cx="2328" cy="1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04" y="48"/>
                </a:cxn>
                <a:cxn ang="0">
                  <a:pos x="1440" y="144"/>
                </a:cxn>
                <a:cxn ang="0">
                  <a:pos x="1680" y="240"/>
                </a:cxn>
              </a:cxnLst>
              <a:rect l="0" t="0" r="r" b="b"/>
              <a:pathLst>
                <a:path w="1681" h="241">
                  <a:moveTo>
                    <a:pt x="0" y="0"/>
                  </a:moveTo>
                  <a:lnTo>
                    <a:pt x="1104" y="48"/>
                  </a:lnTo>
                  <a:lnTo>
                    <a:pt x="1440" y="144"/>
                  </a:lnTo>
                  <a:lnTo>
                    <a:pt x="1680" y="24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3079" y="1501"/>
              <a:ext cx="999" cy="167"/>
            </a:xfrm>
            <a:custGeom>
              <a:avLst/>
              <a:gdLst/>
              <a:ahLst/>
              <a:cxnLst>
                <a:cxn ang="0">
                  <a:pos x="720" y="0"/>
                </a:cxn>
                <a:cxn ang="0">
                  <a:pos x="624" y="96"/>
                </a:cxn>
                <a:cxn ang="0">
                  <a:pos x="288" y="192"/>
                </a:cxn>
                <a:cxn ang="0">
                  <a:pos x="0" y="240"/>
                </a:cxn>
              </a:cxnLst>
              <a:rect l="0" t="0" r="r" b="b"/>
              <a:pathLst>
                <a:path w="721" h="241">
                  <a:moveTo>
                    <a:pt x="720" y="0"/>
                  </a:moveTo>
                  <a:lnTo>
                    <a:pt x="624" y="96"/>
                  </a:lnTo>
                  <a:lnTo>
                    <a:pt x="288" y="192"/>
                  </a:lnTo>
                  <a:lnTo>
                    <a:pt x="0" y="24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2481" y="1501"/>
              <a:ext cx="1597" cy="266"/>
            </a:xfrm>
            <a:custGeom>
              <a:avLst/>
              <a:gdLst/>
              <a:ahLst/>
              <a:cxnLst>
                <a:cxn ang="0">
                  <a:pos x="1152" y="0"/>
                </a:cxn>
                <a:cxn ang="0">
                  <a:pos x="1152" y="192"/>
                </a:cxn>
                <a:cxn ang="0">
                  <a:pos x="1104" y="240"/>
                </a:cxn>
                <a:cxn ang="0">
                  <a:pos x="720" y="336"/>
                </a:cxn>
                <a:cxn ang="0">
                  <a:pos x="384" y="384"/>
                </a:cxn>
                <a:cxn ang="0">
                  <a:pos x="0" y="384"/>
                </a:cxn>
              </a:cxnLst>
              <a:rect l="0" t="0" r="r" b="b"/>
              <a:pathLst>
                <a:path w="1153" h="385">
                  <a:moveTo>
                    <a:pt x="1152" y="0"/>
                  </a:moveTo>
                  <a:lnTo>
                    <a:pt x="1152" y="192"/>
                  </a:lnTo>
                  <a:lnTo>
                    <a:pt x="1104" y="240"/>
                  </a:lnTo>
                  <a:lnTo>
                    <a:pt x="720" y="336"/>
                  </a:lnTo>
                  <a:lnTo>
                    <a:pt x="384" y="384"/>
                  </a:lnTo>
                  <a:lnTo>
                    <a:pt x="0" y="38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2215" y="1667"/>
              <a:ext cx="866" cy="67"/>
            </a:xfrm>
            <a:custGeom>
              <a:avLst/>
              <a:gdLst/>
              <a:ahLst/>
              <a:cxnLst>
                <a:cxn ang="0">
                  <a:pos x="624" y="0"/>
                </a:cxn>
                <a:cxn ang="0">
                  <a:pos x="192" y="0"/>
                </a:cxn>
                <a:cxn ang="0">
                  <a:pos x="48" y="48"/>
                </a:cxn>
                <a:cxn ang="0">
                  <a:pos x="0" y="96"/>
                </a:cxn>
              </a:cxnLst>
              <a:rect l="0" t="0" r="r" b="b"/>
              <a:pathLst>
                <a:path w="625" h="97">
                  <a:moveTo>
                    <a:pt x="624" y="0"/>
                  </a:moveTo>
                  <a:lnTo>
                    <a:pt x="192" y="0"/>
                  </a:lnTo>
                  <a:lnTo>
                    <a:pt x="48" y="48"/>
                  </a:lnTo>
                  <a:lnTo>
                    <a:pt x="0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H="1">
              <a:off x="2404" y="1772"/>
              <a:ext cx="99" cy="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2221" y="1739"/>
              <a:ext cx="0" cy="1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2215" y="1734"/>
              <a:ext cx="1464" cy="1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96"/>
                </a:cxn>
                <a:cxn ang="0">
                  <a:pos x="384" y="144"/>
                </a:cxn>
                <a:cxn ang="0">
                  <a:pos x="1056" y="192"/>
                </a:cxn>
              </a:cxnLst>
              <a:rect l="0" t="0" r="r" b="b"/>
              <a:pathLst>
                <a:path w="1057" h="193">
                  <a:moveTo>
                    <a:pt x="0" y="0"/>
                  </a:moveTo>
                  <a:lnTo>
                    <a:pt x="192" y="96"/>
                  </a:lnTo>
                  <a:lnTo>
                    <a:pt x="384" y="144"/>
                  </a:lnTo>
                  <a:lnTo>
                    <a:pt x="1056" y="192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2215" y="1866"/>
              <a:ext cx="1198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96"/>
                </a:cxn>
                <a:cxn ang="0">
                  <a:pos x="432" y="144"/>
                </a:cxn>
                <a:cxn ang="0">
                  <a:pos x="864" y="144"/>
                </a:cxn>
              </a:cxnLst>
              <a:rect l="0" t="0" r="r" b="b"/>
              <a:pathLst>
                <a:path w="865" h="145">
                  <a:moveTo>
                    <a:pt x="0" y="0"/>
                  </a:moveTo>
                  <a:lnTo>
                    <a:pt x="192" y="96"/>
                  </a:lnTo>
                  <a:lnTo>
                    <a:pt x="432" y="144"/>
                  </a:lnTo>
                  <a:lnTo>
                    <a:pt x="864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H="1">
              <a:off x="3401" y="1872"/>
              <a:ext cx="299" cy="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3478" y="1866"/>
              <a:ext cx="400" cy="101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0" y="144"/>
                </a:cxn>
                <a:cxn ang="0">
                  <a:pos x="288" y="144"/>
                </a:cxn>
              </a:cxnLst>
              <a:rect l="0" t="0" r="r" b="b"/>
              <a:pathLst>
                <a:path w="289" h="145">
                  <a:moveTo>
                    <a:pt x="192" y="0"/>
                  </a:moveTo>
                  <a:lnTo>
                    <a:pt x="0" y="144"/>
                  </a:lnTo>
                  <a:lnTo>
                    <a:pt x="288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3744" y="1866"/>
              <a:ext cx="533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0"/>
                </a:cxn>
                <a:cxn ang="0">
                  <a:pos x="384" y="144"/>
                </a:cxn>
                <a:cxn ang="0">
                  <a:pos x="96" y="144"/>
                </a:cxn>
              </a:cxnLst>
              <a:rect l="0" t="0" r="r" b="b"/>
              <a:pathLst>
                <a:path w="385" h="145">
                  <a:moveTo>
                    <a:pt x="0" y="0"/>
                  </a:moveTo>
                  <a:lnTo>
                    <a:pt x="384" y="0"/>
                  </a:lnTo>
                  <a:lnTo>
                    <a:pt x="384" y="144"/>
                  </a:lnTo>
                  <a:lnTo>
                    <a:pt x="96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1423" y="1307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 flipH="1">
              <a:off x="1540" y="1307"/>
              <a:ext cx="166" cy="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 flipH="1">
              <a:off x="1606" y="1307"/>
              <a:ext cx="166" cy="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 flipH="1">
              <a:off x="1407" y="1304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 flipH="1">
              <a:off x="1407" y="1404"/>
              <a:ext cx="15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>
              <a:off x="2088" y="1307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>
              <a:off x="2287" y="1340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>
              <a:off x="2487" y="1340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>
              <a:off x="2753" y="1340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2952" y="1340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>
              <a:off x="3151" y="1340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3351" y="1374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3550" y="1407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>
              <a:off x="3816" y="1473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31"/>
            <p:cNvSpPr>
              <a:spLocks noChangeShapeType="1"/>
            </p:cNvSpPr>
            <p:nvPr/>
          </p:nvSpPr>
          <p:spPr bwMode="auto">
            <a:xfrm>
              <a:off x="4015" y="1506"/>
              <a:ext cx="0" cy="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3882" y="1573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3750" y="1606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34"/>
            <p:cNvSpPr>
              <a:spLocks noChangeShapeType="1"/>
            </p:cNvSpPr>
            <p:nvPr/>
          </p:nvSpPr>
          <p:spPr bwMode="auto">
            <a:xfrm>
              <a:off x="3550" y="1639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3351" y="1673"/>
              <a:ext cx="0" cy="5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3151" y="1673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37"/>
            <p:cNvSpPr>
              <a:spLocks noChangeShapeType="1"/>
            </p:cNvSpPr>
            <p:nvPr/>
          </p:nvSpPr>
          <p:spPr bwMode="auto">
            <a:xfrm>
              <a:off x="2819" y="1673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38"/>
            <p:cNvSpPr>
              <a:spLocks noChangeShapeType="1"/>
            </p:cNvSpPr>
            <p:nvPr/>
          </p:nvSpPr>
          <p:spPr bwMode="auto">
            <a:xfrm>
              <a:off x="2553" y="1673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 flipH="1">
              <a:off x="2404" y="1772"/>
              <a:ext cx="99" cy="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40"/>
            <p:cNvSpPr>
              <a:spLocks noChangeShapeType="1"/>
            </p:cNvSpPr>
            <p:nvPr/>
          </p:nvSpPr>
          <p:spPr bwMode="auto">
            <a:xfrm>
              <a:off x="2420" y="1706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1545" y="1596"/>
              <a:ext cx="399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3072" y="1497"/>
              <a:ext cx="365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IRG</a:t>
              </a:r>
            </a:p>
          </p:txBody>
        </p:sp>
        <p:sp>
          <p:nvSpPr>
            <p:cNvPr id="51" name="Freeform 43"/>
            <p:cNvSpPr>
              <a:spLocks/>
            </p:cNvSpPr>
            <p:nvPr/>
          </p:nvSpPr>
          <p:spPr bwMode="auto">
            <a:xfrm>
              <a:off x="2082" y="1235"/>
              <a:ext cx="666" cy="6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432" y="48"/>
                </a:cxn>
                <a:cxn ang="0">
                  <a:pos x="480" y="96"/>
                </a:cxn>
              </a:cxnLst>
              <a:rect l="0" t="0" r="r" b="b"/>
              <a:pathLst>
                <a:path w="481" h="97">
                  <a:moveTo>
                    <a:pt x="0" y="48"/>
                  </a:moveTo>
                  <a:lnTo>
                    <a:pt x="48" y="0"/>
                  </a:lnTo>
                  <a:lnTo>
                    <a:pt x="432" y="48"/>
                  </a:lnTo>
                  <a:lnTo>
                    <a:pt x="480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44"/>
            <p:cNvSpPr>
              <a:spLocks/>
            </p:cNvSpPr>
            <p:nvPr/>
          </p:nvSpPr>
          <p:spPr bwMode="auto">
            <a:xfrm>
              <a:off x="2946" y="1268"/>
              <a:ext cx="401" cy="6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240" y="48"/>
                </a:cxn>
                <a:cxn ang="0">
                  <a:pos x="288" y="96"/>
                </a:cxn>
              </a:cxnLst>
              <a:rect l="0" t="0" r="r" b="b"/>
              <a:pathLst>
                <a:path w="289" h="97">
                  <a:moveTo>
                    <a:pt x="0" y="48"/>
                  </a:moveTo>
                  <a:lnTo>
                    <a:pt x="48" y="0"/>
                  </a:lnTo>
                  <a:lnTo>
                    <a:pt x="240" y="48"/>
                  </a:lnTo>
                  <a:lnTo>
                    <a:pt x="288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45"/>
            <p:cNvSpPr>
              <a:spLocks/>
            </p:cNvSpPr>
            <p:nvPr/>
          </p:nvSpPr>
          <p:spPr bwMode="auto">
            <a:xfrm>
              <a:off x="3611" y="1335"/>
              <a:ext cx="201" cy="6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144" y="48"/>
                </a:cxn>
                <a:cxn ang="0">
                  <a:pos x="144" y="96"/>
                </a:cxn>
              </a:cxnLst>
              <a:rect l="0" t="0" r="r" b="b"/>
              <a:pathLst>
                <a:path w="145" h="97">
                  <a:moveTo>
                    <a:pt x="0" y="48"/>
                  </a:moveTo>
                  <a:lnTo>
                    <a:pt x="48" y="0"/>
                  </a:lnTo>
                  <a:lnTo>
                    <a:pt x="144" y="48"/>
                  </a:lnTo>
                  <a:lnTo>
                    <a:pt x="144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46"/>
            <p:cNvSpPr>
              <a:spLocks/>
            </p:cNvSpPr>
            <p:nvPr/>
          </p:nvSpPr>
          <p:spPr bwMode="auto">
            <a:xfrm>
              <a:off x="3943" y="1601"/>
              <a:ext cx="268" cy="1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8" y="192"/>
                </a:cxn>
                <a:cxn ang="0">
                  <a:pos x="192" y="48"/>
                </a:cxn>
                <a:cxn ang="0">
                  <a:pos x="144" y="0"/>
                </a:cxn>
              </a:cxnLst>
              <a:rect l="0" t="0" r="r" b="b"/>
              <a:pathLst>
                <a:path w="193" h="193">
                  <a:moveTo>
                    <a:pt x="0" y="144"/>
                  </a:moveTo>
                  <a:lnTo>
                    <a:pt x="48" y="192"/>
                  </a:lnTo>
                  <a:lnTo>
                    <a:pt x="192" y="48"/>
                  </a:lnTo>
                  <a:lnTo>
                    <a:pt x="144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47"/>
            <p:cNvSpPr>
              <a:spLocks/>
            </p:cNvSpPr>
            <p:nvPr/>
          </p:nvSpPr>
          <p:spPr bwMode="auto">
            <a:xfrm>
              <a:off x="3345" y="1734"/>
              <a:ext cx="400" cy="67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240" y="48"/>
                </a:cxn>
                <a:cxn ang="0">
                  <a:pos x="48" y="96"/>
                </a:cxn>
                <a:cxn ang="0">
                  <a:pos x="0" y="48"/>
                </a:cxn>
              </a:cxnLst>
              <a:rect l="0" t="0" r="r" b="b"/>
              <a:pathLst>
                <a:path w="289" h="97">
                  <a:moveTo>
                    <a:pt x="288" y="0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0" y="4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48"/>
            <p:cNvSpPr>
              <a:spLocks/>
            </p:cNvSpPr>
            <p:nvPr/>
          </p:nvSpPr>
          <p:spPr bwMode="auto">
            <a:xfrm>
              <a:off x="2548" y="1601"/>
              <a:ext cx="599" cy="34"/>
            </a:xfrm>
            <a:custGeom>
              <a:avLst/>
              <a:gdLst/>
              <a:ahLst/>
              <a:cxnLst>
                <a:cxn ang="0">
                  <a:pos x="432" y="48"/>
                </a:cxn>
                <a:cxn ang="0">
                  <a:pos x="384" y="0"/>
                </a:cxn>
                <a:cxn ang="0">
                  <a:pos x="48" y="0"/>
                </a:cxn>
                <a:cxn ang="0">
                  <a:pos x="0" y="48"/>
                </a:cxn>
              </a:cxnLst>
              <a:rect l="0" t="0" r="r" b="b"/>
              <a:pathLst>
                <a:path w="433" h="49">
                  <a:moveTo>
                    <a:pt x="432" y="48"/>
                  </a:moveTo>
                  <a:lnTo>
                    <a:pt x="384" y="0"/>
                  </a:lnTo>
                  <a:lnTo>
                    <a:pt x="48" y="0"/>
                  </a:lnTo>
                  <a:lnTo>
                    <a:pt x="0" y="4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49"/>
            <p:cNvSpPr>
              <a:spLocks noChangeShapeType="1"/>
            </p:cNvSpPr>
            <p:nvPr/>
          </p:nvSpPr>
          <p:spPr bwMode="auto">
            <a:xfrm flipV="1">
              <a:off x="1900" y="1329"/>
              <a:ext cx="110" cy="3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Arc 50"/>
            <p:cNvSpPr>
              <a:spLocks/>
            </p:cNvSpPr>
            <p:nvPr/>
          </p:nvSpPr>
          <p:spPr bwMode="auto">
            <a:xfrm>
              <a:off x="1947" y="1338"/>
              <a:ext cx="87" cy="80"/>
            </a:xfrm>
            <a:custGeom>
              <a:avLst/>
              <a:gdLst>
                <a:gd name="G0" fmla="+- 10252 0 0"/>
                <a:gd name="G1" fmla="+- 0 0 0"/>
                <a:gd name="G2" fmla="+- 21600 0 0"/>
                <a:gd name="T0" fmla="*/ 11751 w 11751"/>
                <a:gd name="T1" fmla="*/ 21548 h 21600"/>
                <a:gd name="T2" fmla="*/ 0 w 11751"/>
                <a:gd name="T3" fmla="*/ 19012 h 21600"/>
                <a:gd name="T4" fmla="*/ 10252 w 11751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51" h="21600" fill="none" extrusionOk="0">
                  <a:moveTo>
                    <a:pt x="11750" y="21547"/>
                  </a:moveTo>
                  <a:cubicBezTo>
                    <a:pt x="11252" y="21582"/>
                    <a:pt x="10752" y="21599"/>
                    <a:pt x="10252" y="21600"/>
                  </a:cubicBezTo>
                  <a:cubicBezTo>
                    <a:pt x="6673" y="21600"/>
                    <a:pt x="3150" y="20710"/>
                    <a:pt x="-1" y="19012"/>
                  </a:cubicBezTo>
                </a:path>
                <a:path w="11751" h="21600" stroke="0" extrusionOk="0">
                  <a:moveTo>
                    <a:pt x="11750" y="21547"/>
                  </a:moveTo>
                  <a:cubicBezTo>
                    <a:pt x="11252" y="21582"/>
                    <a:pt x="10752" y="21599"/>
                    <a:pt x="10252" y="21600"/>
                  </a:cubicBezTo>
                  <a:cubicBezTo>
                    <a:pt x="6673" y="21600"/>
                    <a:pt x="3150" y="20710"/>
                    <a:pt x="-1" y="19012"/>
                  </a:cubicBezTo>
                  <a:lnTo>
                    <a:pt x="102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1828" y="1675"/>
              <a:ext cx="642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Arc 52"/>
            <p:cNvSpPr>
              <a:spLocks/>
            </p:cNvSpPr>
            <p:nvPr/>
          </p:nvSpPr>
          <p:spPr bwMode="auto">
            <a:xfrm>
              <a:off x="2316" y="1695"/>
              <a:ext cx="161" cy="43"/>
            </a:xfrm>
            <a:custGeom>
              <a:avLst/>
              <a:gdLst>
                <a:gd name="G0" fmla="+- 21600 0 0"/>
                <a:gd name="G1" fmla="+- 9808 0 0"/>
                <a:gd name="G2" fmla="+- 21600 0 0"/>
                <a:gd name="T0" fmla="*/ 80 w 21600"/>
                <a:gd name="T1" fmla="*/ 11663 h 11663"/>
                <a:gd name="T2" fmla="*/ 2355 w 21600"/>
                <a:gd name="T3" fmla="*/ 0 h 11663"/>
                <a:gd name="T4" fmla="*/ 21600 w 21600"/>
                <a:gd name="T5" fmla="*/ 9808 h 11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663" fill="none" extrusionOk="0">
                  <a:moveTo>
                    <a:pt x="79" y="11663"/>
                  </a:moveTo>
                  <a:cubicBezTo>
                    <a:pt x="26" y="11046"/>
                    <a:pt x="0" y="10427"/>
                    <a:pt x="0" y="9808"/>
                  </a:cubicBezTo>
                  <a:cubicBezTo>
                    <a:pt x="-1" y="6398"/>
                    <a:pt x="807" y="3037"/>
                    <a:pt x="2355" y="0"/>
                  </a:cubicBezTo>
                </a:path>
                <a:path w="21600" h="11663" stroke="0" extrusionOk="0">
                  <a:moveTo>
                    <a:pt x="79" y="11663"/>
                  </a:moveTo>
                  <a:cubicBezTo>
                    <a:pt x="26" y="11046"/>
                    <a:pt x="0" y="10427"/>
                    <a:pt x="0" y="9808"/>
                  </a:cubicBezTo>
                  <a:cubicBezTo>
                    <a:pt x="-1" y="6398"/>
                    <a:pt x="807" y="3037"/>
                    <a:pt x="2355" y="0"/>
                  </a:cubicBezTo>
                  <a:lnTo>
                    <a:pt x="21600" y="9808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 flipH="1">
              <a:off x="3866" y="1307"/>
              <a:ext cx="498" cy="1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Arc 54"/>
            <p:cNvSpPr>
              <a:spLocks/>
            </p:cNvSpPr>
            <p:nvPr/>
          </p:nvSpPr>
          <p:spPr bwMode="auto">
            <a:xfrm>
              <a:off x="3882" y="1431"/>
              <a:ext cx="146" cy="68"/>
            </a:xfrm>
            <a:custGeom>
              <a:avLst/>
              <a:gdLst>
                <a:gd name="G0" fmla="+- 0 0 0"/>
                <a:gd name="G1" fmla="+- 18169 0 0"/>
                <a:gd name="G2" fmla="+- 21600 0 0"/>
                <a:gd name="T0" fmla="*/ 11680 w 19502"/>
                <a:gd name="T1" fmla="*/ 0 h 18169"/>
                <a:gd name="T2" fmla="*/ 19502 w 19502"/>
                <a:gd name="T3" fmla="*/ 8882 h 18169"/>
                <a:gd name="T4" fmla="*/ 0 w 19502"/>
                <a:gd name="T5" fmla="*/ 18169 h 18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02" h="18169" fill="none" extrusionOk="0">
                  <a:moveTo>
                    <a:pt x="11680" y="-1"/>
                  </a:moveTo>
                  <a:cubicBezTo>
                    <a:pt x="15063" y="2174"/>
                    <a:pt x="17772" y="5250"/>
                    <a:pt x="19501" y="8882"/>
                  </a:cubicBezTo>
                </a:path>
                <a:path w="19502" h="18169" stroke="0" extrusionOk="0">
                  <a:moveTo>
                    <a:pt x="11680" y="-1"/>
                  </a:moveTo>
                  <a:cubicBezTo>
                    <a:pt x="15063" y="2174"/>
                    <a:pt x="17772" y="5250"/>
                    <a:pt x="19501" y="8882"/>
                  </a:cubicBezTo>
                  <a:lnTo>
                    <a:pt x="0" y="18169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2208" y="1164"/>
              <a:ext cx="1309" cy="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           block  2</a:t>
              </a:r>
            </a:p>
          </p:txBody>
        </p:sp>
        <p:sp>
          <p:nvSpPr>
            <p:cNvPr id="64" name="Rectangle 56"/>
            <p:cNvSpPr>
              <a:spLocks noChangeArrowheads="1"/>
            </p:cNvSpPr>
            <p:nvPr/>
          </p:nvSpPr>
          <p:spPr bwMode="auto">
            <a:xfrm>
              <a:off x="3671" y="1264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3</a:t>
              </a:r>
            </a:p>
          </p:txBody>
        </p:sp>
        <p:sp>
          <p:nvSpPr>
            <p:cNvPr id="65" name="Rectangle 57"/>
            <p:cNvSpPr>
              <a:spLocks noChangeArrowheads="1"/>
            </p:cNvSpPr>
            <p:nvPr/>
          </p:nvSpPr>
          <p:spPr bwMode="auto">
            <a:xfrm>
              <a:off x="4069" y="1663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</a:t>
              </a:r>
            </a:p>
          </p:txBody>
        </p:sp>
        <p:sp>
          <p:nvSpPr>
            <p:cNvPr id="66" name="Rectangle 58"/>
            <p:cNvSpPr>
              <a:spLocks noChangeArrowheads="1"/>
            </p:cNvSpPr>
            <p:nvPr/>
          </p:nvSpPr>
          <p:spPr bwMode="auto">
            <a:xfrm>
              <a:off x="3470" y="1763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2</a:t>
              </a: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2540" y="1497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3</a:t>
              </a:r>
            </a:p>
          </p:txBody>
        </p:sp>
        <p:sp>
          <p:nvSpPr>
            <p:cNvPr id="68" name="Line 60"/>
            <p:cNvSpPr>
              <a:spLocks noChangeShapeType="1"/>
            </p:cNvSpPr>
            <p:nvPr/>
          </p:nvSpPr>
          <p:spPr bwMode="auto">
            <a:xfrm flipH="1" flipV="1">
              <a:off x="2869" y="1362"/>
              <a:ext cx="365" cy="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Arc 61"/>
            <p:cNvSpPr>
              <a:spLocks/>
            </p:cNvSpPr>
            <p:nvPr/>
          </p:nvSpPr>
          <p:spPr bwMode="auto">
            <a:xfrm>
              <a:off x="2886" y="1371"/>
              <a:ext cx="149" cy="65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0042 w 20042"/>
                <a:gd name="T1" fmla="*/ 8054 h 17436"/>
                <a:gd name="T2" fmla="*/ 12749 w 20042"/>
                <a:gd name="T3" fmla="*/ 17436 h 17436"/>
                <a:gd name="T4" fmla="*/ 0 w 20042"/>
                <a:gd name="T5" fmla="*/ 0 h 17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42" h="17436" fill="none" extrusionOk="0">
                  <a:moveTo>
                    <a:pt x="20042" y="8054"/>
                  </a:moveTo>
                  <a:cubicBezTo>
                    <a:pt x="18536" y="11801"/>
                    <a:pt x="16009" y="15052"/>
                    <a:pt x="12749" y="17436"/>
                  </a:cubicBezTo>
                </a:path>
                <a:path w="20042" h="17436" stroke="0" extrusionOk="0">
                  <a:moveTo>
                    <a:pt x="20042" y="8054"/>
                  </a:moveTo>
                  <a:cubicBezTo>
                    <a:pt x="18536" y="11801"/>
                    <a:pt x="16009" y="15052"/>
                    <a:pt x="12749" y="174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Line 62"/>
            <p:cNvSpPr>
              <a:spLocks noChangeShapeType="1"/>
            </p:cNvSpPr>
            <p:nvPr/>
          </p:nvSpPr>
          <p:spPr bwMode="auto">
            <a:xfrm flipV="1">
              <a:off x="3428" y="1429"/>
              <a:ext cx="45" cy="11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Arc 63"/>
            <p:cNvSpPr>
              <a:spLocks/>
            </p:cNvSpPr>
            <p:nvPr/>
          </p:nvSpPr>
          <p:spPr bwMode="auto">
            <a:xfrm>
              <a:off x="3390" y="1437"/>
              <a:ext cx="95" cy="81"/>
            </a:xfrm>
            <a:custGeom>
              <a:avLst/>
              <a:gdLst>
                <a:gd name="G0" fmla="+- 12870 0 0"/>
                <a:gd name="G1" fmla="+- 0 0 0"/>
                <a:gd name="G2" fmla="+- 21600 0 0"/>
                <a:gd name="T0" fmla="*/ 11185 w 12870"/>
                <a:gd name="T1" fmla="*/ 21534 h 21534"/>
                <a:gd name="T2" fmla="*/ 0 w 12870"/>
                <a:gd name="T3" fmla="*/ 17347 h 21534"/>
                <a:gd name="T4" fmla="*/ 12870 w 12870"/>
                <a:gd name="T5" fmla="*/ 0 h 21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70" h="21534" fill="none" extrusionOk="0">
                  <a:moveTo>
                    <a:pt x="11184" y="21534"/>
                  </a:moveTo>
                  <a:cubicBezTo>
                    <a:pt x="7137" y="21217"/>
                    <a:pt x="3260" y="19766"/>
                    <a:pt x="-1" y="17347"/>
                  </a:cubicBezTo>
                </a:path>
                <a:path w="12870" h="21534" stroke="0" extrusionOk="0">
                  <a:moveTo>
                    <a:pt x="11184" y="21534"/>
                  </a:moveTo>
                  <a:cubicBezTo>
                    <a:pt x="7137" y="21217"/>
                    <a:pt x="3260" y="19766"/>
                    <a:pt x="-1" y="17347"/>
                  </a:cubicBezTo>
                  <a:lnTo>
                    <a:pt x="12870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Line 64"/>
            <p:cNvSpPr>
              <a:spLocks noChangeShapeType="1"/>
            </p:cNvSpPr>
            <p:nvPr/>
          </p:nvSpPr>
          <p:spPr bwMode="auto">
            <a:xfrm>
              <a:off x="3356" y="1576"/>
              <a:ext cx="443" cy="5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Arc 65"/>
            <p:cNvSpPr>
              <a:spLocks/>
            </p:cNvSpPr>
            <p:nvPr/>
          </p:nvSpPr>
          <p:spPr bwMode="auto">
            <a:xfrm>
              <a:off x="3646" y="1590"/>
              <a:ext cx="160" cy="43"/>
            </a:xfrm>
            <a:custGeom>
              <a:avLst/>
              <a:gdLst>
                <a:gd name="G0" fmla="+- 21600 0 0"/>
                <a:gd name="G1" fmla="+- 11113 0 0"/>
                <a:gd name="G2" fmla="+- 21600 0 0"/>
                <a:gd name="T0" fmla="*/ 3 w 21600"/>
                <a:gd name="T1" fmla="*/ 11485 h 11485"/>
                <a:gd name="T2" fmla="*/ 3078 w 21600"/>
                <a:gd name="T3" fmla="*/ 0 h 11485"/>
                <a:gd name="T4" fmla="*/ 21600 w 21600"/>
                <a:gd name="T5" fmla="*/ 11113 h 1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485" fill="none" extrusionOk="0">
                  <a:moveTo>
                    <a:pt x="3" y="11484"/>
                  </a:moveTo>
                  <a:cubicBezTo>
                    <a:pt x="1" y="11361"/>
                    <a:pt x="0" y="11237"/>
                    <a:pt x="0" y="11113"/>
                  </a:cubicBezTo>
                  <a:cubicBezTo>
                    <a:pt x="-1" y="7198"/>
                    <a:pt x="1063" y="3356"/>
                    <a:pt x="3078" y="0"/>
                  </a:cubicBezTo>
                </a:path>
                <a:path w="21600" h="11485" stroke="0" extrusionOk="0">
                  <a:moveTo>
                    <a:pt x="3" y="11484"/>
                  </a:moveTo>
                  <a:cubicBezTo>
                    <a:pt x="1" y="11361"/>
                    <a:pt x="0" y="11237"/>
                    <a:pt x="0" y="11113"/>
                  </a:cubicBezTo>
                  <a:cubicBezTo>
                    <a:pt x="-1" y="7198"/>
                    <a:pt x="1063" y="3356"/>
                    <a:pt x="3078" y="0"/>
                  </a:cubicBezTo>
                  <a:lnTo>
                    <a:pt x="21600" y="1111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66"/>
            <p:cNvSpPr>
              <a:spLocks noChangeShapeType="1"/>
            </p:cNvSpPr>
            <p:nvPr/>
          </p:nvSpPr>
          <p:spPr bwMode="auto">
            <a:xfrm>
              <a:off x="3218" y="1573"/>
              <a:ext cx="0" cy="1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Arc 67"/>
            <p:cNvSpPr>
              <a:spLocks/>
            </p:cNvSpPr>
            <p:nvPr/>
          </p:nvSpPr>
          <p:spPr bwMode="auto">
            <a:xfrm>
              <a:off x="3175" y="1618"/>
              <a:ext cx="87" cy="80"/>
            </a:xfrm>
            <a:custGeom>
              <a:avLst/>
              <a:gdLst>
                <a:gd name="G0" fmla="+- 5934 0 0"/>
                <a:gd name="G1" fmla="+- 21600 0 0"/>
                <a:gd name="G2" fmla="+- 21600 0 0"/>
                <a:gd name="T0" fmla="*/ 0 w 11696"/>
                <a:gd name="T1" fmla="*/ 831 h 21600"/>
                <a:gd name="T2" fmla="*/ 11696 w 11696"/>
                <a:gd name="T3" fmla="*/ 783 h 21600"/>
                <a:gd name="T4" fmla="*/ 5934 w 1169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96" h="21600" fill="none" extrusionOk="0">
                  <a:moveTo>
                    <a:pt x="0" y="831"/>
                  </a:moveTo>
                  <a:cubicBezTo>
                    <a:pt x="1929" y="279"/>
                    <a:pt x="3927" y="-1"/>
                    <a:pt x="5934" y="0"/>
                  </a:cubicBezTo>
                  <a:cubicBezTo>
                    <a:pt x="7881" y="0"/>
                    <a:pt x="9819" y="263"/>
                    <a:pt x="11696" y="782"/>
                  </a:cubicBezTo>
                </a:path>
                <a:path w="11696" h="21600" stroke="0" extrusionOk="0">
                  <a:moveTo>
                    <a:pt x="0" y="831"/>
                  </a:moveTo>
                  <a:cubicBezTo>
                    <a:pt x="1929" y="279"/>
                    <a:pt x="3927" y="-1"/>
                    <a:pt x="5934" y="0"/>
                  </a:cubicBezTo>
                  <a:cubicBezTo>
                    <a:pt x="7881" y="0"/>
                    <a:pt x="9819" y="263"/>
                    <a:pt x="11696" y="782"/>
                  </a:cubicBezTo>
                  <a:lnTo>
                    <a:pt x="5934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2077" y="1306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2274" y="1340"/>
              <a:ext cx="852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    R3           R4</a:t>
              </a: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3139" y="1373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R5</a:t>
              </a: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3537" y="1439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R6</a:t>
              </a: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3870" y="1572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3339" y="1639"/>
              <a:ext cx="42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  R2</a:t>
              </a: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2540" y="1672"/>
              <a:ext cx="546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R5      R4</a:t>
              </a:r>
            </a:p>
          </p:txBody>
        </p:sp>
        <p:sp>
          <p:nvSpPr>
            <p:cNvPr id="83" name="Freeform 75"/>
            <p:cNvSpPr>
              <a:spLocks/>
            </p:cNvSpPr>
            <p:nvPr/>
          </p:nvSpPr>
          <p:spPr bwMode="auto">
            <a:xfrm>
              <a:off x="2282" y="1135"/>
              <a:ext cx="1862" cy="101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1296" y="0"/>
                </a:cxn>
                <a:cxn ang="0">
                  <a:pos x="1344" y="144"/>
                </a:cxn>
              </a:cxnLst>
              <a:rect l="0" t="0" r="r" b="b"/>
              <a:pathLst>
                <a:path w="1345" h="145">
                  <a:moveTo>
                    <a:pt x="0" y="48"/>
                  </a:moveTo>
                  <a:lnTo>
                    <a:pt x="48" y="0"/>
                  </a:lnTo>
                  <a:lnTo>
                    <a:pt x="1296" y="0"/>
                  </a:lnTo>
                  <a:lnTo>
                    <a:pt x="1344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Line 76"/>
            <p:cNvSpPr>
              <a:spLocks noChangeShapeType="1"/>
            </p:cNvSpPr>
            <p:nvPr/>
          </p:nvSpPr>
          <p:spPr bwMode="auto">
            <a:xfrm flipH="1">
              <a:off x="2758" y="1340"/>
              <a:ext cx="78" cy="1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 flipH="1">
              <a:off x="2736" y="1340"/>
              <a:ext cx="166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Line 78"/>
            <p:cNvSpPr>
              <a:spLocks noChangeShapeType="1"/>
            </p:cNvSpPr>
            <p:nvPr/>
          </p:nvSpPr>
          <p:spPr bwMode="auto">
            <a:xfrm flipH="1">
              <a:off x="2780" y="1346"/>
              <a:ext cx="178" cy="66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 flipH="1">
              <a:off x="2825" y="1374"/>
              <a:ext cx="144" cy="44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Line 80"/>
            <p:cNvSpPr>
              <a:spLocks noChangeShapeType="1"/>
            </p:cNvSpPr>
            <p:nvPr/>
          </p:nvSpPr>
          <p:spPr bwMode="auto">
            <a:xfrm flipH="1">
              <a:off x="2891" y="1407"/>
              <a:ext cx="78" cy="16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Line 81"/>
            <p:cNvSpPr>
              <a:spLocks noChangeShapeType="1"/>
            </p:cNvSpPr>
            <p:nvPr/>
          </p:nvSpPr>
          <p:spPr bwMode="auto">
            <a:xfrm flipH="1">
              <a:off x="3356" y="1390"/>
              <a:ext cx="67" cy="1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Line 82"/>
            <p:cNvSpPr>
              <a:spLocks noChangeShapeType="1"/>
            </p:cNvSpPr>
            <p:nvPr/>
          </p:nvSpPr>
          <p:spPr bwMode="auto">
            <a:xfrm flipH="1">
              <a:off x="3367" y="1396"/>
              <a:ext cx="155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Line 83"/>
            <p:cNvSpPr>
              <a:spLocks noChangeShapeType="1"/>
            </p:cNvSpPr>
            <p:nvPr/>
          </p:nvSpPr>
          <p:spPr bwMode="auto">
            <a:xfrm flipH="1">
              <a:off x="3401" y="1418"/>
              <a:ext cx="144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84"/>
            <p:cNvSpPr>
              <a:spLocks noChangeShapeType="1"/>
            </p:cNvSpPr>
            <p:nvPr/>
          </p:nvSpPr>
          <p:spPr bwMode="auto">
            <a:xfrm flipH="1">
              <a:off x="3467" y="1446"/>
              <a:ext cx="89" cy="2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 flipH="1">
              <a:off x="3799" y="1473"/>
              <a:ext cx="100" cy="28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Line 86"/>
            <p:cNvSpPr>
              <a:spLocks noChangeShapeType="1"/>
            </p:cNvSpPr>
            <p:nvPr/>
          </p:nvSpPr>
          <p:spPr bwMode="auto">
            <a:xfrm flipH="1">
              <a:off x="3822" y="1484"/>
              <a:ext cx="144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H="1">
              <a:off x="3866" y="1490"/>
              <a:ext cx="144" cy="55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Line 88"/>
            <p:cNvSpPr>
              <a:spLocks noChangeShapeType="1"/>
            </p:cNvSpPr>
            <p:nvPr/>
          </p:nvSpPr>
          <p:spPr bwMode="auto">
            <a:xfrm flipH="1">
              <a:off x="3744" y="1595"/>
              <a:ext cx="100" cy="28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H="1">
              <a:off x="3733" y="1606"/>
              <a:ext cx="166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Line 90"/>
            <p:cNvSpPr>
              <a:spLocks noChangeShapeType="1"/>
            </p:cNvSpPr>
            <p:nvPr/>
          </p:nvSpPr>
          <p:spPr bwMode="auto">
            <a:xfrm flipH="1">
              <a:off x="3777" y="1639"/>
              <a:ext cx="122" cy="39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H="1">
              <a:off x="3135" y="1673"/>
              <a:ext cx="99" cy="2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 flipH="1">
              <a:off x="3157" y="1656"/>
              <a:ext cx="177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 flipH="1">
              <a:off x="3201" y="1673"/>
              <a:ext cx="166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 flipH="1">
              <a:off x="3268" y="1706"/>
              <a:ext cx="99" cy="28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 flipH="1">
              <a:off x="2404" y="1673"/>
              <a:ext cx="99" cy="2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Line 96"/>
            <p:cNvSpPr>
              <a:spLocks noChangeShapeType="1"/>
            </p:cNvSpPr>
            <p:nvPr/>
          </p:nvSpPr>
          <p:spPr bwMode="auto">
            <a:xfrm flipH="1">
              <a:off x="2404" y="1689"/>
              <a:ext cx="122" cy="45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 flipH="1">
              <a:off x="2404" y="1717"/>
              <a:ext cx="133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Line 98"/>
            <p:cNvSpPr>
              <a:spLocks noChangeShapeType="1"/>
            </p:cNvSpPr>
            <p:nvPr/>
          </p:nvSpPr>
          <p:spPr bwMode="auto">
            <a:xfrm flipH="1">
              <a:off x="2404" y="1750"/>
              <a:ext cx="133" cy="2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Line 99"/>
            <p:cNvSpPr>
              <a:spLocks noChangeShapeType="1"/>
            </p:cNvSpPr>
            <p:nvPr/>
          </p:nvSpPr>
          <p:spPr bwMode="auto">
            <a:xfrm flipH="1">
              <a:off x="1938" y="1313"/>
              <a:ext cx="78" cy="2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Line 100"/>
            <p:cNvSpPr>
              <a:spLocks noChangeShapeType="1"/>
            </p:cNvSpPr>
            <p:nvPr/>
          </p:nvSpPr>
          <p:spPr bwMode="auto">
            <a:xfrm flipH="1">
              <a:off x="1938" y="1318"/>
              <a:ext cx="133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Line 101"/>
            <p:cNvSpPr>
              <a:spLocks noChangeShapeType="1"/>
            </p:cNvSpPr>
            <p:nvPr/>
          </p:nvSpPr>
          <p:spPr bwMode="auto">
            <a:xfrm flipH="1">
              <a:off x="1950" y="1346"/>
              <a:ext cx="132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Line 102"/>
            <p:cNvSpPr>
              <a:spLocks noChangeShapeType="1"/>
            </p:cNvSpPr>
            <p:nvPr/>
          </p:nvSpPr>
          <p:spPr bwMode="auto">
            <a:xfrm flipH="1">
              <a:off x="2005" y="1385"/>
              <a:ext cx="66" cy="16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103"/>
            <p:cNvSpPr>
              <a:spLocks noChangeShapeType="1"/>
            </p:cNvSpPr>
            <p:nvPr/>
          </p:nvSpPr>
          <p:spPr bwMode="auto">
            <a:xfrm>
              <a:off x="1955" y="1307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Rectangle 104"/>
            <p:cNvSpPr>
              <a:spLocks noChangeArrowheads="1"/>
            </p:cNvSpPr>
            <p:nvPr/>
          </p:nvSpPr>
          <p:spPr bwMode="auto">
            <a:xfrm>
              <a:off x="2939" y="1032"/>
              <a:ext cx="390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 i</a:t>
              </a:r>
            </a:p>
          </p:txBody>
        </p:sp>
        <p:sp>
          <p:nvSpPr>
            <p:cNvPr id="113" name="Rectangle 105"/>
            <p:cNvSpPr>
              <a:spLocks noChangeArrowheads="1"/>
            </p:cNvSpPr>
            <p:nvPr/>
          </p:nvSpPr>
          <p:spPr bwMode="auto">
            <a:xfrm>
              <a:off x="4335" y="1231"/>
              <a:ext cx="399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</a:p>
          </p:txBody>
        </p:sp>
      </p:grpSp>
      <p:sp>
        <p:nvSpPr>
          <p:cNvPr id="114" name="Rectangle 106"/>
          <p:cNvSpPr>
            <a:spLocks noChangeArrowheads="1"/>
          </p:cNvSpPr>
          <p:nvPr/>
        </p:nvSpPr>
        <p:spPr bwMode="auto">
          <a:xfrm>
            <a:off x="2327569" y="3318381"/>
            <a:ext cx="278922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>
                <a:latin typeface="Arial" panose="020B0604020202020204" pitchFamily="34" charset="0"/>
                <a:cs typeface="Arial" panose="020B0604020202020204" pitchFamily="34" charset="0"/>
              </a:rPr>
              <a:t>Organization of Disk Hardware</a:t>
            </a:r>
          </a:p>
        </p:txBody>
      </p:sp>
      <p:grpSp>
        <p:nvGrpSpPr>
          <p:cNvPr id="3" name="Group 208"/>
          <p:cNvGrpSpPr>
            <a:grpSpLocks/>
          </p:cNvGrpSpPr>
          <p:nvPr/>
        </p:nvGrpSpPr>
        <p:grpSpPr bwMode="auto">
          <a:xfrm>
            <a:off x="3492794" y="3583495"/>
            <a:ext cx="3999841" cy="2886903"/>
            <a:chOff x="759" y="3359"/>
            <a:chExt cx="2960" cy="2186"/>
          </a:xfrm>
        </p:grpSpPr>
        <p:sp>
          <p:nvSpPr>
            <p:cNvPr id="116" name="Line 109"/>
            <p:cNvSpPr>
              <a:spLocks noChangeShapeType="1"/>
            </p:cNvSpPr>
            <p:nvPr/>
          </p:nvSpPr>
          <p:spPr bwMode="auto">
            <a:xfrm>
              <a:off x="864" y="3863"/>
              <a:ext cx="909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Line 110"/>
            <p:cNvSpPr>
              <a:spLocks noChangeShapeType="1"/>
            </p:cNvSpPr>
            <p:nvPr/>
          </p:nvSpPr>
          <p:spPr bwMode="auto">
            <a:xfrm>
              <a:off x="864" y="4102"/>
              <a:ext cx="909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111"/>
            <p:cNvSpPr>
              <a:spLocks noChangeShapeType="1"/>
            </p:cNvSpPr>
            <p:nvPr/>
          </p:nvSpPr>
          <p:spPr bwMode="auto">
            <a:xfrm>
              <a:off x="864" y="4437"/>
              <a:ext cx="909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>
              <a:off x="1294" y="3719"/>
              <a:ext cx="1" cy="4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Line 113"/>
            <p:cNvSpPr>
              <a:spLocks noChangeShapeType="1"/>
            </p:cNvSpPr>
            <p:nvPr/>
          </p:nvSpPr>
          <p:spPr bwMode="auto">
            <a:xfrm>
              <a:off x="1294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>
              <a:off x="1294" y="3719"/>
              <a:ext cx="4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Line 115"/>
            <p:cNvSpPr>
              <a:spLocks noChangeShapeType="1"/>
            </p:cNvSpPr>
            <p:nvPr/>
          </p:nvSpPr>
          <p:spPr bwMode="auto">
            <a:xfrm>
              <a:off x="1342" y="3719"/>
              <a:ext cx="1" cy="4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>
              <a:off x="1342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Rectangle 117"/>
            <p:cNvSpPr>
              <a:spLocks noChangeArrowheads="1"/>
            </p:cNvSpPr>
            <p:nvPr/>
          </p:nvSpPr>
          <p:spPr bwMode="auto">
            <a:xfrm>
              <a:off x="1490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Rectangle 118"/>
            <p:cNvSpPr>
              <a:spLocks noChangeArrowheads="1"/>
            </p:cNvSpPr>
            <p:nvPr/>
          </p:nvSpPr>
          <p:spPr bwMode="auto">
            <a:xfrm>
              <a:off x="1490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Rectangle 119"/>
            <p:cNvSpPr>
              <a:spLocks noChangeArrowheads="1"/>
            </p:cNvSpPr>
            <p:nvPr/>
          </p:nvSpPr>
          <p:spPr bwMode="auto">
            <a:xfrm>
              <a:off x="1490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120"/>
            <p:cNvSpPr>
              <a:spLocks noChangeArrowheads="1"/>
            </p:cNvSpPr>
            <p:nvPr/>
          </p:nvSpPr>
          <p:spPr bwMode="auto">
            <a:xfrm>
              <a:off x="1490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121"/>
            <p:cNvSpPr>
              <a:spLocks noChangeArrowheads="1"/>
            </p:cNvSpPr>
            <p:nvPr/>
          </p:nvSpPr>
          <p:spPr bwMode="auto">
            <a:xfrm>
              <a:off x="1490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122"/>
            <p:cNvSpPr>
              <a:spLocks noChangeArrowheads="1"/>
            </p:cNvSpPr>
            <p:nvPr/>
          </p:nvSpPr>
          <p:spPr bwMode="auto">
            <a:xfrm>
              <a:off x="1490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Line 123"/>
            <p:cNvSpPr>
              <a:spLocks noChangeShapeType="1"/>
            </p:cNvSpPr>
            <p:nvPr/>
          </p:nvSpPr>
          <p:spPr bwMode="auto">
            <a:xfrm>
              <a:off x="1486" y="3767"/>
              <a:ext cx="33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Line 124"/>
            <p:cNvSpPr>
              <a:spLocks noChangeShapeType="1"/>
            </p:cNvSpPr>
            <p:nvPr/>
          </p:nvSpPr>
          <p:spPr bwMode="auto">
            <a:xfrm>
              <a:off x="1534" y="3959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Line 125"/>
            <p:cNvSpPr>
              <a:spLocks noChangeShapeType="1"/>
            </p:cNvSpPr>
            <p:nvPr/>
          </p:nvSpPr>
          <p:spPr bwMode="auto">
            <a:xfrm>
              <a:off x="1534" y="4006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Line 126"/>
            <p:cNvSpPr>
              <a:spLocks noChangeShapeType="1"/>
            </p:cNvSpPr>
            <p:nvPr/>
          </p:nvSpPr>
          <p:spPr bwMode="auto">
            <a:xfrm>
              <a:off x="1534" y="4198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Line 127"/>
            <p:cNvSpPr>
              <a:spLocks noChangeShapeType="1"/>
            </p:cNvSpPr>
            <p:nvPr/>
          </p:nvSpPr>
          <p:spPr bwMode="auto">
            <a:xfrm flipV="1">
              <a:off x="1540" y="4342"/>
              <a:ext cx="281" cy="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Line 128"/>
            <p:cNvSpPr>
              <a:spLocks noChangeShapeType="1"/>
            </p:cNvSpPr>
            <p:nvPr/>
          </p:nvSpPr>
          <p:spPr bwMode="auto">
            <a:xfrm>
              <a:off x="1534" y="4532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Line 129"/>
            <p:cNvSpPr>
              <a:spLocks noChangeShapeType="1"/>
            </p:cNvSpPr>
            <p:nvPr/>
          </p:nvSpPr>
          <p:spPr bwMode="auto">
            <a:xfrm>
              <a:off x="1821" y="3672"/>
              <a:ext cx="1" cy="9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Line 130"/>
            <p:cNvSpPr>
              <a:spLocks noChangeShapeType="1"/>
            </p:cNvSpPr>
            <p:nvPr/>
          </p:nvSpPr>
          <p:spPr bwMode="auto">
            <a:xfrm>
              <a:off x="1821" y="3672"/>
              <a:ext cx="9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Line 131"/>
            <p:cNvSpPr>
              <a:spLocks noChangeShapeType="1"/>
            </p:cNvSpPr>
            <p:nvPr/>
          </p:nvSpPr>
          <p:spPr bwMode="auto">
            <a:xfrm>
              <a:off x="1916" y="3672"/>
              <a:ext cx="1" cy="9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Line 132"/>
            <p:cNvSpPr>
              <a:spLocks noChangeShapeType="1"/>
            </p:cNvSpPr>
            <p:nvPr/>
          </p:nvSpPr>
          <p:spPr bwMode="auto">
            <a:xfrm>
              <a:off x="2299" y="3863"/>
              <a:ext cx="910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Line 133"/>
            <p:cNvSpPr>
              <a:spLocks noChangeShapeType="1"/>
            </p:cNvSpPr>
            <p:nvPr/>
          </p:nvSpPr>
          <p:spPr bwMode="auto">
            <a:xfrm>
              <a:off x="2299" y="4102"/>
              <a:ext cx="910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Line 134"/>
            <p:cNvSpPr>
              <a:spLocks noChangeShapeType="1"/>
            </p:cNvSpPr>
            <p:nvPr/>
          </p:nvSpPr>
          <p:spPr bwMode="auto">
            <a:xfrm>
              <a:off x="2299" y="4437"/>
              <a:ext cx="910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Line 135"/>
            <p:cNvSpPr>
              <a:spLocks noChangeShapeType="1"/>
            </p:cNvSpPr>
            <p:nvPr/>
          </p:nvSpPr>
          <p:spPr bwMode="auto">
            <a:xfrm>
              <a:off x="2730" y="3719"/>
              <a:ext cx="1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Line 136"/>
            <p:cNvSpPr>
              <a:spLocks noChangeShapeType="1"/>
            </p:cNvSpPr>
            <p:nvPr/>
          </p:nvSpPr>
          <p:spPr bwMode="auto">
            <a:xfrm>
              <a:off x="2730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Line 137"/>
            <p:cNvSpPr>
              <a:spLocks noChangeShapeType="1"/>
            </p:cNvSpPr>
            <p:nvPr/>
          </p:nvSpPr>
          <p:spPr bwMode="auto">
            <a:xfrm>
              <a:off x="2778" y="3719"/>
              <a:ext cx="1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Line 138"/>
            <p:cNvSpPr>
              <a:spLocks noChangeShapeType="1"/>
            </p:cNvSpPr>
            <p:nvPr/>
          </p:nvSpPr>
          <p:spPr bwMode="auto">
            <a:xfrm flipH="1">
              <a:off x="2730" y="3719"/>
              <a:ext cx="4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Line 139"/>
            <p:cNvSpPr>
              <a:spLocks noChangeShapeType="1"/>
            </p:cNvSpPr>
            <p:nvPr/>
          </p:nvSpPr>
          <p:spPr bwMode="auto">
            <a:xfrm>
              <a:off x="2778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0"/>
            <p:cNvSpPr>
              <a:spLocks noChangeArrowheads="1"/>
            </p:cNvSpPr>
            <p:nvPr/>
          </p:nvSpPr>
          <p:spPr bwMode="auto">
            <a:xfrm>
              <a:off x="2830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Rectangle 141"/>
            <p:cNvSpPr>
              <a:spLocks noChangeArrowheads="1"/>
            </p:cNvSpPr>
            <p:nvPr/>
          </p:nvSpPr>
          <p:spPr bwMode="auto">
            <a:xfrm>
              <a:off x="2925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142"/>
            <p:cNvSpPr>
              <a:spLocks noChangeArrowheads="1"/>
            </p:cNvSpPr>
            <p:nvPr/>
          </p:nvSpPr>
          <p:spPr bwMode="auto">
            <a:xfrm>
              <a:off x="3117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Rectangle 143"/>
            <p:cNvSpPr>
              <a:spLocks noChangeArrowheads="1"/>
            </p:cNvSpPr>
            <p:nvPr/>
          </p:nvSpPr>
          <p:spPr bwMode="auto">
            <a:xfrm>
              <a:off x="2830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144"/>
            <p:cNvSpPr>
              <a:spLocks noChangeArrowheads="1"/>
            </p:cNvSpPr>
            <p:nvPr/>
          </p:nvSpPr>
          <p:spPr bwMode="auto">
            <a:xfrm>
              <a:off x="2925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Rectangle 145"/>
            <p:cNvSpPr>
              <a:spLocks noChangeArrowheads="1"/>
            </p:cNvSpPr>
            <p:nvPr/>
          </p:nvSpPr>
          <p:spPr bwMode="auto">
            <a:xfrm>
              <a:off x="3117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Rectangle 146"/>
            <p:cNvSpPr>
              <a:spLocks noChangeArrowheads="1"/>
            </p:cNvSpPr>
            <p:nvPr/>
          </p:nvSpPr>
          <p:spPr bwMode="auto">
            <a:xfrm>
              <a:off x="2830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Rectangle 147"/>
            <p:cNvSpPr>
              <a:spLocks noChangeArrowheads="1"/>
            </p:cNvSpPr>
            <p:nvPr/>
          </p:nvSpPr>
          <p:spPr bwMode="auto">
            <a:xfrm>
              <a:off x="2925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Rectangle 148"/>
            <p:cNvSpPr>
              <a:spLocks noChangeArrowheads="1"/>
            </p:cNvSpPr>
            <p:nvPr/>
          </p:nvSpPr>
          <p:spPr bwMode="auto">
            <a:xfrm>
              <a:off x="3117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Rectangle 149"/>
            <p:cNvSpPr>
              <a:spLocks noChangeArrowheads="1"/>
            </p:cNvSpPr>
            <p:nvPr/>
          </p:nvSpPr>
          <p:spPr bwMode="auto">
            <a:xfrm>
              <a:off x="2830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Rectangle 150"/>
            <p:cNvSpPr>
              <a:spLocks noChangeArrowheads="1"/>
            </p:cNvSpPr>
            <p:nvPr/>
          </p:nvSpPr>
          <p:spPr bwMode="auto">
            <a:xfrm>
              <a:off x="2925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Rectangle 151"/>
            <p:cNvSpPr>
              <a:spLocks noChangeArrowheads="1"/>
            </p:cNvSpPr>
            <p:nvPr/>
          </p:nvSpPr>
          <p:spPr bwMode="auto">
            <a:xfrm>
              <a:off x="3117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Rectangle 152"/>
            <p:cNvSpPr>
              <a:spLocks noChangeArrowheads="1"/>
            </p:cNvSpPr>
            <p:nvPr/>
          </p:nvSpPr>
          <p:spPr bwMode="auto">
            <a:xfrm>
              <a:off x="2830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Rectangle 153"/>
            <p:cNvSpPr>
              <a:spLocks noChangeArrowheads="1"/>
            </p:cNvSpPr>
            <p:nvPr/>
          </p:nvSpPr>
          <p:spPr bwMode="auto">
            <a:xfrm>
              <a:off x="2925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Rectangle 154"/>
            <p:cNvSpPr>
              <a:spLocks noChangeArrowheads="1"/>
            </p:cNvSpPr>
            <p:nvPr/>
          </p:nvSpPr>
          <p:spPr bwMode="auto">
            <a:xfrm>
              <a:off x="3117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Rectangle 155"/>
            <p:cNvSpPr>
              <a:spLocks noChangeArrowheads="1"/>
            </p:cNvSpPr>
            <p:nvPr/>
          </p:nvSpPr>
          <p:spPr bwMode="auto">
            <a:xfrm>
              <a:off x="2830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Rectangle 156"/>
            <p:cNvSpPr>
              <a:spLocks noChangeArrowheads="1"/>
            </p:cNvSpPr>
            <p:nvPr/>
          </p:nvSpPr>
          <p:spPr bwMode="auto">
            <a:xfrm>
              <a:off x="2925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Rectangle 157"/>
            <p:cNvSpPr>
              <a:spLocks noChangeArrowheads="1"/>
            </p:cNvSpPr>
            <p:nvPr/>
          </p:nvSpPr>
          <p:spPr bwMode="auto">
            <a:xfrm>
              <a:off x="3117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Line 158"/>
            <p:cNvSpPr>
              <a:spLocks noChangeShapeType="1"/>
            </p:cNvSpPr>
            <p:nvPr/>
          </p:nvSpPr>
          <p:spPr bwMode="auto">
            <a:xfrm>
              <a:off x="2826" y="3767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Line 159"/>
            <p:cNvSpPr>
              <a:spLocks noChangeShapeType="1"/>
            </p:cNvSpPr>
            <p:nvPr/>
          </p:nvSpPr>
          <p:spPr bwMode="auto">
            <a:xfrm>
              <a:off x="2826" y="3959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Line 160"/>
            <p:cNvSpPr>
              <a:spLocks noChangeShapeType="1"/>
            </p:cNvSpPr>
            <p:nvPr/>
          </p:nvSpPr>
          <p:spPr bwMode="auto">
            <a:xfrm>
              <a:off x="2826" y="4006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Line 161"/>
            <p:cNvSpPr>
              <a:spLocks noChangeShapeType="1"/>
            </p:cNvSpPr>
            <p:nvPr/>
          </p:nvSpPr>
          <p:spPr bwMode="auto">
            <a:xfrm>
              <a:off x="2826" y="4198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Line 162"/>
            <p:cNvSpPr>
              <a:spLocks noChangeShapeType="1"/>
            </p:cNvSpPr>
            <p:nvPr/>
          </p:nvSpPr>
          <p:spPr bwMode="auto">
            <a:xfrm flipV="1">
              <a:off x="2826" y="4336"/>
              <a:ext cx="484" cy="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Line 163"/>
            <p:cNvSpPr>
              <a:spLocks noChangeShapeType="1"/>
            </p:cNvSpPr>
            <p:nvPr/>
          </p:nvSpPr>
          <p:spPr bwMode="auto">
            <a:xfrm>
              <a:off x="2874" y="4532"/>
              <a:ext cx="43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Line 164"/>
            <p:cNvSpPr>
              <a:spLocks noChangeShapeType="1"/>
            </p:cNvSpPr>
            <p:nvPr/>
          </p:nvSpPr>
          <p:spPr bwMode="auto">
            <a:xfrm>
              <a:off x="3304" y="3672"/>
              <a:ext cx="1" cy="9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Line 165"/>
            <p:cNvSpPr>
              <a:spLocks noChangeShapeType="1"/>
            </p:cNvSpPr>
            <p:nvPr/>
          </p:nvSpPr>
          <p:spPr bwMode="auto">
            <a:xfrm>
              <a:off x="3304" y="3672"/>
              <a:ext cx="9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Line 166"/>
            <p:cNvSpPr>
              <a:spLocks noChangeShapeType="1"/>
            </p:cNvSpPr>
            <p:nvPr/>
          </p:nvSpPr>
          <p:spPr bwMode="auto">
            <a:xfrm>
              <a:off x="3400" y="3672"/>
              <a:ext cx="1" cy="9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Oval 167"/>
            <p:cNvSpPr>
              <a:spLocks noChangeArrowheads="1"/>
            </p:cNvSpPr>
            <p:nvPr/>
          </p:nvSpPr>
          <p:spPr bwMode="auto">
            <a:xfrm>
              <a:off x="868" y="4632"/>
              <a:ext cx="909" cy="90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Oval 168"/>
            <p:cNvSpPr>
              <a:spLocks noChangeArrowheads="1"/>
            </p:cNvSpPr>
            <p:nvPr/>
          </p:nvSpPr>
          <p:spPr bwMode="auto">
            <a:xfrm>
              <a:off x="1107" y="4871"/>
              <a:ext cx="431" cy="431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169"/>
            <p:cNvSpPr>
              <a:spLocks noChangeShapeType="1"/>
            </p:cNvSpPr>
            <p:nvPr/>
          </p:nvSpPr>
          <p:spPr bwMode="auto">
            <a:xfrm flipH="1">
              <a:off x="1486" y="5106"/>
              <a:ext cx="33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Oval 170"/>
            <p:cNvSpPr>
              <a:spLocks noChangeArrowheads="1"/>
            </p:cNvSpPr>
            <p:nvPr/>
          </p:nvSpPr>
          <p:spPr bwMode="auto">
            <a:xfrm>
              <a:off x="1825" y="5063"/>
              <a:ext cx="95" cy="95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Rectangle 171"/>
            <p:cNvSpPr>
              <a:spLocks noChangeArrowheads="1"/>
            </p:cNvSpPr>
            <p:nvPr/>
          </p:nvSpPr>
          <p:spPr bwMode="auto">
            <a:xfrm>
              <a:off x="1490" y="51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Line 172"/>
            <p:cNvSpPr>
              <a:spLocks noChangeShapeType="1"/>
            </p:cNvSpPr>
            <p:nvPr/>
          </p:nvSpPr>
          <p:spPr bwMode="auto">
            <a:xfrm>
              <a:off x="1446" y="3672"/>
              <a:ext cx="2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Arc 173"/>
            <p:cNvSpPr>
              <a:spLocks/>
            </p:cNvSpPr>
            <p:nvPr/>
          </p:nvSpPr>
          <p:spPr bwMode="auto">
            <a:xfrm>
              <a:off x="1653" y="3639"/>
              <a:ext cx="120" cy="65"/>
            </a:xfrm>
            <a:custGeom>
              <a:avLst/>
              <a:gdLst>
                <a:gd name="G0" fmla="+- 21600 0 0"/>
                <a:gd name="G1" fmla="+- 5885 0 0"/>
                <a:gd name="G2" fmla="+- 21600 0 0"/>
                <a:gd name="T0" fmla="*/ 810 w 21600"/>
                <a:gd name="T1" fmla="*/ 11745 h 11745"/>
                <a:gd name="T2" fmla="*/ 817 w 21600"/>
                <a:gd name="T3" fmla="*/ 0 h 11745"/>
                <a:gd name="T4" fmla="*/ 21600 w 21600"/>
                <a:gd name="T5" fmla="*/ 5885 h 1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45" fill="none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</a:path>
                <a:path w="21600" h="11745" stroke="0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  <a:lnTo>
                    <a:pt x="21600" y="58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Arc 174"/>
            <p:cNvSpPr>
              <a:spLocks/>
            </p:cNvSpPr>
            <p:nvPr/>
          </p:nvSpPr>
          <p:spPr bwMode="auto">
            <a:xfrm>
              <a:off x="1398" y="3639"/>
              <a:ext cx="120" cy="65"/>
            </a:xfrm>
            <a:custGeom>
              <a:avLst/>
              <a:gdLst>
                <a:gd name="G0" fmla="+- 0 0 0"/>
                <a:gd name="G1" fmla="+- 5885 0 0"/>
                <a:gd name="G2" fmla="+- 21600 0 0"/>
                <a:gd name="T0" fmla="*/ 20783 w 21600"/>
                <a:gd name="T1" fmla="*/ 0 h 11745"/>
                <a:gd name="T2" fmla="*/ 20790 w 21600"/>
                <a:gd name="T3" fmla="*/ 11745 h 11745"/>
                <a:gd name="T4" fmla="*/ 0 w 21600"/>
                <a:gd name="T5" fmla="*/ 5885 h 1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45" fill="none" extrusionOk="0">
                  <a:moveTo>
                    <a:pt x="20782" y="0"/>
                  </a:moveTo>
                  <a:cubicBezTo>
                    <a:pt x="21325" y="1914"/>
                    <a:pt x="21600" y="3895"/>
                    <a:pt x="21600" y="5885"/>
                  </a:cubicBezTo>
                  <a:cubicBezTo>
                    <a:pt x="21600" y="7866"/>
                    <a:pt x="21327" y="9838"/>
                    <a:pt x="20789" y="11744"/>
                  </a:cubicBezTo>
                </a:path>
                <a:path w="21600" h="11745" stroke="0" extrusionOk="0">
                  <a:moveTo>
                    <a:pt x="20782" y="0"/>
                  </a:moveTo>
                  <a:cubicBezTo>
                    <a:pt x="21325" y="1914"/>
                    <a:pt x="21600" y="3895"/>
                    <a:pt x="21600" y="5885"/>
                  </a:cubicBezTo>
                  <a:cubicBezTo>
                    <a:pt x="21600" y="7866"/>
                    <a:pt x="21327" y="9838"/>
                    <a:pt x="20789" y="11744"/>
                  </a:cubicBezTo>
                  <a:lnTo>
                    <a:pt x="0" y="58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Line 175"/>
            <p:cNvSpPr>
              <a:spLocks noChangeShapeType="1"/>
            </p:cNvSpPr>
            <p:nvPr/>
          </p:nvSpPr>
          <p:spPr bwMode="auto">
            <a:xfrm>
              <a:off x="1350" y="5059"/>
              <a:ext cx="3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Arc 176"/>
            <p:cNvSpPr>
              <a:spLocks/>
            </p:cNvSpPr>
            <p:nvPr/>
          </p:nvSpPr>
          <p:spPr bwMode="auto">
            <a:xfrm>
              <a:off x="1653" y="5026"/>
              <a:ext cx="120" cy="65"/>
            </a:xfrm>
            <a:custGeom>
              <a:avLst/>
              <a:gdLst>
                <a:gd name="G0" fmla="+- 21600 0 0"/>
                <a:gd name="G1" fmla="+- 5885 0 0"/>
                <a:gd name="G2" fmla="+- 21600 0 0"/>
                <a:gd name="T0" fmla="*/ 810 w 21600"/>
                <a:gd name="T1" fmla="*/ 11745 h 11745"/>
                <a:gd name="T2" fmla="*/ 817 w 21600"/>
                <a:gd name="T3" fmla="*/ 0 h 11745"/>
                <a:gd name="T4" fmla="*/ 21600 w 21600"/>
                <a:gd name="T5" fmla="*/ 5885 h 1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45" fill="none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</a:path>
                <a:path w="21600" h="11745" stroke="0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  <a:lnTo>
                    <a:pt x="21600" y="58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Arc 177"/>
            <p:cNvSpPr>
              <a:spLocks/>
            </p:cNvSpPr>
            <p:nvPr/>
          </p:nvSpPr>
          <p:spPr bwMode="auto">
            <a:xfrm>
              <a:off x="1303" y="5027"/>
              <a:ext cx="120" cy="65"/>
            </a:xfrm>
            <a:custGeom>
              <a:avLst/>
              <a:gdLst>
                <a:gd name="G0" fmla="+- 0 0 0"/>
                <a:gd name="G1" fmla="+- 5869 0 0"/>
                <a:gd name="G2" fmla="+- 21600 0 0"/>
                <a:gd name="T0" fmla="*/ 20787 w 21600"/>
                <a:gd name="T1" fmla="*/ 0 h 11713"/>
                <a:gd name="T2" fmla="*/ 20794 w 21600"/>
                <a:gd name="T3" fmla="*/ 11713 h 11713"/>
                <a:gd name="T4" fmla="*/ 0 w 21600"/>
                <a:gd name="T5" fmla="*/ 5869 h 11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13" fill="none" extrusionOk="0">
                  <a:moveTo>
                    <a:pt x="20787" y="-1"/>
                  </a:moveTo>
                  <a:cubicBezTo>
                    <a:pt x="21326" y="1909"/>
                    <a:pt x="21600" y="3884"/>
                    <a:pt x="21600" y="5869"/>
                  </a:cubicBezTo>
                  <a:cubicBezTo>
                    <a:pt x="21600" y="7844"/>
                    <a:pt x="21328" y="9811"/>
                    <a:pt x="20794" y="11713"/>
                  </a:cubicBezTo>
                </a:path>
                <a:path w="21600" h="11713" stroke="0" extrusionOk="0">
                  <a:moveTo>
                    <a:pt x="20787" y="-1"/>
                  </a:moveTo>
                  <a:cubicBezTo>
                    <a:pt x="21326" y="1909"/>
                    <a:pt x="21600" y="3884"/>
                    <a:pt x="21600" y="5869"/>
                  </a:cubicBezTo>
                  <a:cubicBezTo>
                    <a:pt x="21600" y="7844"/>
                    <a:pt x="21328" y="9811"/>
                    <a:pt x="20794" y="11713"/>
                  </a:cubicBezTo>
                  <a:lnTo>
                    <a:pt x="0" y="58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78"/>
            <p:cNvSpPr>
              <a:spLocks noChangeArrowheads="1"/>
            </p:cNvSpPr>
            <p:nvPr/>
          </p:nvSpPr>
          <p:spPr bwMode="auto">
            <a:xfrm>
              <a:off x="2686" y="5015"/>
              <a:ext cx="192" cy="191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Oval 179"/>
            <p:cNvSpPr>
              <a:spLocks noChangeArrowheads="1"/>
            </p:cNvSpPr>
            <p:nvPr/>
          </p:nvSpPr>
          <p:spPr bwMode="auto">
            <a:xfrm>
              <a:off x="2590" y="4919"/>
              <a:ext cx="383" cy="383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180"/>
            <p:cNvSpPr>
              <a:spLocks noChangeArrowheads="1"/>
            </p:cNvSpPr>
            <p:nvPr/>
          </p:nvSpPr>
          <p:spPr bwMode="auto">
            <a:xfrm>
              <a:off x="2303" y="4632"/>
              <a:ext cx="910" cy="90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Oval 181"/>
            <p:cNvSpPr>
              <a:spLocks noChangeArrowheads="1"/>
            </p:cNvSpPr>
            <p:nvPr/>
          </p:nvSpPr>
          <p:spPr bwMode="auto">
            <a:xfrm>
              <a:off x="3308" y="5063"/>
              <a:ext cx="96" cy="95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Line 182"/>
            <p:cNvSpPr>
              <a:spLocks noChangeShapeType="1"/>
            </p:cNvSpPr>
            <p:nvPr/>
          </p:nvSpPr>
          <p:spPr bwMode="auto">
            <a:xfrm>
              <a:off x="2826" y="5106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Rectangle 183"/>
            <p:cNvSpPr>
              <a:spLocks noChangeArrowheads="1"/>
            </p:cNvSpPr>
            <p:nvPr/>
          </p:nvSpPr>
          <p:spPr bwMode="auto">
            <a:xfrm>
              <a:off x="2830" y="5063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Rectangle 184"/>
            <p:cNvSpPr>
              <a:spLocks noChangeArrowheads="1"/>
            </p:cNvSpPr>
            <p:nvPr/>
          </p:nvSpPr>
          <p:spPr bwMode="auto">
            <a:xfrm>
              <a:off x="2925" y="5063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Oval 185"/>
            <p:cNvSpPr>
              <a:spLocks noChangeArrowheads="1"/>
            </p:cNvSpPr>
            <p:nvPr/>
          </p:nvSpPr>
          <p:spPr bwMode="auto">
            <a:xfrm>
              <a:off x="2351" y="4680"/>
              <a:ext cx="814" cy="813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186"/>
            <p:cNvSpPr>
              <a:spLocks noChangeArrowheads="1"/>
            </p:cNvSpPr>
            <p:nvPr/>
          </p:nvSpPr>
          <p:spPr bwMode="auto">
            <a:xfrm>
              <a:off x="3117" y="5063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187"/>
            <p:cNvSpPr>
              <a:spLocks noChangeArrowheads="1"/>
            </p:cNvSpPr>
            <p:nvPr/>
          </p:nvSpPr>
          <p:spPr bwMode="auto">
            <a:xfrm>
              <a:off x="1203" y="4967"/>
              <a:ext cx="239" cy="239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188"/>
            <p:cNvSpPr>
              <a:spLocks noChangeArrowheads="1"/>
            </p:cNvSpPr>
            <p:nvPr/>
          </p:nvSpPr>
          <p:spPr bwMode="auto">
            <a:xfrm>
              <a:off x="915" y="4680"/>
              <a:ext cx="814" cy="813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189"/>
            <p:cNvSpPr>
              <a:spLocks noChangeShapeType="1"/>
            </p:cNvSpPr>
            <p:nvPr/>
          </p:nvSpPr>
          <p:spPr bwMode="auto">
            <a:xfrm flipH="1" flipV="1">
              <a:off x="1725" y="5310"/>
              <a:ext cx="144" cy="1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Arc 190"/>
            <p:cNvSpPr>
              <a:spLocks/>
            </p:cNvSpPr>
            <p:nvPr/>
          </p:nvSpPr>
          <p:spPr bwMode="auto">
            <a:xfrm>
              <a:off x="1686" y="5258"/>
              <a:ext cx="98" cy="11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7663 w 17663"/>
                <a:gd name="T1" fmla="*/ 12433 h 19894"/>
                <a:gd name="T2" fmla="*/ 8414 w 17663"/>
                <a:gd name="T3" fmla="*/ 19894 h 19894"/>
                <a:gd name="T4" fmla="*/ 0 w 17663"/>
                <a:gd name="T5" fmla="*/ 0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63" h="19894" fill="none" extrusionOk="0">
                  <a:moveTo>
                    <a:pt x="17662" y="12432"/>
                  </a:moveTo>
                  <a:cubicBezTo>
                    <a:pt x="15338" y="15735"/>
                    <a:pt x="12133" y="18320"/>
                    <a:pt x="8413" y="19893"/>
                  </a:cubicBezTo>
                </a:path>
                <a:path w="17663" h="19894" stroke="0" extrusionOk="0">
                  <a:moveTo>
                    <a:pt x="17662" y="12432"/>
                  </a:moveTo>
                  <a:cubicBezTo>
                    <a:pt x="15338" y="15735"/>
                    <a:pt x="12133" y="18320"/>
                    <a:pt x="8413" y="198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Line 191"/>
            <p:cNvSpPr>
              <a:spLocks noChangeShapeType="1"/>
            </p:cNvSpPr>
            <p:nvPr/>
          </p:nvSpPr>
          <p:spPr bwMode="auto">
            <a:xfrm flipH="1" flipV="1">
              <a:off x="1542" y="5244"/>
              <a:ext cx="327" cy="2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Arc 192"/>
            <p:cNvSpPr>
              <a:spLocks/>
            </p:cNvSpPr>
            <p:nvPr/>
          </p:nvSpPr>
          <p:spPr bwMode="auto">
            <a:xfrm>
              <a:off x="1494" y="5210"/>
              <a:ext cx="112" cy="9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0299 w 20299"/>
                <a:gd name="T1" fmla="*/ 7383 h 16994"/>
                <a:gd name="T2" fmla="*/ 13333 w 20299"/>
                <a:gd name="T3" fmla="*/ 16994 h 16994"/>
                <a:gd name="T4" fmla="*/ 0 w 20299"/>
                <a:gd name="T5" fmla="*/ 0 h 16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99" h="16994" fill="none" extrusionOk="0">
                  <a:moveTo>
                    <a:pt x="20299" y="7383"/>
                  </a:moveTo>
                  <a:cubicBezTo>
                    <a:pt x="18920" y="11174"/>
                    <a:pt x="16506" y="14503"/>
                    <a:pt x="13332" y="16993"/>
                  </a:cubicBezTo>
                </a:path>
                <a:path w="20299" h="16994" stroke="0" extrusionOk="0">
                  <a:moveTo>
                    <a:pt x="20299" y="7383"/>
                  </a:moveTo>
                  <a:cubicBezTo>
                    <a:pt x="18920" y="11174"/>
                    <a:pt x="16506" y="14503"/>
                    <a:pt x="13332" y="169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Line 193"/>
            <p:cNvSpPr>
              <a:spLocks noChangeShapeType="1"/>
            </p:cNvSpPr>
            <p:nvPr/>
          </p:nvSpPr>
          <p:spPr bwMode="auto">
            <a:xfrm flipH="1" flipV="1">
              <a:off x="1359" y="5234"/>
              <a:ext cx="510" cy="2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Arc 194"/>
            <p:cNvSpPr>
              <a:spLocks/>
            </p:cNvSpPr>
            <p:nvPr/>
          </p:nvSpPr>
          <p:spPr bwMode="auto">
            <a:xfrm>
              <a:off x="1303" y="5210"/>
              <a:ext cx="118" cy="8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282 w 21282"/>
                <a:gd name="T1" fmla="*/ 3691 h 14341"/>
                <a:gd name="T2" fmla="*/ 16153 w 21282"/>
                <a:gd name="T3" fmla="*/ 14341 h 14341"/>
                <a:gd name="T4" fmla="*/ 0 w 21282"/>
                <a:gd name="T5" fmla="*/ 0 h 14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82" h="14341" fill="none" extrusionOk="0">
                  <a:moveTo>
                    <a:pt x="21282" y="3691"/>
                  </a:moveTo>
                  <a:cubicBezTo>
                    <a:pt x="20595" y="7648"/>
                    <a:pt x="18819" y="11336"/>
                    <a:pt x="16152" y="14340"/>
                  </a:cubicBezTo>
                </a:path>
                <a:path w="21282" h="14341" stroke="0" extrusionOk="0">
                  <a:moveTo>
                    <a:pt x="21282" y="3691"/>
                  </a:moveTo>
                  <a:cubicBezTo>
                    <a:pt x="20595" y="7648"/>
                    <a:pt x="18819" y="11336"/>
                    <a:pt x="16152" y="143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Line 195"/>
            <p:cNvSpPr>
              <a:spLocks noChangeShapeType="1"/>
            </p:cNvSpPr>
            <p:nvPr/>
          </p:nvSpPr>
          <p:spPr bwMode="auto">
            <a:xfrm flipV="1">
              <a:off x="2156" y="5258"/>
              <a:ext cx="135" cy="1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Arc 196"/>
            <p:cNvSpPr>
              <a:spLocks/>
            </p:cNvSpPr>
            <p:nvPr/>
          </p:nvSpPr>
          <p:spPr bwMode="auto">
            <a:xfrm>
              <a:off x="2241" y="5210"/>
              <a:ext cx="107" cy="103"/>
            </a:xfrm>
            <a:custGeom>
              <a:avLst/>
              <a:gdLst>
                <a:gd name="G0" fmla="+- 19298 0 0"/>
                <a:gd name="G1" fmla="+- 0 0 0"/>
                <a:gd name="G2" fmla="+- 21600 0 0"/>
                <a:gd name="T0" fmla="*/ 8127 w 19298"/>
                <a:gd name="T1" fmla="*/ 18487 h 18487"/>
                <a:gd name="T2" fmla="*/ 0 w 19298"/>
                <a:gd name="T3" fmla="*/ 9703 h 18487"/>
                <a:gd name="T4" fmla="*/ 19298 w 19298"/>
                <a:gd name="T5" fmla="*/ 0 h 18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98" h="18487" fill="none" extrusionOk="0">
                  <a:moveTo>
                    <a:pt x="8127" y="18486"/>
                  </a:moveTo>
                  <a:cubicBezTo>
                    <a:pt x="4644" y="16382"/>
                    <a:pt x="1827" y="13337"/>
                    <a:pt x="0" y="9702"/>
                  </a:cubicBezTo>
                </a:path>
                <a:path w="19298" h="18487" stroke="0" extrusionOk="0">
                  <a:moveTo>
                    <a:pt x="8127" y="18486"/>
                  </a:moveTo>
                  <a:cubicBezTo>
                    <a:pt x="4644" y="16382"/>
                    <a:pt x="1827" y="13337"/>
                    <a:pt x="0" y="9702"/>
                  </a:cubicBezTo>
                  <a:lnTo>
                    <a:pt x="1929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Line 197"/>
            <p:cNvSpPr>
              <a:spLocks noChangeShapeType="1"/>
            </p:cNvSpPr>
            <p:nvPr/>
          </p:nvSpPr>
          <p:spPr bwMode="auto">
            <a:xfrm flipV="1">
              <a:off x="2156" y="5234"/>
              <a:ext cx="414" cy="2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Arc 198"/>
            <p:cNvSpPr>
              <a:spLocks/>
            </p:cNvSpPr>
            <p:nvPr/>
          </p:nvSpPr>
          <p:spPr bwMode="auto">
            <a:xfrm>
              <a:off x="2517" y="5210"/>
              <a:ext cx="118" cy="78"/>
            </a:xfrm>
            <a:custGeom>
              <a:avLst/>
              <a:gdLst>
                <a:gd name="G0" fmla="+- 21352 0 0"/>
                <a:gd name="G1" fmla="+- 0 0 0"/>
                <a:gd name="G2" fmla="+- 21600 0 0"/>
                <a:gd name="T0" fmla="*/ 4985 w 21352"/>
                <a:gd name="T1" fmla="*/ 14095 h 14095"/>
                <a:gd name="T2" fmla="*/ 0 w 21352"/>
                <a:gd name="T3" fmla="*/ 3263 h 14095"/>
                <a:gd name="T4" fmla="*/ 21352 w 21352"/>
                <a:gd name="T5" fmla="*/ 0 h 14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2" h="14095" fill="none" extrusionOk="0">
                  <a:moveTo>
                    <a:pt x="4984" y="14095"/>
                  </a:moveTo>
                  <a:cubicBezTo>
                    <a:pt x="2339" y="11023"/>
                    <a:pt x="612" y="7269"/>
                    <a:pt x="-1" y="3263"/>
                  </a:cubicBezTo>
                </a:path>
                <a:path w="21352" h="14095" stroke="0" extrusionOk="0">
                  <a:moveTo>
                    <a:pt x="4984" y="14095"/>
                  </a:moveTo>
                  <a:cubicBezTo>
                    <a:pt x="2339" y="11023"/>
                    <a:pt x="612" y="7269"/>
                    <a:pt x="-1" y="3263"/>
                  </a:cubicBezTo>
                  <a:lnTo>
                    <a:pt x="2135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Line 199"/>
            <p:cNvSpPr>
              <a:spLocks noChangeShapeType="1"/>
            </p:cNvSpPr>
            <p:nvPr/>
          </p:nvSpPr>
          <p:spPr bwMode="auto">
            <a:xfrm flipV="1">
              <a:off x="2156" y="5311"/>
              <a:ext cx="566" cy="1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Arc 200"/>
            <p:cNvSpPr>
              <a:spLocks/>
            </p:cNvSpPr>
            <p:nvPr/>
          </p:nvSpPr>
          <p:spPr bwMode="auto">
            <a:xfrm>
              <a:off x="2658" y="5292"/>
              <a:ext cx="120" cy="64"/>
            </a:xfrm>
            <a:custGeom>
              <a:avLst/>
              <a:gdLst>
                <a:gd name="G0" fmla="+- 21600 0 0"/>
                <a:gd name="G1" fmla="+- 1097 0 0"/>
                <a:gd name="G2" fmla="+- 21600 0 0"/>
                <a:gd name="T0" fmla="*/ 2696 w 21600"/>
                <a:gd name="T1" fmla="*/ 11546 h 11546"/>
                <a:gd name="T2" fmla="*/ 28 w 21600"/>
                <a:gd name="T3" fmla="*/ 0 h 11546"/>
                <a:gd name="T4" fmla="*/ 21600 w 21600"/>
                <a:gd name="T5" fmla="*/ 1097 h 11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546" fill="none" extrusionOk="0">
                  <a:moveTo>
                    <a:pt x="2695" y="11546"/>
                  </a:moveTo>
                  <a:cubicBezTo>
                    <a:pt x="927" y="8347"/>
                    <a:pt x="0" y="4752"/>
                    <a:pt x="0" y="1097"/>
                  </a:cubicBezTo>
                  <a:cubicBezTo>
                    <a:pt x="-1" y="731"/>
                    <a:pt x="9" y="365"/>
                    <a:pt x="27" y="-1"/>
                  </a:cubicBezTo>
                </a:path>
                <a:path w="21600" h="11546" stroke="0" extrusionOk="0">
                  <a:moveTo>
                    <a:pt x="2695" y="11546"/>
                  </a:moveTo>
                  <a:cubicBezTo>
                    <a:pt x="927" y="8347"/>
                    <a:pt x="0" y="4752"/>
                    <a:pt x="0" y="1097"/>
                  </a:cubicBezTo>
                  <a:cubicBezTo>
                    <a:pt x="-1" y="731"/>
                    <a:pt x="9" y="365"/>
                    <a:pt x="27" y="-1"/>
                  </a:cubicBezTo>
                  <a:lnTo>
                    <a:pt x="21600" y="10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Rectangle 201"/>
            <p:cNvSpPr>
              <a:spLocks noChangeArrowheads="1"/>
            </p:cNvSpPr>
            <p:nvPr/>
          </p:nvSpPr>
          <p:spPr bwMode="auto">
            <a:xfrm>
              <a:off x="1896" y="5435"/>
              <a:ext cx="26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latin typeface="Arial" panose="020B0604020202020204" pitchFamily="34" charset="0"/>
                  <a:cs typeface="Arial" panose="020B0604020202020204" pitchFamily="34" charset="0"/>
                </a:rPr>
                <a:t>Track</a:t>
              </a:r>
            </a:p>
          </p:txBody>
        </p:sp>
        <p:sp>
          <p:nvSpPr>
            <p:cNvPr id="209" name="Rectangle 204"/>
            <p:cNvSpPr>
              <a:spLocks noChangeArrowheads="1"/>
            </p:cNvSpPr>
            <p:nvPr/>
          </p:nvSpPr>
          <p:spPr bwMode="auto">
            <a:xfrm>
              <a:off x="864" y="4485"/>
              <a:ext cx="8" cy="534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Rectangle 205"/>
            <p:cNvSpPr>
              <a:spLocks noChangeArrowheads="1"/>
            </p:cNvSpPr>
            <p:nvPr/>
          </p:nvSpPr>
          <p:spPr bwMode="auto">
            <a:xfrm>
              <a:off x="1773" y="4485"/>
              <a:ext cx="8" cy="582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Rectangle 206"/>
            <p:cNvSpPr>
              <a:spLocks noChangeArrowheads="1"/>
            </p:cNvSpPr>
            <p:nvPr/>
          </p:nvSpPr>
          <p:spPr bwMode="auto">
            <a:xfrm>
              <a:off x="2299" y="4485"/>
              <a:ext cx="8" cy="534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Rectangle 207"/>
            <p:cNvSpPr>
              <a:spLocks noChangeArrowheads="1"/>
            </p:cNvSpPr>
            <p:nvPr/>
          </p:nvSpPr>
          <p:spPr bwMode="auto">
            <a:xfrm>
              <a:off x="3209" y="4485"/>
              <a:ext cx="8" cy="582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107"/>
            <p:cNvSpPr>
              <a:spLocks noChangeArrowheads="1"/>
            </p:cNvSpPr>
            <p:nvPr/>
          </p:nvSpPr>
          <p:spPr bwMode="auto">
            <a:xfrm>
              <a:off x="759" y="3359"/>
              <a:ext cx="2960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Moving Head Disk                  Fixed Head Disk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549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Associative Memory</a:t>
            </a:r>
          </a:p>
        </p:txBody>
      </p:sp>
      <p:grpSp>
        <p:nvGrpSpPr>
          <p:cNvPr id="2" name="Group 36"/>
          <p:cNvGrpSpPr/>
          <p:nvPr/>
        </p:nvGrpSpPr>
        <p:grpSpPr>
          <a:xfrm>
            <a:off x="4267200" y="2146300"/>
            <a:ext cx="3733073" cy="2654300"/>
            <a:chOff x="2379663" y="1749425"/>
            <a:chExt cx="3733073" cy="2654300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273425" y="1770063"/>
              <a:ext cx="172803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Argument register(A)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3505200" y="2486025"/>
              <a:ext cx="132568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register (K)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273425" y="3327400"/>
              <a:ext cx="167514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Associative 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3505200" y="3516313"/>
              <a:ext cx="127759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array and logic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694113" y="3917950"/>
              <a:ext cx="833563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words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462338" y="4092575"/>
              <a:ext cx="128881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bits per word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5422900" y="2782888"/>
              <a:ext cx="6476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Match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5367338" y="2932113"/>
              <a:ext cx="7453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379663" y="3276600"/>
              <a:ext cx="56105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379663" y="3851275"/>
              <a:ext cx="5546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379663" y="4067175"/>
              <a:ext cx="56470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06763" y="1749425"/>
              <a:ext cx="1647825" cy="2667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3306763" y="2474913"/>
              <a:ext cx="1647825" cy="2555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Arc 19"/>
            <p:cNvSpPr>
              <a:spLocks/>
            </p:cNvSpPr>
            <p:nvPr/>
          </p:nvSpPr>
          <p:spPr bwMode="auto">
            <a:xfrm>
              <a:off x="4094163" y="2336800"/>
              <a:ext cx="101600" cy="1222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4143375" y="2019300"/>
              <a:ext cx="0" cy="3286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Arc 21"/>
            <p:cNvSpPr>
              <a:spLocks/>
            </p:cNvSpPr>
            <p:nvPr/>
          </p:nvSpPr>
          <p:spPr bwMode="auto">
            <a:xfrm>
              <a:off x="4094163" y="3051175"/>
              <a:ext cx="101600" cy="1222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4143375" y="2738438"/>
              <a:ext cx="0" cy="3238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06763" y="3192463"/>
              <a:ext cx="1647825" cy="12112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algn="ctr" rotWithShape="0">
                <a:schemeClr val="bg1"/>
              </a:outerShdw>
            </a:effectLst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5584825" y="3192463"/>
              <a:ext cx="361950" cy="1211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Arc 25"/>
            <p:cNvSpPr>
              <a:spLocks/>
            </p:cNvSpPr>
            <p:nvPr/>
          </p:nvSpPr>
          <p:spPr bwMode="auto">
            <a:xfrm>
              <a:off x="5451475" y="3709988"/>
              <a:ext cx="128588" cy="9683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4957763" y="3760788"/>
              <a:ext cx="5095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Arc 27"/>
            <p:cNvSpPr>
              <a:spLocks/>
            </p:cNvSpPr>
            <p:nvPr/>
          </p:nvSpPr>
          <p:spPr bwMode="auto">
            <a:xfrm>
              <a:off x="3173413" y="3351213"/>
              <a:ext cx="128587" cy="9683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2932113" y="3402013"/>
              <a:ext cx="269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Arc 29"/>
            <p:cNvSpPr>
              <a:spLocks/>
            </p:cNvSpPr>
            <p:nvPr/>
          </p:nvSpPr>
          <p:spPr bwMode="auto">
            <a:xfrm>
              <a:off x="3168650" y="3943350"/>
              <a:ext cx="127000" cy="96838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>
              <a:off x="2932113" y="3989388"/>
              <a:ext cx="239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Arc 31"/>
            <p:cNvSpPr>
              <a:spLocks/>
            </p:cNvSpPr>
            <p:nvPr/>
          </p:nvSpPr>
          <p:spPr bwMode="auto">
            <a:xfrm>
              <a:off x="3173413" y="4154488"/>
              <a:ext cx="128587" cy="9683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2932113" y="4205288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5622925" y="3659188"/>
              <a:ext cx="31098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2227263" y="1136651"/>
            <a:ext cx="7170705" cy="6108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Accessed by the content of the data rather than by an address</a:t>
            </a:r>
          </a:p>
          <a:p>
            <a:pPr defTabSz="762000">
              <a:lnSpc>
                <a:spcPct val="101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Also called Content Addressable Memory (CAM)</a:t>
            </a: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819275" y="1866901"/>
            <a:ext cx="2717536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Hardware Organization</a:t>
            </a:r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1955800" y="4886326"/>
            <a:ext cx="8407401" cy="1819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C:\Users\gagan\Desktop\Cap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3825" y="5029200"/>
            <a:ext cx="4324350" cy="144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404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Organization of CAM</a:t>
            </a:r>
          </a:p>
        </p:txBody>
      </p:sp>
      <p:grpSp>
        <p:nvGrpSpPr>
          <p:cNvPr id="2" name="Group 130"/>
          <p:cNvGrpSpPr/>
          <p:nvPr/>
        </p:nvGrpSpPr>
        <p:grpSpPr>
          <a:xfrm>
            <a:off x="2667001" y="1277938"/>
            <a:ext cx="7095183" cy="5126695"/>
            <a:chOff x="184150" y="835025"/>
            <a:chExt cx="7314524" cy="5584237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84150" y="3765550"/>
              <a:ext cx="4769282" cy="3605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Internal organization of a typical cell C</a:t>
              </a:r>
              <a:r>
                <a:rPr lang="en-US" altLang="ko-KR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ij</a:t>
              </a: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949450" y="835025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949450" y="1365250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17713" y="1873249"/>
              <a:ext cx="41558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990725" y="1895475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1990725" y="2425700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1990725" y="2955925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22"/>
            <p:cNvSpPr>
              <a:spLocks noChangeArrowheads="1"/>
            </p:cNvSpPr>
            <p:nvPr/>
          </p:nvSpPr>
          <p:spPr bwMode="auto">
            <a:xfrm>
              <a:off x="3481388" y="83502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3490913" y="1365250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3517900" y="1900238"/>
              <a:ext cx="398463" cy="217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31"/>
            <p:cNvSpPr>
              <a:spLocks noChangeArrowheads="1"/>
            </p:cNvSpPr>
            <p:nvPr/>
          </p:nvSpPr>
          <p:spPr bwMode="auto">
            <a:xfrm>
              <a:off x="3517900" y="2430463"/>
              <a:ext cx="398463" cy="217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3517900" y="2960688"/>
              <a:ext cx="398463" cy="217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37"/>
            <p:cNvSpPr>
              <a:spLocks noChangeArrowheads="1"/>
            </p:cNvSpPr>
            <p:nvPr/>
          </p:nvSpPr>
          <p:spPr bwMode="auto">
            <a:xfrm>
              <a:off x="5045075" y="83502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40"/>
            <p:cNvSpPr>
              <a:spLocks noChangeArrowheads="1"/>
            </p:cNvSpPr>
            <p:nvPr/>
          </p:nvSpPr>
          <p:spPr bwMode="auto">
            <a:xfrm>
              <a:off x="5045075" y="1365250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5086350" y="1892300"/>
              <a:ext cx="396875" cy="217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46"/>
            <p:cNvSpPr>
              <a:spLocks noChangeArrowheads="1"/>
            </p:cNvSpPr>
            <p:nvPr/>
          </p:nvSpPr>
          <p:spPr bwMode="auto">
            <a:xfrm>
              <a:off x="5086350" y="2422525"/>
              <a:ext cx="396875" cy="217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49"/>
            <p:cNvSpPr>
              <a:spLocks noChangeArrowheads="1"/>
            </p:cNvSpPr>
            <p:nvPr/>
          </p:nvSpPr>
          <p:spPr bwMode="auto">
            <a:xfrm>
              <a:off x="5086350" y="2952750"/>
              <a:ext cx="396875" cy="217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50"/>
            <p:cNvSpPr>
              <a:spLocks noChangeArrowheads="1"/>
            </p:cNvSpPr>
            <p:nvPr/>
          </p:nvSpPr>
          <p:spPr bwMode="auto">
            <a:xfrm>
              <a:off x="1800225" y="1781175"/>
              <a:ext cx="3790950" cy="15081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51"/>
            <p:cNvSpPr>
              <a:spLocks noChangeArrowheads="1"/>
            </p:cNvSpPr>
            <p:nvPr/>
          </p:nvSpPr>
          <p:spPr bwMode="auto">
            <a:xfrm>
              <a:off x="1133475" y="1893889"/>
              <a:ext cx="724285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Word 1</a:t>
              </a:r>
            </a:p>
          </p:txBody>
        </p:sp>
        <p:sp>
          <p:nvSpPr>
            <p:cNvPr id="28" name="Rectangle 52"/>
            <p:cNvSpPr>
              <a:spLocks noChangeArrowheads="1"/>
            </p:cNvSpPr>
            <p:nvPr/>
          </p:nvSpPr>
          <p:spPr bwMode="auto">
            <a:xfrm>
              <a:off x="1152525" y="2405063"/>
              <a:ext cx="68131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Word i</a:t>
              </a:r>
            </a:p>
          </p:txBody>
        </p:sp>
        <p:sp>
          <p:nvSpPr>
            <p:cNvPr id="29" name="Rectangle 53"/>
            <p:cNvSpPr>
              <a:spLocks noChangeArrowheads="1"/>
            </p:cNvSpPr>
            <p:nvPr/>
          </p:nvSpPr>
          <p:spPr bwMode="auto">
            <a:xfrm>
              <a:off x="1095375" y="2930525"/>
              <a:ext cx="77716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Word m</a:t>
              </a:r>
            </a:p>
          </p:txBody>
        </p:sp>
        <p:sp>
          <p:nvSpPr>
            <p:cNvPr id="30" name="Rectangle 54"/>
            <p:cNvSpPr>
              <a:spLocks noChangeArrowheads="1"/>
            </p:cNvSpPr>
            <p:nvPr/>
          </p:nvSpPr>
          <p:spPr bwMode="auto">
            <a:xfrm>
              <a:off x="1922463" y="3319463"/>
              <a:ext cx="532125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 1</a:t>
              </a:r>
            </a:p>
          </p:txBody>
        </p:sp>
        <p:sp>
          <p:nvSpPr>
            <p:cNvPr id="31" name="Rectangle 55"/>
            <p:cNvSpPr>
              <a:spLocks noChangeArrowheads="1"/>
            </p:cNvSpPr>
            <p:nvPr/>
          </p:nvSpPr>
          <p:spPr bwMode="auto">
            <a:xfrm>
              <a:off x="3475038" y="3306763"/>
              <a:ext cx="48915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 j</a:t>
              </a:r>
            </a:p>
          </p:txBody>
        </p:sp>
        <p:sp>
          <p:nvSpPr>
            <p:cNvPr id="32" name="Rectangle 56"/>
            <p:cNvSpPr>
              <a:spLocks noChangeArrowheads="1"/>
            </p:cNvSpPr>
            <p:nvPr/>
          </p:nvSpPr>
          <p:spPr bwMode="auto">
            <a:xfrm>
              <a:off x="5030788" y="3306763"/>
              <a:ext cx="54204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 n</a:t>
              </a:r>
            </a:p>
          </p:txBody>
        </p:sp>
        <p:sp>
          <p:nvSpPr>
            <p:cNvPr id="33" name="Rectangle 57"/>
            <p:cNvSpPr>
              <a:spLocks noChangeArrowheads="1"/>
            </p:cNvSpPr>
            <p:nvPr/>
          </p:nvSpPr>
          <p:spPr bwMode="auto">
            <a:xfrm>
              <a:off x="5984875" y="1863725"/>
              <a:ext cx="38009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59"/>
            <p:cNvSpPr>
              <a:spLocks noChangeArrowheads="1"/>
            </p:cNvSpPr>
            <p:nvPr/>
          </p:nvSpPr>
          <p:spPr bwMode="auto">
            <a:xfrm>
              <a:off x="5964238" y="189547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60"/>
            <p:cNvSpPr>
              <a:spLocks noChangeArrowheads="1"/>
            </p:cNvSpPr>
            <p:nvPr/>
          </p:nvSpPr>
          <p:spPr bwMode="auto">
            <a:xfrm>
              <a:off x="5975351" y="2422525"/>
              <a:ext cx="35364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62"/>
            <p:cNvSpPr>
              <a:spLocks noChangeArrowheads="1"/>
            </p:cNvSpPr>
            <p:nvPr/>
          </p:nvSpPr>
          <p:spPr bwMode="auto">
            <a:xfrm>
              <a:off x="5964238" y="2425700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63"/>
            <p:cNvSpPr>
              <a:spLocks noChangeArrowheads="1"/>
            </p:cNvSpPr>
            <p:nvPr/>
          </p:nvSpPr>
          <p:spPr bwMode="auto">
            <a:xfrm>
              <a:off x="5975351" y="2933700"/>
              <a:ext cx="414793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65"/>
            <p:cNvSpPr>
              <a:spLocks noChangeArrowheads="1"/>
            </p:cNvSpPr>
            <p:nvPr/>
          </p:nvSpPr>
          <p:spPr bwMode="auto">
            <a:xfrm>
              <a:off x="5964238" y="295592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Arc 66"/>
            <p:cNvSpPr>
              <a:spLocks/>
            </p:cNvSpPr>
            <p:nvPr/>
          </p:nvSpPr>
          <p:spPr bwMode="auto">
            <a:xfrm>
              <a:off x="2108200" y="1252538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67"/>
            <p:cNvSpPr>
              <a:spLocks noChangeShapeType="1"/>
            </p:cNvSpPr>
            <p:nvPr/>
          </p:nvSpPr>
          <p:spPr bwMode="auto">
            <a:xfrm>
              <a:off x="2154238" y="1058863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Arc 68"/>
            <p:cNvSpPr>
              <a:spLocks/>
            </p:cNvSpPr>
            <p:nvPr/>
          </p:nvSpPr>
          <p:spPr bwMode="auto">
            <a:xfrm>
              <a:off x="3649663" y="1252538"/>
              <a:ext cx="93662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69"/>
            <p:cNvSpPr>
              <a:spLocks noChangeShapeType="1"/>
            </p:cNvSpPr>
            <p:nvPr/>
          </p:nvSpPr>
          <p:spPr bwMode="auto">
            <a:xfrm>
              <a:off x="3695700" y="1050925"/>
              <a:ext cx="0" cy="2111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Arc 70"/>
            <p:cNvSpPr>
              <a:spLocks/>
            </p:cNvSpPr>
            <p:nvPr/>
          </p:nvSpPr>
          <p:spPr bwMode="auto">
            <a:xfrm>
              <a:off x="5202238" y="1252538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71"/>
            <p:cNvSpPr>
              <a:spLocks noChangeShapeType="1"/>
            </p:cNvSpPr>
            <p:nvPr/>
          </p:nvSpPr>
          <p:spPr bwMode="auto">
            <a:xfrm>
              <a:off x="5249863" y="1054100"/>
              <a:ext cx="0" cy="2079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Arc 72"/>
            <p:cNvSpPr>
              <a:spLocks/>
            </p:cNvSpPr>
            <p:nvPr/>
          </p:nvSpPr>
          <p:spPr bwMode="auto">
            <a:xfrm>
              <a:off x="2108200" y="1668463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73"/>
            <p:cNvSpPr>
              <a:spLocks noChangeShapeType="1"/>
            </p:cNvSpPr>
            <p:nvPr/>
          </p:nvSpPr>
          <p:spPr bwMode="auto">
            <a:xfrm>
              <a:off x="2154238" y="158115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Arc 74"/>
            <p:cNvSpPr>
              <a:spLocks/>
            </p:cNvSpPr>
            <p:nvPr/>
          </p:nvSpPr>
          <p:spPr bwMode="auto">
            <a:xfrm>
              <a:off x="3649663" y="1668463"/>
              <a:ext cx="93662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75"/>
            <p:cNvSpPr>
              <a:spLocks noChangeShapeType="1"/>
            </p:cNvSpPr>
            <p:nvPr/>
          </p:nvSpPr>
          <p:spPr bwMode="auto">
            <a:xfrm>
              <a:off x="3695700" y="1592263"/>
              <a:ext cx="0" cy="85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Arc 76"/>
            <p:cNvSpPr>
              <a:spLocks/>
            </p:cNvSpPr>
            <p:nvPr/>
          </p:nvSpPr>
          <p:spPr bwMode="auto">
            <a:xfrm>
              <a:off x="5202238" y="1668463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Line 77"/>
            <p:cNvSpPr>
              <a:spLocks noChangeShapeType="1"/>
            </p:cNvSpPr>
            <p:nvPr/>
          </p:nvSpPr>
          <p:spPr bwMode="auto">
            <a:xfrm flipH="1">
              <a:off x="5249863" y="1589088"/>
              <a:ext cx="0" cy="889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Arc 78"/>
            <p:cNvSpPr>
              <a:spLocks/>
            </p:cNvSpPr>
            <p:nvPr/>
          </p:nvSpPr>
          <p:spPr bwMode="auto">
            <a:xfrm>
              <a:off x="5842000" y="1955800"/>
              <a:ext cx="117475" cy="7937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79"/>
            <p:cNvSpPr>
              <a:spLocks noChangeShapeType="1"/>
            </p:cNvSpPr>
            <p:nvPr/>
          </p:nvSpPr>
          <p:spPr bwMode="auto">
            <a:xfrm>
              <a:off x="5607050" y="1997075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Arc 80"/>
            <p:cNvSpPr>
              <a:spLocks/>
            </p:cNvSpPr>
            <p:nvPr/>
          </p:nvSpPr>
          <p:spPr bwMode="auto">
            <a:xfrm>
              <a:off x="5842000" y="2486025"/>
              <a:ext cx="117475" cy="7937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Line 81"/>
            <p:cNvSpPr>
              <a:spLocks noChangeShapeType="1"/>
            </p:cNvSpPr>
            <p:nvPr/>
          </p:nvSpPr>
          <p:spPr bwMode="auto">
            <a:xfrm>
              <a:off x="5607050" y="2527300"/>
              <a:ext cx="255588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Arc 82"/>
            <p:cNvSpPr>
              <a:spLocks/>
            </p:cNvSpPr>
            <p:nvPr/>
          </p:nvSpPr>
          <p:spPr bwMode="auto">
            <a:xfrm>
              <a:off x="5842000" y="3027363"/>
              <a:ext cx="117475" cy="7937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83"/>
            <p:cNvSpPr>
              <a:spLocks noChangeShapeType="1"/>
            </p:cNvSpPr>
            <p:nvPr/>
          </p:nvSpPr>
          <p:spPr bwMode="auto">
            <a:xfrm>
              <a:off x="5588000" y="3068638"/>
              <a:ext cx="257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85"/>
            <p:cNvSpPr>
              <a:spLocks noChangeArrowheads="1"/>
            </p:cNvSpPr>
            <p:nvPr/>
          </p:nvSpPr>
          <p:spPr bwMode="auto">
            <a:xfrm>
              <a:off x="5924550" y="3951288"/>
              <a:ext cx="33216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Line 87"/>
            <p:cNvSpPr>
              <a:spLocks noChangeShapeType="1"/>
            </p:cNvSpPr>
            <p:nvPr/>
          </p:nvSpPr>
          <p:spPr bwMode="auto">
            <a:xfrm>
              <a:off x="4437063" y="4378325"/>
              <a:ext cx="257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Line 88"/>
            <p:cNvSpPr>
              <a:spLocks noChangeShapeType="1"/>
            </p:cNvSpPr>
            <p:nvPr/>
          </p:nvSpPr>
          <p:spPr bwMode="auto">
            <a:xfrm>
              <a:off x="4440238" y="4376738"/>
              <a:ext cx="136525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89"/>
            <p:cNvSpPr>
              <a:spLocks noChangeShapeType="1"/>
            </p:cNvSpPr>
            <p:nvPr/>
          </p:nvSpPr>
          <p:spPr bwMode="auto">
            <a:xfrm flipH="1">
              <a:off x="4564063" y="4370388"/>
              <a:ext cx="144462" cy="1920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153"/>
            <p:cNvGrpSpPr>
              <a:grpSpLocks/>
            </p:cNvGrpSpPr>
            <p:nvPr/>
          </p:nvGrpSpPr>
          <p:grpSpPr bwMode="auto">
            <a:xfrm>
              <a:off x="4240213" y="4887913"/>
              <a:ext cx="414337" cy="327025"/>
              <a:chOff x="1362" y="4500"/>
              <a:chExt cx="280" cy="260"/>
            </a:xfrm>
          </p:grpSpPr>
          <p:sp>
            <p:nvSpPr>
              <p:cNvPr id="62" name="Arc 92"/>
              <p:cNvSpPr>
                <a:spLocks/>
              </p:cNvSpPr>
              <p:nvPr/>
            </p:nvSpPr>
            <p:spPr bwMode="auto">
              <a:xfrm>
                <a:off x="1366" y="4644"/>
                <a:ext cx="131" cy="11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Arc 93"/>
              <p:cNvSpPr>
                <a:spLocks/>
              </p:cNvSpPr>
              <p:nvPr/>
            </p:nvSpPr>
            <p:spPr bwMode="auto">
              <a:xfrm>
                <a:off x="1496" y="4644"/>
                <a:ext cx="140" cy="11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Line 94"/>
              <p:cNvSpPr>
                <a:spLocks noChangeShapeType="1"/>
              </p:cNvSpPr>
              <p:nvPr/>
            </p:nvSpPr>
            <p:spPr bwMode="auto">
              <a:xfrm>
                <a:off x="1364" y="450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Line 95"/>
              <p:cNvSpPr>
                <a:spLocks noChangeShapeType="1"/>
              </p:cNvSpPr>
              <p:nvPr/>
            </p:nvSpPr>
            <p:spPr bwMode="auto">
              <a:xfrm>
                <a:off x="1636" y="4504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Line 96"/>
              <p:cNvSpPr>
                <a:spLocks noChangeShapeType="1"/>
              </p:cNvSpPr>
              <p:nvPr/>
            </p:nvSpPr>
            <p:spPr bwMode="auto">
              <a:xfrm>
                <a:off x="1362" y="4500"/>
                <a:ext cx="28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" name="Line 98"/>
            <p:cNvSpPr>
              <a:spLocks noChangeShapeType="1"/>
            </p:cNvSpPr>
            <p:nvPr/>
          </p:nvSpPr>
          <p:spPr bwMode="auto">
            <a:xfrm flipH="1" flipV="1">
              <a:off x="4573588" y="4621213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99"/>
            <p:cNvSpPr>
              <a:spLocks noChangeShapeType="1"/>
            </p:cNvSpPr>
            <p:nvPr/>
          </p:nvSpPr>
          <p:spPr bwMode="auto">
            <a:xfrm flipV="1">
              <a:off x="4302125" y="4703763"/>
              <a:ext cx="0" cy="190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Line 106"/>
            <p:cNvSpPr>
              <a:spLocks noChangeShapeType="1"/>
            </p:cNvSpPr>
            <p:nvPr/>
          </p:nvSpPr>
          <p:spPr bwMode="auto">
            <a:xfrm flipV="1">
              <a:off x="5175250" y="4203700"/>
              <a:ext cx="0" cy="6905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Line 107"/>
            <p:cNvSpPr>
              <a:spLocks noChangeShapeType="1"/>
            </p:cNvSpPr>
            <p:nvPr/>
          </p:nvSpPr>
          <p:spPr bwMode="auto">
            <a:xfrm flipV="1">
              <a:off x="4903788" y="4703763"/>
              <a:ext cx="0" cy="190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angle 108"/>
            <p:cNvSpPr>
              <a:spLocks noChangeArrowheads="1"/>
            </p:cNvSpPr>
            <p:nvPr/>
          </p:nvSpPr>
          <p:spPr bwMode="auto">
            <a:xfrm>
              <a:off x="4306887" y="5373688"/>
              <a:ext cx="30242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72" name="Rectangle 109"/>
            <p:cNvSpPr>
              <a:spLocks noChangeArrowheads="1"/>
            </p:cNvSpPr>
            <p:nvPr/>
          </p:nvSpPr>
          <p:spPr bwMode="auto">
            <a:xfrm>
              <a:off x="4895850" y="5373688"/>
              <a:ext cx="29415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73" name="Rectangle 110"/>
            <p:cNvSpPr>
              <a:spLocks noChangeArrowheads="1"/>
            </p:cNvSpPr>
            <p:nvPr/>
          </p:nvSpPr>
          <p:spPr bwMode="auto">
            <a:xfrm>
              <a:off x="4106863" y="5407025"/>
              <a:ext cx="1181100" cy="2095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111"/>
            <p:cNvSpPr>
              <a:spLocks noChangeShapeType="1"/>
            </p:cNvSpPr>
            <p:nvPr/>
          </p:nvSpPr>
          <p:spPr bwMode="auto">
            <a:xfrm>
              <a:off x="4443413" y="5216525"/>
              <a:ext cx="0" cy="188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112"/>
            <p:cNvSpPr>
              <a:spLocks noChangeShapeType="1"/>
            </p:cNvSpPr>
            <p:nvPr/>
          </p:nvSpPr>
          <p:spPr bwMode="auto">
            <a:xfrm>
              <a:off x="5045075" y="5219700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Line 113"/>
            <p:cNvSpPr>
              <a:spLocks noChangeShapeType="1"/>
            </p:cNvSpPr>
            <p:nvPr/>
          </p:nvSpPr>
          <p:spPr bwMode="auto">
            <a:xfrm>
              <a:off x="3651250" y="4714875"/>
              <a:ext cx="1262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Line 114"/>
            <p:cNvSpPr>
              <a:spLocks noChangeShapeType="1"/>
            </p:cNvSpPr>
            <p:nvPr/>
          </p:nvSpPr>
          <p:spPr bwMode="auto">
            <a:xfrm flipV="1">
              <a:off x="4573588" y="4191000"/>
              <a:ext cx="0" cy="19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5"/>
            <p:cNvSpPr>
              <a:spLocks noChangeShapeType="1"/>
            </p:cNvSpPr>
            <p:nvPr/>
          </p:nvSpPr>
          <p:spPr bwMode="auto">
            <a:xfrm flipH="1">
              <a:off x="3624263" y="4206875"/>
              <a:ext cx="15573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Line 122"/>
            <p:cNvSpPr>
              <a:spLocks noChangeShapeType="1"/>
            </p:cNvSpPr>
            <p:nvPr/>
          </p:nvSpPr>
          <p:spPr bwMode="auto">
            <a:xfrm flipH="1">
              <a:off x="5049838" y="5618163"/>
              <a:ext cx="0" cy="230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123"/>
            <p:cNvSpPr>
              <a:spLocks noChangeShapeType="1"/>
            </p:cNvSpPr>
            <p:nvPr/>
          </p:nvSpPr>
          <p:spPr bwMode="auto">
            <a:xfrm>
              <a:off x="4773613" y="5746750"/>
              <a:ext cx="0" cy="1063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Line 124"/>
            <p:cNvSpPr>
              <a:spLocks noChangeShapeType="1"/>
            </p:cNvSpPr>
            <p:nvPr/>
          </p:nvSpPr>
          <p:spPr bwMode="auto">
            <a:xfrm>
              <a:off x="3648075" y="5741988"/>
              <a:ext cx="1130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Arc 125"/>
            <p:cNvSpPr>
              <a:spLocks/>
            </p:cNvSpPr>
            <p:nvPr/>
          </p:nvSpPr>
          <p:spPr bwMode="auto">
            <a:xfrm>
              <a:off x="4859338" y="6319838"/>
              <a:ext cx="90487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Line 126"/>
            <p:cNvSpPr>
              <a:spLocks noChangeShapeType="1"/>
            </p:cNvSpPr>
            <p:nvPr/>
          </p:nvSpPr>
          <p:spPr bwMode="auto">
            <a:xfrm>
              <a:off x="4903788" y="61722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Rectangle 127"/>
            <p:cNvSpPr>
              <a:spLocks noChangeArrowheads="1"/>
            </p:cNvSpPr>
            <p:nvPr/>
          </p:nvSpPr>
          <p:spPr bwMode="auto">
            <a:xfrm>
              <a:off x="4052888" y="6140450"/>
              <a:ext cx="710601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85" name="Line 128"/>
            <p:cNvSpPr>
              <a:spLocks noChangeShapeType="1"/>
            </p:cNvSpPr>
            <p:nvPr/>
          </p:nvSpPr>
          <p:spPr bwMode="auto">
            <a:xfrm>
              <a:off x="5068888" y="5745163"/>
              <a:ext cx="908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ectangle 129"/>
            <p:cNvSpPr>
              <a:spLocks noChangeArrowheads="1"/>
            </p:cNvSpPr>
            <p:nvPr/>
          </p:nvSpPr>
          <p:spPr bwMode="auto">
            <a:xfrm>
              <a:off x="5989638" y="5453063"/>
              <a:ext cx="667634" cy="4598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Match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130"/>
            <p:cNvSpPr>
              <a:spLocks noChangeArrowheads="1"/>
            </p:cNvSpPr>
            <p:nvPr/>
          </p:nvSpPr>
          <p:spPr bwMode="auto">
            <a:xfrm>
              <a:off x="6027738" y="5592763"/>
              <a:ext cx="56021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logic</a:t>
              </a:r>
            </a:p>
          </p:txBody>
        </p:sp>
        <p:sp>
          <p:nvSpPr>
            <p:cNvPr id="88" name="Rectangle 131"/>
            <p:cNvSpPr>
              <a:spLocks noChangeArrowheads="1"/>
            </p:cNvSpPr>
            <p:nvPr/>
          </p:nvSpPr>
          <p:spPr bwMode="auto">
            <a:xfrm>
              <a:off x="5983288" y="5407025"/>
              <a:ext cx="577850" cy="4302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Arc 132"/>
            <p:cNvSpPr>
              <a:spLocks/>
            </p:cNvSpPr>
            <p:nvPr/>
          </p:nvSpPr>
          <p:spPr bwMode="auto">
            <a:xfrm>
              <a:off x="6799263" y="5584825"/>
              <a:ext cx="111125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Line 133"/>
            <p:cNvSpPr>
              <a:spLocks noChangeShapeType="1"/>
            </p:cNvSpPr>
            <p:nvPr/>
          </p:nvSpPr>
          <p:spPr bwMode="auto">
            <a:xfrm>
              <a:off x="6584950" y="5630863"/>
              <a:ext cx="2127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Arc 134"/>
            <p:cNvSpPr>
              <a:spLocks/>
            </p:cNvSpPr>
            <p:nvPr/>
          </p:nvSpPr>
          <p:spPr bwMode="auto">
            <a:xfrm>
              <a:off x="6062663" y="5295900"/>
              <a:ext cx="90487" cy="968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135"/>
            <p:cNvSpPr>
              <a:spLocks noChangeShapeType="1"/>
            </p:cNvSpPr>
            <p:nvPr/>
          </p:nvSpPr>
          <p:spPr bwMode="auto">
            <a:xfrm>
              <a:off x="6107113" y="4213225"/>
              <a:ext cx="0" cy="1092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Arc 136"/>
            <p:cNvSpPr>
              <a:spLocks/>
            </p:cNvSpPr>
            <p:nvPr/>
          </p:nvSpPr>
          <p:spPr bwMode="auto">
            <a:xfrm>
              <a:off x="6403975" y="5295900"/>
              <a:ext cx="90488" cy="968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Line 137"/>
            <p:cNvSpPr>
              <a:spLocks noChangeShapeType="1"/>
            </p:cNvSpPr>
            <p:nvPr/>
          </p:nvSpPr>
          <p:spPr bwMode="auto">
            <a:xfrm>
              <a:off x="6450013" y="4213225"/>
              <a:ext cx="0" cy="1092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Rectangle 138"/>
            <p:cNvSpPr>
              <a:spLocks noChangeArrowheads="1"/>
            </p:cNvSpPr>
            <p:nvPr/>
          </p:nvSpPr>
          <p:spPr bwMode="auto">
            <a:xfrm>
              <a:off x="3086100" y="4098925"/>
              <a:ext cx="57839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96" name="Rectangle 139"/>
            <p:cNvSpPr>
              <a:spLocks noChangeArrowheads="1"/>
            </p:cNvSpPr>
            <p:nvPr/>
          </p:nvSpPr>
          <p:spPr bwMode="auto">
            <a:xfrm>
              <a:off x="3114675" y="4592638"/>
              <a:ext cx="582164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</a:t>
              </a:r>
            </a:p>
          </p:txBody>
        </p:sp>
        <p:sp>
          <p:nvSpPr>
            <p:cNvPr id="97" name="Rectangle 140"/>
            <p:cNvSpPr>
              <a:spLocks noChangeArrowheads="1"/>
            </p:cNvSpPr>
            <p:nvPr/>
          </p:nvSpPr>
          <p:spPr bwMode="auto">
            <a:xfrm>
              <a:off x="3151188" y="5635625"/>
              <a:ext cx="57178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98" name="Rectangle 141"/>
            <p:cNvSpPr>
              <a:spLocks noChangeArrowheads="1"/>
            </p:cNvSpPr>
            <p:nvPr/>
          </p:nvSpPr>
          <p:spPr bwMode="auto">
            <a:xfrm>
              <a:off x="6251575" y="3951288"/>
              <a:ext cx="33216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143"/>
            <p:cNvSpPr>
              <a:spLocks noChangeArrowheads="1"/>
            </p:cNvSpPr>
            <p:nvPr/>
          </p:nvSpPr>
          <p:spPr bwMode="auto">
            <a:xfrm>
              <a:off x="7124700" y="5513388"/>
              <a:ext cx="32059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100" name="Rectangle 144"/>
            <p:cNvSpPr>
              <a:spLocks noChangeArrowheads="1"/>
            </p:cNvSpPr>
            <p:nvPr/>
          </p:nvSpPr>
          <p:spPr bwMode="auto">
            <a:xfrm>
              <a:off x="7273925" y="5570538"/>
              <a:ext cx="224749" cy="2486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01" name="Rectangle 145"/>
            <p:cNvSpPr>
              <a:spLocks noChangeArrowheads="1"/>
            </p:cNvSpPr>
            <p:nvPr/>
          </p:nvSpPr>
          <p:spPr bwMode="auto">
            <a:xfrm>
              <a:off x="6902450" y="5513388"/>
              <a:ext cx="38009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</a:p>
          </p:txBody>
        </p:sp>
        <p:sp>
          <p:nvSpPr>
            <p:cNvPr id="102" name="Rectangle 146"/>
            <p:cNvSpPr>
              <a:spLocks noChangeArrowheads="1"/>
            </p:cNvSpPr>
            <p:nvPr/>
          </p:nvSpPr>
          <p:spPr bwMode="auto">
            <a:xfrm>
              <a:off x="5372100" y="5516563"/>
              <a:ext cx="284242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103" name="Rectangle 147"/>
            <p:cNvSpPr>
              <a:spLocks noChangeArrowheads="1"/>
            </p:cNvSpPr>
            <p:nvPr/>
          </p:nvSpPr>
          <p:spPr bwMode="auto">
            <a:xfrm>
              <a:off x="5489574" y="5553075"/>
              <a:ext cx="261105" cy="2486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ij</a:t>
              </a:r>
            </a:p>
          </p:txBody>
        </p:sp>
        <p:grpSp>
          <p:nvGrpSpPr>
            <p:cNvPr id="61" name="Group 154"/>
            <p:cNvGrpSpPr>
              <a:grpSpLocks/>
            </p:cNvGrpSpPr>
            <p:nvPr/>
          </p:nvGrpSpPr>
          <p:grpSpPr bwMode="auto">
            <a:xfrm>
              <a:off x="4838700" y="4884738"/>
              <a:ext cx="411163" cy="327025"/>
              <a:chOff x="1362" y="4500"/>
              <a:chExt cx="280" cy="260"/>
            </a:xfrm>
          </p:grpSpPr>
          <p:sp>
            <p:nvSpPr>
              <p:cNvPr id="105" name="Arc 155"/>
              <p:cNvSpPr>
                <a:spLocks/>
              </p:cNvSpPr>
              <p:nvPr/>
            </p:nvSpPr>
            <p:spPr bwMode="auto">
              <a:xfrm>
                <a:off x="1366" y="4644"/>
                <a:ext cx="131" cy="11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Arc 156"/>
              <p:cNvSpPr>
                <a:spLocks/>
              </p:cNvSpPr>
              <p:nvPr/>
            </p:nvSpPr>
            <p:spPr bwMode="auto">
              <a:xfrm>
                <a:off x="1496" y="4644"/>
                <a:ext cx="140" cy="11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Line 157"/>
              <p:cNvSpPr>
                <a:spLocks noChangeShapeType="1"/>
              </p:cNvSpPr>
              <p:nvPr/>
            </p:nvSpPr>
            <p:spPr bwMode="auto">
              <a:xfrm>
                <a:off x="1364" y="450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Line 158"/>
              <p:cNvSpPr>
                <a:spLocks noChangeShapeType="1"/>
              </p:cNvSpPr>
              <p:nvPr/>
            </p:nvSpPr>
            <p:spPr bwMode="auto">
              <a:xfrm>
                <a:off x="1636" y="4504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Line 159"/>
              <p:cNvSpPr>
                <a:spLocks noChangeShapeType="1"/>
              </p:cNvSpPr>
              <p:nvPr/>
            </p:nvSpPr>
            <p:spPr bwMode="auto">
              <a:xfrm>
                <a:off x="1362" y="4500"/>
                <a:ext cx="28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4" name="Group 160"/>
            <p:cNvGrpSpPr>
              <a:grpSpLocks/>
            </p:cNvGrpSpPr>
            <p:nvPr/>
          </p:nvGrpSpPr>
          <p:grpSpPr bwMode="auto">
            <a:xfrm>
              <a:off x="4700588" y="5842000"/>
              <a:ext cx="412750" cy="325438"/>
              <a:chOff x="1362" y="4500"/>
              <a:chExt cx="280" cy="260"/>
            </a:xfrm>
          </p:grpSpPr>
          <p:sp>
            <p:nvSpPr>
              <p:cNvPr id="111" name="Arc 161"/>
              <p:cNvSpPr>
                <a:spLocks/>
              </p:cNvSpPr>
              <p:nvPr/>
            </p:nvSpPr>
            <p:spPr bwMode="auto">
              <a:xfrm>
                <a:off x="1366" y="4644"/>
                <a:ext cx="131" cy="11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Arc 162"/>
              <p:cNvSpPr>
                <a:spLocks/>
              </p:cNvSpPr>
              <p:nvPr/>
            </p:nvSpPr>
            <p:spPr bwMode="auto">
              <a:xfrm>
                <a:off x="1496" y="4644"/>
                <a:ext cx="140" cy="11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Line 163"/>
              <p:cNvSpPr>
                <a:spLocks noChangeShapeType="1"/>
              </p:cNvSpPr>
              <p:nvPr/>
            </p:nvSpPr>
            <p:spPr bwMode="auto">
              <a:xfrm>
                <a:off x="1364" y="450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Line 164"/>
              <p:cNvSpPr>
                <a:spLocks noChangeShapeType="1"/>
              </p:cNvSpPr>
              <p:nvPr/>
            </p:nvSpPr>
            <p:spPr bwMode="auto">
              <a:xfrm>
                <a:off x="1636" y="4504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Line 165"/>
              <p:cNvSpPr>
                <a:spLocks noChangeShapeType="1"/>
              </p:cNvSpPr>
              <p:nvPr/>
            </p:nvSpPr>
            <p:spPr bwMode="auto">
              <a:xfrm>
                <a:off x="1362" y="4500"/>
                <a:ext cx="28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6" name="Oval 166"/>
            <p:cNvSpPr>
              <a:spLocks noChangeArrowheads="1"/>
            </p:cNvSpPr>
            <p:nvPr/>
          </p:nvSpPr>
          <p:spPr bwMode="auto">
            <a:xfrm>
              <a:off x="4537075" y="4554538"/>
              <a:ext cx="68263" cy="5873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Oval 167"/>
            <p:cNvSpPr>
              <a:spLocks noChangeArrowheads="1"/>
            </p:cNvSpPr>
            <p:nvPr/>
          </p:nvSpPr>
          <p:spPr bwMode="auto">
            <a:xfrm>
              <a:off x="4532313" y="4178300"/>
              <a:ext cx="69850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Oval 168"/>
            <p:cNvSpPr>
              <a:spLocks noChangeArrowheads="1"/>
            </p:cNvSpPr>
            <p:nvPr/>
          </p:nvSpPr>
          <p:spPr bwMode="auto">
            <a:xfrm>
              <a:off x="5010150" y="5716588"/>
              <a:ext cx="69850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Oval 169"/>
            <p:cNvSpPr>
              <a:spLocks noChangeArrowheads="1"/>
            </p:cNvSpPr>
            <p:nvPr/>
          </p:nvSpPr>
          <p:spPr bwMode="auto">
            <a:xfrm>
              <a:off x="4267200" y="4686300"/>
              <a:ext cx="69850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174"/>
            <p:cNvSpPr>
              <a:spLocks noChangeArrowheads="1"/>
            </p:cNvSpPr>
            <p:nvPr/>
          </p:nvSpPr>
          <p:spPr bwMode="auto">
            <a:xfrm>
              <a:off x="1995487" y="1347788"/>
              <a:ext cx="361912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Rectangle 175"/>
            <p:cNvSpPr>
              <a:spLocks noChangeArrowheads="1"/>
            </p:cNvSpPr>
            <p:nvPr/>
          </p:nvSpPr>
          <p:spPr bwMode="auto">
            <a:xfrm>
              <a:off x="3548062" y="1328738"/>
              <a:ext cx="33216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Rectangle 176"/>
            <p:cNvSpPr>
              <a:spLocks noChangeArrowheads="1"/>
            </p:cNvSpPr>
            <p:nvPr/>
          </p:nvSpPr>
          <p:spPr bwMode="auto">
            <a:xfrm>
              <a:off x="5100637" y="1347788"/>
              <a:ext cx="36686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Rectangle 177"/>
            <p:cNvSpPr>
              <a:spLocks noChangeArrowheads="1"/>
            </p:cNvSpPr>
            <p:nvPr/>
          </p:nvSpPr>
          <p:spPr bwMode="auto">
            <a:xfrm>
              <a:off x="3522663" y="1863725"/>
              <a:ext cx="39165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Rectangle 178"/>
            <p:cNvSpPr>
              <a:spLocks noChangeArrowheads="1"/>
            </p:cNvSpPr>
            <p:nvPr/>
          </p:nvSpPr>
          <p:spPr bwMode="auto">
            <a:xfrm>
              <a:off x="5103813" y="1863725"/>
              <a:ext cx="426361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1n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Rectangle 179"/>
            <p:cNvSpPr>
              <a:spLocks noChangeArrowheads="1"/>
            </p:cNvSpPr>
            <p:nvPr/>
          </p:nvSpPr>
          <p:spPr bwMode="auto">
            <a:xfrm>
              <a:off x="2008188" y="2406650"/>
              <a:ext cx="39165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i1</a:t>
              </a:r>
              <a:endPara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Rectangle 180"/>
            <p:cNvSpPr>
              <a:spLocks noChangeArrowheads="1"/>
            </p:cNvSpPr>
            <p:nvPr/>
          </p:nvSpPr>
          <p:spPr bwMode="auto">
            <a:xfrm>
              <a:off x="3513138" y="2397125"/>
              <a:ext cx="361912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181"/>
            <p:cNvSpPr>
              <a:spLocks noChangeArrowheads="1"/>
            </p:cNvSpPr>
            <p:nvPr/>
          </p:nvSpPr>
          <p:spPr bwMode="auto">
            <a:xfrm>
              <a:off x="5094288" y="2397125"/>
              <a:ext cx="40983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</a:t>
              </a:r>
              <a:endPara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182"/>
            <p:cNvSpPr>
              <a:spLocks noChangeArrowheads="1"/>
            </p:cNvSpPr>
            <p:nvPr/>
          </p:nvSpPr>
          <p:spPr bwMode="auto">
            <a:xfrm>
              <a:off x="2008188" y="2930525"/>
              <a:ext cx="45610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183"/>
            <p:cNvSpPr>
              <a:spLocks noChangeArrowheads="1"/>
            </p:cNvSpPr>
            <p:nvPr/>
          </p:nvSpPr>
          <p:spPr bwMode="auto">
            <a:xfrm>
              <a:off x="3513138" y="2921000"/>
              <a:ext cx="426361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Rectangle 184"/>
            <p:cNvSpPr>
              <a:spLocks noChangeArrowheads="1"/>
            </p:cNvSpPr>
            <p:nvPr/>
          </p:nvSpPr>
          <p:spPr bwMode="auto">
            <a:xfrm>
              <a:off x="5094288" y="2921000"/>
              <a:ext cx="461065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mn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2" name="Rectangle 171"/>
          <p:cNvSpPr>
            <a:spLocks noChangeArrowheads="1"/>
          </p:cNvSpPr>
          <p:nvPr/>
        </p:nvSpPr>
        <p:spPr bwMode="auto">
          <a:xfrm>
            <a:off x="4419600" y="1270000"/>
            <a:ext cx="347662" cy="254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sz="12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ko-KR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Rectangle 172"/>
          <p:cNvSpPr>
            <a:spLocks noChangeArrowheads="1"/>
          </p:cNvSpPr>
          <p:nvPr/>
        </p:nvSpPr>
        <p:spPr bwMode="auto">
          <a:xfrm>
            <a:off x="5972175" y="1250950"/>
            <a:ext cx="307778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sz="12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altLang="ko-KR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173"/>
          <p:cNvSpPr>
            <a:spLocks noChangeArrowheads="1"/>
          </p:cNvSpPr>
          <p:nvPr/>
        </p:nvSpPr>
        <p:spPr bwMode="auto">
          <a:xfrm>
            <a:off x="7496175" y="1270000"/>
            <a:ext cx="34304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sz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altLang="ko-KR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1200" y="2209800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word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j-= bit in word</a:t>
            </a:r>
          </a:p>
        </p:txBody>
      </p:sp>
    </p:spTree>
    <p:extLst>
      <p:ext uri="{BB962C8B-B14F-4D97-AF65-F5344CB8AC3E}">
        <p14:creationId xmlns:p14="http://schemas.microsoft.com/office/powerpoint/2010/main" val="214280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Computer Memory | Computer Memory Units , Types , Hierarc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484785"/>
            <a:ext cx="80010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902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Memory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87526" y="1061650"/>
            <a:ext cx="8728075" cy="48264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Locality of Reference</a:t>
            </a:r>
          </a:p>
          <a:p>
            <a:pPr defTabSz="762000">
              <a:lnSpc>
                <a:spcPct val="90000"/>
              </a:lnSpc>
            </a:pPr>
            <a:endParaRPr lang="en-IN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The references to memory at any given time interval tend to be confined 	within a localized areas.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This area contains a set of information and the membership changes 	gradually as time goes by.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i="1" dirty="0">
                <a:latin typeface="Arial" pitchFamily="34" charset="0"/>
                <a:cs typeface="Arial" pitchFamily="34" charset="0"/>
              </a:rPr>
              <a:t>Temporal Locality</a:t>
            </a: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  	The information which will be used in near future is likely to be in use 	already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	( e.g. 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Reuse of same address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 or information in loops)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i="1" dirty="0">
                <a:latin typeface="Arial" pitchFamily="34" charset="0"/>
                <a:cs typeface="Arial" pitchFamily="34" charset="0"/>
              </a:rPr>
              <a:t>Spatial Locality</a:t>
            </a: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  	If a word is accessed, adjacent(near) words are likely accessed soon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	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	(e.g. 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Related or nearby data items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 (arrays) are usually stored 			together; instructions are executed sequentially)</a:t>
            </a:r>
          </a:p>
        </p:txBody>
      </p:sp>
    </p:spTree>
    <p:extLst>
      <p:ext uri="{BB962C8B-B14F-4D97-AF65-F5344CB8AC3E}">
        <p14:creationId xmlns:p14="http://schemas.microsoft.com/office/powerpoint/2010/main" val="241792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Memory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31962" y="2281323"/>
            <a:ext cx="8728075" cy="1474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2800" b="1" dirty="0">
                <a:latin typeface="Arial" pitchFamily="34" charset="0"/>
                <a:cs typeface="Arial" pitchFamily="34" charset="0"/>
              </a:rPr>
              <a:t>Cache</a:t>
            </a:r>
            <a:endParaRPr lang="en-US" altLang="ko-KR" b="1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The property of Locality of Reference makes the cache memory systems work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Cache is a fast small capacity memory that should hold those information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which are most likely to be accessed  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546227" y="4526232"/>
            <a:ext cx="1364157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memory</a:t>
            </a:r>
          </a:p>
          <a:p>
            <a:pPr defTabSz="762000">
              <a:lnSpc>
                <a:spcPct val="90000"/>
              </a:lnSpc>
            </a:pPr>
            <a:endParaRPr lang="en-US" altLang="ko-KR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167256" y="4943347"/>
            <a:ext cx="147155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 memory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384710" y="4559424"/>
            <a:ext cx="562656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546228" y="4158529"/>
            <a:ext cx="1301998" cy="10731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5182890" y="4814054"/>
            <a:ext cx="1357611" cy="555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7045326" y="4153864"/>
            <a:ext cx="1241425" cy="10731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6540501" y="5072342"/>
            <a:ext cx="504825" cy="95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4848226" y="4455941"/>
            <a:ext cx="2197100" cy="4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103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Performance of Cache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128838" y="1346201"/>
            <a:ext cx="7929562" cy="33306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All the memory accesses are directed first to Cache</a:t>
            </a: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If the word is in Cache; Access cache to provide it to CPU</a:t>
            </a: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If the word is not in Cache; Bring a block (or a line) including that word to replace a block now in Cache</a:t>
            </a:r>
          </a:p>
          <a:p>
            <a:pPr defTabSz="762000">
              <a:lnSpc>
                <a:spcPct val="90000"/>
              </a:lnSpc>
            </a:pPr>
            <a:endParaRPr lang="en-IN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- How can we know if the word that is required  is there ?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- If a new block is to replace one of the old blocks, which one should we choose ?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747838" y="1177926"/>
            <a:ext cx="216881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Memory Access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209800" y="3827519"/>
            <a:ext cx="7772400" cy="8493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9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Performance of Cache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985169" y="1636861"/>
            <a:ext cx="8145462" cy="35799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Performance of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Hit Ratio - % of memory accesses satisfied by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Te:  Effective memory access time in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Tc:  Cache access time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Tm: Main memory access time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Te =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Tc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+ (1 - h) Tm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Example: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Tc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= 0.4 s, Tm = 1.2s, h = 0.85%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Te = 0.4 + (1 - 0.85) * 1.2 = 0.58s</a:t>
            </a:r>
          </a:p>
        </p:txBody>
      </p:sp>
    </p:spTree>
    <p:extLst>
      <p:ext uri="{BB962C8B-B14F-4D97-AF65-F5344CB8AC3E}">
        <p14:creationId xmlns:p14="http://schemas.microsoft.com/office/powerpoint/2010/main" val="3184184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57399" y="1045806"/>
            <a:ext cx="8001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and Cache Mapping –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(Associative Mapping)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640845" y="4392322"/>
            <a:ext cx="2834109" cy="8822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Associative mapping</a:t>
            </a:r>
          </a:p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Direct mapping</a:t>
            </a:r>
          </a:p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Set-associative mapping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057399" y="2773316"/>
            <a:ext cx="8305800" cy="15855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Mapping Function</a:t>
            </a:r>
          </a:p>
          <a:p>
            <a:pPr defTabSz="762000">
              <a:lnSpc>
                <a:spcPct val="90000"/>
              </a:lnSpc>
            </a:pPr>
            <a:endParaRPr lang="en-US" altLang="ko-K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Specification of correspondence between main memory blocks and cache blocks</a:t>
            </a:r>
          </a:p>
          <a:p>
            <a:pPr defTabSz="762000">
              <a:lnSpc>
                <a:spcPct val="90000"/>
              </a:lnSpc>
            </a:pPr>
            <a:endParaRPr lang="en-I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IN" altLang="ko-KR" dirty="0">
                <a:latin typeface="Arial" panose="020B0604020202020204" pitchFamily="34" charset="0"/>
                <a:cs typeface="Arial" panose="020B0604020202020204" pitchFamily="34" charset="0"/>
              </a:rPr>
              <a:t>They are of three types: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43"/>
          <p:cNvSpPr>
            <a:spLocks noChangeArrowheads="1"/>
          </p:cNvSpPr>
          <p:nvPr/>
        </p:nvSpPr>
        <p:spPr bwMode="auto">
          <a:xfrm>
            <a:off x="4591049" y="4445940"/>
            <a:ext cx="2933700" cy="828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586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55788" y="1043101"/>
            <a:ext cx="8001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and Cache Mapping –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(Associative Mapping)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095500" y="1859753"/>
            <a:ext cx="2423740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Associative Mapping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384692" y="2193487"/>
            <a:ext cx="7343192" cy="20841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 Any block location in Cache can store any block in memory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-&gt; Most flexible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 Mapping Table is implemented in an associative memory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-&gt; Fast, very Expensive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 Mapping Table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Stores both address and the content of the memory word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5141914" y="4378325"/>
            <a:ext cx="1447513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address (15 bits)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5122864" y="4765675"/>
            <a:ext cx="151483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Argument register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5421313" y="5091113"/>
            <a:ext cx="79669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Address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7096126" y="5091113"/>
            <a:ext cx="51456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Data</a:t>
            </a: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5138739" y="4787901"/>
            <a:ext cx="1443037" cy="20796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9" name="Arc 12"/>
          <p:cNvSpPr>
            <a:spLocks/>
          </p:cNvSpPr>
          <p:nvPr/>
        </p:nvSpPr>
        <p:spPr bwMode="auto">
          <a:xfrm>
            <a:off x="5837239" y="4675188"/>
            <a:ext cx="98425" cy="1079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5884863" y="4605338"/>
            <a:ext cx="0" cy="146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5421313" y="5322888"/>
            <a:ext cx="780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0 1 0 0 0</a:t>
            </a: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138738" y="5353051"/>
            <a:ext cx="1452562" cy="1682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5421313" y="5513388"/>
            <a:ext cx="780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0 2 7 7 7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5138739" y="5524501"/>
            <a:ext cx="1443037" cy="1889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5421313" y="5694363"/>
            <a:ext cx="780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2 2 2 3 5</a:t>
            </a: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5138738" y="5718176"/>
            <a:ext cx="1447800" cy="1873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5138739" y="5902325"/>
            <a:ext cx="1443037" cy="6048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7018338" y="5322888"/>
            <a:ext cx="65242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3 4 5 0</a:t>
            </a: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6589714" y="5353051"/>
            <a:ext cx="1450975" cy="1682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6584950" y="5519739"/>
            <a:ext cx="1455738" cy="1936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6584950" y="5718176"/>
            <a:ext cx="1455738" cy="1873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6589714" y="5907088"/>
            <a:ext cx="1450975" cy="5953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3" name="Rectangle 26"/>
          <p:cNvSpPr>
            <a:spLocks noChangeArrowheads="1"/>
          </p:cNvSpPr>
          <p:nvPr/>
        </p:nvSpPr>
        <p:spPr bwMode="auto">
          <a:xfrm>
            <a:off x="7018338" y="5513388"/>
            <a:ext cx="65242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6 7 1 0</a:t>
            </a:r>
          </a:p>
        </p:txBody>
      </p:sp>
      <p:sp>
        <p:nvSpPr>
          <p:cNvPr id="34" name="Rectangle 27"/>
          <p:cNvSpPr>
            <a:spLocks noChangeArrowheads="1"/>
          </p:cNvSpPr>
          <p:nvPr/>
        </p:nvSpPr>
        <p:spPr bwMode="auto">
          <a:xfrm>
            <a:off x="7018338" y="5694363"/>
            <a:ext cx="65242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1 2 3 4</a:t>
            </a:r>
          </a:p>
        </p:txBody>
      </p:sp>
      <p:sp>
        <p:nvSpPr>
          <p:cNvPr id="35" name="Line 28"/>
          <p:cNvSpPr>
            <a:spLocks noChangeShapeType="1"/>
          </p:cNvSpPr>
          <p:nvPr/>
        </p:nvSpPr>
        <p:spPr bwMode="auto">
          <a:xfrm>
            <a:off x="5130800" y="5095876"/>
            <a:ext cx="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>
            <a:off x="6602413" y="5095876"/>
            <a:ext cx="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7" name="Line 30"/>
          <p:cNvSpPr>
            <a:spLocks noChangeShapeType="1"/>
          </p:cNvSpPr>
          <p:nvPr/>
        </p:nvSpPr>
        <p:spPr bwMode="auto">
          <a:xfrm>
            <a:off x="8059738" y="5095876"/>
            <a:ext cx="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8" name="Arc 31"/>
          <p:cNvSpPr>
            <a:spLocks/>
          </p:cNvSpPr>
          <p:nvPr/>
        </p:nvSpPr>
        <p:spPr bwMode="auto">
          <a:xfrm>
            <a:off x="5135564" y="5168900"/>
            <a:ext cx="122237" cy="8413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>
            <a:off x="5240339" y="5213350"/>
            <a:ext cx="1682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0" name="Arc 33"/>
          <p:cNvSpPr>
            <a:spLocks/>
          </p:cNvSpPr>
          <p:nvPr/>
        </p:nvSpPr>
        <p:spPr bwMode="auto">
          <a:xfrm>
            <a:off x="6602414" y="5168900"/>
            <a:ext cx="122237" cy="8413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1" name="Line 34"/>
          <p:cNvSpPr>
            <a:spLocks noChangeShapeType="1"/>
          </p:cNvSpPr>
          <p:nvPr/>
        </p:nvSpPr>
        <p:spPr bwMode="auto">
          <a:xfrm>
            <a:off x="6711951" y="5213350"/>
            <a:ext cx="3730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2" name="Arc 35"/>
          <p:cNvSpPr>
            <a:spLocks/>
          </p:cNvSpPr>
          <p:nvPr/>
        </p:nvSpPr>
        <p:spPr bwMode="auto">
          <a:xfrm>
            <a:off x="7939089" y="5172076"/>
            <a:ext cx="122237" cy="85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3" name="Line 36"/>
          <p:cNvSpPr>
            <a:spLocks noChangeShapeType="1"/>
          </p:cNvSpPr>
          <p:nvPr/>
        </p:nvSpPr>
        <p:spPr bwMode="auto">
          <a:xfrm>
            <a:off x="7550151" y="5213350"/>
            <a:ext cx="3857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4" name="Arc 37"/>
          <p:cNvSpPr>
            <a:spLocks/>
          </p:cNvSpPr>
          <p:nvPr/>
        </p:nvSpPr>
        <p:spPr bwMode="auto">
          <a:xfrm>
            <a:off x="6480175" y="5168900"/>
            <a:ext cx="122238" cy="84138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5" name="Line 38"/>
          <p:cNvSpPr>
            <a:spLocks noChangeShapeType="1"/>
          </p:cNvSpPr>
          <p:nvPr/>
        </p:nvSpPr>
        <p:spPr bwMode="auto">
          <a:xfrm>
            <a:off x="6170614" y="5213350"/>
            <a:ext cx="3381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4291013" y="5424489"/>
            <a:ext cx="708528" cy="339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ctr" defTabSz="762000">
              <a:lnSpc>
                <a:spcPct val="90000"/>
              </a:lnSpc>
            </a:pPr>
            <a:r>
              <a:rPr lang="en-US" altLang="ko-KR" b="1">
                <a:latin typeface="Arial" panose="020B0604020202020204" pitchFamily="34" charset="0"/>
                <a:cs typeface="Arial" pitchFamily="34" charset="0"/>
              </a:rPr>
              <a:t>CAM</a:t>
            </a:r>
          </a:p>
        </p:txBody>
      </p:sp>
    </p:spTree>
    <p:extLst>
      <p:ext uri="{BB962C8B-B14F-4D97-AF65-F5344CB8AC3E}">
        <p14:creationId xmlns:p14="http://schemas.microsoft.com/office/powerpoint/2010/main" val="410905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Mapping – Direct mapping</a:t>
            </a:r>
          </a:p>
        </p:txBody>
      </p:sp>
      <p:sp>
        <p:nvSpPr>
          <p:cNvPr id="7" name="Rectangle 78"/>
          <p:cNvSpPr>
            <a:spLocks noChangeArrowheads="1"/>
          </p:cNvSpPr>
          <p:nvPr/>
        </p:nvSpPr>
        <p:spPr bwMode="auto">
          <a:xfrm>
            <a:off x="1063690" y="1081236"/>
            <a:ext cx="9375710" cy="1640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Each memory block has only one place to load in Cache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Mapping Table is made of RAM instead of CAM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n-bit memory address consists of 2 parts; k bits of Index field and n-k bits of Tag field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n-bit addresses are used to access main memory and k-bit Index is used to access the Cache</a:t>
            </a:r>
          </a:p>
        </p:txBody>
      </p:sp>
      <p:grpSp>
        <p:nvGrpSpPr>
          <p:cNvPr id="2" name="Group 81"/>
          <p:cNvGrpSpPr/>
          <p:nvPr/>
        </p:nvGrpSpPr>
        <p:grpSpPr>
          <a:xfrm>
            <a:off x="1859947" y="2901820"/>
            <a:ext cx="8579453" cy="3639330"/>
            <a:chOff x="338138" y="2455863"/>
            <a:chExt cx="8579453" cy="4076700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352425" y="2455863"/>
              <a:ext cx="2657779" cy="2975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Addressing Relationships</a:t>
              </a: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38138" y="4100513"/>
              <a:ext cx="3595536" cy="2975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Direct Mapping Cache Organization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625600" y="4437063"/>
              <a:ext cx="77104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620838" y="4560888"/>
              <a:ext cx="7710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355850" y="4540250"/>
              <a:ext cx="113011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data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760538" y="4714875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00000</a:t>
              </a: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2584450" y="471487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389188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3381375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2397125" y="47545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2397125" y="49069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2397125" y="515461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2397125" y="53054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2397125" y="545623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2397125" y="570547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2397125" y="58562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2397125" y="60166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397125" y="62658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397125" y="64150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1760538" y="5113338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00777</a:t>
              </a: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1760538" y="5284788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01000</a:t>
              </a: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1760538" y="5664200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01777</a:t>
              </a:r>
            </a:p>
          </p:txBody>
        </p:sp>
        <p:sp>
          <p:nvSpPr>
            <p:cNvPr id="32" name="Rectangle 25"/>
            <p:cNvSpPr>
              <a:spLocks noChangeArrowheads="1"/>
            </p:cNvSpPr>
            <p:nvPr/>
          </p:nvSpPr>
          <p:spPr bwMode="auto">
            <a:xfrm>
              <a:off x="1760538" y="5834063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02000</a:t>
              </a:r>
            </a:p>
          </p:txBody>
        </p:sp>
        <p:sp>
          <p:nvSpPr>
            <p:cNvPr id="33" name="Rectangle 26"/>
            <p:cNvSpPr>
              <a:spLocks noChangeArrowheads="1"/>
            </p:cNvSpPr>
            <p:nvPr/>
          </p:nvSpPr>
          <p:spPr bwMode="auto">
            <a:xfrm>
              <a:off x="1760538" y="6213475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02777</a:t>
              </a:r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2584450" y="511492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2 3 4 0</a:t>
              </a:r>
            </a:p>
          </p:txBody>
        </p:sp>
        <p:sp>
          <p:nvSpPr>
            <p:cNvPr id="35" name="Rectangle 28"/>
            <p:cNvSpPr>
              <a:spLocks noChangeArrowheads="1"/>
            </p:cNvSpPr>
            <p:nvPr/>
          </p:nvSpPr>
          <p:spPr bwMode="auto">
            <a:xfrm>
              <a:off x="2584450" y="5284788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2584450" y="567372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4 5 6 0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2584450" y="5834063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5 6 7 0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2584450" y="623252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4259263" y="4806950"/>
              <a:ext cx="585098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4179888" y="4926013"/>
              <a:ext cx="7710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5030788" y="4906963"/>
              <a:ext cx="46166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5646738" y="4906963"/>
              <a:ext cx="51456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>
              <a:off x="4851400" y="5127625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4414838" y="512603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>
              <a:off x="4845050" y="5119688"/>
              <a:ext cx="0" cy="1196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40"/>
            <p:cNvSpPr>
              <a:spLocks noChangeShapeType="1"/>
            </p:cNvSpPr>
            <p:nvPr/>
          </p:nvSpPr>
          <p:spPr bwMode="auto">
            <a:xfrm>
              <a:off x="6335713" y="5116513"/>
              <a:ext cx="0" cy="1182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41"/>
            <p:cNvSpPr>
              <a:spLocks noChangeShapeType="1"/>
            </p:cNvSpPr>
            <p:nvPr/>
          </p:nvSpPr>
          <p:spPr bwMode="auto">
            <a:xfrm flipH="1">
              <a:off x="5461000" y="5132388"/>
              <a:ext cx="0" cy="1176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959350" y="5097463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0 0</a:t>
              </a: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5575300" y="5097463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4851400" y="5289550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851400" y="6305550"/>
              <a:ext cx="1501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46"/>
            <p:cNvSpPr>
              <a:spLocks noChangeShapeType="1"/>
            </p:cNvSpPr>
            <p:nvPr/>
          </p:nvSpPr>
          <p:spPr bwMode="auto">
            <a:xfrm>
              <a:off x="4851400" y="6145213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4968875" y="6122988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5575300" y="6122988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4400550" y="6151563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4773613" y="4664075"/>
              <a:ext cx="1144545" cy="23519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3527425" y="2514600"/>
              <a:ext cx="156914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Tag(6)        Index(9)</a:t>
              </a: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3511550" y="2551113"/>
              <a:ext cx="1481138" cy="1841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Line 55"/>
            <p:cNvSpPr>
              <a:spLocks noChangeShapeType="1"/>
            </p:cNvSpPr>
            <p:nvPr/>
          </p:nvSpPr>
          <p:spPr bwMode="auto">
            <a:xfrm>
              <a:off x="4121150" y="2551113"/>
              <a:ext cx="0" cy="184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5273675" y="3138488"/>
              <a:ext cx="80470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32K x 12</a:t>
              </a: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5019675" y="3403600"/>
              <a:ext cx="1064395" cy="23519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5067300" y="3608388"/>
              <a:ext cx="1460337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15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5067300" y="3741738"/>
              <a:ext cx="117820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4960938" y="3081338"/>
              <a:ext cx="1479550" cy="9953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808913" y="3289300"/>
              <a:ext cx="77906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12</a:t>
              </a: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7413625" y="3444875"/>
              <a:ext cx="1144545" cy="23519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7542213" y="3665538"/>
              <a:ext cx="1375378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9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4"/>
            <p:cNvSpPr>
              <a:spLocks noChangeArrowheads="1"/>
            </p:cNvSpPr>
            <p:nvPr/>
          </p:nvSpPr>
          <p:spPr bwMode="auto">
            <a:xfrm>
              <a:off x="7542213" y="3798888"/>
              <a:ext cx="117820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7469188" y="3240088"/>
              <a:ext cx="1389062" cy="777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4300538" y="3081338"/>
              <a:ext cx="73738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00   000</a:t>
              </a: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4313238" y="3940175"/>
              <a:ext cx="73738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77   777</a:t>
              </a:r>
            </a:p>
          </p:txBody>
        </p:sp>
        <p:sp>
          <p:nvSpPr>
            <p:cNvPr id="72" name="Arc 68"/>
            <p:cNvSpPr>
              <a:spLocks/>
            </p:cNvSpPr>
            <p:nvPr/>
          </p:nvSpPr>
          <p:spPr bwMode="auto">
            <a:xfrm>
              <a:off x="4705350" y="2978150"/>
              <a:ext cx="90488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4756150" y="2868613"/>
              <a:ext cx="25447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Arc 71"/>
            <p:cNvSpPr>
              <a:spLocks/>
            </p:cNvSpPr>
            <p:nvPr/>
          </p:nvSpPr>
          <p:spPr bwMode="auto">
            <a:xfrm>
              <a:off x="4364038" y="2978150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4410075" y="2873375"/>
              <a:ext cx="0" cy="1095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73"/>
            <p:cNvSpPr>
              <a:spLocks/>
            </p:cNvSpPr>
            <p:nvPr/>
          </p:nvSpPr>
          <p:spPr bwMode="auto">
            <a:xfrm>
              <a:off x="3835400" y="2747963"/>
              <a:ext cx="555625" cy="125412"/>
            </a:xfrm>
            <a:custGeom>
              <a:avLst/>
              <a:gdLst/>
              <a:ahLst/>
              <a:cxnLst>
                <a:cxn ang="0">
                  <a:pos x="331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0" t="0" r="r" b="b"/>
              <a:pathLst>
                <a:path w="332" h="97">
                  <a:moveTo>
                    <a:pt x="331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4"/>
            <p:cNvSpPr>
              <a:spLocks noChangeArrowheads="1"/>
            </p:cNvSpPr>
            <p:nvPr/>
          </p:nvSpPr>
          <p:spPr bwMode="auto">
            <a:xfrm>
              <a:off x="7113588" y="320992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7110413" y="388143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79" name="Arc 76"/>
            <p:cNvSpPr>
              <a:spLocks/>
            </p:cNvSpPr>
            <p:nvPr/>
          </p:nvSpPr>
          <p:spPr bwMode="auto">
            <a:xfrm>
              <a:off x="7245350" y="3138488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77"/>
            <p:cNvSpPr>
              <a:spLocks noChangeShapeType="1"/>
            </p:cNvSpPr>
            <p:nvPr/>
          </p:nvSpPr>
          <p:spPr bwMode="auto">
            <a:xfrm>
              <a:off x="7283450" y="28733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>
              <a:off x="4740275" y="27209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5007778" y="258215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-k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74747" y="25799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665438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1"/>
          <p:cNvGrpSpPr/>
          <p:nvPr/>
        </p:nvGrpSpPr>
        <p:grpSpPr>
          <a:xfrm>
            <a:off x="1871470" y="670249"/>
            <a:ext cx="8579453" cy="5943600"/>
            <a:chOff x="338138" y="2455863"/>
            <a:chExt cx="8579453" cy="407670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352425" y="2455863"/>
              <a:ext cx="2657779" cy="2040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Addressing Relationships</a:t>
              </a: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38138" y="4100513"/>
              <a:ext cx="3595536" cy="2040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Direct Mapping Cache Organization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625600" y="4437063"/>
              <a:ext cx="771046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620838" y="4560888"/>
              <a:ext cx="771046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355850" y="4540250"/>
              <a:ext cx="113011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data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760538" y="4714875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00000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584450" y="471487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389188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381375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397125" y="47545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397125" y="49069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397125" y="515461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397125" y="53054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397125" y="545623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397125" y="570547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397125" y="58562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397125" y="60166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2397125" y="62658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397125" y="64150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760538" y="5113338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00777</a:t>
              </a: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760538" y="5284788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01000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1760538" y="5664200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01777</a:t>
              </a: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760538" y="5834063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02000</a:t>
              </a: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760538" y="6213475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02777</a:t>
              </a: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2584450" y="511492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2 3 4 0</a:t>
              </a: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2584450" y="5284788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2584450" y="567372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4 5 6 0</a:t>
              </a: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2584450" y="5834063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5 6 7 0</a:t>
              </a: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2584450" y="623252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4259263" y="4806950"/>
              <a:ext cx="585098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4179888" y="4926013"/>
              <a:ext cx="771046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5030788" y="4906963"/>
              <a:ext cx="461666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5646738" y="4906963"/>
              <a:ext cx="514565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4851400" y="5127625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4414838" y="5126038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4845050" y="5119688"/>
              <a:ext cx="0" cy="1196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6335713" y="5116513"/>
              <a:ext cx="0" cy="1182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H="1">
              <a:off x="5461000" y="5132388"/>
              <a:ext cx="0" cy="1176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4959350" y="5097463"/>
              <a:ext cx="395943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0 0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5575300" y="5097463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4851400" y="5289550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851400" y="6305550"/>
              <a:ext cx="1501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4851400" y="6145213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968875" y="6122988"/>
              <a:ext cx="395943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5575300" y="6122988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4400550" y="6151563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773613" y="4664075"/>
              <a:ext cx="1144545" cy="1613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3527425" y="2514600"/>
              <a:ext cx="156914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Tag(6)        Index(9)</a:t>
              </a:r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3511550" y="2551113"/>
              <a:ext cx="1481138" cy="1841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>
              <a:off x="4121150" y="2551113"/>
              <a:ext cx="0" cy="184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5273675" y="3138488"/>
              <a:ext cx="804708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32K x 12</a:t>
              </a:r>
            </a:p>
          </p:txBody>
        </p:sp>
        <p:sp>
          <p:nvSpPr>
            <p:cNvPr id="54" name="Rectangle 57"/>
            <p:cNvSpPr>
              <a:spLocks noChangeArrowheads="1"/>
            </p:cNvSpPr>
            <p:nvPr/>
          </p:nvSpPr>
          <p:spPr bwMode="auto">
            <a:xfrm>
              <a:off x="5019675" y="3403600"/>
              <a:ext cx="1064395" cy="1613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55" name="Rectangle 58"/>
            <p:cNvSpPr>
              <a:spLocks noChangeArrowheads="1"/>
            </p:cNvSpPr>
            <p:nvPr/>
          </p:nvSpPr>
          <p:spPr bwMode="auto">
            <a:xfrm>
              <a:off x="5067300" y="3608388"/>
              <a:ext cx="1460337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15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5067300" y="3741738"/>
              <a:ext cx="117820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4960938" y="3081338"/>
              <a:ext cx="1479550" cy="9953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angle 61"/>
            <p:cNvSpPr>
              <a:spLocks noChangeArrowheads="1"/>
            </p:cNvSpPr>
            <p:nvPr/>
          </p:nvSpPr>
          <p:spPr bwMode="auto">
            <a:xfrm>
              <a:off x="7808913" y="3289300"/>
              <a:ext cx="77906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12</a:t>
              </a:r>
            </a:p>
          </p:txBody>
        </p:sp>
        <p:sp>
          <p:nvSpPr>
            <p:cNvPr id="59" name="Rectangle 62"/>
            <p:cNvSpPr>
              <a:spLocks noChangeArrowheads="1"/>
            </p:cNvSpPr>
            <p:nvPr/>
          </p:nvSpPr>
          <p:spPr bwMode="auto">
            <a:xfrm>
              <a:off x="7413625" y="3444875"/>
              <a:ext cx="1144545" cy="1613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60" name="Rectangle 63"/>
            <p:cNvSpPr>
              <a:spLocks noChangeArrowheads="1"/>
            </p:cNvSpPr>
            <p:nvPr/>
          </p:nvSpPr>
          <p:spPr bwMode="auto">
            <a:xfrm>
              <a:off x="7542213" y="3665538"/>
              <a:ext cx="1375378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9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64"/>
            <p:cNvSpPr>
              <a:spLocks noChangeArrowheads="1"/>
            </p:cNvSpPr>
            <p:nvPr/>
          </p:nvSpPr>
          <p:spPr bwMode="auto">
            <a:xfrm>
              <a:off x="7542213" y="3798888"/>
              <a:ext cx="117820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62" name="Rectangle 65"/>
            <p:cNvSpPr>
              <a:spLocks noChangeArrowheads="1"/>
            </p:cNvSpPr>
            <p:nvPr/>
          </p:nvSpPr>
          <p:spPr bwMode="auto">
            <a:xfrm>
              <a:off x="7469188" y="3240088"/>
              <a:ext cx="1389062" cy="777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66"/>
            <p:cNvSpPr>
              <a:spLocks noChangeArrowheads="1"/>
            </p:cNvSpPr>
            <p:nvPr/>
          </p:nvSpPr>
          <p:spPr bwMode="auto">
            <a:xfrm>
              <a:off x="4300538" y="3081338"/>
              <a:ext cx="737382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00   000</a:t>
              </a:r>
            </a:p>
          </p:txBody>
        </p:sp>
        <p:sp>
          <p:nvSpPr>
            <p:cNvPr id="64" name="Rectangle 67"/>
            <p:cNvSpPr>
              <a:spLocks noChangeArrowheads="1"/>
            </p:cNvSpPr>
            <p:nvPr/>
          </p:nvSpPr>
          <p:spPr bwMode="auto">
            <a:xfrm>
              <a:off x="4313238" y="3940175"/>
              <a:ext cx="737382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77   777</a:t>
              </a:r>
            </a:p>
          </p:txBody>
        </p:sp>
        <p:sp>
          <p:nvSpPr>
            <p:cNvPr id="65" name="Arc 68"/>
            <p:cNvSpPr>
              <a:spLocks/>
            </p:cNvSpPr>
            <p:nvPr/>
          </p:nvSpPr>
          <p:spPr bwMode="auto">
            <a:xfrm>
              <a:off x="4705350" y="2978150"/>
              <a:ext cx="90488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Line 70"/>
            <p:cNvSpPr>
              <a:spLocks noChangeShapeType="1"/>
            </p:cNvSpPr>
            <p:nvPr/>
          </p:nvSpPr>
          <p:spPr bwMode="auto">
            <a:xfrm>
              <a:off x="4756150" y="2868613"/>
              <a:ext cx="25447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Arc 71"/>
            <p:cNvSpPr>
              <a:spLocks/>
            </p:cNvSpPr>
            <p:nvPr/>
          </p:nvSpPr>
          <p:spPr bwMode="auto">
            <a:xfrm>
              <a:off x="4364038" y="2978150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72"/>
            <p:cNvSpPr>
              <a:spLocks noChangeShapeType="1"/>
            </p:cNvSpPr>
            <p:nvPr/>
          </p:nvSpPr>
          <p:spPr bwMode="auto">
            <a:xfrm>
              <a:off x="4410075" y="2873375"/>
              <a:ext cx="0" cy="1095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auto">
            <a:xfrm>
              <a:off x="3835400" y="2747963"/>
              <a:ext cx="555625" cy="125412"/>
            </a:xfrm>
            <a:custGeom>
              <a:avLst/>
              <a:gdLst/>
              <a:ahLst/>
              <a:cxnLst>
                <a:cxn ang="0">
                  <a:pos x="331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0" t="0" r="r" b="b"/>
              <a:pathLst>
                <a:path w="332" h="97">
                  <a:moveTo>
                    <a:pt x="331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74"/>
            <p:cNvSpPr>
              <a:spLocks noChangeArrowheads="1"/>
            </p:cNvSpPr>
            <p:nvPr/>
          </p:nvSpPr>
          <p:spPr bwMode="auto">
            <a:xfrm>
              <a:off x="7113588" y="3209925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71" name="Rectangle 75"/>
            <p:cNvSpPr>
              <a:spLocks noChangeArrowheads="1"/>
            </p:cNvSpPr>
            <p:nvPr/>
          </p:nvSpPr>
          <p:spPr bwMode="auto">
            <a:xfrm>
              <a:off x="7110413" y="3881438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72" name="Arc 76"/>
            <p:cNvSpPr>
              <a:spLocks/>
            </p:cNvSpPr>
            <p:nvPr/>
          </p:nvSpPr>
          <p:spPr bwMode="auto">
            <a:xfrm>
              <a:off x="7245350" y="3138488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>
              <a:off x="7283450" y="28733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81"/>
            <p:cNvSpPr>
              <a:spLocks noChangeShapeType="1"/>
            </p:cNvSpPr>
            <p:nvPr/>
          </p:nvSpPr>
          <p:spPr bwMode="auto">
            <a:xfrm>
              <a:off x="4740275" y="27209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5084038" y="45268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-k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20785" y="4427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836174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Mapping – Direct mapping</a:t>
            </a:r>
          </a:p>
        </p:txBody>
      </p:sp>
      <p:sp>
        <p:nvSpPr>
          <p:cNvPr id="82" name="Rectangle 4"/>
          <p:cNvSpPr>
            <a:spLocks noChangeArrowheads="1"/>
          </p:cNvSpPr>
          <p:nvPr/>
        </p:nvSpPr>
        <p:spPr bwMode="auto">
          <a:xfrm>
            <a:off x="1890714" y="1073150"/>
            <a:ext cx="8396287" cy="27489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CPU generates a memory request with (TAG;INDEX)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Access Cache using INDEX ; (tag; data) 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	Compare TAG and tag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If matches -&gt; Hit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	Provide Cache(data) to CPU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If not match -&gt; Miss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Search main memory and replace the block from cache memory</a:t>
            </a:r>
          </a:p>
        </p:txBody>
      </p:sp>
      <p:grpSp>
        <p:nvGrpSpPr>
          <p:cNvPr id="2" name="Group 124"/>
          <p:cNvGrpSpPr/>
          <p:nvPr/>
        </p:nvGrpSpPr>
        <p:grpSpPr>
          <a:xfrm>
            <a:off x="3104710" y="3972844"/>
            <a:ext cx="5968294" cy="2592768"/>
            <a:chOff x="315913" y="3824288"/>
            <a:chExt cx="5968294" cy="2592768"/>
          </a:xfrm>
        </p:grpSpPr>
        <p:sp>
          <p:nvSpPr>
            <p:cNvPr id="83" name="Rectangle 3"/>
            <p:cNvSpPr>
              <a:spLocks noChangeArrowheads="1"/>
            </p:cNvSpPr>
            <p:nvPr/>
          </p:nvSpPr>
          <p:spPr bwMode="auto">
            <a:xfrm>
              <a:off x="315913" y="3824288"/>
              <a:ext cx="4706417" cy="3310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Direct Mapping with block size of 8 words</a:t>
              </a:r>
            </a:p>
          </p:txBody>
        </p:sp>
        <p:sp>
          <p:nvSpPr>
            <p:cNvPr id="84" name="Line 8"/>
            <p:cNvSpPr>
              <a:spLocks noChangeShapeType="1"/>
            </p:cNvSpPr>
            <p:nvPr/>
          </p:nvSpPr>
          <p:spPr bwMode="auto">
            <a:xfrm>
              <a:off x="1966913" y="4437063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1954213" y="443865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86" name="Line 10"/>
            <p:cNvSpPr>
              <a:spLocks noChangeShapeType="1"/>
            </p:cNvSpPr>
            <p:nvPr/>
          </p:nvSpPr>
          <p:spPr bwMode="auto">
            <a:xfrm>
              <a:off x="2382838" y="4441825"/>
              <a:ext cx="0" cy="7985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Line 12"/>
            <p:cNvSpPr>
              <a:spLocks noChangeShapeType="1"/>
            </p:cNvSpPr>
            <p:nvPr/>
          </p:nvSpPr>
          <p:spPr bwMode="auto">
            <a:xfrm>
              <a:off x="3016250" y="4441825"/>
              <a:ext cx="0" cy="7985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13"/>
            <p:cNvSpPr>
              <a:spLocks noChangeArrowheads="1"/>
            </p:cNvSpPr>
            <p:nvPr/>
          </p:nvSpPr>
          <p:spPr bwMode="auto">
            <a:xfrm>
              <a:off x="2508250" y="4438650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89" name="Rectangle 14"/>
            <p:cNvSpPr>
              <a:spLocks noChangeArrowheads="1"/>
            </p:cNvSpPr>
            <p:nvPr/>
          </p:nvSpPr>
          <p:spPr bwMode="auto">
            <a:xfrm>
              <a:off x="3146425" y="4438650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90" name="Rectangle 15"/>
            <p:cNvSpPr>
              <a:spLocks noChangeArrowheads="1"/>
            </p:cNvSpPr>
            <p:nvPr/>
          </p:nvSpPr>
          <p:spPr bwMode="auto">
            <a:xfrm>
              <a:off x="1954213" y="464820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007</a:t>
              </a:r>
            </a:p>
          </p:txBody>
        </p:sp>
        <p:sp>
          <p:nvSpPr>
            <p:cNvPr id="91" name="Rectangle 16"/>
            <p:cNvSpPr>
              <a:spLocks noChangeArrowheads="1"/>
            </p:cNvSpPr>
            <p:nvPr/>
          </p:nvSpPr>
          <p:spPr bwMode="auto">
            <a:xfrm>
              <a:off x="2508250" y="4638675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92" name="Rectangle 17"/>
            <p:cNvSpPr>
              <a:spLocks noChangeArrowheads="1"/>
            </p:cNvSpPr>
            <p:nvPr/>
          </p:nvSpPr>
          <p:spPr bwMode="auto">
            <a:xfrm>
              <a:off x="3146425" y="4648200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6 5 7 8</a:t>
              </a:r>
            </a:p>
          </p:txBody>
        </p:sp>
        <p:sp>
          <p:nvSpPr>
            <p:cNvPr id="93" name="Line 18"/>
            <p:cNvSpPr>
              <a:spLocks noChangeShapeType="1"/>
            </p:cNvSpPr>
            <p:nvPr/>
          </p:nvSpPr>
          <p:spPr bwMode="auto">
            <a:xfrm>
              <a:off x="1966913" y="4848225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Line 19"/>
            <p:cNvSpPr>
              <a:spLocks noChangeShapeType="1"/>
            </p:cNvSpPr>
            <p:nvPr/>
          </p:nvSpPr>
          <p:spPr bwMode="auto">
            <a:xfrm>
              <a:off x="1966913" y="5245100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Rectangle 20"/>
            <p:cNvSpPr>
              <a:spLocks noChangeArrowheads="1"/>
            </p:cNvSpPr>
            <p:nvPr/>
          </p:nvSpPr>
          <p:spPr bwMode="auto">
            <a:xfrm>
              <a:off x="1954213" y="484822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</a:t>
              </a:r>
            </a:p>
          </p:txBody>
        </p:sp>
        <p:sp>
          <p:nvSpPr>
            <p:cNvPr id="96" name="Rectangle 21"/>
            <p:cNvSpPr>
              <a:spLocks noChangeArrowheads="1"/>
            </p:cNvSpPr>
            <p:nvPr/>
          </p:nvSpPr>
          <p:spPr bwMode="auto">
            <a:xfrm>
              <a:off x="1954213" y="504825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017</a:t>
              </a:r>
            </a:p>
          </p:txBody>
        </p:sp>
        <p:sp>
          <p:nvSpPr>
            <p:cNvPr id="97" name="Line 22"/>
            <p:cNvSpPr>
              <a:spLocks noChangeShapeType="1"/>
            </p:cNvSpPr>
            <p:nvPr/>
          </p:nvSpPr>
          <p:spPr bwMode="auto">
            <a:xfrm>
              <a:off x="1966913" y="5949950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Rectangle 23"/>
            <p:cNvSpPr>
              <a:spLocks noChangeArrowheads="1"/>
            </p:cNvSpPr>
            <p:nvPr/>
          </p:nvSpPr>
          <p:spPr bwMode="auto">
            <a:xfrm>
              <a:off x="1954213" y="595788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770</a:t>
              </a:r>
            </a:p>
          </p:txBody>
        </p:sp>
        <p:sp>
          <p:nvSpPr>
            <p:cNvPr id="99" name="Rectangle 24"/>
            <p:cNvSpPr>
              <a:spLocks noChangeArrowheads="1"/>
            </p:cNvSpPr>
            <p:nvPr/>
          </p:nvSpPr>
          <p:spPr bwMode="auto">
            <a:xfrm>
              <a:off x="2508250" y="5951538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100" name="Rectangle 25"/>
            <p:cNvSpPr>
              <a:spLocks noChangeArrowheads="1"/>
            </p:cNvSpPr>
            <p:nvPr/>
          </p:nvSpPr>
          <p:spPr bwMode="auto">
            <a:xfrm>
              <a:off x="1954213" y="616108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101" name="Rectangle 26"/>
            <p:cNvSpPr>
              <a:spLocks noChangeArrowheads="1"/>
            </p:cNvSpPr>
            <p:nvPr/>
          </p:nvSpPr>
          <p:spPr bwMode="auto">
            <a:xfrm>
              <a:off x="2508250" y="6161088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102" name="Rectangle 27"/>
            <p:cNvSpPr>
              <a:spLocks noChangeArrowheads="1"/>
            </p:cNvSpPr>
            <p:nvPr/>
          </p:nvSpPr>
          <p:spPr bwMode="auto">
            <a:xfrm>
              <a:off x="3146425" y="6161088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103" name="Line 28"/>
            <p:cNvSpPr>
              <a:spLocks noChangeShapeType="1"/>
            </p:cNvSpPr>
            <p:nvPr/>
          </p:nvSpPr>
          <p:spPr bwMode="auto">
            <a:xfrm flipV="1">
              <a:off x="1966913" y="6357938"/>
              <a:ext cx="1971675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Line 29"/>
            <p:cNvSpPr>
              <a:spLocks noChangeShapeType="1"/>
            </p:cNvSpPr>
            <p:nvPr/>
          </p:nvSpPr>
          <p:spPr bwMode="auto">
            <a:xfrm>
              <a:off x="3016250" y="5954713"/>
              <a:ext cx="0" cy="403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Line 30"/>
            <p:cNvSpPr>
              <a:spLocks noChangeShapeType="1"/>
            </p:cNvSpPr>
            <p:nvPr/>
          </p:nvSpPr>
          <p:spPr bwMode="auto">
            <a:xfrm>
              <a:off x="3924300" y="5946775"/>
              <a:ext cx="0" cy="419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Line 31"/>
            <p:cNvSpPr>
              <a:spLocks noChangeShapeType="1"/>
            </p:cNvSpPr>
            <p:nvPr/>
          </p:nvSpPr>
          <p:spPr bwMode="auto">
            <a:xfrm flipH="1">
              <a:off x="2382838" y="5954713"/>
              <a:ext cx="0" cy="406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Rectangle 32"/>
            <p:cNvSpPr>
              <a:spLocks noChangeArrowheads="1"/>
            </p:cNvSpPr>
            <p:nvPr/>
          </p:nvSpPr>
          <p:spPr bwMode="auto">
            <a:xfrm>
              <a:off x="1179513" y="4524375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0</a:t>
              </a:r>
            </a:p>
          </p:txBody>
        </p:sp>
        <p:sp>
          <p:nvSpPr>
            <p:cNvPr id="108" name="Rectangle 33"/>
            <p:cNvSpPr>
              <a:spLocks noChangeArrowheads="1"/>
            </p:cNvSpPr>
            <p:nvPr/>
          </p:nvSpPr>
          <p:spPr bwMode="auto">
            <a:xfrm>
              <a:off x="1179513" y="4964113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</a:t>
              </a:r>
            </a:p>
          </p:txBody>
        </p:sp>
        <p:sp>
          <p:nvSpPr>
            <p:cNvPr id="109" name="Rectangle 34"/>
            <p:cNvSpPr>
              <a:spLocks noChangeArrowheads="1"/>
            </p:cNvSpPr>
            <p:nvPr/>
          </p:nvSpPr>
          <p:spPr bwMode="auto">
            <a:xfrm>
              <a:off x="1179513" y="6018213"/>
              <a:ext cx="81432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63</a:t>
              </a:r>
            </a:p>
          </p:txBody>
        </p:sp>
        <p:sp>
          <p:nvSpPr>
            <p:cNvPr id="110" name="Line 35"/>
            <p:cNvSpPr>
              <a:spLocks noChangeShapeType="1"/>
            </p:cNvSpPr>
            <p:nvPr/>
          </p:nvSpPr>
          <p:spPr bwMode="auto">
            <a:xfrm>
              <a:off x="2382838" y="5254625"/>
              <a:ext cx="0" cy="679450"/>
            </a:xfrm>
            <a:prstGeom prst="line">
              <a:avLst/>
            </a:prstGeom>
            <a:noFill/>
            <a:ln w="25400"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>
              <a:off x="3016250" y="5254625"/>
              <a:ext cx="0" cy="679450"/>
            </a:xfrm>
            <a:prstGeom prst="line">
              <a:avLst/>
            </a:prstGeom>
            <a:noFill/>
            <a:ln w="25400"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Line 37"/>
            <p:cNvSpPr>
              <a:spLocks noChangeShapeType="1"/>
            </p:cNvSpPr>
            <p:nvPr/>
          </p:nvSpPr>
          <p:spPr bwMode="auto">
            <a:xfrm>
              <a:off x="3924300" y="5254625"/>
              <a:ext cx="0" cy="679450"/>
            </a:xfrm>
            <a:prstGeom prst="line">
              <a:avLst/>
            </a:prstGeom>
            <a:noFill/>
            <a:ln w="25400"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38"/>
            <p:cNvSpPr>
              <a:spLocks noChangeArrowheads="1"/>
            </p:cNvSpPr>
            <p:nvPr/>
          </p:nvSpPr>
          <p:spPr bwMode="auto">
            <a:xfrm>
              <a:off x="4249738" y="4416425"/>
              <a:ext cx="203446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             Block     Word</a:t>
              </a:r>
            </a:p>
          </p:txBody>
        </p:sp>
        <p:sp>
          <p:nvSpPr>
            <p:cNvPr id="114" name="Line 39"/>
            <p:cNvSpPr>
              <a:spLocks noChangeShapeType="1"/>
            </p:cNvSpPr>
            <p:nvPr/>
          </p:nvSpPr>
          <p:spPr bwMode="auto">
            <a:xfrm>
              <a:off x="4233863" y="4424363"/>
              <a:ext cx="18081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Line 40"/>
            <p:cNvSpPr>
              <a:spLocks noChangeShapeType="1"/>
            </p:cNvSpPr>
            <p:nvPr/>
          </p:nvSpPr>
          <p:spPr bwMode="auto">
            <a:xfrm flipV="1">
              <a:off x="4233863" y="4648200"/>
              <a:ext cx="1803400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Line 41"/>
            <p:cNvSpPr>
              <a:spLocks noChangeShapeType="1"/>
            </p:cNvSpPr>
            <p:nvPr/>
          </p:nvSpPr>
          <p:spPr bwMode="auto">
            <a:xfrm>
              <a:off x="4227513" y="4430713"/>
              <a:ext cx="0" cy="225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Line 42"/>
            <p:cNvSpPr>
              <a:spLocks noChangeShapeType="1"/>
            </p:cNvSpPr>
            <p:nvPr/>
          </p:nvSpPr>
          <p:spPr bwMode="auto">
            <a:xfrm>
              <a:off x="4835525" y="4430713"/>
              <a:ext cx="0" cy="225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43"/>
            <p:cNvSpPr>
              <a:spLocks noChangeShapeType="1"/>
            </p:cNvSpPr>
            <p:nvPr/>
          </p:nvSpPr>
          <p:spPr bwMode="auto">
            <a:xfrm>
              <a:off x="5429250" y="4430713"/>
              <a:ext cx="0" cy="225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Line 44"/>
            <p:cNvSpPr>
              <a:spLocks noChangeShapeType="1"/>
            </p:cNvSpPr>
            <p:nvPr/>
          </p:nvSpPr>
          <p:spPr bwMode="auto">
            <a:xfrm>
              <a:off x="6037263" y="4422775"/>
              <a:ext cx="0" cy="2333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48"/>
            <p:cNvSpPr>
              <a:spLocks noChangeArrowheads="1"/>
            </p:cNvSpPr>
            <p:nvPr/>
          </p:nvSpPr>
          <p:spPr bwMode="auto">
            <a:xfrm>
              <a:off x="5173663" y="4805363"/>
              <a:ext cx="64761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</p:txBody>
        </p:sp>
        <p:grpSp>
          <p:nvGrpSpPr>
            <p:cNvPr id="3" name="Group 51"/>
            <p:cNvGrpSpPr>
              <a:grpSpLocks/>
            </p:cNvGrpSpPr>
            <p:nvPr/>
          </p:nvGrpSpPr>
          <p:grpSpPr bwMode="auto">
            <a:xfrm>
              <a:off x="4848225" y="4689475"/>
              <a:ext cx="1174750" cy="114300"/>
              <a:chOff x="2985" y="4228"/>
              <a:chExt cx="711" cy="84"/>
            </a:xfrm>
          </p:grpSpPr>
          <p:sp>
            <p:nvSpPr>
              <p:cNvPr id="122" name="Arc 49"/>
              <p:cNvSpPr>
                <a:spLocks/>
              </p:cNvSpPr>
              <p:nvPr/>
            </p:nvSpPr>
            <p:spPr bwMode="auto">
              <a:xfrm>
                <a:off x="2985" y="4228"/>
                <a:ext cx="356" cy="84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Arc 50"/>
              <p:cNvSpPr>
                <a:spLocks/>
              </p:cNvSpPr>
              <p:nvPr/>
            </p:nvSpPr>
            <p:spPr bwMode="auto">
              <a:xfrm>
                <a:off x="3340" y="4228"/>
                <a:ext cx="356" cy="84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4" name="Line 54"/>
            <p:cNvSpPr>
              <a:spLocks noChangeShapeType="1"/>
            </p:cNvSpPr>
            <p:nvPr/>
          </p:nvSpPr>
          <p:spPr bwMode="auto">
            <a:xfrm>
              <a:off x="3921125" y="4441825"/>
              <a:ext cx="0" cy="827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576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7900" y="394690"/>
            <a:ext cx="769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Mapping – 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Set Associative Mapping</a:t>
            </a: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2153679" y="2101919"/>
            <a:ext cx="5762218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Set Associative Mapping Cache with set size of two</a:t>
            </a: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2510082" y="1704860"/>
            <a:ext cx="7171836" cy="339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Each memory block has a set of locations in the Cache to load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3590924" y="2846390"/>
            <a:ext cx="5095876" cy="2868367"/>
            <a:chOff x="1209" y="1062"/>
            <a:chExt cx="2188" cy="863"/>
          </a:xfrm>
        </p:grpSpPr>
        <p:sp>
          <p:nvSpPr>
            <p:cNvPr id="54" name="Rectangle 5"/>
            <p:cNvSpPr>
              <a:spLocks noChangeArrowheads="1"/>
            </p:cNvSpPr>
            <p:nvPr/>
          </p:nvSpPr>
          <p:spPr bwMode="auto">
            <a:xfrm>
              <a:off x="1209" y="1062"/>
              <a:ext cx="251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</p:txBody>
        </p:sp>
        <p:sp>
          <p:nvSpPr>
            <p:cNvPr id="55" name="Rectangle 6"/>
            <p:cNvSpPr>
              <a:spLocks noChangeArrowheads="1"/>
            </p:cNvSpPr>
            <p:nvPr/>
          </p:nvSpPr>
          <p:spPr bwMode="auto">
            <a:xfrm>
              <a:off x="1567" y="1070"/>
              <a:ext cx="19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2021" y="1070"/>
              <a:ext cx="221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1532" y="1232"/>
              <a:ext cx="1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1275" y="1216"/>
              <a:ext cx="18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H="1">
              <a:off x="1528" y="1236"/>
              <a:ext cx="0" cy="6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>
              <a:off x="2442" y="1236"/>
              <a:ext cx="0" cy="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Line 12"/>
            <p:cNvSpPr>
              <a:spLocks noChangeShapeType="1"/>
            </p:cNvSpPr>
            <p:nvPr/>
          </p:nvSpPr>
          <p:spPr bwMode="auto">
            <a:xfrm>
              <a:off x="1901" y="1236"/>
              <a:ext cx="0" cy="67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13"/>
            <p:cNvSpPr>
              <a:spLocks noChangeArrowheads="1"/>
            </p:cNvSpPr>
            <p:nvPr/>
          </p:nvSpPr>
          <p:spPr bwMode="auto">
            <a:xfrm>
              <a:off x="1603" y="1222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63" name="Rectangle 14"/>
            <p:cNvSpPr>
              <a:spLocks noChangeArrowheads="1"/>
            </p:cNvSpPr>
            <p:nvPr/>
          </p:nvSpPr>
          <p:spPr bwMode="auto">
            <a:xfrm>
              <a:off x="1977" y="1222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auto">
            <a:xfrm>
              <a:off x="2478" y="1237"/>
              <a:ext cx="0" cy="67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3392" y="1236"/>
              <a:ext cx="0" cy="6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2851" y="1236"/>
              <a:ext cx="0" cy="6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18"/>
            <p:cNvSpPr>
              <a:spLocks noChangeArrowheads="1"/>
            </p:cNvSpPr>
            <p:nvPr/>
          </p:nvSpPr>
          <p:spPr bwMode="auto">
            <a:xfrm>
              <a:off x="2554" y="1222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68" name="Rectangle 19"/>
            <p:cNvSpPr>
              <a:spLocks noChangeArrowheads="1"/>
            </p:cNvSpPr>
            <p:nvPr/>
          </p:nvSpPr>
          <p:spPr bwMode="auto">
            <a:xfrm>
              <a:off x="2926" y="1222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5 6 7 0</a:t>
              </a:r>
            </a:p>
          </p:txBody>
        </p: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2517" y="1070"/>
              <a:ext cx="19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70" name="Rectangle 21"/>
            <p:cNvSpPr>
              <a:spLocks noChangeArrowheads="1"/>
            </p:cNvSpPr>
            <p:nvPr/>
          </p:nvSpPr>
          <p:spPr bwMode="auto">
            <a:xfrm>
              <a:off x="2971" y="1070"/>
              <a:ext cx="221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71" name="Line 22"/>
            <p:cNvSpPr>
              <a:spLocks noChangeShapeType="1"/>
            </p:cNvSpPr>
            <p:nvPr/>
          </p:nvSpPr>
          <p:spPr bwMode="auto">
            <a:xfrm>
              <a:off x="1532" y="1354"/>
              <a:ext cx="18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Line 23"/>
            <p:cNvSpPr>
              <a:spLocks noChangeShapeType="1"/>
            </p:cNvSpPr>
            <p:nvPr/>
          </p:nvSpPr>
          <p:spPr bwMode="auto">
            <a:xfrm>
              <a:off x="1532" y="1798"/>
              <a:ext cx="18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1275" y="1781"/>
              <a:ext cx="18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74" name="Rectangle 25"/>
            <p:cNvSpPr>
              <a:spLocks noChangeArrowheads="1"/>
            </p:cNvSpPr>
            <p:nvPr/>
          </p:nvSpPr>
          <p:spPr bwMode="auto">
            <a:xfrm>
              <a:off x="1603" y="1787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75" name="Rectangle 26"/>
            <p:cNvSpPr>
              <a:spLocks noChangeArrowheads="1"/>
            </p:cNvSpPr>
            <p:nvPr/>
          </p:nvSpPr>
          <p:spPr bwMode="auto">
            <a:xfrm>
              <a:off x="1977" y="1787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76" name="Rectangle 27"/>
            <p:cNvSpPr>
              <a:spLocks noChangeArrowheads="1"/>
            </p:cNvSpPr>
            <p:nvPr/>
          </p:nvSpPr>
          <p:spPr bwMode="auto">
            <a:xfrm>
              <a:off x="2554" y="1787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0 0</a:t>
              </a:r>
            </a:p>
          </p:txBody>
        </p:sp>
        <p:sp>
          <p:nvSpPr>
            <p:cNvPr id="77" name="Rectangle 28"/>
            <p:cNvSpPr>
              <a:spLocks noChangeArrowheads="1"/>
            </p:cNvSpPr>
            <p:nvPr/>
          </p:nvSpPr>
          <p:spPr bwMode="auto">
            <a:xfrm>
              <a:off x="2926" y="1787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2 3 4 0</a:t>
              </a:r>
            </a:p>
          </p:txBody>
        </p:sp>
        <p:sp>
          <p:nvSpPr>
            <p:cNvPr id="78" name="Line 29"/>
            <p:cNvSpPr>
              <a:spLocks noChangeShapeType="1"/>
            </p:cNvSpPr>
            <p:nvPr/>
          </p:nvSpPr>
          <p:spPr bwMode="auto">
            <a:xfrm flipV="1">
              <a:off x="1532" y="1916"/>
              <a:ext cx="1865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1080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24088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Writing into Cache Concepts</a:t>
            </a: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1728788" y="990600"/>
            <a:ext cx="8686800" cy="36353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Cache Write : Write Through and write Back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Write Through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When writing into memory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Hit, both Cache and memory is written in parallel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Miss, Memory is written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For a read miss, missing block may be overloaded onto a cache block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	Memory is always updated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	-&gt; Important when CPU and DMA I/O are both executing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	Slow, due to the memory access time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507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Write</a:t>
            </a: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1714500" y="2336086"/>
            <a:ext cx="8686800" cy="25273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Write-Back (Copy-Back)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When writing into memory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Hit, only Cache is written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Miss, missing block is brought to Cache and write into Cache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For a read miss, candidate block must be written back to the memory   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Memory is not up-to-date, i.e., 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The same item in Cache and memory may have different value</a:t>
            </a:r>
          </a:p>
        </p:txBody>
      </p:sp>
    </p:spTree>
    <p:extLst>
      <p:ext uri="{BB962C8B-B14F-4D97-AF65-F5344CB8AC3E}">
        <p14:creationId xmlns:p14="http://schemas.microsoft.com/office/powerpoint/2010/main" val="3044632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perating Systems: Virtual Mem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906" y="1009756"/>
            <a:ext cx="6981825" cy="557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03554" y="507247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VIRTUAL MEMORY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31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Virtual Memory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963738" y="1105707"/>
            <a:ext cx="8170862" cy="4944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Give the programmer the illusion that the system has a very large memory, even though the computer actually has a relatively small main memory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2332039" y="1692384"/>
            <a:ext cx="6078587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Address Space(Logical)  and Memory Space(Physical)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876426" y="3519596"/>
            <a:ext cx="7448449" cy="6108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Address Mapping       </a:t>
            </a:r>
          </a:p>
          <a:p>
            <a:pPr defTabSz="762000">
              <a:lnSpc>
                <a:spcPct val="101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     Memory </a:t>
            </a:r>
            <a:r>
              <a:rPr lang="en-US" altLang="ko-KR" b="1" i="1">
                <a:latin typeface="Arial" panose="020B0604020202020204" pitchFamily="34" charset="0"/>
                <a:cs typeface="Arial" panose="020B0604020202020204" pitchFamily="34" charset="0"/>
              </a:rPr>
              <a:t>Mapping Table</a:t>
            </a: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altLang="ko-KR" b="1" i="1">
                <a:latin typeface="Arial" panose="020B0604020202020204" pitchFamily="34" charset="0"/>
                <a:cs typeface="Arial" panose="020B0604020202020204" pitchFamily="34" charset="0"/>
              </a:rPr>
              <a:t>Virtual Address</a:t>
            </a: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altLang="ko-KR" b="1" i="1">
                <a:latin typeface="Arial" panose="020B0604020202020204" pitchFamily="34" charset="0"/>
                <a:cs typeface="Arial" panose="020B0604020202020204" pitchFamily="34" charset="0"/>
              </a:rPr>
              <a:t>Physical Address</a:t>
            </a:r>
            <a:endParaRPr lang="en-US" altLang="ko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2838451" y="2040047"/>
            <a:ext cx="5768760" cy="1358484"/>
            <a:chOff x="366" y="1541"/>
            <a:chExt cx="5003" cy="635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097" y="1750"/>
              <a:ext cx="1343" cy="2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virtual address</a:t>
              </a:r>
            </a:p>
            <a:p>
              <a:pPr defTabSz="762000">
                <a:lnSpc>
                  <a:spcPct val="101000"/>
                </a:lnSpc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(logical address)</a:t>
              </a: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489" y="1812"/>
              <a:ext cx="1369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physical address</a:t>
              </a:r>
            </a:p>
          </p:txBody>
        </p:sp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997" y="1662"/>
              <a:ext cx="1551" cy="38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8"/>
            <p:cNvSpPr>
              <a:spLocks noChangeArrowheads="1"/>
            </p:cNvSpPr>
            <p:nvPr/>
          </p:nvSpPr>
          <p:spPr bwMode="auto">
            <a:xfrm>
              <a:off x="3401" y="1662"/>
              <a:ext cx="1550" cy="38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2636" y="1855"/>
              <a:ext cx="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1152" y="1541"/>
              <a:ext cx="1189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 space</a:t>
              </a: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3579" y="1552"/>
              <a:ext cx="1229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memory space</a:t>
              </a:r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366" y="2051"/>
              <a:ext cx="5003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address generated by programs        actual main memory address</a:t>
              </a:r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2625" y="1724"/>
              <a:ext cx="763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Mapping</a:t>
              </a:r>
            </a:p>
          </p:txBody>
        </p:sp>
      </p:grp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1920876" y="1066801"/>
            <a:ext cx="8304213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4216400" y="4246672"/>
            <a:ext cx="1469699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address</a:t>
            </a: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4648201" y="4851509"/>
            <a:ext cx="65928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4579939" y="5015022"/>
            <a:ext cx="77104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4610101" y="5176947"/>
            <a:ext cx="74539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5800725" y="4872147"/>
            <a:ext cx="77104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5773739" y="5035659"/>
            <a:ext cx="833563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5919788" y="5197583"/>
            <a:ext cx="54181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5619751" y="6131034"/>
            <a:ext cx="117339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table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5588000" y="6291371"/>
            <a:ext cx="122469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buffer register</a:t>
            </a:r>
          </a:p>
        </p:txBody>
      </p:sp>
      <p:sp>
        <p:nvSpPr>
          <p:cNvPr id="34" name="Rectangle 26"/>
          <p:cNvSpPr>
            <a:spLocks noChangeArrowheads="1"/>
          </p:cNvSpPr>
          <p:nvPr/>
        </p:nvSpPr>
        <p:spPr bwMode="auto">
          <a:xfrm>
            <a:off x="7321551" y="4802297"/>
            <a:ext cx="120545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memory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7531101" y="4964222"/>
            <a:ext cx="77104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7558089" y="5129322"/>
            <a:ext cx="74539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8932863" y="4941997"/>
            <a:ext cx="55464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1"/>
          <p:cNvSpPr>
            <a:spLocks noChangeArrowheads="1"/>
          </p:cNvSpPr>
          <p:nvPr/>
        </p:nvSpPr>
        <p:spPr bwMode="auto">
          <a:xfrm>
            <a:off x="8813800" y="5105508"/>
            <a:ext cx="77906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39" name="Rectangle 32"/>
          <p:cNvSpPr>
            <a:spLocks noChangeArrowheads="1"/>
          </p:cNvSpPr>
          <p:nvPr/>
        </p:nvSpPr>
        <p:spPr bwMode="auto">
          <a:xfrm>
            <a:off x="8670926" y="6131034"/>
            <a:ext cx="120545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memory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3"/>
          <p:cNvSpPr>
            <a:spLocks noChangeArrowheads="1"/>
          </p:cNvSpPr>
          <p:nvPr/>
        </p:nvSpPr>
        <p:spPr bwMode="auto">
          <a:xfrm>
            <a:off x="8670925" y="6296133"/>
            <a:ext cx="122469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buffer register</a:t>
            </a:r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4506913" y="4803883"/>
            <a:ext cx="863600" cy="7127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Arc 35"/>
          <p:cNvSpPr>
            <a:spLocks/>
          </p:cNvSpPr>
          <p:nvPr/>
        </p:nvSpPr>
        <p:spPr bwMode="auto">
          <a:xfrm>
            <a:off x="4895851" y="4678472"/>
            <a:ext cx="100013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36"/>
          <p:cNvSpPr>
            <a:spLocks noChangeShapeType="1"/>
          </p:cNvSpPr>
          <p:nvPr/>
        </p:nvSpPr>
        <p:spPr bwMode="auto">
          <a:xfrm>
            <a:off x="4945063" y="4478447"/>
            <a:ext cx="0" cy="2111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Arc 37"/>
          <p:cNvSpPr>
            <a:spLocks/>
          </p:cNvSpPr>
          <p:nvPr/>
        </p:nvSpPr>
        <p:spPr bwMode="auto">
          <a:xfrm>
            <a:off x="5634039" y="5083284"/>
            <a:ext cx="123825" cy="87313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Line 38"/>
          <p:cNvSpPr>
            <a:spLocks noChangeShapeType="1"/>
          </p:cNvSpPr>
          <p:nvPr/>
        </p:nvSpPr>
        <p:spPr bwMode="auto">
          <a:xfrm>
            <a:off x="5387976" y="5132496"/>
            <a:ext cx="2587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39"/>
          <p:cNvSpPr>
            <a:spLocks noChangeArrowheads="1"/>
          </p:cNvSpPr>
          <p:nvPr/>
        </p:nvSpPr>
        <p:spPr bwMode="auto">
          <a:xfrm>
            <a:off x="5762625" y="4478446"/>
            <a:ext cx="865188" cy="136366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0"/>
          <p:cNvSpPr>
            <a:spLocks noChangeArrowheads="1"/>
          </p:cNvSpPr>
          <p:nvPr/>
        </p:nvSpPr>
        <p:spPr bwMode="auto">
          <a:xfrm>
            <a:off x="5619751" y="6135797"/>
            <a:ext cx="1152525" cy="3714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Arc 41"/>
          <p:cNvSpPr>
            <a:spLocks/>
          </p:cNvSpPr>
          <p:nvPr/>
        </p:nvSpPr>
        <p:spPr bwMode="auto">
          <a:xfrm>
            <a:off x="6153151" y="6007209"/>
            <a:ext cx="100013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Line 42"/>
          <p:cNvSpPr>
            <a:spLocks noChangeShapeType="1"/>
          </p:cNvSpPr>
          <p:nvPr/>
        </p:nvSpPr>
        <p:spPr bwMode="auto">
          <a:xfrm flipH="1">
            <a:off x="6202363" y="5845283"/>
            <a:ext cx="0" cy="1714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Arc 43"/>
          <p:cNvSpPr>
            <a:spLocks/>
          </p:cNvSpPr>
          <p:nvPr/>
        </p:nvSpPr>
        <p:spPr bwMode="auto">
          <a:xfrm>
            <a:off x="6891339" y="6272321"/>
            <a:ext cx="123825" cy="88900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>
            <a:off x="6778625" y="6318359"/>
            <a:ext cx="120650" cy="47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46"/>
          <p:cNvSpPr>
            <a:spLocks noChangeArrowheads="1"/>
          </p:cNvSpPr>
          <p:nvPr/>
        </p:nvSpPr>
        <p:spPr bwMode="auto">
          <a:xfrm>
            <a:off x="7321550" y="4803883"/>
            <a:ext cx="1117600" cy="7127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ine 47"/>
          <p:cNvSpPr>
            <a:spLocks noChangeShapeType="1"/>
          </p:cNvSpPr>
          <p:nvPr/>
        </p:nvSpPr>
        <p:spPr bwMode="auto">
          <a:xfrm>
            <a:off x="7021514" y="4592746"/>
            <a:ext cx="8334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Arc 48"/>
          <p:cNvSpPr>
            <a:spLocks/>
          </p:cNvSpPr>
          <p:nvPr/>
        </p:nvSpPr>
        <p:spPr bwMode="auto">
          <a:xfrm>
            <a:off x="7789863" y="4678472"/>
            <a:ext cx="101600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Line 49"/>
          <p:cNvSpPr>
            <a:spLocks noChangeShapeType="1"/>
          </p:cNvSpPr>
          <p:nvPr/>
        </p:nvSpPr>
        <p:spPr bwMode="auto">
          <a:xfrm>
            <a:off x="7840663" y="4607033"/>
            <a:ext cx="0" cy="82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Arc 50"/>
          <p:cNvSpPr>
            <a:spLocks/>
          </p:cNvSpPr>
          <p:nvPr/>
        </p:nvSpPr>
        <p:spPr bwMode="auto">
          <a:xfrm>
            <a:off x="8682039" y="5086458"/>
            <a:ext cx="123825" cy="88900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ine 51"/>
          <p:cNvSpPr>
            <a:spLocks noChangeShapeType="1"/>
          </p:cNvSpPr>
          <p:nvPr/>
        </p:nvSpPr>
        <p:spPr bwMode="auto">
          <a:xfrm>
            <a:off x="8435975" y="5137258"/>
            <a:ext cx="2492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2"/>
          <p:cNvSpPr>
            <a:spLocks noChangeArrowheads="1"/>
          </p:cNvSpPr>
          <p:nvPr/>
        </p:nvSpPr>
        <p:spPr bwMode="auto">
          <a:xfrm>
            <a:off x="8815388" y="4607033"/>
            <a:ext cx="787400" cy="11064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3"/>
          <p:cNvSpPr>
            <a:spLocks noChangeArrowheads="1"/>
          </p:cNvSpPr>
          <p:nvPr/>
        </p:nvSpPr>
        <p:spPr bwMode="auto">
          <a:xfrm>
            <a:off x="8658226" y="6135797"/>
            <a:ext cx="1166813" cy="3714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c 54"/>
          <p:cNvSpPr>
            <a:spLocks/>
          </p:cNvSpPr>
          <p:nvPr/>
        </p:nvSpPr>
        <p:spPr bwMode="auto">
          <a:xfrm>
            <a:off x="9205913" y="6007209"/>
            <a:ext cx="100012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Line 55"/>
          <p:cNvSpPr>
            <a:spLocks noChangeShapeType="1"/>
          </p:cNvSpPr>
          <p:nvPr/>
        </p:nvSpPr>
        <p:spPr bwMode="auto">
          <a:xfrm>
            <a:off x="9255125" y="5719871"/>
            <a:ext cx="0" cy="2968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7019926" y="5762734"/>
            <a:ext cx="958597" cy="4775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i="1">
                <a:latin typeface="Arial" panose="020B0604020202020204" pitchFamily="34" charset="0"/>
                <a:cs typeface="Arial" panose="020B0604020202020204" pitchFamily="34" charset="0"/>
              </a:rPr>
              <a:t>Physical 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400" b="1" i="1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011988" y="4587984"/>
            <a:ext cx="0" cy="17430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158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Address Mapping</a:t>
            </a:r>
          </a:p>
        </p:txBody>
      </p:sp>
      <p:grpSp>
        <p:nvGrpSpPr>
          <p:cNvPr id="2" name="Group 127"/>
          <p:cNvGrpSpPr/>
          <p:nvPr/>
        </p:nvGrpSpPr>
        <p:grpSpPr>
          <a:xfrm>
            <a:off x="1841501" y="1255712"/>
            <a:ext cx="8626272" cy="5373688"/>
            <a:chOff x="317500" y="1136650"/>
            <a:chExt cx="8626272" cy="537368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317500" y="3095625"/>
              <a:ext cx="8626272" cy="32829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Organization of memory Mapping Table in a paged system (Page and line no.)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560388" y="1136650"/>
              <a:ext cx="7821612" cy="9969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Address Space and Memory Space are each divided into fixed size group of words called </a:t>
              </a:r>
              <a:r>
                <a:rPr lang="en-US" altLang="ko-KR" b="1" i="1" dirty="0">
                  <a:latin typeface="Arial" panose="020B0604020202020204" pitchFamily="34" charset="0"/>
                  <a:cs typeface="Arial" panose="020B0604020202020204" pitchFamily="34" charset="0"/>
                </a:rPr>
                <a:t>blocks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or </a:t>
              </a:r>
              <a:r>
                <a:rPr lang="en-US" altLang="ko-KR" b="1" i="1" dirty="0">
                  <a:latin typeface="Arial" panose="020B0604020202020204" pitchFamily="34" charset="0"/>
                  <a:cs typeface="Arial" panose="020B0604020202020204" pitchFamily="34" charset="0"/>
                </a:rPr>
                <a:t>pages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0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1K words group</a:t>
              </a:r>
            </a:p>
          </p:txBody>
        </p:sp>
        <p:grpSp>
          <p:nvGrpSpPr>
            <p:cNvPr id="3" name="Group 127"/>
            <p:cNvGrpSpPr>
              <a:grpSpLocks/>
            </p:cNvGrpSpPr>
            <p:nvPr/>
          </p:nvGrpSpPr>
          <p:grpSpPr bwMode="auto">
            <a:xfrm>
              <a:off x="4745038" y="1595438"/>
              <a:ext cx="784225" cy="1589088"/>
              <a:chOff x="2989" y="975"/>
              <a:chExt cx="494" cy="1001"/>
            </a:xfrm>
          </p:grpSpPr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3028" y="975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0</a:t>
                </a:r>
              </a:p>
            </p:txBody>
          </p:sp>
          <p:sp>
            <p:nvSpPr>
              <p:cNvPr id="13" name="Rectangle 6"/>
              <p:cNvSpPr>
                <a:spLocks noChangeArrowheads="1"/>
              </p:cNvSpPr>
              <p:nvPr/>
            </p:nvSpPr>
            <p:spPr bwMode="auto">
              <a:xfrm>
                <a:off x="2989" y="978"/>
                <a:ext cx="494" cy="123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tangle 7"/>
              <p:cNvSpPr>
                <a:spLocks noChangeArrowheads="1"/>
              </p:cNvSpPr>
              <p:nvPr/>
            </p:nvSpPr>
            <p:spPr bwMode="auto">
              <a:xfrm>
                <a:off x="3028" y="1095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</a:p>
            </p:txBody>
          </p:sp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2989" y="1097"/>
                <a:ext cx="494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tangle 9"/>
              <p:cNvSpPr>
                <a:spLocks noChangeArrowheads="1"/>
              </p:cNvSpPr>
              <p:nvPr/>
            </p:nvSpPr>
            <p:spPr bwMode="auto">
              <a:xfrm>
                <a:off x="3028" y="121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</a:p>
            </p:txBody>
          </p:sp>
          <p:sp>
            <p:nvSpPr>
              <p:cNvPr id="17" name="Rectangle 10"/>
              <p:cNvSpPr>
                <a:spLocks noChangeArrowheads="1"/>
              </p:cNvSpPr>
              <p:nvPr/>
            </p:nvSpPr>
            <p:spPr bwMode="auto">
              <a:xfrm>
                <a:off x="2989" y="1217"/>
                <a:ext cx="494" cy="1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ectangle 11"/>
              <p:cNvSpPr>
                <a:spLocks noChangeArrowheads="1"/>
              </p:cNvSpPr>
              <p:nvPr/>
            </p:nvSpPr>
            <p:spPr bwMode="auto">
              <a:xfrm>
                <a:off x="3028" y="133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</a:p>
            </p:txBody>
          </p:sp>
          <p:sp>
            <p:nvSpPr>
              <p:cNvPr id="19" name="Rectangle 12"/>
              <p:cNvSpPr>
                <a:spLocks noChangeArrowheads="1"/>
              </p:cNvSpPr>
              <p:nvPr/>
            </p:nvSpPr>
            <p:spPr bwMode="auto">
              <a:xfrm>
                <a:off x="2989" y="1337"/>
                <a:ext cx="494" cy="128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3"/>
              <p:cNvSpPr>
                <a:spLocks noChangeArrowheads="1"/>
              </p:cNvSpPr>
              <p:nvPr/>
            </p:nvSpPr>
            <p:spPr bwMode="auto">
              <a:xfrm>
                <a:off x="3028" y="145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</a:p>
            </p:txBody>
          </p:sp>
          <p:sp>
            <p:nvSpPr>
              <p:cNvPr id="21" name="Rectangle 14"/>
              <p:cNvSpPr>
                <a:spLocks noChangeArrowheads="1"/>
              </p:cNvSpPr>
              <p:nvPr/>
            </p:nvSpPr>
            <p:spPr bwMode="auto">
              <a:xfrm>
                <a:off x="2989" y="1462"/>
                <a:ext cx="494" cy="117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3028" y="157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</a:p>
            </p:txBody>
          </p:sp>
          <p:sp>
            <p:nvSpPr>
              <p:cNvPr id="23" name="Rectangle 16"/>
              <p:cNvSpPr>
                <a:spLocks noChangeArrowheads="1"/>
              </p:cNvSpPr>
              <p:nvPr/>
            </p:nvSpPr>
            <p:spPr bwMode="auto">
              <a:xfrm>
                <a:off x="2989" y="1577"/>
                <a:ext cx="494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Rectangle 17"/>
              <p:cNvSpPr>
                <a:spLocks noChangeArrowheads="1"/>
              </p:cNvSpPr>
              <p:nvPr/>
            </p:nvSpPr>
            <p:spPr bwMode="auto">
              <a:xfrm>
                <a:off x="3028" y="169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</a:p>
            </p:txBody>
          </p:sp>
          <p:sp>
            <p:nvSpPr>
              <p:cNvPr id="25" name="Rectangle 18"/>
              <p:cNvSpPr>
                <a:spLocks noChangeArrowheads="1"/>
              </p:cNvSpPr>
              <p:nvPr/>
            </p:nvSpPr>
            <p:spPr bwMode="auto">
              <a:xfrm>
                <a:off x="2989" y="1698"/>
                <a:ext cx="494" cy="1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3028" y="1815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7</a:t>
                </a:r>
              </a:p>
            </p:txBody>
          </p: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2989" y="1818"/>
                <a:ext cx="494" cy="106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128"/>
            <p:cNvGrpSpPr>
              <a:grpSpLocks/>
            </p:cNvGrpSpPr>
            <p:nvPr/>
          </p:nvGrpSpPr>
          <p:grpSpPr bwMode="auto">
            <a:xfrm>
              <a:off x="7078663" y="2063751"/>
              <a:ext cx="779462" cy="825501"/>
              <a:chOff x="4189" y="1456"/>
              <a:chExt cx="491" cy="520"/>
            </a:xfrm>
          </p:grpSpPr>
          <p:sp>
            <p:nvSpPr>
              <p:cNvPr id="29" name="Rectangle 21"/>
              <p:cNvSpPr>
                <a:spLocks noChangeArrowheads="1"/>
              </p:cNvSpPr>
              <p:nvPr/>
            </p:nvSpPr>
            <p:spPr bwMode="auto">
              <a:xfrm>
                <a:off x="4221" y="1815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3</a:t>
                </a:r>
              </a:p>
            </p:txBody>
          </p:sp>
          <p:sp>
            <p:nvSpPr>
              <p:cNvPr id="30" name="Rectangle 22"/>
              <p:cNvSpPr>
                <a:spLocks noChangeArrowheads="1"/>
              </p:cNvSpPr>
              <p:nvPr/>
            </p:nvSpPr>
            <p:spPr bwMode="auto">
              <a:xfrm>
                <a:off x="4189" y="1818"/>
                <a:ext cx="487" cy="106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23"/>
              <p:cNvSpPr>
                <a:spLocks noChangeArrowheads="1"/>
              </p:cNvSpPr>
              <p:nvPr/>
            </p:nvSpPr>
            <p:spPr bwMode="auto">
              <a:xfrm>
                <a:off x="4221" y="1696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2</a:t>
                </a:r>
              </a:p>
            </p:txBody>
          </p:sp>
          <p:sp>
            <p:nvSpPr>
              <p:cNvPr id="32" name="Rectangle 24"/>
              <p:cNvSpPr>
                <a:spLocks noChangeArrowheads="1"/>
              </p:cNvSpPr>
              <p:nvPr/>
            </p:nvSpPr>
            <p:spPr bwMode="auto">
              <a:xfrm>
                <a:off x="4189" y="1698"/>
                <a:ext cx="487" cy="1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angle 25"/>
              <p:cNvSpPr>
                <a:spLocks noChangeArrowheads="1"/>
              </p:cNvSpPr>
              <p:nvPr/>
            </p:nvSpPr>
            <p:spPr bwMode="auto">
              <a:xfrm>
                <a:off x="4221" y="1576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1</a:t>
                </a:r>
              </a:p>
            </p:txBody>
          </p:sp>
          <p:sp>
            <p:nvSpPr>
              <p:cNvPr id="34" name="Rectangle 26"/>
              <p:cNvSpPr>
                <a:spLocks noChangeArrowheads="1"/>
              </p:cNvSpPr>
              <p:nvPr/>
            </p:nvSpPr>
            <p:spPr bwMode="auto">
              <a:xfrm>
                <a:off x="4189" y="1577"/>
                <a:ext cx="487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angle 27"/>
              <p:cNvSpPr>
                <a:spLocks noChangeArrowheads="1"/>
              </p:cNvSpPr>
              <p:nvPr/>
            </p:nvSpPr>
            <p:spPr bwMode="auto">
              <a:xfrm>
                <a:off x="4221" y="1456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0</a:t>
                </a:r>
              </a:p>
            </p:txBody>
          </p:sp>
          <p:sp>
            <p:nvSpPr>
              <p:cNvPr id="36" name="Rectangle 28"/>
              <p:cNvSpPr>
                <a:spLocks noChangeArrowheads="1"/>
              </p:cNvSpPr>
              <p:nvPr/>
            </p:nvSpPr>
            <p:spPr bwMode="auto">
              <a:xfrm>
                <a:off x="4189" y="1457"/>
                <a:ext cx="484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3367088" y="2081213"/>
              <a:ext cx="1274389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space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8K = 2</a:t>
              </a:r>
              <a:r>
                <a:rPr lang="en-US" altLang="ko-KR" sz="1200" b="1" baseline="30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5805488" y="2122488"/>
              <a:ext cx="1298433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space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= 4K = 2</a:t>
              </a:r>
              <a:r>
                <a:rPr lang="en-US" altLang="ko-KR" sz="1200" b="1" baseline="30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2894013" y="4371975"/>
              <a:ext cx="1047750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3695700" y="4371975"/>
              <a:ext cx="0" cy="188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3684588" y="4368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2301875" y="434022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2894013" y="4564063"/>
              <a:ext cx="1047750" cy="1920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3695700" y="4564063"/>
              <a:ext cx="0" cy="1889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3684588" y="45608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2301875" y="454183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001</a:t>
              </a: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2894013" y="4756150"/>
              <a:ext cx="1047750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3695700" y="4756150"/>
              <a:ext cx="0" cy="19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3684588" y="47529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301875" y="474345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894013" y="4951413"/>
              <a:ext cx="1047750" cy="1936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3695700" y="4951413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3684588" y="49450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2301875" y="4945063"/>
              <a:ext cx="42915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011</a:t>
              </a: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2894013" y="5143500"/>
              <a:ext cx="1047750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3695700" y="5143500"/>
              <a:ext cx="0" cy="1857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3684588" y="51371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2301875" y="511810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2894013" y="5335588"/>
              <a:ext cx="1047750" cy="1936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56"/>
            <p:cNvSpPr>
              <a:spLocks noChangeShapeType="1"/>
            </p:cNvSpPr>
            <p:nvPr/>
          </p:nvSpPr>
          <p:spPr bwMode="auto">
            <a:xfrm>
              <a:off x="3695700" y="5335588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3684588" y="53308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2301875" y="531177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101</a:t>
              </a: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2894013" y="5527675"/>
              <a:ext cx="1047750" cy="19526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>
              <a:off x="3695700" y="5527675"/>
              <a:ext cx="0" cy="19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3684588" y="55229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2301875" y="5513388"/>
              <a:ext cx="42915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110</a:t>
              </a: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2894013" y="5719763"/>
              <a:ext cx="1047750" cy="1698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3695700" y="5719763"/>
              <a:ext cx="0" cy="169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3684588" y="57150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2301875" y="5695950"/>
              <a:ext cx="42069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111</a:t>
              </a: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2894013" y="6227763"/>
              <a:ext cx="1047750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3695700" y="6227763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3684588" y="6226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4975225" y="4951413"/>
              <a:ext cx="1733550" cy="1873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71"/>
            <p:cNvSpPr>
              <a:spLocks noChangeShapeType="1"/>
            </p:cNvSpPr>
            <p:nvPr/>
          </p:nvSpPr>
          <p:spPr bwMode="auto">
            <a:xfrm>
              <a:off x="5316538" y="4951413"/>
              <a:ext cx="0" cy="2159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7499350" y="4554538"/>
              <a:ext cx="954088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7561263" y="4532313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0</a:t>
              </a: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7499350" y="4756150"/>
              <a:ext cx="954088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7561263" y="4733925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</a:t>
              </a: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7499350" y="4951413"/>
              <a:ext cx="954088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7561263" y="4935538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2</a:t>
              </a: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7499350" y="5143500"/>
              <a:ext cx="954088" cy="1682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7561263" y="5137150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3</a:t>
              </a: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7499350" y="5651500"/>
              <a:ext cx="963613" cy="1984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ectangle 81"/>
            <p:cNvSpPr>
              <a:spLocks noChangeArrowheads="1"/>
            </p:cNvSpPr>
            <p:nvPr/>
          </p:nvSpPr>
          <p:spPr bwMode="auto">
            <a:xfrm>
              <a:off x="7658100" y="5649913"/>
              <a:ext cx="5321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MBR</a:t>
              </a:r>
            </a:p>
          </p:txBody>
        </p:sp>
        <p:sp>
          <p:nvSpPr>
            <p:cNvPr id="86" name="Rectangle 82"/>
            <p:cNvSpPr>
              <a:spLocks noChangeArrowheads="1"/>
            </p:cNvSpPr>
            <p:nvPr/>
          </p:nvSpPr>
          <p:spPr bwMode="auto">
            <a:xfrm>
              <a:off x="4940300" y="4945063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87" name="Rectangle 83"/>
            <p:cNvSpPr>
              <a:spLocks noChangeArrowheads="1"/>
            </p:cNvSpPr>
            <p:nvPr/>
          </p:nvSpPr>
          <p:spPr bwMode="auto">
            <a:xfrm>
              <a:off x="5364163" y="4945063"/>
              <a:ext cx="142186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0 1 0 1 0 1 0 0 1 1</a:t>
              </a:r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2894013" y="3725863"/>
              <a:ext cx="3128962" cy="1714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ectangle 85"/>
            <p:cNvSpPr>
              <a:spLocks noChangeArrowheads="1"/>
            </p:cNvSpPr>
            <p:nvPr/>
          </p:nvSpPr>
          <p:spPr bwMode="auto">
            <a:xfrm>
              <a:off x="2971800" y="3695700"/>
              <a:ext cx="6107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</a:t>
              </a:r>
            </a:p>
          </p:txBody>
        </p:sp>
        <p:sp>
          <p:nvSpPr>
            <p:cNvPr id="90" name="Line 86"/>
            <p:cNvSpPr>
              <a:spLocks noChangeShapeType="1"/>
            </p:cNvSpPr>
            <p:nvPr/>
          </p:nvSpPr>
          <p:spPr bwMode="auto">
            <a:xfrm flipV="1">
              <a:off x="3695700" y="3738563"/>
              <a:ext cx="0" cy="1714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3781425" y="3695700"/>
              <a:ext cx="181139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0  1  0  1  0  1  0  0  1  1</a:t>
              </a:r>
            </a:p>
          </p:txBody>
        </p:sp>
        <p:sp>
          <p:nvSpPr>
            <p:cNvPr id="92" name="Rectangle 88"/>
            <p:cNvSpPr>
              <a:spLocks noChangeArrowheads="1"/>
            </p:cNvSpPr>
            <p:nvPr/>
          </p:nvSpPr>
          <p:spPr bwMode="auto">
            <a:xfrm>
              <a:off x="1620838" y="4041775"/>
              <a:ext cx="57368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Rectangle 89"/>
            <p:cNvSpPr>
              <a:spLocks noChangeArrowheads="1"/>
            </p:cNvSpPr>
            <p:nvPr/>
          </p:nvSpPr>
          <p:spPr bwMode="auto">
            <a:xfrm>
              <a:off x="1620838" y="4200525"/>
              <a:ext cx="7710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94" name="Arc 90"/>
            <p:cNvSpPr>
              <a:spLocks/>
            </p:cNvSpPr>
            <p:nvPr/>
          </p:nvSpPr>
          <p:spPr bwMode="auto">
            <a:xfrm>
              <a:off x="2476500" y="4249738"/>
              <a:ext cx="122238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91"/>
            <p:cNvSpPr>
              <a:spLocks/>
            </p:cNvSpPr>
            <p:nvPr/>
          </p:nvSpPr>
          <p:spPr bwMode="auto">
            <a:xfrm>
              <a:off x="2528888" y="4100513"/>
              <a:ext cx="811212" cy="171450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0" y="0"/>
                </a:cxn>
                <a:cxn ang="0">
                  <a:pos x="408" y="0"/>
                </a:cxn>
              </a:cxnLst>
              <a:rect l="0" t="0" r="r" b="b"/>
              <a:pathLst>
                <a:path w="409" h="121">
                  <a:moveTo>
                    <a:pt x="0" y="120"/>
                  </a:moveTo>
                  <a:lnTo>
                    <a:pt x="0" y="0"/>
                  </a:lnTo>
                  <a:lnTo>
                    <a:pt x="408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Arc 93"/>
            <p:cNvSpPr>
              <a:spLocks/>
            </p:cNvSpPr>
            <p:nvPr/>
          </p:nvSpPr>
          <p:spPr bwMode="auto">
            <a:xfrm>
              <a:off x="3827463" y="4249738"/>
              <a:ext cx="120650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94"/>
            <p:cNvSpPr>
              <a:spLocks/>
            </p:cNvSpPr>
            <p:nvPr/>
          </p:nvSpPr>
          <p:spPr bwMode="auto">
            <a:xfrm>
              <a:off x="3879850" y="4100513"/>
              <a:ext cx="350838" cy="171450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0" y="0"/>
                </a:cxn>
                <a:cxn ang="0">
                  <a:pos x="176" y="0"/>
                </a:cxn>
              </a:cxnLst>
              <a:rect l="0" t="0" r="r" b="b"/>
              <a:pathLst>
                <a:path w="177" h="121">
                  <a:moveTo>
                    <a:pt x="0" y="120"/>
                  </a:moveTo>
                  <a:lnTo>
                    <a:pt x="0" y="0"/>
                  </a:lnTo>
                  <a:lnTo>
                    <a:pt x="176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Rectangle 95"/>
            <p:cNvSpPr>
              <a:spLocks noChangeArrowheads="1"/>
            </p:cNvSpPr>
            <p:nvPr/>
          </p:nvSpPr>
          <p:spPr bwMode="auto">
            <a:xfrm>
              <a:off x="4225925" y="3984625"/>
              <a:ext cx="86402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96"/>
            <p:cNvSpPr>
              <a:spLocks noChangeArrowheads="1"/>
            </p:cNvSpPr>
            <p:nvPr/>
          </p:nvSpPr>
          <p:spPr bwMode="auto">
            <a:xfrm>
              <a:off x="4225925" y="4143375"/>
              <a:ext cx="3718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</a:t>
              </a:r>
            </a:p>
          </p:txBody>
        </p:sp>
        <p:sp>
          <p:nvSpPr>
            <p:cNvPr id="100" name="Freeform 97"/>
            <p:cNvSpPr>
              <a:spLocks/>
            </p:cNvSpPr>
            <p:nvPr/>
          </p:nvSpPr>
          <p:spPr bwMode="auto">
            <a:xfrm>
              <a:off x="5308600" y="3908425"/>
              <a:ext cx="733425" cy="511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60"/>
                </a:cxn>
                <a:cxn ang="0">
                  <a:pos x="368" y="360"/>
                </a:cxn>
              </a:cxnLst>
              <a:rect l="0" t="0" r="r" b="b"/>
              <a:pathLst>
                <a:path w="369" h="361">
                  <a:moveTo>
                    <a:pt x="0" y="0"/>
                  </a:moveTo>
                  <a:lnTo>
                    <a:pt x="0" y="360"/>
                  </a:lnTo>
                  <a:lnTo>
                    <a:pt x="368" y="36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Arc 98"/>
            <p:cNvSpPr>
              <a:spLocks/>
            </p:cNvSpPr>
            <p:nvPr/>
          </p:nvSpPr>
          <p:spPr bwMode="auto">
            <a:xfrm>
              <a:off x="5986463" y="4826000"/>
              <a:ext cx="122237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Line 99"/>
            <p:cNvSpPr>
              <a:spLocks noChangeShapeType="1"/>
            </p:cNvSpPr>
            <p:nvPr/>
          </p:nvSpPr>
          <p:spPr bwMode="auto">
            <a:xfrm>
              <a:off x="6046788" y="4429125"/>
              <a:ext cx="0" cy="406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100"/>
            <p:cNvSpPr>
              <a:spLocks noChangeArrowheads="1"/>
            </p:cNvSpPr>
            <p:nvPr/>
          </p:nvSpPr>
          <p:spPr bwMode="auto">
            <a:xfrm>
              <a:off x="2835275" y="3503613"/>
              <a:ext cx="82554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no.</a:t>
              </a:r>
            </a:p>
          </p:txBody>
        </p:sp>
        <p:sp>
          <p:nvSpPr>
            <p:cNvPr id="104" name="Rectangle 101"/>
            <p:cNvSpPr>
              <a:spLocks noChangeArrowheads="1"/>
            </p:cNvSpPr>
            <p:nvPr/>
          </p:nvSpPr>
          <p:spPr bwMode="auto">
            <a:xfrm>
              <a:off x="4297363" y="3503613"/>
              <a:ext cx="110767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number</a:t>
              </a:r>
            </a:p>
          </p:txBody>
        </p:sp>
        <p:sp>
          <p:nvSpPr>
            <p:cNvPr id="105" name="Rectangle 102"/>
            <p:cNvSpPr>
              <a:spLocks noChangeArrowheads="1"/>
            </p:cNvSpPr>
            <p:nvPr/>
          </p:nvSpPr>
          <p:spPr bwMode="auto">
            <a:xfrm>
              <a:off x="6069013" y="3676650"/>
              <a:ext cx="129086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address</a:t>
              </a:r>
            </a:p>
          </p:txBody>
        </p:sp>
        <p:sp>
          <p:nvSpPr>
            <p:cNvPr id="106" name="Rectangle 103"/>
            <p:cNvSpPr>
              <a:spLocks noChangeArrowheads="1"/>
            </p:cNvSpPr>
            <p:nvPr/>
          </p:nvSpPr>
          <p:spPr bwMode="auto">
            <a:xfrm>
              <a:off x="5130800" y="5208588"/>
              <a:ext cx="1205459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Rectangle 104"/>
            <p:cNvSpPr>
              <a:spLocks noChangeArrowheads="1"/>
            </p:cNvSpPr>
            <p:nvPr/>
          </p:nvSpPr>
          <p:spPr bwMode="auto">
            <a:xfrm>
              <a:off x="5130800" y="5365750"/>
              <a:ext cx="137698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register</a:t>
              </a:r>
            </a:p>
          </p:txBody>
        </p:sp>
        <p:sp>
          <p:nvSpPr>
            <p:cNvPr id="108" name="Arc 105"/>
            <p:cNvSpPr>
              <a:spLocks/>
            </p:cNvSpPr>
            <p:nvPr/>
          </p:nvSpPr>
          <p:spPr bwMode="auto">
            <a:xfrm>
              <a:off x="3287713" y="6105525"/>
              <a:ext cx="120650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Arc 107"/>
            <p:cNvSpPr>
              <a:spLocks/>
            </p:cNvSpPr>
            <p:nvPr/>
          </p:nvSpPr>
          <p:spPr bwMode="auto">
            <a:xfrm>
              <a:off x="5081588" y="4826000"/>
              <a:ext cx="120650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>
              <a:off x="5140325" y="4689475"/>
              <a:ext cx="0" cy="146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auto">
            <a:xfrm>
              <a:off x="4498975" y="4678363"/>
              <a:ext cx="636588" cy="1814512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0" y="0"/>
                </a:cxn>
                <a:cxn ang="0">
                  <a:pos x="0" y="1408"/>
                </a:cxn>
              </a:cxnLst>
              <a:rect l="0" t="0" r="r" b="b"/>
              <a:pathLst>
                <a:path w="321" h="1409">
                  <a:moveTo>
                    <a:pt x="320" y="0"/>
                  </a:moveTo>
                  <a:lnTo>
                    <a:pt x="0" y="0"/>
                  </a:lnTo>
                  <a:lnTo>
                    <a:pt x="0" y="140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Line 110"/>
            <p:cNvSpPr>
              <a:spLocks noChangeShapeType="1"/>
            </p:cNvSpPr>
            <p:nvPr/>
          </p:nvSpPr>
          <p:spPr bwMode="auto">
            <a:xfrm>
              <a:off x="3344863" y="6503988"/>
              <a:ext cx="11509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454025" y="5508625"/>
              <a:ext cx="15757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page table</a:t>
              </a:r>
            </a:p>
          </p:txBody>
        </p:sp>
        <p:sp>
          <p:nvSpPr>
            <p:cNvPr id="114" name="Arc 113"/>
            <p:cNvSpPr>
              <a:spLocks/>
            </p:cNvSpPr>
            <p:nvPr/>
          </p:nvSpPr>
          <p:spPr bwMode="auto">
            <a:xfrm>
              <a:off x="7978775" y="5529263"/>
              <a:ext cx="120650" cy="106362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Line 114"/>
            <p:cNvSpPr>
              <a:spLocks noChangeShapeType="1"/>
            </p:cNvSpPr>
            <p:nvPr/>
          </p:nvSpPr>
          <p:spPr bwMode="auto">
            <a:xfrm>
              <a:off x="8031163" y="5326063"/>
              <a:ext cx="0" cy="212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>
              <a:off x="6715125" y="4870450"/>
              <a:ext cx="406400" cy="185738"/>
            </a:xfrm>
            <a:custGeom>
              <a:avLst/>
              <a:gdLst/>
              <a:ahLst/>
              <a:cxnLst>
                <a:cxn ang="0">
                  <a:pos x="0" y="136"/>
                </a:cxn>
                <a:cxn ang="0">
                  <a:pos x="232" y="136"/>
                </a:cxn>
                <a:cxn ang="0">
                  <a:pos x="232" y="0"/>
                </a:cxn>
              </a:cxnLst>
              <a:rect l="0" t="0" r="r" b="b"/>
              <a:pathLst>
                <a:path w="233" h="137">
                  <a:moveTo>
                    <a:pt x="0" y="136"/>
                  </a:moveTo>
                  <a:lnTo>
                    <a:pt x="232" y="136"/>
                  </a:lnTo>
                  <a:lnTo>
                    <a:pt x="232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Arc 116"/>
            <p:cNvSpPr>
              <a:spLocks/>
            </p:cNvSpPr>
            <p:nvPr/>
          </p:nvSpPr>
          <p:spPr bwMode="auto">
            <a:xfrm>
              <a:off x="7332663" y="4821238"/>
              <a:ext cx="149225" cy="889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117"/>
            <p:cNvSpPr>
              <a:spLocks noChangeShapeType="1"/>
            </p:cNvSpPr>
            <p:nvPr/>
          </p:nvSpPr>
          <p:spPr bwMode="auto">
            <a:xfrm>
              <a:off x="7127875" y="4867275"/>
              <a:ext cx="2063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7289800" y="4313238"/>
              <a:ext cx="120545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3051175" y="4562475"/>
              <a:ext cx="3441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3051175" y="4754563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</a:t>
              </a:r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3051175" y="5332413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3051175" y="5524500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3051175" y="6238875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125" name="Line 129"/>
            <p:cNvSpPr>
              <a:spLocks noChangeShapeType="1"/>
            </p:cNvSpPr>
            <p:nvPr/>
          </p:nvSpPr>
          <p:spPr bwMode="auto">
            <a:xfrm>
              <a:off x="3354388" y="6440488"/>
              <a:ext cx="0" cy="698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Line 130"/>
            <p:cNvSpPr>
              <a:spLocks noChangeShapeType="1"/>
            </p:cNvSpPr>
            <p:nvPr/>
          </p:nvSpPr>
          <p:spPr bwMode="auto">
            <a:xfrm>
              <a:off x="3335338" y="3887788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Line 131"/>
            <p:cNvSpPr>
              <a:spLocks noChangeShapeType="1"/>
            </p:cNvSpPr>
            <p:nvPr/>
          </p:nvSpPr>
          <p:spPr bwMode="auto">
            <a:xfrm>
              <a:off x="3351213" y="5895975"/>
              <a:ext cx="0" cy="254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4335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Associative Memory Page Table</a:t>
            </a:r>
          </a:p>
        </p:txBody>
      </p:sp>
      <p:sp>
        <p:nvSpPr>
          <p:cNvPr id="128" name="Rectangle 3"/>
          <p:cNvSpPr>
            <a:spLocks noChangeArrowheads="1"/>
          </p:cNvSpPr>
          <p:nvPr/>
        </p:nvSpPr>
        <p:spPr bwMode="auto">
          <a:xfrm>
            <a:off x="1828800" y="1067336"/>
            <a:ext cx="6093108" cy="837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Assume that 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Number of Blocks in memory = m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Number of Pages in Virtual Address Space = n</a:t>
            </a:r>
          </a:p>
        </p:txBody>
      </p:sp>
      <p:sp>
        <p:nvSpPr>
          <p:cNvPr id="129" name="Rectangle 4"/>
          <p:cNvSpPr>
            <a:spLocks noChangeArrowheads="1"/>
          </p:cNvSpPr>
          <p:nvPr/>
        </p:nvSpPr>
        <p:spPr bwMode="auto">
          <a:xfrm>
            <a:off x="1828800" y="1898940"/>
            <a:ext cx="8610600" cy="18348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Page Table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- Straight forward design -&gt; n entry table in memory Inefficient storage space utilization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&lt;- n-m entries of the table is empty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- More efficient method is m-entry Page Table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Page Table made of an Associative Memory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m words; (Page Number: Block Number)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5827325" y="3805077"/>
            <a:ext cx="3777408" cy="2329195"/>
            <a:chOff x="1439" y="2164"/>
            <a:chExt cx="3518" cy="1213"/>
          </a:xfrm>
        </p:grpSpPr>
        <p:sp>
          <p:nvSpPr>
            <p:cNvPr id="131" name="Rectangle 5"/>
            <p:cNvSpPr>
              <a:spLocks noChangeArrowheads="1"/>
            </p:cNvSpPr>
            <p:nvPr/>
          </p:nvSpPr>
          <p:spPr bwMode="auto">
            <a:xfrm>
              <a:off x="1495" y="2448"/>
              <a:ext cx="2050" cy="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le 6"/>
            <p:cNvSpPr>
              <a:spLocks noChangeArrowheads="1"/>
            </p:cNvSpPr>
            <p:nvPr/>
          </p:nvSpPr>
          <p:spPr bwMode="auto">
            <a:xfrm>
              <a:off x="1548" y="2447"/>
              <a:ext cx="569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</a:t>
              </a:r>
            </a:p>
          </p:txBody>
        </p:sp>
        <p:sp>
          <p:nvSpPr>
            <p:cNvPr id="133" name="Line 7"/>
            <p:cNvSpPr>
              <a:spLocks noChangeShapeType="1"/>
            </p:cNvSpPr>
            <p:nvPr/>
          </p:nvSpPr>
          <p:spPr bwMode="auto">
            <a:xfrm flipV="1">
              <a:off x="2121" y="2449"/>
              <a:ext cx="0" cy="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Rectangle 8"/>
            <p:cNvSpPr>
              <a:spLocks noChangeArrowheads="1"/>
            </p:cNvSpPr>
            <p:nvPr/>
          </p:nvSpPr>
          <p:spPr bwMode="auto">
            <a:xfrm>
              <a:off x="2292" y="2447"/>
              <a:ext cx="885" cy="11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number</a:t>
              </a:r>
            </a:p>
          </p:txBody>
        </p:sp>
        <p:sp>
          <p:nvSpPr>
            <p:cNvPr id="135" name="Rectangle 9"/>
            <p:cNvSpPr>
              <a:spLocks noChangeArrowheads="1"/>
            </p:cNvSpPr>
            <p:nvPr/>
          </p:nvSpPr>
          <p:spPr bwMode="auto">
            <a:xfrm>
              <a:off x="1494" y="2297"/>
              <a:ext cx="769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no.</a:t>
              </a:r>
            </a:p>
          </p:txBody>
        </p:sp>
        <p:sp>
          <p:nvSpPr>
            <p:cNvPr id="136" name="Rectangle 10"/>
            <p:cNvSpPr>
              <a:spLocks noChangeArrowheads="1"/>
            </p:cNvSpPr>
            <p:nvPr/>
          </p:nvSpPr>
          <p:spPr bwMode="auto">
            <a:xfrm>
              <a:off x="3546" y="2447"/>
              <a:ext cx="1411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Argument register</a:t>
              </a:r>
            </a:p>
          </p:txBody>
        </p:sp>
        <p:sp>
          <p:nvSpPr>
            <p:cNvPr id="137" name="Rectangle 11"/>
            <p:cNvSpPr>
              <a:spLocks noChangeArrowheads="1"/>
            </p:cNvSpPr>
            <p:nvPr/>
          </p:nvSpPr>
          <p:spPr bwMode="auto">
            <a:xfrm>
              <a:off x="1495" y="2636"/>
              <a:ext cx="1042" cy="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12"/>
            <p:cNvSpPr>
              <a:spLocks noChangeArrowheads="1"/>
            </p:cNvSpPr>
            <p:nvPr/>
          </p:nvSpPr>
          <p:spPr bwMode="auto">
            <a:xfrm>
              <a:off x="1548" y="2634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1  0  1      0  0</a:t>
              </a:r>
            </a:p>
          </p:txBody>
        </p:sp>
        <p:sp>
          <p:nvSpPr>
            <p:cNvPr id="139" name="Rectangle 13"/>
            <p:cNvSpPr>
              <a:spLocks noChangeArrowheads="1"/>
            </p:cNvSpPr>
            <p:nvPr/>
          </p:nvSpPr>
          <p:spPr bwMode="auto">
            <a:xfrm>
              <a:off x="1495" y="2825"/>
              <a:ext cx="1042" cy="9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Rectangle 14"/>
            <p:cNvSpPr>
              <a:spLocks noChangeArrowheads="1"/>
            </p:cNvSpPr>
            <p:nvPr/>
          </p:nvSpPr>
          <p:spPr bwMode="auto">
            <a:xfrm>
              <a:off x="1548" y="2823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0  0  1      1  1</a:t>
              </a:r>
            </a:p>
          </p:txBody>
        </p:sp>
        <p:sp>
          <p:nvSpPr>
            <p:cNvPr id="141" name="Line 15"/>
            <p:cNvSpPr>
              <a:spLocks noChangeShapeType="1"/>
            </p:cNvSpPr>
            <p:nvPr/>
          </p:nvSpPr>
          <p:spPr bwMode="auto">
            <a:xfrm>
              <a:off x="2121" y="2825"/>
              <a:ext cx="0" cy="9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Rectangle 16"/>
            <p:cNvSpPr>
              <a:spLocks noChangeArrowheads="1"/>
            </p:cNvSpPr>
            <p:nvPr/>
          </p:nvSpPr>
          <p:spPr bwMode="auto">
            <a:xfrm>
              <a:off x="1495" y="2919"/>
              <a:ext cx="1042" cy="9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Rectangle 17"/>
            <p:cNvSpPr>
              <a:spLocks noChangeArrowheads="1"/>
            </p:cNvSpPr>
            <p:nvPr/>
          </p:nvSpPr>
          <p:spPr bwMode="auto">
            <a:xfrm>
              <a:off x="1548" y="2916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0  1  0      0  0</a:t>
              </a:r>
            </a:p>
          </p:txBody>
        </p:sp>
        <p:sp>
          <p:nvSpPr>
            <p:cNvPr id="144" name="Line 18"/>
            <p:cNvSpPr>
              <a:spLocks noChangeShapeType="1"/>
            </p:cNvSpPr>
            <p:nvPr/>
          </p:nvSpPr>
          <p:spPr bwMode="auto">
            <a:xfrm>
              <a:off x="2121" y="2919"/>
              <a:ext cx="0" cy="9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Rectangle 19"/>
            <p:cNvSpPr>
              <a:spLocks noChangeArrowheads="1"/>
            </p:cNvSpPr>
            <p:nvPr/>
          </p:nvSpPr>
          <p:spPr bwMode="auto">
            <a:xfrm>
              <a:off x="1495" y="3013"/>
              <a:ext cx="1042" cy="9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Rectangle 20"/>
            <p:cNvSpPr>
              <a:spLocks noChangeArrowheads="1"/>
            </p:cNvSpPr>
            <p:nvPr/>
          </p:nvSpPr>
          <p:spPr bwMode="auto">
            <a:xfrm>
              <a:off x="1548" y="3012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1  0  1      0  1</a:t>
              </a:r>
            </a:p>
          </p:txBody>
        </p:sp>
        <p:sp>
          <p:nvSpPr>
            <p:cNvPr id="147" name="Line 21"/>
            <p:cNvSpPr>
              <a:spLocks noChangeShapeType="1"/>
            </p:cNvSpPr>
            <p:nvPr/>
          </p:nvSpPr>
          <p:spPr bwMode="auto">
            <a:xfrm>
              <a:off x="2121" y="3013"/>
              <a:ext cx="0" cy="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Rectangle 22"/>
            <p:cNvSpPr>
              <a:spLocks noChangeArrowheads="1"/>
            </p:cNvSpPr>
            <p:nvPr/>
          </p:nvSpPr>
          <p:spPr bwMode="auto">
            <a:xfrm>
              <a:off x="1495" y="3107"/>
              <a:ext cx="1042" cy="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23"/>
            <p:cNvSpPr>
              <a:spLocks noChangeArrowheads="1"/>
            </p:cNvSpPr>
            <p:nvPr/>
          </p:nvSpPr>
          <p:spPr bwMode="auto">
            <a:xfrm>
              <a:off x="1548" y="3106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1  1  0      1  0</a:t>
              </a:r>
            </a:p>
          </p:txBody>
        </p:sp>
        <p:sp>
          <p:nvSpPr>
            <p:cNvPr id="150" name="Line 24"/>
            <p:cNvSpPr>
              <a:spLocks noChangeShapeType="1"/>
            </p:cNvSpPr>
            <p:nvPr/>
          </p:nvSpPr>
          <p:spPr bwMode="auto">
            <a:xfrm>
              <a:off x="2121" y="3107"/>
              <a:ext cx="0" cy="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25"/>
            <p:cNvSpPr>
              <a:spLocks noChangeArrowheads="1"/>
            </p:cNvSpPr>
            <p:nvPr/>
          </p:nvSpPr>
          <p:spPr bwMode="auto">
            <a:xfrm>
              <a:off x="2611" y="2634"/>
              <a:ext cx="996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register</a:t>
              </a:r>
            </a:p>
          </p:txBody>
        </p:sp>
        <p:sp>
          <p:nvSpPr>
            <p:cNvPr id="152" name="Rectangle 26"/>
            <p:cNvSpPr>
              <a:spLocks noChangeArrowheads="1"/>
            </p:cNvSpPr>
            <p:nvPr/>
          </p:nvSpPr>
          <p:spPr bwMode="auto">
            <a:xfrm>
              <a:off x="2611" y="2951"/>
              <a:ext cx="156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Associative memory</a:t>
              </a:r>
            </a:p>
          </p:txBody>
        </p:sp>
        <p:sp>
          <p:nvSpPr>
            <p:cNvPr id="153" name="Rectangle 27"/>
            <p:cNvSpPr>
              <a:spLocks noChangeArrowheads="1"/>
            </p:cNvSpPr>
            <p:nvPr/>
          </p:nvSpPr>
          <p:spPr bwMode="auto">
            <a:xfrm>
              <a:off x="1439" y="3244"/>
              <a:ext cx="769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no.</a:t>
              </a:r>
            </a:p>
          </p:txBody>
        </p:sp>
        <p:sp>
          <p:nvSpPr>
            <p:cNvPr id="154" name="Rectangle 28"/>
            <p:cNvSpPr>
              <a:spLocks noChangeArrowheads="1"/>
            </p:cNvSpPr>
            <p:nvPr/>
          </p:nvSpPr>
          <p:spPr bwMode="auto">
            <a:xfrm>
              <a:off x="2038" y="3244"/>
              <a:ext cx="817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no.</a:t>
              </a:r>
            </a:p>
          </p:txBody>
        </p:sp>
        <p:sp>
          <p:nvSpPr>
            <p:cNvPr id="155" name="Rectangle 29"/>
            <p:cNvSpPr>
              <a:spLocks noChangeArrowheads="1"/>
            </p:cNvSpPr>
            <p:nvPr/>
          </p:nvSpPr>
          <p:spPr bwMode="auto">
            <a:xfrm>
              <a:off x="2047" y="2164"/>
              <a:ext cx="1202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address</a:t>
              </a:r>
            </a:p>
          </p:txBody>
        </p:sp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1498" y="2266"/>
              <a:ext cx="2050" cy="77"/>
              <a:chOff x="1081" y="3273"/>
              <a:chExt cx="1480" cy="112"/>
            </a:xfrm>
          </p:grpSpPr>
          <p:sp>
            <p:nvSpPr>
              <p:cNvPr id="166" name="Arc 30"/>
              <p:cNvSpPr>
                <a:spLocks/>
              </p:cNvSpPr>
              <p:nvPr/>
            </p:nvSpPr>
            <p:spPr bwMode="auto">
              <a:xfrm>
                <a:off x="1081" y="3273"/>
                <a:ext cx="740" cy="11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71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81"/>
                      <a:pt x="9652" y="16"/>
                      <a:pt x="21571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81"/>
                      <a:pt x="9652" y="16"/>
                      <a:pt x="21571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Arc 31"/>
              <p:cNvSpPr>
                <a:spLocks/>
              </p:cNvSpPr>
              <p:nvPr/>
            </p:nvSpPr>
            <p:spPr bwMode="auto">
              <a:xfrm>
                <a:off x="1820" y="3273"/>
                <a:ext cx="741" cy="112"/>
              </a:xfrm>
              <a:custGeom>
                <a:avLst/>
                <a:gdLst>
                  <a:gd name="G0" fmla="+- 29 0 0"/>
                  <a:gd name="G1" fmla="+- 21600 0 0"/>
                  <a:gd name="G2" fmla="+- 21600 0 0"/>
                  <a:gd name="T0" fmla="*/ 0 w 21629"/>
                  <a:gd name="T1" fmla="*/ 0 h 21600"/>
                  <a:gd name="T2" fmla="*/ 21629 w 21629"/>
                  <a:gd name="T3" fmla="*/ 21600 h 21600"/>
                  <a:gd name="T4" fmla="*/ 29 w 2162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29" h="21600" fill="none" extrusionOk="0">
                    <a:moveTo>
                      <a:pt x="0" y="0"/>
                    </a:moveTo>
                    <a:cubicBezTo>
                      <a:pt x="9" y="0"/>
                      <a:pt x="19" y="-1"/>
                      <a:pt x="29" y="0"/>
                    </a:cubicBezTo>
                    <a:cubicBezTo>
                      <a:pt x="11958" y="0"/>
                      <a:pt x="21629" y="9670"/>
                      <a:pt x="21629" y="21600"/>
                    </a:cubicBezTo>
                  </a:path>
                  <a:path w="21629" h="21600" stroke="0" extrusionOk="0">
                    <a:moveTo>
                      <a:pt x="0" y="0"/>
                    </a:moveTo>
                    <a:cubicBezTo>
                      <a:pt x="9" y="0"/>
                      <a:pt x="19" y="-1"/>
                      <a:pt x="29" y="0"/>
                    </a:cubicBezTo>
                    <a:cubicBezTo>
                      <a:pt x="11958" y="0"/>
                      <a:pt x="21629" y="9670"/>
                      <a:pt x="21629" y="21600"/>
                    </a:cubicBezTo>
                    <a:lnTo>
                      <a:pt x="29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5"/>
            <p:cNvGrpSpPr>
              <a:grpSpLocks/>
            </p:cNvGrpSpPr>
            <p:nvPr/>
          </p:nvGrpSpPr>
          <p:grpSpPr bwMode="auto">
            <a:xfrm>
              <a:off x="1499" y="2393"/>
              <a:ext cx="610" cy="28"/>
              <a:chOff x="1081" y="3457"/>
              <a:chExt cx="440" cy="40"/>
            </a:xfrm>
          </p:grpSpPr>
          <p:sp>
            <p:nvSpPr>
              <p:cNvPr id="164" name="Arc 33"/>
              <p:cNvSpPr>
                <a:spLocks/>
              </p:cNvSpPr>
              <p:nvPr/>
            </p:nvSpPr>
            <p:spPr bwMode="auto">
              <a:xfrm>
                <a:off x="1081" y="3457"/>
                <a:ext cx="220" cy="4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02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708"/>
                      <a:pt x="9611" y="54"/>
                      <a:pt x="21502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708"/>
                      <a:pt x="9611" y="54"/>
                      <a:pt x="21502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Arc 34"/>
              <p:cNvSpPr>
                <a:spLocks/>
              </p:cNvSpPr>
              <p:nvPr/>
            </p:nvSpPr>
            <p:spPr bwMode="auto">
              <a:xfrm>
                <a:off x="1300" y="3457"/>
                <a:ext cx="221" cy="40"/>
              </a:xfrm>
              <a:custGeom>
                <a:avLst/>
                <a:gdLst>
                  <a:gd name="G0" fmla="+- 98 0 0"/>
                  <a:gd name="G1" fmla="+- 21600 0 0"/>
                  <a:gd name="G2" fmla="+- 21600 0 0"/>
                  <a:gd name="T0" fmla="*/ 0 w 21698"/>
                  <a:gd name="T1" fmla="*/ 0 h 21600"/>
                  <a:gd name="T2" fmla="*/ 21698 w 21698"/>
                  <a:gd name="T3" fmla="*/ 21600 h 21600"/>
                  <a:gd name="T4" fmla="*/ 98 w 21698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8" h="21600" fill="none" extrusionOk="0">
                    <a:moveTo>
                      <a:pt x="0" y="0"/>
                    </a:moveTo>
                    <a:cubicBezTo>
                      <a:pt x="32" y="0"/>
                      <a:pt x="65" y="-1"/>
                      <a:pt x="98" y="0"/>
                    </a:cubicBezTo>
                    <a:cubicBezTo>
                      <a:pt x="12027" y="0"/>
                      <a:pt x="21698" y="9670"/>
                      <a:pt x="21698" y="21600"/>
                    </a:cubicBezTo>
                  </a:path>
                  <a:path w="21698" h="21600" stroke="0" extrusionOk="0">
                    <a:moveTo>
                      <a:pt x="0" y="0"/>
                    </a:moveTo>
                    <a:cubicBezTo>
                      <a:pt x="32" y="0"/>
                      <a:pt x="65" y="-1"/>
                      <a:pt x="98" y="0"/>
                    </a:cubicBezTo>
                    <a:cubicBezTo>
                      <a:pt x="12027" y="0"/>
                      <a:pt x="21698" y="9670"/>
                      <a:pt x="21698" y="21600"/>
                    </a:cubicBezTo>
                    <a:lnTo>
                      <a:pt x="98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Group 38"/>
            <p:cNvGrpSpPr>
              <a:grpSpLocks/>
            </p:cNvGrpSpPr>
            <p:nvPr/>
          </p:nvGrpSpPr>
          <p:grpSpPr bwMode="auto">
            <a:xfrm>
              <a:off x="1497" y="3212"/>
              <a:ext cx="585" cy="34"/>
              <a:chOff x="1081" y="4640"/>
              <a:chExt cx="423" cy="48"/>
            </a:xfrm>
          </p:grpSpPr>
          <p:sp>
            <p:nvSpPr>
              <p:cNvPr id="162" name="Arc 36"/>
              <p:cNvSpPr>
                <a:spLocks/>
              </p:cNvSpPr>
              <p:nvPr/>
            </p:nvSpPr>
            <p:spPr bwMode="auto">
              <a:xfrm>
                <a:off x="1081" y="4640"/>
                <a:ext cx="212" cy="48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3" name="Arc 37"/>
              <p:cNvSpPr>
                <a:spLocks/>
              </p:cNvSpPr>
              <p:nvPr/>
            </p:nvSpPr>
            <p:spPr bwMode="auto">
              <a:xfrm>
                <a:off x="1292" y="4640"/>
                <a:ext cx="212" cy="48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41"/>
            <p:cNvGrpSpPr>
              <a:grpSpLocks/>
            </p:cNvGrpSpPr>
            <p:nvPr/>
          </p:nvGrpSpPr>
          <p:grpSpPr bwMode="auto">
            <a:xfrm>
              <a:off x="2150" y="3212"/>
              <a:ext cx="387" cy="34"/>
              <a:chOff x="1553" y="4640"/>
              <a:chExt cx="279" cy="48"/>
            </a:xfrm>
          </p:grpSpPr>
          <p:sp>
            <p:nvSpPr>
              <p:cNvPr id="160" name="Arc 39"/>
              <p:cNvSpPr>
                <a:spLocks/>
              </p:cNvSpPr>
              <p:nvPr/>
            </p:nvSpPr>
            <p:spPr bwMode="auto">
              <a:xfrm>
                <a:off x="1553" y="4640"/>
                <a:ext cx="140" cy="48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Arc 40"/>
              <p:cNvSpPr>
                <a:spLocks/>
              </p:cNvSpPr>
              <p:nvPr/>
            </p:nvSpPr>
            <p:spPr bwMode="auto">
              <a:xfrm>
                <a:off x="1692" y="4640"/>
                <a:ext cx="140" cy="48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68" name="Rectangle 42"/>
          <p:cNvSpPr>
            <a:spLocks noChangeArrowheads="1"/>
          </p:cNvSpPr>
          <p:nvPr/>
        </p:nvSpPr>
        <p:spPr bwMode="auto">
          <a:xfrm>
            <a:off x="2088066" y="5901535"/>
            <a:ext cx="5833842" cy="5883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Page Fault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Page number cannot be found in the Page Table</a:t>
            </a:r>
          </a:p>
        </p:txBody>
      </p:sp>
    </p:spTree>
    <p:extLst>
      <p:ext uri="{BB962C8B-B14F-4D97-AF65-F5344CB8AC3E}">
        <p14:creationId xmlns:p14="http://schemas.microsoft.com/office/powerpoint/2010/main" val="226465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838132" y="1000125"/>
            <a:ext cx="8238930" cy="8732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101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Decision on which page to displace to make room for an incoming page when no free frame is available</a:t>
            </a:r>
          </a:p>
        </p:txBody>
      </p:sp>
      <p:grpSp>
        <p:nvGrpSpPr>
          <p:cNvPr id="2" name="Group 70"/>
          <p:cNvGrpSpPr/>
          <p:nvPr/>
        </p:nvGrpSpPr>
        <p:grpSpPr>
          <a:xfrm>
            <a:off x="3160268" y="2752531"/>
            <a:ext cx="5594658" cy="2936379"/>
            <a:chOff x="2268538" y="3617913"/>
            <a:chExt cx="5594658" cy="2936379"/>
          </a:xfrm>
        </p:grpSpPr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3424238" y="4454525"/>
              <a:ext cx="184150" cy="17303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373438" y="44164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6391275" y="3921125"/>
              <a:ext cx="1279525" cy="1471613"/>
              <a:chOff x="3028" y="3705"/>
              <a:chExt cx="816" cy="1167"/>
            </a:xfrm>
          </p:grpSpPr>
          <p:sp>
            <p:nvSpPr>
              <p:cNvPr id="15" name="Arc 8"/>
              <p:cNvSpPr>
                <a:spLocks/>
              </p:cNvSpPr>
              <p:nvPr/>
            </p:nvSpPr>
            <p:spPr bwMode="auto">
              <a:xfrm>
                <a:off x="3033" y="3705"/>
                <a:ext cx="400" cy="8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46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Arc 9"/>
              <p:cNvSpPr>
                <a:spLocks/>
              </p:cNvSpPr>
              <p:nvPr/>
            </p:nvSpPr>
            <p:spPr bwMode="auto">
              <a:xfrm>
                <a:off x="3432" y="3705"/>
                <a:ext cx="401" cy="80"/>
              </a:xfrm>
              <a:custGeom>
                <a:avLst/>
                <a:gdLst>
                  <a:gd name="G0" fmla="+- 54 0 0"/>
                  <a:gd name="G1" fmla="+- 21600 0 0"/>
                  <a:gd name="G2" fmla="+- 21600 0 0"/>
                  <a:gd name="T0" fmla="*/ 0 w 21654"/>
                  <a:gd name="T1" fmla="*/ 0 h 21600"/>
                  <a:gd name="T2" fmla="*/ 21654 w 21654"/>
                  <a:gd name="T3" fmla="*/ 21600 h 21600"/>
                  <a:gd name="T4" fmla="*/ 54 w 2165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54" h="21600" fill="none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</a:path>
                  <a:path w="21654" h="21600" stroke="0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  <a:lnTo>
                      <a:pt x="54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Arc 10"/>
              <p:cNvSpPr>
                <a:spLocks/>
              </p:cNvSpPr>
              <p:nvPr/>
            </p:nvSpPr>
            <p:spPr bwMode="auto">
              <a:xfrm>
                <a:off x="3033" y="3784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Arc 11"/>
              <p:cNvSpPr>
                <a:spLocks/>
              </p:cNvSpPr>
              <p:nvPr/>
            </p:nvSpPr>
            <p:spPr bwMode="auto">
              <a:xfrm>
                <a:off x="3432" y="3784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Arc 12"/>
              <p:cNvSpPr>
                <a:spLocks/>
              </p:cNvSpPr>
              <p:nvPr/>
            </p:nvSpPr>
            <p:spPr bwMode="auto">
              <a:xfrm>
                <a:off x="3033" y="4792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Arc 13"/>
              <p:cNvSpPr>
                <a:spLocks/>
              </p:cNvSpPr>
              <p:nvPr/>
            </p:nvSpPr>
            <p:spPr bwMode="auto">
              <a:xfrm>
                <a:off x="3432" y="4792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3028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844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281238" y="4040188"/>
              <a:ext cx="1093787" cy="146367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2281238" y="46005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81238" y="4833938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281238" y="506412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976563" y="4040188"/>
              <a:ext cx="0" cy="1463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392363" y="460692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613025" y="4589463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2955925" y="4598988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3178175" y="4589463"/>
              <a:ext cx="232437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2439988" y="507047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3036888" y="504190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2281238" y="52863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H="1">
              <a:off x="2390775" y="4694238"/>
              <a:ext cx="220663" cy="904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2970213" y="4705350"/>
              <a:ext cx="233362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2268538" y="3800475"/>
              <a:ext cx="671660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frame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2882900" y="3617913"/>
              <a:ext cx="639600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valid/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882900" y="3789363"/>
              <a:ext cx="101630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 bit</a:t>
              </a: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2328863" y="5554663"/>
              <a:ext cx="106599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3570288" y="4505325"/>
              <a:ext cx="102592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 to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3570288" y="4676775"/>
              <a:ext cx="74860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</a:t>
              </a: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3424238" y="4968875"/>
              <a:ext cx="184150" cy="17462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3382963" y="49212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3546475" y="5070475"/>
              <a:ext cx="1077219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reset page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3546475" y="5243513"/>
              <a:ext cx="888065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 for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3546475" y="5413375"/>
              <a:ext cx="997069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page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714875" y="3635375"/>
              <a:ext cx="809625" cy="26162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4787900" y="4587875"/>
              <a:ext cx="7005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4714875" y="460057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714875" y="4833938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Arc 46"/>
            <p:cNvSpPr>
              <a:spLocks/>
            </p:cNvSpPr>
            <p:nvPr/>
          </p:nvSpPr>
          <p:spPr bwMode="auto">
            <a:xfrm>
              <a:off x="6619875" y="4354513"/>
              <a:ext cx="115888" cy="74612"/>
            </a:xfrm>
            <a:custGeom>
              <a:avLst/>
              <a:gdLst>
                <a:gd name="G0" fmla="+- 21600 0 0"/>
                <a:gd name="G1" fmla="+- 3369 0 0"/>
                <a:gd name="G2" fmla="+- 21600 0 0"/>
                <a:gd name="T0" fmla="*/ 4596 w 21600"/>
                <a:gd name="T1" fmla="*/ 16689 h 16689"/>
                <a:gd name="T2" fmla="*/ 264 w 21600"/>
                <a:gd name="T3" fmla="*/ 0 h 16689"/>
                <a:gd name="T4" fmla="*/ 21600 w 21600"/>
                <a:gd name="T5" fmla="*/ 3369 h 16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689" fill="none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</a:path>
                <a:path w="21600" h="16689" stroke="0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  <a:lnTo>
                    <a:pt x="21600" y="3369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47"/>
            <p:cNvSpPr>
              <a:spLocks noChangeShapeType="1"/>
            </p:cNvSpPr>
            <p:nvPr/>
          </p:nvSpPr>
          <p:spPr bwMode="auto">
            <a:xfrm flipV="1">
              <a:off x="5524500" y="4389438"/>
              <a:ext cx="1093788" cy="2809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6740525" y="4322763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7292975" y="4948238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Arc 50"/>
            <p:cNvSpPr>
              <a:spLocks/>
            </p:cNvSpPr>
            <p:nvPr/>
          </p:nvSpPr>
          <p:spPr bwMode="auto">
            <a:xfrm>
              <a:off x="5543550" y="4740275"/>
              <a:ext cx="117475" cy="76200"/>
            </a:xfrm>
            <a:custGeom>
              <a:avLst/>
              <a:gdLst>
                <a:gd name="G0" fmla="+- 0 0 0"/>
                <a:gd name="G1" fmla="+- 5105 0 0"/>
                <a:gd name="G2" fmla="+- 21600 0 0"/>
                <a:gd name="T0" fmla="*/ 20988 w 21600"/>
                <a:gd name="T1" fmla="*/ 0 h 17415"/>
                <a:gd name="T2" fmla="*/ 17749 w 21600"/>
                <a:gd name="T3" fmla="*/ 17415 h 17415"/>
                <a:gd name="T4" fmla="*/ 0 w 21600"/>
                <a:gd name="T5" fmla="*/ 5105 h 17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15" fill="none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</a:path>
                <a:path w="21600" h="17415" stroke="0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  <a:lnTo>
                    <a:pt x="0" y="510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 flipH="1" flipV="1">
              <a:off x="5622925" y="4781550"/>
              <a:ext cx="1670050" cy="292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val 52"/>
            <p:cNvSpPr>
              <a:spLocks noChangeArrowheads="1"/>
            </p:cNvSpPr>
            <p:nvPr/>
          </p:nvSpPr>
          <p:spPr bwMode="auto">
            <a:xfrm>
              <a:off x="5586413" y="4221163"/>
              <a:ext cx="188912" cy="16351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545138" y="41846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5707063" y="381000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55"/>
            <p:cNvSpPr>
              <a:spLocks noChangeArrowheads="1"/>
            </p:cNvSpPr>
            <p:nvPr/>
          </p:nvSpPr>
          <p:spPr bwMode="auto">
            <a:xfrm>
              <a:off x="5707063" y="3979863"/>
              <a:ext cx="46006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56"/>
            <p:cNvSpPr>
              <a:spLocks noChangeArrowheads="1"/>
            </p:cNvSpPr>
            <p:nvPr/>
          </p:nvSpPr>
          <p:spPr bwMode="auto">
            <a:xfrm>
              <a:off x="5707063" y="4151313"/>
              <a:ext cx="700514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5707063" y="4324350"/>
              <a:ext cx="61234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</a:p>
          </p:txBody>
        </p:sp>
        <p:sp>
          <p:nvSpPr>
            <p:cNvPr id="64" name="Oval 58"/>
            <p:cNvSpPr>
              <a:spLocks noChangeArrowheads="1"/>
            </p:cNvSpPr>
            <p:nvPr/>
          </p:nvSpPr>
          <p:spPr bwMode="auto">
            <a:xfrm>
              <a:off x="5622925" y="4848225"/>
              <a:ext cx="188913" cy="16986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5572125" y="48101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5608638" y="501015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61"/>
            <p:cNvSpPr>
              <a:spLocks noChangeArrowheads="1"/>
            </p:cNvSpPr>
            <p:nvPr/>
          </p:nvSpPr>
          <p:spPr bwMode="auto">
            <a:xfrm>
              <a:off x="5608638" y="5181600"/>
              <a:ext cx="819136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2"/>
            <p:cNvSpPr>
              <a:spLocks noChangeArrowheads="1"/>
            </p:cNvSpPr>
            <p:nvPr/>
          </p:nvSpPr>
          <p:spPr bwMode="auto">
            <a:xfrm>
              <a:off x="5608638" y="5348288"/>
              <a:ext cx="8079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in</a:t>
              </a: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6518275" y="5443538"/>
              <a:ext cx="1344921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backing store</a:t>
              </a: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>
              <a:off x="4418013" y="6270625"/>
              <a:ext cx="1646286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8902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44358" y="1096962"/>
            <a:ext cx="4001095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Modified page fault service routine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304145" y="1420867"/>
            <a:ext cx="9082616" cy="19652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1. Find the location of the desired page on the backing store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2. Find a free frame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     - If there is a free frame, use it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- Otherwise, use a page-replacement algorithm to select a </a:t>
            </a:r>
            <a:r>
              <a:rPr lang="en-US" altLang="ko-KR" b="1" i="1" dirty="0">
                <a:latin typeface="Arial" panose="020B0604020202020204" pitchFamily="34" charset="0"/>
                <a:cs typeface="Arial" panose="020B0604020202020204" pitchFamily="34" charset="0"/>
              </a:rPr>
              <a:t>victim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frame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     - Write the victim page to the backing store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3. Read the desired page into the (newly) free frame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4. Restart the user process</a:t>
            </a:r>
          </a:p>
        </p:txBody>
      </p:sp>
      <p:grpSp>
        <p:nvGrpSpPr>
          <p:cNvPr id="2" name="Group 70"/>
          <p:cNvGrpSpPr/>
          <p:nvPr/>
        </p:nvGrpSpPr>
        <p:grpSpPr>
          <a:xfrm>
            <a:off x="3298671" y="3858779"/>
            <a:ext cx="5594658" cy="2936379"/>
            <a:chOff x="2268538" y="3617913"/>
            <a:chExt cx="5594658" cy="2936379"/>
          </a:xfrm>
        </p:grpSpPr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3424238" y="4454525"/>
              <a:ext cx="184150" cy="17303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373438" y="44164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6391275" y="3921125"/>
              <a:ext cx="1279525" cy="1471613"/>
              <a:chOff x="3028" y="3705"/>
              <a:chExt cx="816" cy="1167"/>
            </a:xfrm>
          </p:grpSpPr>
          <p:sp>
            <p:nvSpPr>
              <p:cNvPr id="15" name="Arc 8"/>
              <p:cNvSpPr>
                <a:spLocks/>
              </p:cNvSpPr>
              <p:nvPr/>
            </p:nvSpPr>
            <p:spPr bwMode="auto">
              <a:xfrm>
                <a:off x="3033" y="3705"/>
                <a:ext cx="400" cy="8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46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Arc 9"/>
              <p:cNvSpPr>
                <a:spLocks/>
              </p:cNvSpPr>
              <p:nvPr/>
            </p:nvSpPr>
            <p:spPr bwMode="auto">
              <a:xfrm>
                <a:off x="3432" y="3705"/>
                <a:ext cx="401" cy="80"/>
              </a:xfrm>
              <a:custGeom>
                <a:avLst/>
                <a:gdLst>
                  <a:gd name="G0" fmla="+- 54 0 0"/>
                  <a:gd name="G1" fmla="+- 21600 0 0"/>
                  <a:gd name="G2" fmla="+- 21600 0 0"/>
                  <a:gd name="T0" fmla="*/ 0 w 21654"/>
                  <a:gd name="T1" fmla="*/ 0 h 21600"/>
                  <a:gd name="T2" fmla="*/ 21654 w 21654"/>
                  <a:gd name="T3" fmla="*/ 21600 h 21600"/>
                  <a:gd name="T4" fmla="*/ 54 w 2165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54" h="21600" fill="none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</a:path>
                  <a:path w="21654" h="21600" stroke="0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  <a:lnTo>
                      <a:pt x="54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Arc 10"/>
              <p:cNvSpPr>
                <a:spLocks/>
              </p:cNvSpPr>
              <p:nvPr/>
            </p:nvSpPr>
            <p:spPr bwMode="auto">
              <a:xfrm>
                <a:off x="3033" y="3784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Arc 11"/>
              <p:cNvSpPr>
                <a:spLocks/>
              </p:cNvSpPr>
              <p:nvPr/>
            </p:nvSpPr>
            <p:spPr bwMode="auto">
              <a:xfrm>
                <a:off x="3432" y="3784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Arc 12"/>
              <p:cNvSpPr>
                <a:spLocks/>
              </p:cNvSpPr>
              <p:nvPr/>
            </p:nvSpPr>
            <p:spPr bwMode="auto">
              <a:xfrm>
                <a:off x="3033" y="4792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Arc 13"/>
              <p:cNvSpPr>
                <a:spLocks/>
              </p:cNvSpPr>
              <p:nvPr/>
            </p:nvSpPr>
            <p:spPr bwMode="auto">
              <a:xfrm>
                <a:off x="3432" y="4792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3028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844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281238" y="4040188"/>
              <a:ext cx="1093787" cy="146367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2281238" y="46005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81238" y="4833938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281238" y="506412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976563" y="4040188"/>
              <a:ext cx="0" cy="1463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392363" y="460692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613025" y="4589463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2955925" y="4598988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3178175" y="4589463"/>
              <a:ext cx="232437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2439988" y="507047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3036888" y="504190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2281238" y="52863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H="1">
              <a:off x="2390775" y="4694238"/>
              <a:ext cx="220663" cy="904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2970213" y="4705350"/>
              <a:ext cx="233362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2268538" y="3800475"/>
              <a:ext cx="671660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frame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2882900" y="3617913"/>
              <a:ext cx="639600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valid/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882900" y="3789363"/>
              <a:ext cx="101630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 bit</a:t>
              </a: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2328863" y="5554663"/>
              <a:ext cx="106599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3570288" y="4505325"/>
              <a:ext cx="102592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 to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3570288" y="4676775"/>
              <a:ext cx="74860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</a:t>
              </a: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3424238" y="4968875"/>
              <a:ext cx="184150" cy="17462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3382963" y="49212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3546475" y="5070475"/>
              <a:ext cx="1077219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reset page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3546475" y="5243513"/>
              <a:ext cx="888065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 for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3546475" y="5413375"/>
              <a:ext cx="997069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page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714875" y="3635375"/>
              <a:ext cx="809625" cy="26162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4787900" y="4587875"/>
              <a:ext cx="7005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4714875" y="460057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714875" y="4833938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Arc 46"/>
            <p:cNvSpPr>
              <a:spLocks/>
            </p:cNvSpPr>
            <p:nvPr/>
          </p:nvSpPr>
          <p:spPr bwMode="auto">
            <a:xfrm>
              <a:off x="6619875" y="4354513"/>
              <a:ext cx="115888" cy="74612"/>
            </a:xfrm>
            <a:custGeom>
              <a:avLst/>
              <a:gdLst>
                <a:gd name="G0" fmla="+- 21600 0 0"/>
                <a:gd name="G1" fmla="+- 3369 0 0"/>
                <a:gd name="G2" fmla="+- 21600 0 0"/>
                <a:gd name="T0" fmla="*/ 4596 w 21600"/>
                <a:gd name="T1" fmla="*/ 16689 h 16689"/>
                <a:gd name="T2" fmla="*/ 264 w 21600"/>
                <a:gd name="T3" fmla="*/ 0 h 16689"/>
                <a:gd name="T4" fmla="*/ 21600 w 21600"/>
                <a:gd name="T5" fmla="*/ 3369 h 16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689" fill="none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</a:path>
                <a:path w="21600" h="16689" stroke="0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  <a:lnTo>
                    <a:pt x="21600" y="3369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47"/>
            <p:cNvSpPr>
              <a:spLocks noChangeShapeType="1"/>
            </p:cNvSpPr>
            <p:nvPr/>
          </p:nvSpPr>
          <p:spPr bwMode="auto">
            <a:xfrm flipV="1">
              <a:off x="5524500" y="4389438"/>
              <a:ext cx="1093788" cy="2809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6740525" y="4322763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7292975" y="4948238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Arc 50"/>
            <p:cNvSpPr>
              <a:spLocks/>
            </p:cNvSpPr>
            <p:nvPr/>
          </p:nvSpPr>
          <p:spPr bwMode="auto">
            <a:xfrm>
              <a:off x="5543550" y="4740275"/>
              <a:ext cx="117475" cy="76200"/>
            </a:xfrm>
            <a:custGeom>
              <a:avLst/>
              <a:gdLst>
                <a:gd name="G0" fmla="+- 0 0 0"/>
                <a:gd name="G1" fmla="+- 5105 0 0"/>
                <a:gd name="G2" fmla="+- 21600 0 0"/>
                <a:gd name="T0" fmla="*/ 20988 w 21600"/>
                <a:gd name="T1" fmla="*/ 0 h 17415"/>
                <a:gd name="T2" fmla="*/ 17749 w 21600"/>
                <a:gd name="T3" fmla="*/ 17415 h 17415"/>
                <a:gd name="T4" fmla="*/ 0 w 21600"/>
                <a:gd name="T5" fmla="*/ 5105 h 17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15" fill="none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</a:path>
                <a:path w="21600" h="17415" stroke="0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  <a:lnTo>
                    <a:pt x="0" y="510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 flipH="1" flipV="1">
              <a:off x="5622925" y="4781550"/>
              <a:ext cx="1670050" cy="292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val 52"/>
            <p:cNvSpPr>
              <a:spLocks noChangeArrowheads="1"/>
            </p:cNvSpPr>
            <p:nvPr/>
          </p:nvSpPr>
          <p:spPr bwMode="auto">
            <a:xfrm>
              <a:off x="5586413" y="4221163"/>
              <a:ext cx="188912" cy="16351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545138" y="41846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5707063" y="381000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55"/>
            <p:cNvSpPr>
              <a:spLocks noChangeArrowheads="1"/>
            </p:cNvSpPr>
            <p:nvPr/>
          </p:nvSpPr>
          <p:spPr bwMode="auto">
            <a:xfrm>
              <a:off x="5707063" y="3979863"/>
              <a:ext cx="46006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56"/>
            <p:cNvSpPr>
              <a:spLocks noChangeArrowheads="1"/>
            </p:cNvSpPr>
            <p:nvPr/>
          </p:nvSpPr>
          <p:spPr bwMode="auto">
            <a:xfrm>
              <a:off x="5707063" y="4151313"/>
              <a:ext cx="700514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5707063" y="4324350"/>
              <a:ext cx="61234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</a:p>
          </p:txBody>
        </p:sp>
        <p:sp>
          <p:nvSpPr>
            <p:cNvPr id="64" name="Oval 58"/>
            <p:cNvSpPr>
              <a:spLocks noChangeArrowheads="1"/>
            </p:cNvSpPr>
            <p:nvPr/>
          </p:nvSpPr>
          <p:spPr bwMode="auto">
            <a:xfrm>
              <a:off x="5622925" y="4848225"/>
              <a:ext cx="188913" cy="16986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5572125" y="48101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5608638" y="501015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61"/>
            <p:cNvSpPr>
              <a:spLocks noChangeArrowheads="1"/>
            </p:cNvSpPr>
            <p:nvPr/>
          </p:nvSpPr>
          <p:spPr bwMode="auto">
            <a:xfrm>
              <a:off x="5608638" y="5181600"/>
              <a:ext cx="819136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2"/>
            <p:cNvSpPr>
              <a:spLocks noChangeArrowheads="1"/>
            </p:cNvSpPr>
            <p:nvPr/>
          </p:nvSpPr>
          <p:spPr bwMode="auto">
            <a:xfrm>
              <a:off x="5608638" y="5348288"/>
              <a:ext cx="8079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in</a:t>
              </a: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6518275" y="5443538"/>
              <a:ext cx="1344921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backing store</a:t>
              </a: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>
              <a:off x="4418013" y="6270625"/>
              <a:ext cx="1646286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933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 Algorithms</a:t>
            </a:r>
          </a:p>
        </p:txBody>
      </p:sp>
      <p:grpSp>
        <p:nvGrpSpPr>
          <p:cNvPr id="2" name="Group 388"/>
          <p:cNvGrpSpPr/>
          <p:nvPr/>
        </p:nvGrpSpPr>
        <p:grpSpPr>
          <a:xfrm>
            <a:off x="1752601" y="990600"/>
            <a:ext cx="8656130" cy="5634418"/>
            <a:chOff x="228601" y="836613"/>
            <a:chExt cx="8656130" cy="5634418"/>
          </a:xfrm>
        </p:grpSpPr>
        <p:sp>
          <p:nvSpPr>
            <p:cNvPr id="199" name="Rectangle 3"/>
            <p:cNvSpPr>
              <a:spLocks noChangeArrowheads="1"/>
            </p:cNvSpPr>
            <p:nvPr/>
          </p:nvSpPr>
          <p:spPr bwMode="auto">
            <a:xfrm>
              <a:off x="346075" y="836613"/>
              <a:ext cx="679673" cy="3338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2000"/>
                </a:lnSpc>
              </a:pPr>
              <a:r>
                <a:rPr lang="en-US" altLang="ko-KR" b="1" u="sng">
                  <a:latin typeface="Arial" panose="020B0604020202020204" pitchFamily="34" charset="0"/>
                  <a:cs typeface="Arial" panose="020B0604020202020204" pitchFamily="34" charset="0"/>
                </a:rPr>
                <a:t>FIFO</a:t>
              </a:r>
              <a:endParaRPr lang="en-US" altLang="ko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Rectangle 4"/>
            <p:cNvSpPr>
              <a:spLocks noChangeArrowheads="1"/>
            </p:cNvSpPr>
            <p:nvPr/>
          </p:nvSpPr>
          <p:spPr bwMode="auto">
            <a:xfrm>
              <a:off x="2579688" y="1138238"/>
              <a:ext cx="33337" cy="2714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Rectangle 5"/>
            <p:cNvSpPr>
              <a:spLocks noChangeArrowheads="1"/>
            </p:cNvSpPr>
            <p:nvPr/>
          </p:nvSpPr>
          <p:spPr bwMode="auto">
            <a:xfrm>
              <a:off x="2009775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Line 6"/>
            <p:cNvSpPr>
              <a:spLocks noChangeShapeType="1"/>
            </p:cNvSpPr>
            <p:nvPr/>
          </p:nvSpPr>
          <p:spPr bwMode="auto">
            <a:xfrm>
              <a:off x="2009775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Line 7"/>
            <p:cNvSpPr>
              <a:spLocks noChangeShapeType="1"/>
            </p:cNvSpPr>
            <p:nvPr/>
          </p:nvSpPr>
          <p:spPr bwMode="auto">
            <a:xfrm>
              <a:off x="2009775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8"/>
            <p:cNvSpPr>
              <a:spLocks noChangeArrowheads="1"/>
            </p:cNvSpPr>
            <p:nvPr/>
          </p:nvSpPr>
          <p:spPr bwMode="auto">
            <a:xfrm>
              <a:off x="169703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5" name="Rectangle 9"/>
            <p:cNvSpPr>
              <a:spLocks noChangeArrowheads="1"/>
            </p:cNvSpPr>
            <p:nvPr/>
          </p:nvSpPr>
          <p:spPr bwMode="auto">
            <a:xfrm>
              <a:off x="1957388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06" name="Rectangle 10"/>
            <p:cNvSpPr>
              <a:spLocks noChangeArrowheads="1"/>
            </p:cNvSpPr>
            <p:nvPr/>
          </p:nvSpPr>
          <p:spPr bwMode="auto">
            <a:xfrm>
              <a:off x="2366963" y="1471613"/>
              <a:ext cx="163512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Line 11"/>
            <p:cNvSpPr>
              <a:spLocks noChangeShapeType="1"/>
            </p:cNvSpPr>
            <p:nvPr/>
          </p:nvSpPr>
          <p:spPr bwMode="auto">
            <a:xfrm>
              <a:off x="2366963" y="167322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Line 12"/>
            <p:cNvSpPr>
              <a:spLocks noChangeShapeType="1"/>
            </p:cNvSpPr>
            <p:nvPr/>
          </p:nvSpPr>
          <p:spPr bwMode="auto">
            <a:xfrm>
              <a:off x="2366963" y="188277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Rectangle 13"/>
            <p:cNvSpPr>
              <a:spLocks noChangeArrowheads="1"/>
            </p:cNvSpPr>
            <p:nvPr/>
          </p:nvSpPr>
          <p:spPr bwMode="auto">
            <a:xfrm>
              <a:off x="2070100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10" name="Rectangle 14"/>
            <p:cNvSpPr>
              <a:spLocks noChangeArrowheads="1"/>
            </p:cNvSpPr>
            <p:nvPr/>
          </p:nvSpPr>
          <p:spPr bwMode="auto">
            <a:xfrm>
              <a:off x="2332038" y="14652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11" name="Rectangle 15"/>
            <p:cNvSpPr>
              <a:spLocks noChangeArrowheads="1"/>
            </p:cNvSpPr>
            <p:nvPr/>
          </p:nvSpPr>
          <p:spPr bwMode="auto">
            <a:xfrm>
              <a:off x="242887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2" name="Rectangle 16"/>
            <p:cNvSpPr>
              <a:spLocks noChangeArrowheads="1"/>
            </p:cNvSpPr>
            <p:nvPr/>
          </p:nvSpPr>
          <p:spPr bwMode="auto">
            <a:xfrm>
              <a:off x="280987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3" name="Rectangle 17"/>
            <p:cNvSpPr>
              <a:spLocks noChangeArrowheads="1"/>
            </p:cNvSpPr>
            <p:nvPr/>
          </p:nvSpPr>
          <p:spPr bwMode="auto">
            <a:xfrm>
              <a:off x="31861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14" name="Rectangle 18"/>
            <p:cNvSpPr>
              <a:spLocks noChangeArrowheads="1"/>
            </p:cNvSpPr>
            <p:nvPr/>
          </p:nvSpPr>
          <p:spPr bwMode="auto">
            <a:xfrm>
              <a:off x="353853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5" name="Rectangle 19"/>
            <p:cNvSpPr>
              <a:spLocks noChangeArrowheads="1"/>
            </p:cNvSpPr>
            <p:nvPr/>
          </p:nvSpPr>
          <p:spPr bwMode="auto">
            <a:xfrm>
              <a:off x="39131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16" name="Rectangle 20"/>
            <p:cNvSpPr>
              <a:spLocks noChangeArrowheads="1"/>
            </p:cNvSpPr>
            <p:nvPr/>
          </p:nvSpPr>
          <p:spPr bwMode="auto">
            <a:xfrm>
              <a:off x="428942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7" name="Rectangle 21"/>
            <p:cNvSpPr>
              <a:spLocks noChangeArrowheads="1"/>
            </p:cNvSpPr>
            <p:nvPr/>
          </p:nvSpPr>
          <p:spPr bwMode="auto">
            <a:xfrm>
              <a:off x="46466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18" name="Rectangle 22"/>
            <p:cNvSpPr>
              <a:spLocks noChangeArrowheads="1"/>
            </p:cNvSpPr>
            <p:nvPr/>
          </p:nvSpPr>
          <p:spPr bwMode="auto">
            <a:xfrm>
              <a:off x="502443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9" name="Rectangle 23"/>
            <p:cNvSpPr>
              <a:spLocks noChangeArrowheads="1"/>
            </p:cNvSpPr>
            <p:nvPr/>
          </p:nvSpPr>
          <p:spPr bwMode="auto">
            <a:xfrm>
              <a:off x="53959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20" name="Rectangle 24"/>
            <p:cNvSpPr>
              <a:spLocks noChangeArrowheads="1"/>
            </p:cNvSpPr>
            <p:nvPr/>
          </p:nvSpPr>
          <p:spPr bwMode="auto">
            <a:xfrm>
              <a:off x="575786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1" name="Rectangle 25"/>
            <p:cNvSpPr>
              <a:spLocks noChangeArrowheads="1"/>
            </p:cNvSpPr>
            <p:nvPr/>
          </p:nvSpPr>
          <p:spPr bwMode="auto">
            <a:xfrm>
              <a:off x="61325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2" name="Rectangle 26"/>
            <p:cNvSpPr>
              <a:spLocks noChangeArrowheads="1"/>
            </p:cNvSpPr>
            <p:nvPr/>
          </p:nvSpPr>
          <p:spPr bwMode="auto">
            <a:xfrm>
              <a:off x="650716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3" name="Rectangle 27"/>
            <p:cNvSpPr>
              <a:spLocks noChangeArrowheads="1"/>
            </p:cNvSpPr>
            <p:nvPr/>
          </p:nvSpPr>
          <p:spPr bwMode="auto">
            <a:xfrm>
              <a:off x="68691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24" name="Rectangle 28"/>
            <p:cNvSpPr>
              <a:spLocks noChangeArrowheads="1"/>
            </p:cNvSpPr>
            <p:nvPr/>
          </p:nvSpPr>
          <p:spPr bwMode="auto">
            <a:xfrm>
              <a:off x="724217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5" name="Rectangle 29"/>
            <p:cNvSpPr>
              <a:spLocks noChangeArrowheads="1"/>
            </p:cNvSpPr>
            <p:nvPr/>
          </p:nvSpPr>
          <p:spPr bwMode="auto">
            <a:xfrm>
              <a:off x="76215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26" name="Rectangle 30"/>
            <p:cNvSpPr>
              <a:spLocks noChangeArrowheads="1"/>
            </p:cNvSpPr>
            <p:nvPr/>
          </p:nvSpPr>
          <p:spPr bwMode="auto">
            <a:xfrm>
              <a:off x="1635125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Line 31"/>
            <p:cNvSpPr>
              <a:spLocks noChangeShapeType="1"/>
            </p:cNvSpPr>
            <p:nvPr/>
          </p:nvSpPr>
          <p:spPr bwMode="auto">
            <a:xfrm>
              <a:off x="1635125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Line 32"/>
            <p:cNvSpPr>
              <a:spLocks noChangeShapeType="1"/>
            </p:cNvSpPr>
            <p:nvPr/>
          </p:nvSpPr>
          <p:spPr bwMode="auto">
            <a:xfrm>
              <a:off x="1635125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Rectangle 33"/>
            <p:cNvSpPr>
              <a:spLocks noChangeArrowheads="1"/>
            </p:cNvSpPr>
            <p:nvPr/>
          </p:nvSpPr>
          <p:spPr bwMode="auto">
            <a:xfrm>
              <a:off x="13223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0" name="Rectangle 34"/>
            <p:cNvSpPr>
              <a:spLocks noChangeArrowheads="1"/>
            </p:cNvSpPr>
            <p:nvPr/>
          </p:nvSpPr>
          <p:spPr bwMode="auto">
            <a:xfrm>
              <a:off x="79898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1" name="Rectangle 35"/>
            <p:cNvSpPr>
              <a:spLocks noChangeArrowheads="1"/>
            </p:cNvSpPr>
            <p:nvPr/>
          </p:nvSpPr>
          <p:spPr bwMode="auto">
            <a:xfrm>
              <a:off x="83550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2" name="Rectangle 36"/>
            <p:cNvSpPr>
              <a:spLocks noChangeArrowheads="1"/>
            </p:cNvSpPr>
            <p:nvPr/>
          </p:nvSpPr>
          <p:spPr bwMode="auto">
            <a:xfrm>
              <a:off x="195738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3" name="Rectangle 37"/>
            <p:cNvSpPr>
              <a:spLocks noChangeArrowheads="1"/>
            </p:cNvSpPr>
            <p:nvPr/>
          </p:nvSpPr>
          <p:spPr bwMode="auto">
            <a:xfrm>
              <a:off x="23272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4" name="Rectangle 38"/>
            <p:cNvSpPr>
              <a:spLocks noChangeArrowheads="1"/>
            </p:cNvSpPr>
            <p:nvPr/>
          </p:nvSpPr>
          <p:spPr bwMode="auto">
            <a:xfrm>
              <a:off x="1582738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5" name="Rectangle 39"/>
            <p:cNvSpPr>
              <a:spLocks noChangeArrowheads="1"/>
            </p:cNvSpPr>
            <p:nvPr/>
          </p:nvSpPr>
          <p:spPr bwMode="auto">
            <a:xfrm>
              <a:off x="2322513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6" name="Rectangle 40"/>
            <p:cNvSpPr>
              <a:spLocks noChangeArrowheads="1"/>
            </p:cNvSpPr>
            <p:nvPr/>
          </p:nvSpPr>
          <p:spPr bwMode="auto">
            <a:xfrm>
              <a:off x="2743200" y="1471613"/>
              <a:ext cx="147638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Line 41"/>
            <p:cNvSpPr>
              <a:spLocks noChangeShapeType="1"/>
            </p:cNvSpPr>
            <p:nvPr/>
          </p:nvSpPr>
          <p:spPr bwMode="auto">
            <a:xfrm>
              <a:off x="2743200" y="167322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Line 42"/>
            <p:cNvSpPr>
              <a:spLocks noChangeShapeType="1"/>
            </p:cNvSpPr>
            <p:nvPr/>
          </p:nvSpPr>
          <p:spPr bwMode="auto">
            <a:xfrm>
              <a:off x="2743200" y="188277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Rectangle 43"/>
            <p:cNvSpPr>
              <a:spLocks noChangeArrowheads="1"/>
            </p:cNvSpPr>
            <p:nvPr/>
          </p:nvSpPr>
          <p:spPr bwMode="auto">
            <a:xfrm>
              <a:off x="2690813" y="14525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0" name="Rectangle 44"/>
            <p:cNvSpPr>
              <a:spLocks noChangeArrowheads="1"/>
            </p:cNvSpPr>
            <p:nvPr/>
          </p:nvSpPr>
          <p:spPr bwMode="auto">
            <a:xfrm>
              <a:off x="2690813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41" name="Rectangle 45"/>
            <p:cNvSpPr>
              <a:spLocks noChangeArrowheads="1"/>
            </p:cNvSpPr>
            <p:nvPr/>
          </p:nvSpPr>
          <p:spPr bwMode="auto">
            <a:xfrm>
              <a:off x="2679700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42" name="Rectangle 46"/>
            <p:cNvSpPr>
              <a:spLocks noChangeArrowheads="1"/>
            </p:cNvSpPr>
            <p:nvPr/>
          </p:nvSpPr>
          <p:spPr bwMode="auto">
            <a:xfrm>
              <a:off x="3478213" y="1471613"/>
              <a:ext cx="161925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Line 47"/>
            <p:cNvSpPr>
              <a:spLocks noChangeShapeType="1"/>
            </p:cNvSpPr>
            <p:nvPr/>
          </p:nvSpPr>
          <p:spPr bwMode="auto">
            <a:xfrm>
              <a:off x="3478213" y="167322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Line 48"/>
            <p:cNvSpPr>
              <a:spLocks noChangeShapeType="1"/>
            </p:cNvSpPr>
            <p:nvPr/>
          </p:nvSpPr>
          <p:spPr bwMode="auto">
            <a:xfrm>
              <a:off x="3478213" y="188277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Rectangle 49"/>
            <p:cNvSpPr>
              <a:spLocks noChangeArrowheads="1"/>
            </p:cNvSpPr>
            <p:nvPr/>
          </p:nvSpPr>
          <p:spPr bwMode="auto">
            <a:xfrm>
              <a:off x="3421063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6" name="Rectangle 50"/>
            <p:cNvSpPr>
              <a:spLocks noChangeArrowheads="1"/>
            </p:cNvSpPr>
            <p:nvPr/>
          </p:nvSpPr>
          <p:spPr bwMode="auto">
            <a:xfrm>
              <a:off x="34321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47" name="Rectangle 51"/>
            <p:cNvSpPr>
              <a:spLocks noChangeArrowheads="1"/>
            </p:cNvSpPr>
            <p:nvPr/>
          </p:nvSpPr>
          <p:spPr bwMode="auto">
            <a:xfrm>
              <a:off x="3421063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48" name="Rectangle 52"/>
            <p:cNvSpPr>
              <a:spLocks noChangeArrowheads="1"/>
            </p:cNvSpPr>
            <p:nvPr/>
          </p:nvSpPr>
          <p:spPr bwMode="auto">
            <a:xfrm>
              <a:off x="3851275" y="1471613"/>
              <a:ext cx="147638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Line 53"/>
            <p:cNvSpPr>
              <a:spLocks noChangeShapeType="1"/>
            </p:cNvSpPr>
            <p:nvPr/>
          </p:nvSpPr>
          <p:spPr bwMode="auto">
            <a:xfrm>
              <a:off x="3851275" y="167322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Line 54"/>
            <p:cNvSpPr>
              <a:spLocks noChangeShapeType="1"/>
            </p:cNvSpPr>
            <p:nvPr/>
          </p:nvSpPr>
          <p:spPr bwMode="auto">
            <a:xfrm>
              <a:off x="3851275" y="188277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Rectangle 55"/>
            <p:cNvSpPr>
              <a:spLocks noChangeArrowheads="1"/>
            </p:cNvSpPr>
            <p:nvPr/>
          </p:nvSpPr>
          <p:spPr bwMode="auto">
            <a:xfrm>
              <a:off x="379730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2" name="Rectangle 56"/>
            <p:cNvSpPr>
              <a:spLocks noChangeArrowheads="1"/>
            </p:cNvSpPr>
            <p:nvPr/>
          </p:nvSpPr>
          <p:spPr bwMode="auto">
            <a:xfrm>
              <a:off x="3790950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53" name="Rectangle 57"/>
            <p:cNvSpPr>
              <a:spLocks noChangeArrowheads="1"/>
            </p:cNvSpPr>
            <p:nvPr/>
          </p:nvSpPr>
          <p:spPr bwMode="auto">
            <a:xfrm>
              <a:off x="3806825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54" name="Rectangle 58"/>
            <p:cNvSpPr>
              <a:spLocks noChangeArrowheads="1"/>
            </p:cNvSpPr>
            <p:nvPr/>
          </p:nvSpPr>
          <p:spPr bwMode="auto">
            <a:xfrm>
              <a:off x="4227513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Line 59"/>
            <p:cNvSpPr>
              <a:spLocks noChangeShapeType="1"/>
            </p:cNvSpPr>
            <p:nvPr/>
          </p:nvSpPr>
          <p:spPr bwMode="auto">
            <a:xfrm>
              <a:off x="4227513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Line 60"/>
            <p:cNvSpPr>
              <a:spLocks noChangeShapeType="1"/>
            </p:cNvSpPr>
            <p:nvPr/>
          </p:nvSpPr>
          <p:spPr bwMode="auto">
            <a:xfrm>
              <a:off x="4227513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Rectangle 61"/>
            <p:cNvSpPr>
              <a:spLocks noChangeArrowheads="1"/>
            </p:cNvSpPr>
            <p:nvPr/>
          </p:nvSpPr>
          <p:spPr bwMode="auto">
            <a:xfrm>
              <a:off x="4162425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8" name="Rectangle 62"/>
            <p:cNvSpPr>
              <a:spLocks noChangeArrowheads="1"/>
            </p:cNvSpPr>
            <p:nvPr/>
          </p:nvSpPr>
          <p:spPr bwMode="auto">
            <a:xfrm>
              <a:off x="41687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59" name="Rectangle 63"/>
            <p:cNvSpPr>
              <a:spLocks noChangeArrowheads="1"/>
            </p:cNvSpPr>
            <p:nvPr/>
          </p:nvSpPr>
          <p:spPr bwMode="auto">
            <a:xfrm>
              <a:off x="41719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60" name="Rectangle 64"/>
            <p:cNvSpPr>
              <a:spLocks noChangeArrowheads="1"/>
            </p:cNvSpPr>
            <p:nvPr/>
          </p:nvSpPr>
          <p:spPr bwMode="auto">
            <a:xfrm>
              <a:off x="4586288" y="1471613"/>
              <a:ext cx="163512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Line 65"/>
            <p:cNvSpPr>
              <a:spLocks noChangeShapeType="1"/>
            </p:cNvSpPr>
            <p:nvPr/>
          </p:nvSpPr>
          <p:spPr bwMode="auto">
            <a:xfrm>
              <a:off x="4586288" y="167322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Line 66"/>
            <p:cNvSpPr>
              <a:spLocks noChangeShapeType="1"/>
            </p:cNvSpPr>
            <p:nvPr/>
          </p:nvSpPr>
          <p:spPr bwMode="auto">
            <a:xfrm>
              <a:off x="4586288" y="188277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Rectangle 67"/>
            <p:cNvSpPr>
              <a:spLocks noChangeArrowheads="1"/>
            </p:cNvSpPr>
            <p:nvPr/>
          </p:nvSpPr>
          <p:spPr bwMode="auto">
            <a:xfrm>
              <a:off x="4540250" y="14652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4" name="Rectangle 68"/>
            <p:cNvSpPr>
              <a:spLocks noChangeArrowheads="1"/>
            </p:cNvSpPr>
            <p:nvPr/>
          </p:nvSpPr>
          <p:spPr bwMode="auto">
            <a:xfrm>
              <a:off x="45418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5" name="Rectangle 69"/>
            <p:cNvSpPr>
              <a:spLocks noChangeArrowheads="1"/>
            </p:cNvSpPr>
            <p:nvPr/>
          </p:nvSpPr>
          <p:spPr bwMode="auto">
            <a:xfrm>
              <a:off x="45402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66" name="Rectangle 70"/>
            <p:cNvSpPr>
              <a:spLocks noChangeArrowheads="1"/>
            </p:cNvSpPr>
            <p:nvPr/>
          </p:nvSpPr>
          <p:spPr bwMode="auto">
            <a:xfrm>
              <a:off x="4962525" y="1471613"/>
              <a:ext cx="144463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Line 71"/>
            <p:cNvSpPr>
              <a:spLocks noChangeShapeType="1"/>
            </p:cNvSpPr>
            <p:nvPr/>
          </p:nvSpPr>
          <p:spPr bwMode="auto">
            <a:xfrm>
              <a:off x="4962525" y="1673225"/>
              <a:ext cx="1444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Line 72"/>
            <p:cNvSpPr>
              <a:spLocks noChangeShapeType="1"/>
            </p:cNvSpPr>
            <p:nvPr/>
          </p:nvSpPr>
          <p:spPr bwMode="auto">
            <a:xfrm>
              <a:off x="4962525" y="1882775"/>
              <a:ext cx="1444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Rectangle 73"/>
            <p:cNvSpPr>
              <a:spLocks noChangeArrowheads="1"/>
            </p:cNvSpPr>
            <p:nvPr/>
          </p:nvSpPr>
          <p:spPr bwMode="auto">
            <a:xfrm>
              <a:off x="4911725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70" name="Rectangle 74"/>
            <p:cNvSpPr>
              <a:spLocks noChangeArrowheads="1"/>
            </p:cNvSpPr>
            <p:nvPr/>
          </p:nvSpPr>
          <p:spPr bwMode="auto">
            <a:xfrm>
              <a:off x="4902200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71" name="Rectangle 75"/>
            <p:cNvSpPr>
              <a:spLocks noChangeArrowheads="1"/>
            </p:cNvSpPr>
            <p:nvPr/>
          </p:nvSpPr>
          <p:spPr bwMode="auto">
            <a:xfrm>
              <a:off x="490220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2" name="Rectangle 76"/>
            <p:cNvSpPr>
              <a:spLocks noChangeArrowheads="1"/>
            </p:cNvSpPr>
            <p:nvPr/>
          </p:nvSpPr>
          <p:spPr bwMode="auto">
            <a:xfrm>
              <a:off x="5335588" y="1471613"/>
              <a:ext cx="147637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Line 77"/>
            <p:cNvSpPr>
              <a:spLocks noChangeShapeType="1"/>
            </p:cNvSpPr>
            <p:nvPr/>
          </p:nvSpPr>
          <p:spPr bwMode="auto">
            <a:xfrm>
              <a:off x="5335588" y="16732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Line 78"/>
            <p:cNvSpPr>
              <a:spLocks noChangeShapeType="1"/>
            </p:cNvSpPr>
            <p:nvPr/>
          </p:nvSpPr>
          <p:spPr bwMode="auto">
            <a:xfrm>
              <a:off x="5335588" y="1882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Rectangle 79"/>
            <p:cNvSpPr>
              <a:spLocks noChangeArrowheads="1"/>
            </p:cNvSpPr>
            <p:nvPr/>
          </p:nvSpPr>
          <p:spPr bwMode="auto">
            <a:xfrm>
              <a:off x="5283200" y="14652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76" name="Rectangle 80"/>
            <p:cNvSpPr>
              <a:spLocks noChangeArrowheads="1"/>
            </p:cNvSpPr>
            <p:nvPr/>
          </p:nvSpPr>
          <p:spPr bwMode="auto">
            <a:xfrm>
              <a:off x="5275263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77" name="Rectangle 81"/>
            <p:cNvSpPr>
              <a:spLocks noChangeArrowheads="1"/>
            </p:cNvSpPr>
            <p:nvPr/>
          </p:nvSpPr>
          <p:spPr bwMode="auto">
            <a:xfrm>
              <a:off x="528320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8" name="Rectangle 82"/>
            <p:cNvSpPr>
              <a:spLocks noChangeArrowheads="1"/>
            </p:cNvSpPr>
            <p:nvPr/>
          </p:nvSpPr>
          <p:spPr bwMode="auto">
            <a:xfrm>
              <a:off x="6445250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Line 83"/>
            <p:cNvSpPr>
              <a:spLocks noChangeShapeType="1"/>
            </p:cNvSpPr>
            <p:nvPr/>
          </p:nvSpPr>
          <p:spPr bwMode="auto">
            <a:xfrm>
              <a:off x="6445250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Line 84"/>
            <p:cNvSpPr>
              <a:spLocks noChangeShapeType="1"/>
            </p:cNvSpPr>
            <p:nvPr/>
          </p:nvSpPr>
          <p:spPr bwMode="auto">
            <a:xfrm>
              <a:off x="6445250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Rectangle 85"/>
            <p:cNvSpPr>
              <a:spLocks noChangeArrowheads="1"/>
            </p:cNvSpPr>
            <p:nvPr/>
          </p:nvSpPr>
          <p:spPr bwMode="auto">
            <a:xfrm>
              <a:off x="638175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2" name="Rectangle 86"/>
            <p:cNvSpPr>
              <a:spLocks noChangeArrowheads="1"/>
            </p:cNvSpPr>
            <p:nvPr/>
          </p:nvSpPr>
          <p:spPr bwMode="auto">
            <a:xfrm>
              <a:off x="63833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3" name="Rectangle 87"/>
            <p:cNvSpPr>
              <a:spLocks noChangeArrowheads="1"/>
            </p:cNvSpPr>
            <p:nvPr/>
          </p:nvSpPr>
          <p:spPr bwMode="auto">
            <a:xfrm>
              <a:off x="6391275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84" name="Rectangle 88"/>
            <p:cNvSpPr>
              <a:spLocks noChangeArrowheads="1"/>
            </p:cNvSpPr>
            <p:nvPr/>
          </p:nvSpPr>
          <p:spPr bwMode="auto">
            <a:xfrm>
              <a:off x="6804025" y="1471613"/>
              <a:ext cx="163513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Line 89"/>
            <p:cNvSpPr>
              <a:spLocks noChangeShapeType="1"/>
            </p:cNvSpPr>
            <p:nvPr/>
          </p:nvSpPr>
          <p:spPr bwMode="auto">
            <a:xfrm>
              <a:off x="6804025" y="1673225"/>
              <a:ext cx="163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Line 90"/>
            <p:cNvSpPr>
              <a:spLocks noChangeShapeType="1"/>
            </p:cNvSpPr>
            <p:nvPr/>
          </p:nvSpPr>
          <p:spPr bwMode="auto">
            <a:xfrm>
              <a:off x="6804025" y="1882775"/>
              <a:ext cx="163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Rectangle 91"/>
            <p:cNvSpPr>
              <a:spLocks noChangeArrowheads="1"/>
            </p:cNvSpPr>
            <p:nvPr/>
          </p:nvSpPr>
          <p:spPr bwMode="auto">
            <a:xfrm>
              <a:off x="675640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8" name="Rectangle 92"/>
            <p:cNvSpPr>
              <a:spLocks noChangeArrowheads="1"/>
            </p:cNvSpPr>
            <p:nvPr/>
          </p:nvSpPr>
          <p:spPr bwMode="auto">
            <a:xfrm>
              <a:off x="67595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9" name="Rectangle 93"/>
            <p:cNvSpPr>
              <a:spLocks noChangeArrowheads="1"/>
            </p:cNvSpPr>
            <p:nvPr/>
          </p:nvSpPr>
          <p:spPr bwMode="auto">
            <a:xfrm>
              <a:off x="6746875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0" name="Rectangle 94"/>
            <p:cNvSpPr>
              <a:spLocks noChangeArrowheads="1"/>
            </p:cNvSpPr>
            <p:nvPr/>
          </p:nvSpPr>
          <p:spPr bwMode="auto">
            <a:xfrm>
              <a:off x="7929563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Line 95"/>
            <p:cNvSpPr>
              <a:spLocks noChangeShapeType="1"/>
            </p:cNvSpPr>
            <p:nvPr/>
          </p:nvSpPr>
          <p:spPr bwMode="auto">
            <a:xfrm>
              <a:off x="7929563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Line 96"/>
            <p:cNvSpPr>
              <a:spLocks noChangeShapeType="1"/>
            </p:cNvSpPr>
            <p:nvPr/>
          </p:nvSpPr>
          <p:spPr bwMode="auto">
            <a:xfrm>
              <a:off x="7929563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Rectangle 97"/>
            <p:cNvSpPr>
              <a:spLocks noChangeArrowheads="1"/>
            </p:cNvSpPr>
            <p:nvPr/>
          </p:nvSpPr>
          <p:spPr bwMode="auto">
            <a:xfrm>
              <a:off x="786765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94" name="Rectangle 98"/>
            <p:cNvSpPr>
              <a:spLocks noChangeArrowheads="1"/>
            </p:cNvSpPr>
            <p:nvPr/>
          </p:nvSpPr>
          <p:spPr bwMode="auto">
            <a:xfrm>
              <a:off x="7867650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95" name="Rectangle 99"/>
            <p:cNvSpPr>
              <a:spLocks noChangeArrowheads="1"/>
            </p:cNvSpPr>
            <p:nvPr/>
          </p:nvSpPr>
          <p:spPr bwMode="auto">
            <a:xfrm>
              <a:off x="78676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6" name="Rectangle 100"/>
            <p:cNvSpPr>
              <a:spLocks noChangeArrowheads="1"/>
            </p:cNvSpPr>
            <p:nvPr/>
          </p:nvSpPr>
          <p:spPr bwMode="auto">
            <a:xfrm>
              <a:off x="8288338" y="1471613"/>
              <a:ext cx="161925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Line 101"/>
            <p:cNvSpPr>
              <a:spLocks noChangeShapeType="1"/>
            </p:cNvSpPr>
            <p:nvPr/>
          </p:nvSpPr>
          <p:spPr bwMode="auto">
            <a:xfrm>
              <a:off x="8288338" y="167322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Line 102"/>
            <p:cNvSpPr>
              <a:spLocks noChangeShapeType="1"/>
            </p:cNvSpPr>
            <p:nvPr/>
          </p:nvSpPr>
          <p:spPr bwMode="auto">
            <a:xfrm>
              <a:off x="8288338" y="188277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Rectangle 103"/>
            <p:cNvSpPr>
              <a:spLocks noChangeArrowheads="1"/>
            </p:cNvSpPr>
            <p:nvPr/>
          </p:nvSpPr>
          <p:spPr bwMode="auto">
            <a:xfrm>
              <a:off x="823595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00" name="Rectangle 104"/>
            <p:cNvSpPr>
              <a:spLocks noChangeArrowheads="1"/>
            </p:cNvSpPr>
            <p:nvPr/>
          </p:nvSpPr>
          <p:spPr bwMode="auto">
            <a:xfrm>
              <a:off x="82375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1" name="Rectangle 105"/>
            <p:cNvSpPr>
              <a:spLocks noChangeArrowheads="1"/>
            </p:cNvSpPr>
            <p:nvPr/>
          </p:nvSpPr>
          <p:spPr bwMode="auto">
            <a:xfrm>
              <a:off x="82359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2" name="Rectangle 106"/>
            <p:cNvSpPr>
              <a:spLocks noChangeArrowheads="1"/>
            </p:cNvSpPr>
            <p:nvPr/>
          </p:nvSpPr>
          <p:spPr bwMode="auto">
            <a:xfrm>
              <a:off x="8662988" y="1471613"/>
              <a:ext cx="147637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Line 107"/>
            <p:cNvSpPr>
              <a:spLocks noChangeShapeType="1"/>
            </p:cNvSpPr>
            <p:nvPr/>
          </p:nvSpPr>
          <p:spPr bwMode="auto">
            <a:xfrm>
              <a:off x="8662988" y="16732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Line 108"/>
            <p:cNvSpPr>
              <a:spLocks noChangeShapeType="1"/>
            </p:cNvSpPr>
            <p:nvPr/>
          </p:nvSpPr>
          <p:spPr bwMode="auto">
            <a:xfrm>
              <a:off x="8662988" y="1882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Rectangle 109"/>
            <p:cNvSpPr>
              <a:spLocks noChangeArrowheads="1"/>
            </p:cNvSpPr>
            <p:nvPr/>
          </p:nvSpPr>
          <p:spPr bwMode="auto">
            <a:xfrm>
              <a:off x="8609013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06" name="Rectangle 110"/>
            <p:cNvSpPr>
              <a:spLocks noChangeArrowheads="1"/>
            </p:cNvSpPr>
            <p:nvPr/>
          </p:nvSpPr>
          <p:spPr bwMode="auto">
            <a:xfrm>
              <a:off x="86058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" name="Rectangle 111"/>
            <p:cNvSpPr>
              <a:spLocks noChangeArrowheads="1"/>
            </p:cNvSpPr>
            <p:nvPr/>
          </p:nvSpPr>
          <p:spPr bwMode="auto">
            <a:xfrm>
              <a:off x="8609013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8" name="Rectangle 112"/>
            <p:cNvSpPr>
              <a:spLocks noChangeArrowheads="1"/>
            </p:cNvSpPr>
            <p:nvPr/>
          </p:nvSpPr>
          <p:spPr bwMode="auto">
            <a:xfrm>
              <a:off x="1471613" y="2155825"/>
              <a:ext cx="10948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frames</a:t>
              </a:r>
            </a:p>
          </p:txBody>
        </p:sp>
        <p:sp>
          <p:nvSpPr>
            <p:cNvPr id="309" name="Rectangle 113"/>
            <p:cNvSpPr>
              <a:spLocks noChangeArrowheads="1"/>
            </p:cNvSpPr>
            <p:nvPr/>
          </p:nvSpPr>
          <p:spPr bwMode="auto">
            <a:xfrm>
              <a:off x="1403350" y="952500"/>
              <a:ext cx="139461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 string</a:t>
              </a:r>
            </a:p>
          </p:txBody>
        </p:sp>
        <p:sp>
          <p:nvSpPr>
            <p:cNvPr id="310" name="Rectangle 114"/>
            <p:cNvSpPr>
              <a:spLocks noChangeArrowheads="1"/>
            </p:cNvSpPr>
            <p:nvPr/>
          </p:nvSpPr>
          <p:spPr bwMode="auto">
            <a:xfrm>
              <a:off x="1387475" y="3208338"/>
              <a:ext cx="259687" cy="3390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311" name="Rectangle 115"/>
            <p:cNvSpPr>
              <a:spLocks noChangeArrowheads="1"/>
            </p:cNvSpPr>
            <p:nvPr/>
          </p:nvSpPr>
          <p:spPr bwMode="auto">
            <a:xfrm>
              <a:off x="228601" y="2613025"/>
              <a:ext cx="8652956" cy="13362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FIFO algorithm selects the page that has been in memory the longest time.</a:t>
              </a:r>
            </a:p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Using a queue - every time a page is loaded, its identification is inserted in 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  the queue.</a:t>
              </a:r>
            </a:p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Easy to implement.</a:t>
              </a:r>
            </a:p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May result in a frequent page fault.</a:t>
              </a:r>
            </a:p>
          </p:txBody>
        </p:sp>
        <p:sp>
          <p:nvSpPr>
            <p:cNvPr id="312" name="Rectangle 116"/>
            <p:cNvSpPr>
              <a:spLocks noChangeArrowheads="1"/>
            </p:cNvSpPr>
            <p:nvPr/>
          </p:nvSpPr>
          <p:spPr bwMode="auto">
            <a:xfrm>
              <a:off x="314325" y="4054475"/>
              <a:ext cx="128305" cy="3338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2000"/>
                </a:lnSpc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Rectangle 120"/>
            <p:cNvSpPr>
              <a:spLocks noChangeArrowheads="1"/>
            </p:cNvSpPr>
            <p:nvPr/>
          </p:nvSpPr>
          <p:spPr bwMode="auto">
            <a:xfrm>
              <a:off x="4360863" y="4811713"/>
              <a:ext cx="33337" cy="5191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Rectangle 121"/>
            <p:cNvSpPr>
              <a:spLocks noChangeArrowheads="1"/>
            </p:cNvSpPr>
            <p:nvPr/>
          </p:nvSpPr>
          <p:spPr bwMode="auto">
            <a:xfrm>
              <a:off x="1376363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Line 122"/>
            <p:cNvSpPr>
              <a:spLocks noChangeShapeType="1"/>
            </p:cNvSpPr>
            <p:nvPr/>
          </p:nvSpPr>
          <p:spPr bwMode="auto">
            <a:xfrm>
              <a:off x="1376363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Line 123"/>
            <p:cNvSpPr>
              <a:spLocks noChangeShapeType="1"/>
            </p:cNvSpPr>
            <p:nvPr/>
          </p:nvSpPr>
          <p:spPr bwMode="auto">
            <a:xfrm>
              <a:off x="1376363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Rectangle 124"/>
            <p:cNvSpPr>
              <a:spLocks noChangeArrowheads="1"/>
            </p:cNvSpPr>
            <p:nvPr/>
          </p:nvSpPr>
          <p:spPr bwMode="auto">
            <a:xfrm>
              <a:off x="1052513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20" name="Rectangle 125"/>
            <p:cNvSpPr>
              <a:spLocks noChangeArrowheads="1"/>
            </p:cNvSpPr>
            <p:nvPr/>
          </p:nvSpPr>
          <p:spPr bwMode="auto">
            <a:xfrm>
              <a:off x="133826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21" name="Rectangle 126"/>
            <p:cNvSpPr>
              <a:spLocks noChangeArrowheads="1"/>
            </p:cNvSpPr>
            <p:nvPr/>
          </p:nvSpPr>
          <p:spPr bwMode="auto">
            <a:xfrm>
              <a:off x="1747838" y="5527675"/>
              <a:ext cx="168275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Line 127"/>
            <p:cNvSpPr>
              <a:spLocks noChangeShapeType="1"/>
            </p:cNvSpPr>
            <p:nvPr/>
          </p:nvSpPr>
          <p:spPr bwMode="auto">
            <a:xfrm>
              <a:off x="1747838" y="573087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Line 128"/>
            <p:cNvSpPr>
              <a:spLocks noChangeShapeType="1"/>
            </p:cNvSpPr>
            <p:nvPr/>
          </p:nvSpPr>
          <p:spPr bwMode="auto">
            <a:xfrm>
              <a:off x="1747838" y="594042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Rectangle 129"/>
            <p:cNvSpPr>
              <a:spLocks noChangeArrowheads="1"/>
            </p:cNvSpPr>
            <p:nvPr/>
          </p:nvSpPr>
          <p:spPr bwMode="auto">
            <a:xfrm>
              <a:off x="14414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25" name="Rectangle 130"/>
            <p:cNvSpPr>
              <a:spLocks noChangeArrowheads="1"/>
            </p:cNvSpPr>
            <p:nvPr/>
          </p:nvSpPr>
          <p:spPr bwMode="auto">
            <a:xfrm>
              <a:off x="170021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26" name="Rectangle 131"/>
            <p:cNvSpPr>
              <a:spLocks noChangeArrowheads="1"/>
            </p:cNvSpPr>
            <p:nvPr/>
          </p:nvSpPr>
          <p:spPr bwMode="auto">
            <a:xfrm>
              <a:off x="181292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27" name="Rectangle 132"/>
            <p:cNvSpPr>
              <a:spLocks noChangeArrowheads="1"/>
            </p:cNvSpPr>
            <p:nvPr/>
          </p:nvSpPr>
          <p:spPr bwMode="auto">
            <a:xfrm>
              <a:off x="220027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28" name="Rectangle 133"/>
            <p:cNvSpPr>
              <a:spLocks noChangeArrowheads="1"/>
            </p:cNvSpPr>
            <p:nvPr/>
          </p:nvSpPr>
          <p:spPr bwMode="auto">
            <a:xfrm>
              <a:off x="2589213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29" name="Rectangle 134"/>
            <p:cNvSpPr>
              <a:spLocks noChangeArrowheads="1"/>
            </p:cNvSpPr>
            <p:nvPr/>
          </p:nvSpPr>
          <p:spPr bwMode="auto">
            <a:xfrm>
              <a:off x="295910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30" name="Rectangle 135"/>
            <p:cNvSpPr>
              <a:spLocks noChangeArrowheads="1"/>
            </p:cNvSpPr>
            <p:nvPr/>
          </p:nvSpPr>
          <p:spPr bwMode="auto">
            <a:xfrm>
              <a:off x="33464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31" name="Rectangle 136"/>
            <p:cNvSpPr>
              <a:spLocks noChangeArrowheads="1"/>
            </p:cNvSpPr>
            <p:nvPr/>
          </p:nvSpPr>
          <p:spPr bwMode="auto">
            <a:xfrm>
              <a:off x="3732213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2" name="Rectangle 137"/>
            <p:cNvSpPr>
              <a:spLocks noChangeArrowheads="1"/>
            </p:cNvSpPr>
            <p:nvPr/>
          </p:nvSpPr>
          <p:spPr bwMode="auto">
            <a:xfrm>
              <a:off x="410527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3" name="Rectangle 138"/>
            <p:cNvSpPr>
              <a:spLocks noChangeArrowheads="1"/>
            </p:cNvSpPr>
            <p:nvPr/>
          </p:nvSpPr>
          <p:spPr bwMode="auto">
            <a:xfrm>
              <a:off x="449580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34" name="Rectangle 139"/>
            <p:cNvSpPr>
              <a:spLocks noChangeArrowheads="1"/>
            </p:cNvSpPr>
            <p:nvPr/>
          </p:nvSpPr>
          <p:spPr bwMode="auto">
            <a:xfrm>
              <a:off x="4878388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5" name="Rectangle 140"/>
            <p:cNvSpPr>
              <a:spLocks noChangeArrowheads="1"/>
            </p:cNvSpPr>
            <p:nvPr/>
          </p:nvSpPr>
          <p:spPr bwMode="auto">
            <a:xfrm>
              <a:off x="52514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6" name="Rectangle 141"/>
            <p:cNvSpPr>
              <a:spLocks noChangeArrowheads="1"/>
            </p:cNvSpPr>
            <p:nvPr/>
          </p:nvSpPr>
          <p:spPr bwMode="auto">
            <a:xfrm>
              <a:off x="564197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7" name="Rectangle 142"/>
            <p:cNvSpPr>
              <a:spLocks noChangeArrowheads="1"/>
            </p:cNvSpPr>
            <p:nvPr/>
          </p:nvSpPr>
          <p:spPr bwMode="auto">
            <a:xfrm>
              <a:off x="602932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8" name="Rectangle 143"/>
            <p:cNvSpPr>
              <a:spLocks noChangeArrowheads="1"/>
            </p:cNvSpPr>
            <p:nvPr/>
          </p:nvSpPr>
          <p:spPr bwMode="auto">
            <a:xfrm>
              <a:off x="6396038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39" name="Rectangle 144"/>
            <p:cNvSpPr>
              <a:spLocks noChangeArrowheads="1"/>
            </p:cNvSpPr>
            <p:nvPr/>
          </p:nvSpPr>
          <p:spPr bwMode="auto">
            <a:xfrm>
              <a:off x="67881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40" name="Rectangle 145"/>
            <p:cNvSpPr>
              <a:spLocks noChangeArrowheads="1"/>
            </p:cNvSpPr>
            <p:nvPr/>
          </p:nvSpPr>
          <p:spPr bwMode="auto">
            <a:xfrm>
              <a:off x="717550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41" name="Rectangle 146"/>
            <p:cNvSpPr>
              <a:spLocks noChangeArrowheads="1"/>
            </p:cNvSpPr>
            <p:nvPr/>
          </p:nvSpPr>
          <p:spPr bwMode="auto">
            <a:xfrm>
              <a:off x="989013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Line 147"/>
            <p:cNvSpPr>
              <a:spLocks noChangeShapeType="1"/>
            </p:cNvSpPr>
            <p:nvPr/>
          </p:nvSpPr>
          <p:spPr bwMode="auto">
            <a:xfrm>
              <a:off x="989013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Line 148"/>
            <p:cNvSpPr>
              <a:spLocks noChangeShapeType="1"/>
            </p:cNvSpPr>
            <p:nvPr/>
          </p:nvSpPr>
          <p:spPr bwMode="auto">
            <a:xfrm>
              <a:off x="989013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Rectangle 149"/>
            <p:cNvSpPr>
              <a:spLocks noChangeArrowheads="1"/>
            </p:cNvSpPr>
            <p:nvPr/>
          </p:nvSpPr>
          <p:spPr bwMode="auto">
            <a:xfrm>
              <a:off x="666750" y="5240338"/>
              <a:ext cx="18280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endPara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Rectangle 150"/>
            <p:cNvSpPr>
              <a:spLocks noChangeArrowheads="1"/>
            </p:cNvSpPr>
            <p:nvPr/>
          </p:nvSpPr>
          <p:spPr bwMode="auto">
            <a:xfrm>
              <a:off x="75628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6" name="Rectangle 151"/>
            <p:cNvSpPr>
              <a:spLocks noChangeArrowheads="1"/>
            </p:cNvSpPr>
            <p:nvPr/>
          </p:nvSpPr>
          <p:spPr bwMode="auto">
            <a:xfrm>
              <a:off x="7932738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47" name="Rectangle 152"/>
            <p:cNvSpPr>
              <a:spLocks noChangeArrowheads="1"/>
            </p:cNvSpPr>
            <p:nvPr/>
          </p:nvSpPr>
          <p:spPr bwMode="auto">
            <a:xfrm>
              <a:off x="1319213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8" name="Rectangle 153"/>
            <p:cNvSpPr>
              <a:spLocks noChangeArrowheads="1"/>
            </p:cNvSpPr>
            <p:nvPr/>
          </p:nvSpPr>
          <p:spPr bwMode="auto">
            <a:xfrm>
              <a:off x="1701800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9" name="Rectangle 154"/>
            <p:cNvSpPr>
              <a:spLocks noChangeArrowheads="1"/>
            </p:cNvSpPr>
            <p:nvPr/>
          </p:nvSpPr>
          <p:spPr bwMode="auto">
            <a:xfrm>
              <a:off x="933450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50" name="Rectangle 155"/>
            <p:cNvSpPr>
              <a:spLocks noChangeArrowheads="1"/>
            </p:cNvSpPr>
            <p:nvPr/>
          </p:nvSpPr>
          <p:spPr bwMode="auto">
            <a:xfrm>
              <a:off x="1700213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1" name="Rectangle 156"/>
            <p:cNvSpPr>
              <a:spLocks noChangeArrowheads="1"/>
            </p:cNvSpPr>
            <p:nvPr/>
          </p:nvSpPr>
          <p:spPr bwMode="auto">
            <a:xfrm>
              <a:off x="2135188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Line 157"/>
            <p:cNvSpPr>
              <a:spLocks noChangeShapeType="1"/>
            </p:cNvSpPr>
            <p:nvPr/>
          </p:nvSpPr>
          <p:spPr bwMode="auto">
            <a:xfrm>
              <a:off x="2135188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Line 158"/>
            <p:cNvSpPr>
              <a:spLocks noChangeShapeType="1"/>
            </p:cNvSpPr>
            <p:nvPr/>
          </p:nvSpPr>
          <p:spPr bwMode="auto">
            <a:xfrm>
              <a:off x="2135188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Rectangle 159"/>
            <p:cNvSpPr>
              <a:spLocks noChangeArrowheads="1"/>
            </p:cNvSpPr>
            <p:nvPr/>
          </p:nvSpPr>
          <p:spPr bwMode="auto">
            <a:xfrm>
              <a:off x="2070100" y="55181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55" name="Rectangle 160"/>
            <p:cNvSpPr>
              <a:spLocks noChangeArrowheads="1"/>
            </p:cNvSpPr>
            <p:nvPr/>
          </p:nvSpPr>
          <p:spPr bwMode="auto">
            <a:xfrm>
              <a:off x="2079625" y="57277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56" name="Rectangle 161"/>
            <p:cNvSpPr>
              <a:spLocks noChangeArrowheads="1"/>
            </p:cNvSpPr>
            <p:nvPr/>
          </p:nvSpPr>
          <p:spPr bwMode="auto">
            <a:xfrm>
              <a:off x="2078038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7" name="Rectangle 162"/>
            <p:cNvSpPr>
              <a:spLocks noChangeArrowheads="1"/>
            </p:cNvSpPr>
            <p:nvPr/>
          </p:nvSpPr>
          <p:spPr bwMode="auto">
            <a:xfrm>
              <a:off x="2894013" y="5527675"/>
              <a:ext cx="168275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Line 163"/>
            <p:cNvSpPr>
              <a:spLocks noChangeShapeType="1"/>
            </p:cNvSpPr>
            <p:nvPr/>
          </p:nvSpPr>
          <p:spPr bwMode="auto">
            <a:xfrm>
              <a:off x="2894013" y="573087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Line 164"/>
            <p:cNvSpPr>
              <a:spLocks noChangeShapeType="1"/>
            </p:cNvSpPr>
            <p:nvPr/>
          </p:nvSpPr>
          <p:spPr bwMode="auto">
            <a:xfrm>
              <a:off x="2894013" y="594042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Rectangle 165"/>
            <p:cNvSpPr>
              <a:spLocks noChangeArrowheads="1"/>
            </p:cNvSpPr>
            <p:nvPr/>
          </p:nvSpPr>
          <p:spPr bwMode="auto">
            <a:xfrm>
              <a:off x="2846388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1" name="Rectangle 166"/>
            <p:cNvSpPr>
              <a:spLocks noChangeArrowheads="1"/>
            </p:cNvSpPr>
            <p:nvPr/>
          </p:nvSpPr>
          <p:spPr bwMode="auto">
            <a:xfrm>
              <a:off x="2847975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2" name="Rectangle 167"/>
            <p:cNvSpPr>
              <a:spLocks noChangeArrowheads="1"/>
            </p:cNvSpPr>
            <p:nvPr/>
          </p:nvSpPr>
          <p:spPr bwMode="auto">
            <a:xfrm>
              <a:off x="2846388" y="59309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3" name="Rectangle 168"/>
            <p:cNvSpPr>
              <a:spLocks noChangeArrowheads="1"/>
            </p:cNvSpPr>
            <p:nvPr/>
          </p:nvSpPr>
          <p:spPr bwMode="auto">
            <a:xfrm>
              <a:off x="3668713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Line 169"/>
            <p:cNvSpPr>
              <a:spLocks noChangeShapeType="1"/>
            </p:cNvSpPr>
            <p:nvPr/>
          </p:nvSpPr>
          <p:spPr bwMode="auto">
            <a:xfrm>
              <a:off x="3668713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Line 170"/>
            <p:cNvSpPr>
              <a:spLocks noChangeShapeType="1"/>
            </p:cNvSpPr>
            <p:nvPr/>
          </p:nvSpPr>
          <p:spPr bwMode="auto">
            <a:xfrm>
              <a:off x="3668713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Rectangle 171"/>
            <p:cNvSpPr>
              <a:spLocks noChangeArrowheads="1"/>
            </p:cNvSpPr>
            <p:nvPr/>
          </p:nvSpPr>
          <p:spPr bwMode="auto">
            <a:xfrm>
              <a:off x="3613150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7" name="Rectangle 172"/>
            <p:cNvSpPr>
              <a:spLocks noChangeArrowheads="1"/>
            </p:cNvSpPr>
            <p:nvPr/>
          </p:nvSpPr>
          <p:spPr bwMode="auto">
            <a:xfrm>
              <a:off x="3603625" y="57150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68" name="Rectangle 173"/>
            <p:cNvSpPr>
              <a:spLocks noChangeArrowheads="1"/>
            </p:cNvSpPr>
            <p:nvPr/>
          </p:nvSpPr>
          <p:spPr bwMode="auto">
            <a:xfrm>
              <a:off x="3603625" y="59309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9" name="Rectangle 174"/>
            <p:cNvSpPr>
              <a:spLocks noChangeArrowheads="1"/>
            </p:cNvSpPr>
            <p:nvPr/>
          </p:nvSpPr>
          <p:spPr bwMode="auto">
            <a:xfrm>
              <a:off x="4816475" y="5527675"/>
              <a:ext cx="150813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Line 175"/>
            <p:cNvSpPr>
              <a:spLocks noChangeShapeType="1"/>
            </p:cNvSpPr>
            <p:nvPr/>
          </p:nvSpPr>
          <p:spPr bwMode="auto">
            <a:xfrm>
              <a:off x="4816475" y="573087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Line 176"/>
            <p:cNvSpPr>
              <a:spLocks noChangeShapeType="1"/>
            </p:cNvSpPr>
            <p:nvPr/>
          </p:nvSpPr>
          <p:spPr bwMode="auto">
            <a:xfrm>
              <a:off x="4816475" y="594042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Rectangle 177"/>
            <p:cNvSpPr>
              <a:spLocks noChangeArrowheads="1"/>
            </p:cNvSpPr>
            <p:nvPr/>
          </p:nvSpPr>
          <p:spPr bwMode="auto">
            <a:xfrm>
              <a:off x="4770438" y="5503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3" name="Rectangle 178"/>
            <p:cNvSpPr>
              <a:spLocks noChangeArrowheads="1"/>
            </p:cNvSpPr>
            <p:nvPr/>
          </p:nvSpPr>
          <p:spPr bwMode="auto">
            <a:xfrm>
              <a:off x="4764088" y="57277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74" name="Rectangle 179"/>
            <p:cNvSpPr>
              <a:spLocks noChangeArrowheads="1"/>
            </p:cNvSpPr>
            <p:nvPr/>
          </p:nvSpPr>
          <p:spPr bwMode="auto">
            <a:xfrm>
              <a:off x="4760913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75" name="Rectangle 180"/>
            <p:cNvSpPr>
              <a:spLocks noChangeArrowheads="1"/>
            </p:cNvSpPr>
            <p:nvPr/>
          </p:nvSpPr>
          <p:spPr bwMode="auto">
            <a:xfrm>
              <a:off x="5962650" y="5527675"/>
              <a:ext cx="150813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Line 181"/>
            <p:cNvSpPr>
              <a:spLocks noChangeShapeType="1"/>
            </p:cNvSpPr>
            <p:nvPr/>
          </p:nvSpPr>
          <p:spPr bwMode="auto">
            <a:xfrm>
              <a:off x="5962650" y="573087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Line 182"/>
            <p:cNvSpPr>
              <a:spLocks noChangeShapeType="1"/>
            </p:cNvSpPr>
            <p:nvPr/>
          </p:nvSpPr>
          <p:spPr bwMode="auto">
            <a:xfrm>
              <a:off x="5962650" y="594042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Rectangle 183"/>
            <p:cNvSpPr>
              <a:spLocks noChangeArrowheads="1"/>
            </p:cNvSpPr>
            <p:nvPr/>
          </p:nvSpPr>
          <p:spPr bwMode="auto">
            <a:xfrm>
              <a:off x="589756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9" name="Rectangle 184"/>
            <p:cNvSpPr>
              <a:spLocks noChangeArrowheads="1"/>
            </p:cNvSpPr>
            <p:nvPr/>
          </p:nvSpPr>
          <p:spPr bwMode="auto">
            <a:xfrm>
              <a:off x="5900738" y="57277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80" name="Rectangle 185"/>
            <p:cNvSpPr>
              <a:spLocks noChangeArrowheads="1"/>
            </p:cNvSpPr>
            <p:nvPr/>
          </p:nvSpPr>
          <p:spPr bwMode="auto">
            <a:xfrm>
              <a:off x="5897563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81" name="Rectangle 186"/>
            <p:cNvSpPr>
              <a:spLocks noChangeArrowheads="1"/>
            </p:cNvSpPr>
            <p:nvPr/>
          </p:nvSpPr>
          <p:spPr bwMode="auto">
            <a:xfrm>
              <a:off x="7496175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Line 187"/>
            <p:cNvSpPr>
              <a:spLocks noChangeShapeType="1"/>
            </p:cNvSpPr>
            <p:nvPr/>
          </p:nvSpPr>
          <p:spPr bwMode="auto">
            <a:xfrm>
              <a:off x="7496175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Line 188"/>
            <p:cNvSpPr>
              <a:spLocks noChangeShapeType="1"/>
            </p:cNvSpPr>
            <p:nvPr/>
          </p:nvSpPr>
          <p:spPr bwMode="auto">
            <a:xfrm>
              <a:off x="7496175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Rectangle 189"/>
            <p:cNvSpPr>
              <a:spLocks noChangeArrowheads="1"/>
            </p:cNvSpPr>
            <p:nvPr/>
          </p:nvSpPr>
          <p:spPr bwMode="auto">
            <a:xfrm>
              <a:off x="744061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85" name="Rectangle 190"/>
            <p:cNvSpPr>
              <a:spLocks noChangeArrowheads="1"/>
            </p:cNvSpPr>
            <p:nvPr/>
          </p:nvSpPr>
          <p:spPr bwMode="auto">
            <a:xfrm>
              <a:off x="7445375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86" name="Rectangle 191"/>
            <p:cNvSpPr>
              <a:spLocks noChangeArrowheads="1"/>
            </p:cNvSpPr>
            <p:nvPr/>
          </p:nvSpPr>
          <p:spPr bwMode="auto">
            <a:xfrm>
              <a:off x="7440613" y="59118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87" name="Rectangle 192"/>
            <p:cNvSpPr>
              <a:spLocks noChangeArrowheads="1"/>
            </p:cNvSpPr>
            <p:nvPr/>
          </p:nvSpPr>
          <p:spPr bwMode="auto">
            <a:xfrm>
              <a:off x="819150" y="6215063"/>
              <a:ext cx="10948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frames</a:t>
              </a:r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2282154" y="5225256"/>
            <a:ext cx="7439696" cy="114379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52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 Algorithms</a:t>
            </a:r>
          </a:p>
        </p:txBody>
      </p:sp>
      <p:grpSp>
        <p:nvGrpSpPr>
          <p:cNvPr id="2" name="Group 104"/>
          <p:cNvGrpSpPr/>
          <p:nvPr/>
        </p:nvGrpSpPr>
        <p:grpSpPr>
          <a:xfrm>
            <a:off x="1752600" y="1165226"/>
            <a:ext cx="8686800" cy="4815282"/>
            <a:chOff x="228599" y="868363"/>
            <a:chExt cx="8686800" cy="4815282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633413" y="1169988"/>
              <a:ext cx="7155805" cy="6108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- LRU uses the recent past as an approximation of near future.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1760538" y="1930400"/>
              <a:ext cx="4372992" cy="61080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Replace that page which has not been </a:t>
              </a:r>
            </a:p>
            <a:p>
              <a:pPr defTabSz="762000">
                <a:lnSpc>
                  <a:spcPct val="101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used for the longest period of time</a:t>
              </a: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1676400" y="1946275"/>
              <a:ext cx="4459288" cy="5953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436563" y="868363"/>
              <a:ext cx="657232" cy="3390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b="1" u="sng">
                  <a:latin typeface="Arial" panose="020B0604020202020204" pitchFamily="34" charset="0"/>
                  <a:cs typeface="Arial" panose="020B0604020202020204" pitchFamily="34" charset="0"/>
                </a:rPr>
                <a:t>LRU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301875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301875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301875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99866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243138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651125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2651125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2651125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36378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2598738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7130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307816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344328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379571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41592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4524375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48704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52387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5603875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59515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63198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4" name="Rectangle 28"/>
            <p:cNvSpPr>
              <a:spLocks noChangeArrowheads="1"/>
            </p:cNvSpPr>
            <p:nvPr/>
          </p:nvSpPr>
          <p:spPr bwMode="auto">
            <a:xfrm>
              <a:off x="668496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5" name="Rectangle 29"/>
            <p:cNvSpPr>
              <a:spLocks noChangeArrowheads="1"/>
            </p:cNvSpPr>
            <p:nvPr/>
          </p:nvSpPr>
          <p:spPr bwMode="auto">
            <a:xfrm>
              <a:off x="703421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" name="Rectangle 30"/>
            <p:cNvSpPr>
              <a:spLocks noChangeArrowheads="1"/>
            </p:cNvSpPr>
            <p:nvPr/>
          </p:nvSpPr>
          <p:spPr bwMode="auto">
            <a:xfrm>
              <a:off x="73977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77660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1936750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33"/>
            <p:cNvSpPr>
              <a:spLocks noChangeShapeType="1"/>
            </p:cNvSpPr>
            <p:nvPr/>
          </p:nvSpPr>
          <p:spPr bwMode="auto">
            <a:xfrm>
              <a:off x="1936750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1936750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16335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81343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" name="Rectangle 37"/>
            <p:cNvSpPr>
              <a:spLocks noChangeArrowheads="1"/>
            </p:cNvSpPr>
            <p:nvPr/>
          </p:nvSpPr>
          <p:spPr bwMode="auto">
            <a:xfrm>
              <a:off x="84772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2243138" y="35972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2590800" y="35972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1878013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2598738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3017838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Line 43"/>
            <p:cNvSpPr>
              <a:spLocks noChangeShapeType="1"/>
            </p:cNvSpPr>
            <p:nvPr/>
          </p:nvSpPr>
          <p:spPr bwMode="auto">
            <a:xfrm>
              <a:off x="3017838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3017838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auto">
            <a:xfrm>
              <a:off x="2957513" y="3414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2" name="Rectangle 46"/>
            <p:cNvSpPr>
              <a:spLocks noChangeArrowheads="1"/>
            </p:cNvSpPr>
            <p:nvPr/>
          </p:nvSpPr>
          <p:spPr bwMode="auto">
            <a:xfrm>
              <a:off x="2967038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2954338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3732213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>
              <a:off x="3732213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3732213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3678238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3681413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3678238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4462463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Line 55"/>
            <p:cNvSpPr>
              <a:spLocks noChangeShapeType="1"/>
            </p:cNvSpPr>
            <p:nvPr/>
          </p:nvSpPr>
          <p:spPr bwMode="auto">
            <a:xfrm>
              <a:off x="4462463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Line 56"/>
            <p:cNvSpPr>
              <a:spLocks noChangeShapeType="1"/>
            </p:cNvSpPr>
            <p:nvPr/>
          </p:nvSpPr>
          <p:spPr bwMode="auto">
            <a:xfrm>
              <a:off x="4462463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403725" y="3397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64" name="Rectangle 58"/>
            <p:cNvSpPr>
              <a:spLocks noChangeArrowheads="1"/>
            </p:cNvSpPr>
            <p:nvPr/>
          </p:nvSpPr>
          <p:spPr bwMode="auto">
            <a:xfrm>
              <a:off x="44069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44132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4811713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Line 61"/>
            <p:cNvSpPr>
              <a:spLocks noChangeShapeType="1"/>
            </p:cNvSpPr>
            <p:nvPr/>
          </p:nvSpPr>
          <p:spPr bwMode="auto">
            <a:xfrm>
              <a:off x="4811713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62"/>
            <p:cNvSpPr>
              <a:spLocks noChangeShapeType="1"/>
            </p:cNvSpPr>
            <p:nvPr/>
          </p:nvSpPr>
          <p:spPr bwMode="auto">
            <a:xfrm>
              <a:off x="4811713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4759325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>
              <a:off x="47625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1" name="Rectangle 65"/>
            <p:cNvSpPr>
              <a:spLocks noChangeArrowheads="1"/>
            </p:cNvSpPr>
            <p:nvPr/>
          </p:nvSpPr>
          <p:spPr bwMode="auto">
            <a:xfrm>
              <a:off x="47688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2" name="Rectangle 66"/>
            <p:cNvSpPr>
              <a:spLocks noChangeArrowheads="1"/>
            </p:cNvSpPr>
            <p:nvPr/>
          </p:nvSpPr>
          <p:spPr bwMode="auto">
            <a:xfrm>
              <a:off x="5176838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7"/>
            <p:cNvSpPr>
              <a:spLocks noChangeShapeType="1"/>
            </p:cNvSpPr>
            <p:nvPr/>
          </p:nvSpPr>
          <p:spPr bwMode="auto">
            <a:xfrm>
              <a:off x="5176838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68"/>
            <p:cNvSpPr>
              <a:spLocks noChangeShapeType="1"/>
            </p:cNvSpPr>
            <p:nvPr/>
          </p:nvSpPr>
          <p:spPr bwMode="auto">
            <a:xfrm>
              <a:off x="5176838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Rectangle 69"/>
            <p:cNvSpPr>
              <a:spLocks noChangeArrowheads="1"/>
            </p:cNvSpPr>
            <p:nvPr/>
          </p:nvSpPr>
          <p:spPr bwMode="auto">
            <a:xfrm>
              <a:off x="5124450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6" name="Rectangle 70"/>
            <p:cNvSpPr>
              <a:spLocks noChangeArrowheads="1"/>
            </p:cNvSpPr>
            <p:nvPr/>
          </p:nvSpPr>
          <p:spPr bwMode="auto">
            <a:xfrm>
              <a:off x="5114925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77" name="Rectangle 71"/>
            <p:cNvSpPr>
              <a:spLocks noChangeArrowheads="1"/>
            </p:cNvSpPr>
            <p:nvPr/>
          </p:nvSpPr>
          <p:spPr bwMode="auto">
            <a:xfrm>
              <a:off x="51244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8" name="Rectangle 72"/>
            <p:cNvSpPr>
              <a:spLocks noChangeArrowheads="1"/>
            </p:cNvSpPr>
            <p:nvPr/>
          </p:nvSpPr>
          <p:spPr bwMode="auto">
            <a:xfrm>
              <a:off x="5541963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Line 73"/>
            <p:cNvSpPr>
              <a:spLocks noChangeShapeType="1"/>
            </p:cNvSpPr>
            <p:nvPr/>
          </p:nvSpPr>
          <p:spPr bwMode="auto">
            <a:xfrm>
              <a:off x="5541963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74"/>
            <p:cNvSpPr>
              <a:spLocks noChangeShapeType="1"/>
            </p:cNvSpPr>
            <p:nvPr/>
          </p:nvSpPr>
          <p:spPr bwMode="auto">
            <a:xfrm>
              <a:off x="5541963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75"/>
            <p:cNvSpPr>
              <a:spLocks noChangeArrowheads="1"/>
            </p:cNvSpPr>
            <p:nvPr/>
          </p:nvSpPr>
          <p:spPr bwMode="auto">
            <a:xfrm>
              <a:off x="5492750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2" name="Rectangle 76"/>
            <p:cNvSpPr>
              <a:spLocks noChangeArrowheads="1"/>
            </p:cNvSpPr>
            <p:nvPr/>
          </p:nvSpPr>
          <p:spPr bwMode="auto">
            <a:xfrm>
              <a:off x="54864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3" name="Rectangle 77"/>
            <p:cNvSpPr>
              <a:spLocks noChangeArrowheads="1"/>
            </p:cNvSpPr>
            <p:nvPr/>
          </p:nvSpPr>
          <p:spPr bwMode="auto">
            <a:xfrm>
              <a:off x="5502275" y="3787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4" name="Rectangle 78"/>
            <p:cNvSpPr>
              <a:spLocks noChangeArrowheads="1"/>
            </p:cNvSpPr>
            <p:nvPr/>
          </p:nvSpPr>
          <p:spPr bwMode="auto">
            <a:xfrm>
              <a:off x="6621463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Line 79"/>
            <p:cNvSpPr>
              <a:spLocks noChangeShapeType="1"/>
            </p:cNvSpPr>
            <p:nvPr/>
          </p:nvSpPr>
          <p:spPr bwMode="auto">
            <a:xfrm>
              <a:off x="6621463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Line 80"/>
            <p:cNvSpPr>
              <a:spLocks noChangeShapeType="1"/>
            </p:cNvSpPr>
            <p:nvPr/>
          </p:nvSpPr>
          <p:spPr bwMode="auto">
            <a:xfrm>
              <a:off x="6621463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81"/>
            <p:cNvSpPr>
              <a:spLocks noChangeArrowheads="1"/>
            </p:cNvSpPr>
            <p:nvPr/>
          </p:nvSpPr>
          <p:spPr bwMode="auto">
            <a:xfrm>
              <a:off x="6553200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8" name="Rectangle 82"/>
            <p:cNvSpPr>
              <a:spLocks noChangeArrowheads="1"/>
            </p:cNvSpPr>
            <p:nvPr/>
          </p:nvSpPr>
          <p:spPr bwMode="auto">
            <a:xfrm>
              <a:off x="6556375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9" name="Rectangle 83"/>
            <p:cNvSpPr>
              <a:spLocks noChangeArrowheads="1"/>
            </p:cNvSpPr>
            <p:nvPr/>
          </p:nvSpPr>
          <p:spPr bwMode="auto">
            <a:xfrm>
              <a:off x="655320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0" name="Rectangle 84"/>
            <p:cNvSpPr>
              <a:spLocks noChangeArrowheads="1"/>
            </p:cNvSpPr>
            <p:nvPr/>
          </p:nvSpPr>
          <p:spPr bwMode="auto">
            <a:xfrm>
              <a:off x="7335838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Line 85"/>
            <p:cNvSpPr>
              <a:spLocks noChangeShapeType="1"/>
            </p:cNvSpPr>
            <p:nvPr/>
          </p:nvSpPr>
          <p:spPr bwMode="auto">
            <a:xfrm>
              <a:off x="7335838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86"/>
            <p:cNvSpPr>
              <a:spLocks noChangeShapeType="1"/>
            </p:cNvSpPr>
            <p:nvPr/>
          </p:nvSpPr>
          <p:spPr bwMode="auto">
            <a:xfrm>
              <a:off x="7335838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Rectangle 87"/>
            <p:cNvSpPr>
              <a:spLocks noChangeArrowheads="1"/>
            </p:cNvSpPr>
            <p:nvPr/>
          </p:nvSpPr>
          <p:spPr bwMode="auto">
            <a:xfrm>
              <a:off x="7292975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4" name="Rectangle 88"/>
            <p:cNvSpPr>
              <a:spLocks noChangeArrowheads="1"/>
            </p:cNvSpPr>
            <p:nvPr/>
          </p:nvSpPr>
          <p:spPr bwMode="auto">
            <a:xfrm>
              <a:off x="72771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5" name="Rectangle 89"/>
            <p:cNvSpPr>
              <a:spLocks noChangeArrowheads="1"/>
            </p:cNvSpPr>
            <p:nvPr/>
          </p:nvSpPr>
          <p:spPr bwMode="auto">
            <a:xfrm>
              <a:off x="72834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6" name="Rectangle 90"/>
            <p:cNvSpPr>
              <a:spLocks noChangeArrowheads="1"/>
            </p:cNvSpPr>
            <p:nvPr/>
          </p:nvSpPr>
          <p:spPr bwMode="auto">
            <a:xfrm>
              <a:off x="8067675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91"/>
            <p:cNvSpPr>
              <a:spLocks noChangeShapeType="1"/>
            </p:cNvSpPr>
            <p:nvPr/>
          </p:nvSpPr>
          <p:spPr bwMode="auto">
            <a:xfrm>
              <a:off x="8067675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Line 92"/>
            <p:cNvSpPr>
              <a:spLocks noChangeShapeType="1"/>
            </p:cNvSpPr>
            <p:nvPr/>
          </p:nvSpPr>
          <p:spPr bwMode="auto">
            <a:xfrm>
              <a:off x="8067675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93"/>
            <p:cNvSpPr>
              <a:spLocks noChangeArrowheads="1"/>
            </p:cNvSpPr>
            <p:nvPr/>
          </p:nvSpPr>
          <p:spPr bwMode="auto">
            <a:xfrm>
              <a:off x="8007350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0" name="Rectangle 94"/>
            <p:cNvSpPr>
              <a:spLocks noChangeArrowheads="1"/>
            </p:cNvSpPr>
            <p:nvPr/>
          </p:nvSpPr>
          <p:spPr bwMode="auto">
            <a:xfrm>
              <a:off x="8010525" y="36163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1" name="Rectangle 95"/>
            <p:cNvSpPr>
              <a:spLocks noChangeArrowheads="1"/>
            </p:cNvSpPr>
            <p:nvPr/>
          </p:nvSpPr>
          <p:spPr bwMode="auto">
            <a:xfrm>
              <a:off x="8016875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02" name="Rectangle 96"/>
            <p:cNvSpPr>
              <a:spLocks noChangeArrowheads="1"/>
            </p:cNvSpPr>
            <p:nvPr/>
          </p:nvSpPr>
          <p:spPr bwMode="auto">
            <a:xfrm>
              <a:off x="1776413" y="4079875"/>
              <a:ext cx="10948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frames</a:t>
              </a:r>
            </a:p>
          </p:txBody>
        </p:sp>
        <p:sp>
          <p:nvSpPr>
            <p:cNvPr id="103" name="Rectangle 97"/>
            <p:cNvSpPr>
              <a:spLocks noChangeArrowheads="1"/>
            </p:cNvSpPr>
            <p:nvPr/>
          </p:nvSpPr>
          <p:spPr bwMode="auto">
            <a:xfrm>
              <a:off x="1712913" y="2940050"/>
              <a:ext cx="139461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 string</a:t>
              </a: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228599" y="4524353"/>
              <a:ext cx="8686800" cy="11592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marL="285750" indent="-285750" defTabSz="762000"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LRU may require substantial hardware assistance.</a:t>
              </a:r>
            </a:p>
            <a:p>
              <a:pPr marL="285750" indent="-285750" defTabSz="762000"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The problem is to determine an order for the frames defined by the time of last use.</a:t>
              </a:r>
            </a:p>
            <a:p>
              <a:pPr marL="285750" indent="-285750" defTabSz="762000">
                <a:buFont typeface="Arial" panose="020B0604020202020204" pitchFamily="34" charset="0"/>
                <a:buChar char="•"/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6488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20" dirty="0">
                <a:latin typeface="Calibri"/>
                <a:cs typeface="Calibri"/>
              </a:rPr>
              <a:t>Parallel</a:t>
            </a:r>
            <a:r>
              <a:rPr lang="en-US" sz="3200" spc="-100" dirty="0">
                <a:latin typeface="Calibri"/>
                <a:cs typeface="Calibri"/>
              </a:rPr>
              <a:t> </a:t>
            </a:r>
            <a:r>
              <a:rPr lang="en-US" sz="3200" spc="-60" dirty="0">
                <a:latin typeface="Calibri"/>
                <a:cs typeface="Calibri"/>
              </a:rPr>
              <a:t>Computers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135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431800" marR="5502910" indent="-419734">
              <a:lnSpc>
                <a:spcPct val="125000"/>
              </a:lnSpc>
              <a:spcBef>
                <a:spcPts val="100"/>
              </a:spcBef>
            </a:pPr>
            <a:r>
              <a:rPr lang="en-US" sz="2200" u="heavy" dirty="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Architectural</a:t>
            </a:r>
            <a:r>
              <a:rPr lang="en-US" sz="2200" u="heavy" spc="455" dirty="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 </a:t>
            </a:r>
            <a:r>
              <a:rPr lang="en-US" sz="2200" u="heavy" spc="-10" dirty="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Classification</a:t>
            </a:r>
            <a:r>
              <a:rPr lang="en-US" sz="2200" spc="-10" dirty="0">
                <a:latin typeface="Calibri"/>
                <a:cs typeface="Calibri"/>
              </a:rPr>
              <a:t> </a:t>
            </a:r>
          </a:p>
          <a:p>
            <a:pPr marL="431800" marR="5502910" indent="-419734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libri"/>
                <a:cs typeface="Calibri"/>
              </a:rPr>
              <a:t>Flynn's</a:t>
            </a:r>
            <a:r>
              <a:rPr lang="en-US" sz="2200" spc="29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classification</a:t>
            </a:r>
            <a:endParaRPr lang="en-US" sz="2200" dirty="0">
              <a:latin typeface="Calibri"/>
              <a:cs typeface="Calibri"/>
            </a:endParaRPr>
          </a:p>
          <a:p>
            <a:pPr marL="880110" indent="-231775">
              <a:lnSpc>
                <a:spcPct val="100000"/>
              </a:lnSpc>
              <a:spcBef>
                <a:spcPts val="509"/>
              </a:spcBef>
              <a:buChar char="•"/>
              <a:tabLst>
                <a:tab pos="880110" algn="l"/>
              </a:tabLst>
            </a:pPr>
            <a:r>
              <a:rPr lang="en-US" sz="2200" dirty="0">
                <a:latin typeface="Calibri"/>
                <a:cs typeface="Calibri"/>
              </a:rPr>
              <a:t>Based</a:t>
            </a:r>
            <a:r>
              <a:rPr lang="en-US" sz="2200" spc="165" dirty="0">
                <a:latin typeface="Calibri"/>
                <a:cs typeface="Calibri"/>
              </a:rPr>
              <a:t> </a:t>
            </a:r>
            <a:r>
              <a:rPr lang="en-US" sz="2200" spc="75" dirty="0">
                <a:latin typeface="Calibri"/>
                <a:cs typeface="Calibri"/>
              </a:rPr>
              <a:t>on</a:t>
            </a:r>
            <a:r>
              <a:rPr lang="en-US" sz="2200" spc="1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11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multiplicity</a:t>
            </a:r>
            <a:r>
              <a:rPr lang="en-US" sz="2200" spc="30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229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Instruction</a:t>
            </a:r>
            <a:r>
              <a:rPr lang="en-US" sz="2200" i="1" spc="310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Streams</a:t>
            </a:r>
            <a:r>
              <a:rPr lang="en-US" sz="2200" i="1" spc="28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and</a:t>
            </a:r>
            <a:r>
              <a:rPr lang="en-US" sz="2200" spc="220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Data</a:t>
            </a:r>
            <a:r>
              <a:rPr lang="en-US" sz="2200" i="1" spc="270" dirty="0">
                <a:latin typeface="Calibri"/>
                <a:cs typeface="Calibri"/>
              </a:rPr>
              <a:t> </a:t>
            </a:r>
            <a:r>
              <a:rPr lang="en-US" sz="2200" i="1" spc="-10" dirty="0">
                <a:latin typeface="Calibri"/>
                <a:cs typeface="Calibri"/>
              </a:rPr>
              <a:t>Streams</a:t>
            </a:r>
            <a:endParaRPr lang="en-US" sz="2200" dirty="0">
              <a:latin typeface="Calibri"/>
              <a:cs typeface="Calibri"/>
            </a:endParaRPr>
          </a:p>
          <a:p>
            <a:pPr marL="880110" indent="-231775">
              <a:lnSpc>
                <a:spcPct val="100000"/>
              </a:lnSpc>
              <a:spcBef>
                <a:spcPts val="509"/>
              </a:spcBef>
              <a:buChar char="•"/>
              <a:tabLst>
                <a:tab pos="880110" algn="l"/>
              </a:tabLst>
            </a:pPr>
            <a:r>
              <a:rPr lang="en-US" sz="2200" dirty="0">
                <a:latin typeface="Calibri"/>
                <a:cs typeface="Calibri"/>
              </a:rPr>
              <a:t>Instruction</a:t>
            </a:r>
            <a:r>
              <a:rPr lang="en-US" sz="2200" spc="42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Stream</a:t>
            </a:r>
            <a:endParaRPr lang="en-US" sz="2200" dirty="0">
              <a:latin typeface="Calibri"/>
              <a:cs typeface="Calibri"/>
            </a:endParaRPr>
          </a:p>
          <a:p>
            <a:pPr marL="1400175" lvl="1" indent="-276225">
              <a:lnSpc>
                <a:spcPct val="100000"/>
              </a:lnSpc>
              <a:spcBef>
                <a:spcPts val="360"/>
              </a:spcBef>
              <a:buChar char="-"/>
              <a:tabLst>
                <a:tab pos="1400175" algn="l"/>
              </a:tabLst>
            </a:pPr>
            <a:r>
              <a:rPr lang="en-US" sz="1750" dirty="0">
                <a:latin typeface="Calibri"/>
                <a:cs typeface="Calibri"/>
              </a:rPr>
              <a:t>Sequence</a:t>
            </a:r>
            <a:r>
              <a:rPr lang="en-US" sz="1750" spc="225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of</a:t>
            </a:r>
            <a:r>
              <a:rPr lang="en-US" sz="1750" spc="215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instructions</a:t>
            </a:r>
            <a:r>
              <a:rPr lang="en-US" sz="1750" spc="210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read</a:t>
            </a:r>
            <a:r>
              <a:rPr lang="en-US" sz="1750" spc="114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from</a:t>
            </a:r>
            <a:r>
              <a:rPr lang="en-US" sz="1750" spc="80" dirty="0">
                <a:latin typeface="Calibri"/>
                <a:cs typeface="Calibri"/>
              </a:rPr>
              <a:t> </a:t>
            </a:r>
            <a:r>
              <a:rPr lang="en-US" sz="1750" spc="-10" dirty="0">
                <a:latin typeface="Calibri"/>
                <a:cs typeface="Calibri"/>
              </a:rPr>
              <a:t>memory</a:t>
            </a:r>
            <a:endParaRPr lang="en-US" sz="1750" dirty="0">
              <a:latin typeface="Calibri"/>
              <a:cs typeface="Calibri"/>
            </a:endParaRPr>
          </a:p>
          <a:p>
            <a:pPr marL="878840" indent="-231140">
              <a:lnSpc>
                <a:spcPct val="100000"/>
              </a:lnSpc>
              <a:spcBef>
                <a:spcPts val="550"/>
              </a:spcBef>
              <a:buChar char="•"/>
              <a:tabLst>
                <a:tab pos="878840" algn="l"/>
              </a:tabLst>
            </a:pPr>
            <a:r>
              <a:rPr lang="en-US" sz="2250" dirty="0">
                <a:latin typeface="Calibri"/>
                <a:cs typeface="Calibri"/>
              </a:rPr>
              <a:t>Data</a:t>
            </a:r>
            <a:r>
              <a:rPr lang="en-US" sz="2250" spc="10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Stream</a:t>
            </a:r>
            <a:endParaRPr lang="en-US" sz="2250" dirty="0">
              <a:latin typeface="Calibri"/>
              <a:cs typeface="Calibri"/>
            </a:endParaRPr>
          </a:p>
          <a:p>
            <a:pPr marL="1397000" lvl="1" indent="-273050">
              <a:lnSpc>
                <a:spcPct val="100000"/>
              </a:lnSpc>
              <a:spcBef>
                <a:spcPts val="335"/>
              </a:spcBef>
              <a:buChar char="-"/>
              <a:tabLst>
                <a:tab pos="1397000" algn="l"/>
              </a:tabLst>
            </a:pPr>
            <a:r>
              <a:rPr lang="en-US" dirty="0">
                <a:latin typeface="Calibri"/>
                <a:cs typeface="Calibri"/>
              </a:rPr>
              <a:t>Operations</a:t>
            </a:r>
            <a:r>
              <a:rPr lang="en-US" spc="11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performed</a:t>
            </a:r>
            <a:r>
              <a:rPr lang="en-US" spc="1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processor</a:t>
            </a:r>
            <a:endParaRPr lang="en-US" dirty="0">
              <a:latin typeface="Calibri"/>
              <a:cs typeface="Calibri"/>
            </a:endParaRPr>
          </a:p>
        </p:txBody>
      </p:sp>
      <p:graphicFrame>
        <p:nvGraphicFramePr>
          <p:cNvPr id="6" name="object 10"/>
          <p:cNvGraphicFramePr>
            <a:graphicFrameLocks noGrp="1"/>
          </p:cNvGraphicFramePr>
          <p:nvPr/>
        </p:nvGraphicFramePr>
        <p:xfrm>
          <a:off x="2933066" y="3959295"/>
          <a:ext cx="6249668" cy="231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745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81818"/>
                      </a:solidFill>
                      <a:prstDash val="solid"/>
                    </a:lnR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1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i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1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i="1" spc="-10" dirty="0">
                          <a:latin typeface="Calibri"/>
                          <a:cs typeface="Calibri"/>
                        </a:rPr>
                        <a:t>Streams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181818"/>
                      </a:solidFill>
                      <a:prstDash val="solid"/>
                    </a:lnR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Single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76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Multiple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035">
                <a:tc rowSpan="2">
                  <a:txBody>
                    <a:bodyPr/>
                    <a:lstStyle/>
                    <a:p>
                      <a:pPr marL="198755" marR="293370" indent="-2540" algn="just">
                        <a:lnSpc>
                          <a:spcPct val="99700"/>
                        </a:lnSpc>
                        <a:spcBef>
                          <a:spcPts val="96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1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4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100" i="1" spc="-20" dirty="0">
                          <a:latin typeface="Calibri"/>
                          <a:cs typeface="Calibri"/>
                        </a:rPr>
                        <a:t>Instruction </a:t>
                      </a:r>
                      <a:r>
                        <a:rPr sz="2100" i="1" spc="-10" dirty="0">
                          <a:latin typeface="Calibri"/>
                          <a:cs typeface="Calibri"/>
                        </a:rPr>
                        <a:t>Streams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192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Single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050" spc="-20" dirty="0">
                          <a:latin typeface="Calibri"/>
                          <a:cs typeface="Calibri"/>
                        </a:rPr>
                        <a:t>SISD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</a:txBody>
                  <a:tcPr marL="0" marR="0" marT="17018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SIMD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59385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192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Multiple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050" spc="-20" dirty="0">
                          <a:latin typeface="Calibri"/>
                          <a:cs typeface="Calibri"/>
                        </a:rPr>
                        <a:t>MISD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750" spc="155" dirty="0">
                          <a:latin typeface="Calibri"/>
                          <a:cs typeface="Calibri"/>
                        </a:rPr>
                        <a:t>MIMD</a:t>
                      </a:r>
                      <a:endParaRPr sz="1750" dirty="0">
                        <a:latin typeface="Calibri"/>
                        <a:cs typeface="Calibri"/>
                      </a:endParaRPr>
                    </a:p>
                  </a:txBody>
                  <a:tcPr marL="0" marR="0" marT="18034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094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891D18"/>
                </a:solidFill>
                <a:latin typeface="Calibri"/>
                <a:cs typeface="Calibri"/>
              </a:rPr>
              <a:t>SISD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469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lang="en-US" sz="2000" spc="-10" dirty="0">
                <a:latin typeface="Calibri"/>
                <a:cs typeface="Calibri"/>
              </a:rPr>
              <a:t>Characteristics</a:t>
            </a:r>
            <a:endParaRPr lang="en-US" sz="2000" dirty="0">
              <a:latin typeface="Calibri"/>
              <a:cs typeface="Calibri"/>
            </a:endParaRPr>
          </a:p>
          <a:p>
            <a:pPr marL="435609" indent="-132715">
              <a:lnSpc>
                <a:spcPct val="100000"/>
              </a:lnSpc>
              <a:spcBef>
                <a:spcPts val="2310"/>
              </a:spcBef>
              <a:buChar char="-"/>
              <a:tabLst>
                <a:tab pos="435609" algn="l"/>
              </a:tabLst>
            </a:pP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containing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control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unit,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unit</a:t>
            </a:r>
            <a:endParaRPr lang="en-US" sz="2000" dirty="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2440"/>
              </a:spcBef>
            </a:pPr>
            <a:r>
              <a:rPr lang="en-US" sz="2000" dirty="0">
                <a:latin typeface="Calibri"/>
                <a:cs typeface="Calibri"/>
              </a:rPr>
              <a:t>-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Instructions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stored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memory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executed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sequentially</a:t>
            </a:r>
            <a:endParaRPr lang="en-US" sz="2000" dirty="0">
              <a:latin typeface="Calibri"/>
              <a:cs typeface="Calibri"/>
            </a:endParaRPr>
          </a:p>
          <a:p>
            <a:pPr marL="434340" indent="-131445">
              <a:lnSpc>
                <a:spcPct val="100000"/>
              </a:lnSpc>
              <a:spcBef>
                <a:spcPts val="2330"/>
              </a:spcBef>
              <a:buChar char="-"/>
              <a:tabLst>
                <a:tab pos="434340" algn="l"/>
              </a:tabLst>
            </a:pPr>
            <a:r>
              <a:rPr lang="en-US" sz="2000" dirty="0">
                <a:latin typeface="Calibri"/>
                <a:cs typeface="Calibri"/>
              </a:rPr>
              <a:t>may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may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parallel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endParaRPr lang="en-US" sz="2000" dirty="0">
              <a:latin typeface="Calibri"/>
              <a:cs typeface="Calibri"/>
            </a:endParaRPr>
          </a:p>
          <a:p>
            <a:pPr marL="245745">
              <a:lnSpc>
                <a:spcPct val="100000"/>
              </a:lnSpc>
              <a:spcBef>
                <a:spcPts val="2490"/>
              </a:spcBef>
            </a:pPr>
            <a:r>
              <a:rPr lang="en-US" sz="2000" dirty="0">
                <a:latin typeface="Calibri"/>
                <a:cs typeface="Calibri"/>
              </a:rPr>
              <a:t>-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parallel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achieved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pipelining</a:t>
            </a: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635" y="4255629"/>
            <a:ext cx="5814564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43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91D18"/>
                </a:solidFill>
                <a:latin typeface="Calibri"/>
                <a:cs typeface="Calibri"/>
              </a:rPr>
              <a:t>SIMD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430" y="1136313"/>
            <a:ext cx="6690940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25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91D18"/>
                </a:solidFill>
                <a:latin typeface="Calibri"/>
                <a:cs typeface="Calibri"/>
              </a:rPr>
              <a:t>MISD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45" y="1203649"/>
            <a:ext cx="8007898" cy="467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91D18"/>
                </a:solidFill>
                <a:latin typeface="Calibri"/>
                <a:cs typeface="Calibri"/>
              </a:rPr>
              <a:t>MIMD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1" y="1119213"/>
            <a:ext cx="7214118" cy="562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44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50306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62255" marR="200660" indent="-1905" algn="just">
              <a:lnSpc>
                <a:spcPct val="1500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technique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decomposing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sequential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into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sub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operations,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with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3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sub</a:t>
            </a:r>
            <a:r>
              <a:rPr lang="en-US" sz="2000" spc="4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5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being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executed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special</a:t>
            </a:r>
            <a:r>
              <a:rPr lang="en-US" sz="2000" spc="5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dedicated</a:t>
            </a:r>
            <a:r>
              <a:rPr lang="en-US" sz="2000" spc="56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D45962"/>
                </a:solidFill>
                <a:latin typeface="Calibri"/>
                <a:cs typeface="Calibri"/>
              </a:rPr>
              <a:t>segment</a:t>
            </a:r>
            <a:r>
              <a:rPr lang="en-US" sz="2000" spc="30" dirty="0">
                <a:solidFill>
                  <a:srgbClr val="D45962"/>
                </a:solidFill>
                <a:latin typeface="Calibri"/>
                <a:cs typeface="Calibri"/>
              </a:rPr>
              <a:t>  </a:t>
            </a:r>
            <a:r>
              <a:rPr lang="en-US" sz="2000" spc="-20" dirty="0">
                <a:latin typeface="Calibri"/>
                <a:cs typeface="Calibri"/>
              </a:rPr>
              <a:t>that </a:t>
            </a:r>
            <a:r>
              <a:rPr lang="en-US" sz="2000" spc="-10" dirty="0">
                <a:latin typeface="Calibri"/>
                <a:cs typeface="Calibri"/>
              </a:rPr>
              <a:t>operates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concurrently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segments.</a:t>
            </a:r>
          </a:p>
          <a:p>
            <a:pPr marL="262255" marR="200660" indent="-1905" algn="just">
              <a:lnSpc>
                <a:spcPct val="150000"/>
              </a:lnSpc>
              <a:spcBef>
                <a:spcPts val="60"/>
              </a:spcBef>
            </a:pPr>
            <a:endParaRPr lang="en-IN" sz="2000" spc="-1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It</a:t>
            </a:r>
            <a:r>
              <a:rPr lang="en-US" sz="2250" spc="1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13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14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characteristic</a:t>
            </a:r>
            <a:r>
              <a:rPr lang="en-US" sz="2250" spc="10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of</a:t>
            </a:r>
            <a:r>
              <a:rPr lang="en-US" sz="2250" spc="12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pipelining</a:t>
            </a:r>
            <a:r>
              <a:rPr lang="en-US" sz="2250" spc="18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that</a:t>
            </a:r>
            <a:r>
              <a:rPr lang="en-US" sz="2250" spc="13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several</a:t>
            </a:r>
            <a:r>
              <a:rPr lang="en-US" sz="2250" spc="215" dirty="0">
                <a:latin typeface="Calibri"/>
                <a:cs typeface="Calibri"/>
              </a:rPr>
              <a:t> </a:t>
            </a:r>
            <a:r>
              <a:rPr lang="en-US" sz="2250" spc="-20" dirty="0">
                <a:latin typeface="Calibri"/>
                <a:cs typeface="Calibri"/>
              </a:rPr>
              <a:t>computations</a:t>
            </a:r>
            <a:r>
              <a:rPr lang="en-US" sz="2250" spc="26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can</a:t>
            </a:r>
            <a:r>
              <a:rPr lang="en-US" sz="2250" spc="10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be</a:t>
            </a:r>
            <a:r>
              <a:rPr lang="en-US" sz="2250" spc="165" dirty="0">
                <a:latin typeface="Calibri"/>
                <a:cs typeface="Calibri"/>
              </a:rPr>
              <a:t> </a:t>
            </a:r>
            <a:r>
              <a:rPr lang="en-US" sz="2250" spc="-25" dirty="0">
                <a:latin typeface="Calibri"/>
                <a:cs typeface="Calibri"/>
              </a:rPr>
              <a:t>in </a:t>
            </a:r>
            <a:r>
              <a:rPr lang="en-US" sz="2250" spc="-10" dirty="0">
                <a:latin typeface="Calibri"/>
                <a:cs typeface="Calibri"/>
              </a:rPr>
              <a:t>progress</a:t>
            </a:r>
            <a:r>
              <a:rPr lang="en-US" sz="2250" spc="-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in</a:t>
            </a:r>
            <a:r>
              <a:rPr lang="en-US" sz="2250" spc="-1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distinct</a:t>
            </a:r>
            <a:r>
              <a:rPr lang="en-US" sz="2250" spc="-20" dirty="0">
                <a:latin typeface="Calibri"/>
                <a:cs typeface="Calibri"/>
              </a:rPr>
              <a:t> 	</a:t>
            </a:r>
            <a:r>
              <a:rPr lang="en-US" sz="2250" spc="-10" dirty="0">
                <a:latin typeface="Calibri"/>
                <a:cs typeface="Calibri"/>
              </a:rPr>
              <a:t>segments</a:t>
            </a:r>
            <a:r>
              <a:rPr lang="en-US" sz="2250" spc="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at</a:t>
            </a:r>
            <a:r>
              <a:rPr lang="en-US" sz="2250" spc="-9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4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same</a:t>
            </a:r>
            <a:r>
              <a:rPr lang="en-US" sz="2250" spc="-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time.</a:t>
            </a:r>
            <a:endParaRPr lang="en-US" sz="225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Each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segment</a:t>
            </a:r>
            <a:r>
              <a:rPr lang="en-US" sz="2250" spc="-6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performs</a:t>
            </a:r>
            <a:r>
              <a:rPr lang="en-US" sz="2250" spc="1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partial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processing</a:t>
            </a:r>
            <a:r>
              <a:rPr lang="en-US" sz="2250" spc="6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dictated</a:t>
            </a:r>
            <a:r>
              <a:rPr lang="en-US" sz="2250" dirty="0">
                <a:latin typeface="Calibri"/>
                <a:cs typeface="Calibri"/>
              </a:rPr>
              <a:t> by</a:t>
            </a:r>
            <a:r>
              <a:rPr lang="en-US" sz="2250" spc="-7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8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way</a:t>
            </a:r>
            <a:r>
              <a:rPr lang="en-US" sz="2250" spc="-10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6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task</a:t>
            </a:r>
            <a:r>
              <a:rPr lang="en-US" sz="2250" spc="-25" dirty="0">
                <a:latin typeface="Calibri"/>
                <a:cs typeface="Calibri"/>
              </a:rPr>
              <a:t> </a:t>
            </a:r>
            <a:r>
              <a:rPr lang="en-US" sz="2250" spc="-25" dirty="0">
                <a:solidFill>
                  <a:srgbClr val="0E0E0E"/>
                </a:solidFill>
                <a:latin typeface="Calibri"/>
                <a:cs typeface="Calibri"/>
              </a:rPr>
              <a:t>is </a:t>
            </a:r>
            <a:r>
              <a:rPr lang="en-US" sz="2250" spc="-10" dirty="0">
                <a:latin typeface="Calibri"/>
                <a:cs typeface="Calibri"/>
              </a:rPr>
              <a:t>dictated</a:t>
            </a:r>
            <a:endParaRPr lang="en-US" sz="225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6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result</a:t>
            </a:r>
            <a:r>
              <a:rPr lang="en-US" sz="2250" spc="-1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obtained</a:t>
            </a:r>
            <a:r>
              <a:rPr lang="en-US" sz="2250" spc="3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from</a:t>
            </a:r>
            <a:r>
              <a:rPr lang="en-US" sz="2250" spc="30" dirty="0">
                <a:latin typeface="Calibri"/>
                <a:cs typeface="Calibri"/>
              </a:rPr>
              <a:t> </a:t>
            </a:r>
            <a:r>
              <a:rPr lang="en-US" sz="2250" spc="-20" dirty="0">
                <a:latin typeface="Calibri"/>
                <a:cs typeface="Calibri"/>
              </a:rPr>
              <a:t>computation</a:t>
            </a:r>
            <a:r>
              <a:rPr lang="en-US" sz="2250" spc="9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-13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in</a:t>
            </a:r>
            <a:r>
              <a:rPr lang="en-US" sz="2250" spc="-12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each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segment</a:t>
            </a:r>
            <a:r>
              <a:rPr lang="en-US" sz="2250" spc="-1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-4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transferred </a:t>
            </a:r>
            <a:r>
              <a:rPr lang="en-US" sz="2250" dirty="0">
                <a:latin typeface="Calibri"/>
                <a:cs typeface="Calibri"/>
              </a:rPr>
              <a:t>to</a:t>
            </a:r>
            <a:r>
              <a:rPr lang="en-US" sz="2250" spc="-7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next </a:t>
            </a:r>
            <a:r>
              <a:rPr lang="en-US" sz="2250" spc="-10" dirty="0">
                <a:latin typeface="Calibri"/>
                <a:cs typeface="Calibri"/>
              </a:rPr>
              <a:t>segment</a:t>
            </a:r>
            <a:r>
              <a:rPr lang="en-US" sz="2250" spc="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in</a:t>
            </a:r>
            <a:r>
              <a:rPr lang="en-US" sz="2250" spc="-95" dirty="0">
                <a:latin typeface="Calibri"/>
                <a:cs typeface="Calibri"/>
              </a:rPr>
              <a:t> 	</a:t>
            </a:r>
            <a:r>
              <a:rPr lang="en-US" sz="2250" dirty="0">
                <a:latin typeface="Calibri"/>
                <a:cs typeface="Calibri"/>
              </a:rPr>
              <a:t>the </a:t>
            </a:r>
            <a:r>
              <a:rPr lang="en-US" sz="2250" spc="-10" dirty="0">
                <a:latin typeface="Calibri"/>
                <a:cs typeface="Calibri"/>
              </a:rPr>
              <a:t>pipeline</a:t>
            </a:r>
            <a:endParaRPr lang="en-US" sz="225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final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result</a:t>
            </a:r>
            <a:r>
              <a:rPr lang="en-US" sz="2250" spc="-7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-114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obtained</a:t>
            </a:r>
            <a:r>
              <a:rPr lang="en-US" sz="2250" spc="2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after</a:t>
            </a:r>
            <a:r>
              <a:rPr lang="en-US" sz="2250" spc="-9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data</a:t>
            </a:r>
            <a:r>
              <a:rPr lang="en-US" sz="2250" spc="-5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has</a:t>
            </a:r>
            <a:r>
              <a:rPr lang="en-US" sz="2250" spc="-6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been</a:t>
            </a:r>
            <a:r>
              <a:rPr lang="en-US" sz="2250" spc="-5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passed</a:t>
            </a:r>
            <a:r>
              <a:rPr lang="en-US" sz="2250" spc="-2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through</a:t>
            </a:r>
            <a:r>
              <a:rPr lang="en-US" sz="2250" spc="-5" dirty="0">
                <a:latin typeface="Calibri"/>
                <a:cs typeface="Calibri"/>
              </a:rPr>
              <a:t> </a:t>
            </a:r>
            <a:r>
              <a:rPr lang="en-US" sz="2250" spc="-25" dirty="0">
                <a:latin typeface="Calibri"/>
                <a:cs typeface="Calibri"/>
              </a:rPr>
              <a:t>all </a:t>
            </a:r>
            <a:r>
              <a:rPr lang="en-US" sz="2250" spc="-10" dirty="0">
                <a:latin typeface="Calibri"/>
                <a:cs typeface="Calibri"/>
              </a:rPr>
              <a:t>segment</a:t>
            </a:r>
            <a:endParaRPr lang="en-US" sz="225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ct val="1500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378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1225594"/>
            <a:ext cx="8626588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83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Design</a:t>
            </a:r>
            <a:r>
              <a:rPr lang="en-US" sz="3200" spc="10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25" dirty="0">
                <a:latin typeface="Calibri"/>
                <a:cs typeface="Calibri"/>
              </a:rPr>
              <a:t> </a:t>
            </a:r>
            <a:r>
              <a:rPr lang="en-US" sz="3200" spc="75" dirty="0">
                <a:latin typeface="Calibri"/>
                <a:cs typeface="Calibri"/>
              </a:rPr>
              <a:t>a</a:t>
            </a:r>
            <a:r>
              <a:rPr lang="en-US" sz="3200" spc="-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basic</a:t>
            </a:r>
            <a:r>
              <a:rPr lang="en-US" sz="3200" spc="13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pipeline</a:t>
            </a:r>
            <a:endParaRPr lang="en-US" sz="3200" dirty="0">
              <a:latin typeface="Calibri"/>
              <a:cs typeface="Calibri"/>
            </a:endParaRPr>
          </a:p>
          <a:p>
            <a:pPr algn="ctr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454867" y="1458219"/>
            <a:ext cx="11206065" cy="32773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5240" algn="just">
              <a:lnSpc>
                <a:spcPct val="100000"/>
              </a:lnSpc>
              <a:spcBef>
                <a:spcPts val="145"/>
              </a:spcBef>
            </a:pPr>
            <a:r>
              <a:rPr lang="en-US" sz="2000" dirty="0">
                <a:latin typeface="Calibri"/>
                <a:cs typeface="Calibri"/>
              </a:rPr>
              <a:t>•In</a:t>
            </a:r>
            <a:r>
              <a:rPr lang="en-US" sz="2000" spc="445" dirty="0">
                <a:latin typeface="Calibri"/>
                <a:cs typeface="Calibri"/>
              </a:rPr>
              <a:t> </a:t>
            </a:r>
            <a:r>
              <a:rPr lang="en-US" sz="2000" spc="60" dirty="0">
                <a:latin typeface="Calibri"/>
                <a:cs typeface="Calibri"/>
              </a:rPr>
              <a:t>a</a:t>
            </a:r>
            <a:r>
              <a:rPr lang="en-US" sz="2000" spc="365" dirty="0">
                <a:latin typeface="Calibri"/>
                <a:cs typeface="Calibri"/>
              </a:rPr>
              <a:t> </a:t>
            </a:r>
            <a:r>
              <a:rPr lang="en-US" sz="2000" spc="55" dirty="0">
                <a:latin typeface="Calibri"/>
                <a:cs typeface="Calibri"/>
              </a:rPr>
              <a:t>pipelined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spc="55" dirty="0">
                <a:latin typeface="Calibri"/>
                <a:cs typeface="Calibri"/>
              </a:rPr>
              <a:t>processor,</a:t>
            </a:r>
            <a:r>
              <a:rPr lang="en-US" sz="2000" spc="580" dirty="0">
                <a:latin typeface="Calibri"/>
                <a:cs typeface="Calibri"/>
              </a:rPr>
              <a:t> </a:t>
            </a:r>
            <a:r>
              <a:rPr lang="en-US" sz="2000" spc="60" dirty="0">
                <a:latin typeface="Calibri"/>
                <a:cs typeface="Calibri"/>
              </a:rPr>
              <a:t>a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spc="55" dirty="0">
                <a:latin typeface="Calibri"/>
                <a:cs typeface="Calibri"/>
              </a:rPr>
              <a:t>pipeline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spc="75" dirty="0">
                <a:latin typeface="Calibri"/>
                <a:cs typeface="Calibri"/>
              </a:rPr>
              <a:t>has</a:t>
            </a:r>
            <a:r>
              <a:rPr lang="en-US" sz="2000" spc="430" dirty="0">
                <a:latin typeface="Calibri"/>
                <a:cs typeface="Calibri"/>
              </a:rPr>
              <a:t> </a:t>
            </a:r>
            <a:r>
              <a:rPr lang="en-US" sz="2000" spc="75" dirty="0">
                <a:latin typeface="Calibri"/>
                <a:cs typeface="Calibri"/>
              </a:rPr>
              <a:t>two</a:t>
            </a:r>
            <a:r>
              <a:rPr lang="en-US" sz="2000" spc="4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ends,</a:t>
            </a:r>
            <a:r>
              <a:rPr lang="en-US" sz="2000" spc="49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the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input</a:t>
            </a:r>
            <a:r>
              <a:rPr lang="en-US" sz="2000" spc="550" dirty="0">
                <a:latin typeface="Calibri"/>
                <a:cs typeface="Calibri"/>
              </a:rPr>
              <a:t> </a:t>
            </a:r>
            <a:r>
              <a:rPr lang="en-US" sz="2000" spc="30" dirty="0">
                <a:latin typeface="Calibri"/>
                <a:cs typeface="Calibri"/>
              </a:rPr>
              <a:t>end</a:t>
            </a:r>
            <a:endParaRPr lang="en-US" sz="2000" dirty="0">
              <a:latin typeface="Calibri"/>
              <a:cs typeface="Calibri"/>
            </a:endParaRPr>
          </a:p>
          <a:p>
            <a:pPr marL="136525" marR="5080" indent="7620" algn="just">
              <a:lnSpc>
                <a:spcPct val="147700"/>
              </a:lnSpc>
              <a:spcBef>
                <a:spcPts val="50"/>
              </a:spcBef>
            </a:pP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5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output</a:t>
            </a:r>
            <a:r>
              <a:rPr lang="en-US" sz="2000" spc="5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end.</a:t>
            </a:r>
            <a:r>
              <a:rPr lang="en-US" sz="2000" spc="5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Between</a:t>
            </a:r>
            <a:r>
              <a:rPr lang="en-US" sz="2000" spc="6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5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ends,</a:t>
            </a:r>
            <a:r>
              <a:rPr lang="en-US" sz="2000" spc="5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5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5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multiple </a:t>
            </a:r>
            <a:r>
              <a:rPr lang="en-US" sz="2000" dirty="0">
                <a:latin typeface="Calibri"/>
                <a:cs typeface="Calibri"/>
              </a:rPr>
              <a:t>stages/segments</a:t>
            </a:r>
            <a:r>
              <a:rPr lang="en-US" sz="2000" spc="2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output</a:t>
            </a:r>
            <a:r>
              <a:rPr lang="en-US" sz="2000" spc="2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one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stage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connected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 </a:t>
            </a:r>
            <a:r>
              <a:rPr lang="en-US" sz="2000" dirty="0">
                <a:latin typeface="Calibri"/>
                <a:cs typeface="Calibri"/>
              </a:rPr>
              <a:t>input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next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stage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each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stage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performs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specific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operation.</a:t>
            </a:r>
            <a:endParaRPr lang="en-US" sz="2000" dirty="0">
              <a:latin typeface="Calibri"/>
              <a:cs typeface="Calibri"/>
            </a:endParaRPr>
          </a:p>
          <a:p>
            <a:pPr marL="142875" marR="15240" indent="-130810" algn="just">
              <a:lnSpc>
                <a:spcPct val="149100"/>
              </a:lnSpc>
              <a:spcBef>
                <a:spcPts val="30"/>
              </a:spcBef>
            </a:pPr>
            <a:r>
              <a:rPr lang="en-US" sz="2000" dirty="0">
                <a:latin typeface="Calibri"/>
                <a:cs typeface="Calibri"/>
              </a:rPr>
              <a:t>•Interface</a:t>
            </a:r>
            <a:r>
              <a:rPr lang="en-US" sz="2000" spc="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registers</a:t>
            </a:r>
            <a:r>
              <a:rPr lang="en-US" sz="2000" spc="6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5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used</a:t>
            </a:r>
            <a:r>
              <a:rPr lang="en-US" sz="2000" spc="5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hold</a:t>
            </a:r>
            <a:r>
              <a:rPr lang="en-US" sz="2000" spc="5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intermediate</a:t>
            </a:r>
            <a:r>
              <a:rPr lang="en-US" sz="2000" spc="55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output </a:t>
            </a:r>
            <a:r>
              <a:rPr lang="en-US" sz="2000" spc="-30" dirty="0">
                <a:latin typeface="Calibri"/>
                <a:cs typeface="Calibri"/>
              </a:rPr>
              <a:t>between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two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stages.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These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interface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registers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called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latch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buffer.</a:t>
            </a:r>
            <a:endParaRPr lang="en-US" sz="20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600"/>
              </a:spcBef>
            </a:pPr>
            <a:r>
              <a:rPr lang="en-US" sz="2000" spc="-95" dirty="0">
                <a:latin typeface="Calibri"/>
                <a:cs typeface="Calibri"/>
              </a:rPr>
              <a:t>•AII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stages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pipeline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along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interface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registers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are</a:t>
            </a:r>
            <a:endParaRPr lang="en-US" sz="2000" dirty="0">
              <a:latin typeface="Calibri"/>
              <a:cs typeface="Calibri"/>
            </a:endParaRPr>
          </a:p>
          <a:p>
            <a:pPr marL="144145" algn="just">
              <a:lnSpc>
                <a:spcPct val="100000"/>
              </a:lnSpc>
              <a:spcBef>
                <a:spcPts val="1660"/>
              </a:spcBef>
            </a:pPr>
            <a:r>
              <a:rPr lang="en-US" sz="2000" spc="-40" dirty="0">
                <a:latin typeface="Calibri"/>
                <a:cs typeface="Calibri"/>
              </a:rPr>
              <a:t>controlled</a:t>
            </a:r>
            <a:r>
              <a:rPr lang="en-US" sz="2000" dirty="0">
                <a:latin typeface="Calibri"/>
                <a:cs typeface="Calibri"/>
              </a:rPr>
              <a:t> by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4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common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clock.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4701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Pipeline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6548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RISC processor has 5 stage instruction pipeline to execute </a:t>
            </a:r>
            <a:r>
              <a:rPr lang="en-US" sz="2000" dirty="0" err="1">
                <a:latin typeface="Calibri"/>
                <a:cs typeface="Calibri"/>
              </a:rPr>
              <a:t>ali</a:t>
            </a:r>
            <a:r>
              <a:rPr lang="en-US" sz="2000" dirty="0">
                <a:latin typeface="Calibri"/>
                <a:cs typeface="Calibri"/>
              </a:rPr>
              <a:t> the instructions in the RISC instruction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set. Following are the 5 stages of RISC pipeline with their respective operations: 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1 (Instruction Fetch)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 the CPU reads instructions from the address in the memory whose value is present in the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program counter.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2 (Instruction Decode)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instruction is decoded and the register file is accessed to get the values from the registers used in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1048564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Pipeline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3085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3 (Instruction Execute)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ALU operations are performed.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4 (Memory Access)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memory operands are read and written from/to the memory that is present in the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instruction.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S (Write Back)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computed/fetched value is written back to the register present in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1830927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70" dirty="0">
                <a:latin typeface="Calibri"/>
                <a:cs typeface="Calibri"/>
              </a:rPr>
              <a:t>Operations</a:t>
            </a:r>
            <a:r>
              <a:rPr lang="en-US" sz="3200" spc="3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in</a:t>
            </a:r>
            <a:r>
              <a:rPr lang="en-US" sz="3200" spc="-210" dirty="0">
                <a:latin typeface="Calibri"/>
                <a:cs typeface="Calibri"/>
              </a:rPr>
              <a:t> </a:t>
            </a:r>
            <a:r>
              <a:rPr lang="en-US" sz="3200" spc="-35" dirty="0">
                <a:latin typeface="Calibri"/>
                <a:cs typeface="Calibri"/>
              </a:rPr>
              <a:t>each</a:t>
            </a:r>
            <a:r>
              <a:rPr lang="en-US" sz="3200" spc="-150" dirty="0">
                <a:latin typeface="Calibri"/>
                <a:cs typeface="Calibri"/>
              </a:rPr>
              <a:t> </a:t>
            </a:r>
            <a:r>
              <a:rPr lang="en-US" sz="3200" spc="-55" dirty="0">
                <a:latin typeface="Calibri"/>
                <a:cs typeface="Calibri"/>
              </a:rPr>
              <a:t>Pipeline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545" y="1838706"/>
            <a:ext cx="6582910" cy="32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198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General Pipelining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979" y="1457482"/>
            <a:ext cx="7392041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629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 speed up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27" y="1425655"/>
            <a:ext cx="6988146" cy="50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71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 speed up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22" y="1822953"/>
            <a:ext cx="8245555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03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Pipeline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6" y="1017012"/>
            <a:ext cx="8612155" cy="5419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7780" marR="5080" indent="6350" algn="just">
              <a:lnSpc>
                <a:spcPts val="2700"/>
              </a:lnSpc>
              <a:spcBef>
                <a:spcPts val="140"/>
              </a:spcBef>
            </a:pPr>
            <a:r>
              <a:rPr lang="en-US" sz="2000" dirty="0">
                <a:latin typeface="Calibri"/>
                <a:cs typeface="Calibri"/>
              </a:rPr>
              <a:t>An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spc="90" dirty="0">
                <a:latin typeface="Calibri"/>
                <a:cs typeface="Calibri"/>
              </a:rPr>
              <a:t>ISA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describes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</a:t>
            </a:r>
            <a:r>
              <a:rPr lang="en-US" sz="2000" spc="3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33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3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terms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must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support.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ISA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not </a:t>
            </a:r>
            <a:r>
              <a:rPr lang="en-US" sz="2000" dirty="0">
                <a:latin typeface="Calibri"/>
                <a:cs typeface="Calibri"/>
              </a:rPr>
              <a:t>concerned</a:t>
            </a:r>
            <a:r>
              <a:rPr lang="en-US" sz="2000" spc="2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implementation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specific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details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computer.</a:t>
            </a:r>
            <a:r>
              <a:rPr lang="en-US" sz="2000" spc="16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12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1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concerned</a:t>
            </a:r>
            <a:r>
              <a:rPr lang="en-US" sz="2000" spc="20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set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or </a:t>
            </a:r>
            <a:r>
              <a:rPr lang="en-US" sz="2000" dirty="0">
                <a:latin typeface="Calibri"/>
                <a:cs typeface="Calibri"/>
              </a:rPr>
              <a:t>collection</a:t>
            </a:r>
            <a:r>
              <a:rPr lang="en-US" sz="2000" spc="2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28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2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260" dirty="0">
                <a:latin typeface="Calibri"/>
                <a:cs typeface="Calibri"/>
              </a:rPr>
              <a:t>  </a:t>
            </a:r>
            <a:r>
              <a:rPr lang="en-US" sz="2000" spc="-20" dirty="0">
                <a:latin typeface="Calibri"/>
                <a:cs typeface="Calibri"/>
              </a:rPr>
              <a:t>must </a:t>
            </a:r>
            <a:r>
              <a:rPr lang="en-US" sz="2000" dirty="0">
                <a:latin typeface="Calibri"/>
                <a:cs typeface="Calibri"/>
              </a:rPr>
              <a:t>support.</a:t>
            </a:r>
            <a:r>
              <a:rPr lang="en-US" sz="2000" spc="155" dirty="0">
                <a:latin typeface="Calibri"/>
                <a:cs typeface="Calibri"/>
              </a:rPr>
              <a:t> </a:t>
            </a:r>
          </a:p>
          <a:p>
            <a:pPr marL="17780" marR="5080" indent="6350" algn="just">
              <a:lnSpc>
                <a:spcPts val="2700"/>
              </a:lnSpc>
              <a:spcBef>
                <a:spcPts val="140"/>
              </a:spcBef>
            </a:pPr>
            <a:endParaRPr lang="en-US" sz="2000" spc="155" dirty="0">
              <a:latin typeface="Calibri"/>
              <a:cs typeface="Calibri"/>
            </a:endParaRPr>
          </a:p>
          <a:p>
            <a:pPr marL="17780" marR="5080" indent="6350" algn="just">
              <a:lnSpc>
                <a:spcPts val="2700"/>
              </a:lnSpc>
              <a:spcBef>
                <a:spcPts val="140"/>
              </a:spcBef>
            </a:pP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example</a:t>
            </a:r>
            <a:r>
              <a:rPr lang="en-US" sz="2000" spc="25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AMD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Athlon</a:t>
            </a:r>
            <a:r>
              <a:rPr lang="en-US" sz="2000" spc="25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Core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2 </a:t>
            </a:r>
            <a:r>
              <a:rPr lang="en-US" sz="2000" dirty="0">
                <a:latin typeface="Calibri"/>
                <a:cs typeface="Calibri"/>
              </a:rPr>
              <a:t>Duo</a:t>
            </a:r>
            <a:r>
              <a:rPr lang="en-US" sz="2000" spc="360" dirty="0">
                <a:latin typeface="Calibri"/>
                <a:cs typeface="Calibri"/>
              </a:rPr>
              <a:t>    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385" dirty="0">
                <a:latin typeface="Calibri"/>
                <a:cs typeface="Calibri"/>
              </a:rPr>
              <a:t>    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375" dirty="0">
                <a:latin typeface="Calibri"/>
                <a:cs typeface="Calibri"/>
              </a:rPr>
              <a:t>     </a:t>
            </a:r>
            <a:r>
              <a:rPr lang="en-US" sz="2000" dirty="0">
                <a:latin typeface="Calibri"/>
                <a:cs typeface="Calibri"/>
              </a:rPr>
              <a:t>entirely</a:t>
            </a:r>
            <a:r>
              <a:rPr lang="en-US" sz="2000" spc="385" dirty="0">
                <a:latin typeface="Calibri"/>
                <a:cs typeface="Calibri"/>
              </a:rPr>
              <a:t>     </a:t>
            </a:r>
            <a:r>
              <a:rPr lang="en-US" sz="2000" spc="-10" dirty="0">
                <a:latin typeface="Calibri"/>
                <a:cs typeface="Calibri"/>
              </a:rPr>
              <a:t>different </a:t>
            </a:r>
            <a:r>
              <a:rPr lang="en-US" sz="2000" dirty="0">
                <a:latin typeface="Calibri"/>
                <a:cs typeface="Calibri"/>
              </a:rPr>
              <a:t>implementations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support</a:t>
            </a:r>
            <a:r>
              <a:rPr lang="en-US" sz="2000" spc="12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6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less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the</a:t>
            </a:r>
            <a:endParaRPr lang="en-US" sz="2000" dirty="0">
              <a:latin typeface="Calibri"/>
              <a:cs typeface="Calibri"/>
            </a:endParaRPr>
          </a:p>
          <a:p>
            <a:pPr marL="24130" algn="just">
              <a:lnSpc>
                <a:spcPts val="2640"/>
              </a:lnSpc>
            </a:pP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set</a:t>
            </a:r>
            <a:r>
              <a:rPr lang="en-US" sz="2000" spc="4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4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7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45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defined</a:t>
            </a:r>
            <a:r>
              <a:rPr lang="en-US" sz="2000" spc="3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1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x86</a:t>
            </a:r>
            <a:r>
              <a:rPr lang="en-US" sz="2000" dirty="0">
                <a:latin typeface="Calibri"/>
                <a:cs typeface="Calibri"/>
              </a:rPr>
              <a:t> Instruction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Set.</a:t>
            </a:r>
          </a:p>
          <a:p>
            <a:pPr marL="24130" algn="just">
              <a:lnSpc>
                <a:spcPts val="2640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21590" marR="6985" indent="-9525" algn="just">
              <a:lnSpc>
                <a:spcPct val="102400"/>
              </a:lnSpc>
              <a:spcBef>
                <a:spcPts val="70"/>
              </a:spcBef>
            </a:pPr>
            <a:r>
              <a:rPr lang="en-US" sz="2000" dirty="0">
                <a:latin typeface="Calibri"/>
                <a:cs typeface="Calibri"/>
              </a:rPr>
              <a:t>Micro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spc="45" dirty="0">
                <a:latin typeface="Calibri"/>
                <a:cs typeface="Calibri"/>
              </a:rPr>
              <a:t>architectural</a:t>
            </a:r>
            <a:r>
              <a:rPr lang="en-US" sz="2000" spc="4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level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lies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just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below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spc="75" dirty="0">
                <a:latin typeface="Calibri"/>
                <a:cs typeface="Calibri"/>
              </a:rPr>
              <a:t>ISA</a:t>
            </a:r>
            <a:r>
              <a:rPr lang="en-US" sz="2000" spc="3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level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hence</a:t>
            </a:r>
            <a:r>
              <a:rPr lang="en-US" sz="2000" spc="5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3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concerned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3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implementation</a:t>
            </a:r>
            <a:r>
              <a:rPr lang="en-US" sz="2000" spc="3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9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195" dirty="0">
                <a:latin typeface="Calibri"/>
                <a:cs typeface="Calibri"/>
              </a:rPr>
              <a:t>  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225" dirty="0">
                <a:latin typeface="Calibri"/>
                <a:cs typeface="Calibri"/>
              </a:rPr>
              <a:t>  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5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4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supported</a:t>
            </a:r>
            <a:r>
              <a:rPr lang="en-US" sz="2000" spc="220" dirty="0">
                <a:latin typeface="Calibri"/>
                <a:cs typeface="Calibri"/>
              </a:rPr>
              <a:t>  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52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defined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4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ISA.</a:t>
            </a:r>
            <a:r>
              <a:rPr lang="en-US" sz="2000" spc="4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Therefore</a:t>
            </a:r>
            <a:r>
              <a:rPr lang="en-US" sz="2000" spc="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we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can </a:t>
            </a:r>
            <a:r>
              <a:rPr lang="en-US" sz="2000" dirty="0">
                <a:latin typeface="Calibri"/>
                <a:cs typeface="Calibri"/>
              </a:rPr>
              <a:t>say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AMD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Athlon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2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Core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2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Duo</a:t>
            </a:r>
            <a:r>
              <a:rPr lang="en-US" sz="2000" spc="3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30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31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2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3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ISA</a:t>
            </a:r>
            <a:r>
              <a:rPr lang="en-US" sz="2000" spc="3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3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310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different </a:t>
            </a:r>
            <a:r>
              <a:rPr lang="en-US" sz="2000" dirty="0">
                <a:latin typeface="Calibri"/>
                <a:cs typeface="Calibri"/>
              </a:rPr>
              <a:t>microarchitectures</a:t>
            </a:r>
            <a:r>
              <a:rPr lang="en-US" sz="2000" spc="15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1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different</a:t>
            </a:r>
            <a:r>
              <a:rPr lang="en-US" sz="2000" spc="2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performance</a:t>
            </a:r>
            <a:r>
              <a:rPr lang="en-US" sz="2000" spc="24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and </a:t>
            </a:r>
            <a:r>
              <a:rPr lang="en-US" sz="2000" spc="-10" dirty="0">
                <a:latin typeface="Calibri"/>
                <a:cs typeface="Calibri"/>
              </a:rPr>
              <a:t>efficiencies.</a:t>
            </a:r>
            <a:endParaRPr lang="en-US" sz="2000" dirty="0">
              <a:latin typeface="Calibri"/>
              <a:cs typeface="Calibri"/>
            </a:endParaRPr>
          </a:p>
          <a:p>
            <a:pPr marL="13970" marR="5080" indent="-1905" algn="just">
              <a:lnSpc>
                <a:spcPct val="102699"/>
              </a:lnSpc>
              <a:spcBef>
                <a:spcPts val="25"/>
              </a:spcBef>
            </a:pP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659" y="1692270"/>
            <a:ext cx="2918713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36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10" dirty="0">
                <a:solidFill>
                  <a:srgbClr val="A70C0F"/>
                </a:solidFill>
                <a:latin typeface="Calibri"/>
                <a:cs typeface="Calibri"/>
              </a:rPr>
              <a:t>Multiprocessors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2133600" y="2462838"/>
            <a:ext cx="7924800" cy="1932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295" dirty="0">
                <a:latin typeface="Calibri"/>
                <a:cs typeface="Calibri"/>
              </a:rPr>
              <a:t>  </a:t>
            </a:r>
            <a:r>
              <a:rPr lang="en-US" sz="2000" spc="-75" dirty="0">
                <a:latin typeface="Calibri"/>
                <a:cs typeface="Calibri"/>
              </a:rPr>
              <a:t>shared-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4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multiprocessor</a:t>
            </a:r>
            <a:r>
              <a:rPr lang="en-US" sz="2000" spc="3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(or</a:t>
            </a:r>
            <a:r>
              <a:rPr lang="en-US" sz="2000" spc="33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just</a:t>
            </a:r>
            <a:r>
              <a:rPr lang="en-US" sz="2000" spc="365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multiprocessor </a:t>
            </a:r>
            <a:r>
              <a:rPr lang="en-US" sz="2000" dirty="0">
                <a:latin typeface="Calibri"/>
                <a:cs typeface="Calibri"/>
              </a:rPr>
              <a:t>henceforth)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two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CPUs </a:t>
            </a:r>
            <a:r>
              <a:rPr lang="en-US" sz="2000" dirty="0">
                <a:latin typeface="Calibri"/>
                <a:cs typeface="Calibri"/>
              </a:rPr>
              <a:t>share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full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common</a:t>
            </a:r>
            <a:r>
              <a:rPr lang="en-US" sz="2000" dirty="0">
                <a:latin typeface="Calibri"/>
                <a:cs typeface="Calibri"/>
              </a:rPr>
              <a:t> RAM.</a:t>
            </a:r>
            <a:r>
              <a:rPr lang="en-US" sz="2000" spc="20" dirty="0">
                <a:latin typeface="Calibri"/>
                <a:cs typeface="Calibri"/>
              </a:rPr>
              <a:t> </a:t>
            </a:r>
          </a:p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lang="en-US" sz="2000" spc="2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program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running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any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5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6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CPUs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sees</a:t>
            </a:r>
            <a:r>
              <a:rPr lang="en-US" sz="2000" spc="66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5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normal</a:t>
            </a:r>
            <a:r>
              <a:rPr lang="en-US" sz="2000" spc="6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(usually</a:t>
            </a:r>
            <a:r>
              <a:rPr lang="en-US" sz="2000" spc="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paged)</a:t>
            </a:r>
            <a:r>
              <a:rPr lang="en-US" sz="2000" spc="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virtual</a:t>
            </a:r>
            <a:r>
              <a:rPr lang="en-US" sz="2000" spc="6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address </a:t>
            </a:r>
            <a:r>
              <a:rPr lang="en-US" sz="2000" dirty="0">
                <a:latin typeface="Calibri"/>
                <a:cs typeface="Calibri"/>
              </a:rPr>
              <a:t>space.</a:t>
            </a:r>
            <a:r>
              <a:rPr lang="en-US" sz="2000" spc="280" dirty="0">
                <a:latin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0895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075" y="3281914"/>
            <a:ext cx="6343650" cy="2076450"/>
          </a:xfrm>
          <a:prstGeom prst="rect">
            <a:avLst/>
          </a:prstGeom>
        </p:spPr>
      </p:pic>
      <p:sp>
        <p:nvSpPr>
          <p:cNvPr id="7" name="Rectangle 77"/>
          <p:cNvSpPr>
            <a:spLocks noChangeArrowheads="1"/>
          </p:cNvSpPr>
          <p:nvPr/>
        </p:nvSpPr>
        <p:spPr bwMode="auto">
          <a:xfrm>
            <a:off x="2095500" y="1424532"/>
            <a:ext cx="7924800" cy="9853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unusual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property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write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some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value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word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then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read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word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back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get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different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value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(because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another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CPU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changed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it).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561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0" dirty="0">
                <a:solidFill>
                  <a:srgbClr val="A01123"/>
                </a:solidFill>
                <a:latin typeface="Calibri"/>
                <a:cs typeface="Calibri"/>
              </a:rPr>
              <a:t>Multiprocessor</a:t>
            </a:r>
            <a:r>
              <a:rPr lang="en-US" sz="3200" spc="-50" dirty="0">
                <a:solidFill>
                  <a:srgbClr val="A01123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9A2326"/>
                </a:solidFill>
                <a:latin typeface="Calibri"/>
                <a:cs typeface="Calibri"/>
              </a:rPr>
              <a:t>architectures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195943" y="1017012"/>
            <a:ext cx="11402007" cy="13465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469900" indent="-457200">
              <a:lnSpc>
                <a:spcPts val="2425"/>
              </a:lnSpc>
              <a:spcBef>
                <a:spcPts val="100"/>
              </a:spcBef>
              <a:buAutoNum type="alphaLcParenBoth"/>
            </a:pPr>
            <a:r>
              <a:rPr lang="en-US" sz="2000" spc="-20" dirty="0">
                <a:latin typeface="Calibri"/>
                <a:cs typeface="Calibri"/>
              </a:rPr>
              <a:t>Two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more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55" dirty="0">
                <a:latin typeface="Calibri"/>
                <a:cs typeface="Calibri"/>
              </a:rPr>
              <a:t>CPUs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and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one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more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memory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modules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4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4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communication.</a:t>
            </a:r>
            <a:r>
              <a:rPr lang="en-US" sz="2000" spc="4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When</a:t>
            </a:r>
            <a:r>
              <a:rPr lang="en-US" sz="2000" spc="45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4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wants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3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</a:t>
            </a:r>
            <a:r>
              <a:rPr lang="en-US" sz="2000" spc="475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a </a:t>
            </a:r>
            <a:r>
              <a:rPr lang="en-US" sz="2000" spc="-60" dirty="0">
                <a:latin typeface="Calibri"/>
                <a:cs typeface="Calibri"/>
              </a:rPr>
              <a:t>memory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word,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first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spc="-65" dirty="0">
                <a:latin typeface="Calibri"/>
                <a:cs typeface="Calibri"/>
              </a:rPr>
              <a:t>checks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if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bus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busy.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If</a:t>
            </a:r>
            <a:r>
              <a:rPr lang="en-US" sz="2000" spc="-1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is </a:t>
            </a:r>
            <a:r>
              <a:rPr lang="en-US" sz="2000" dirty="0">
                <a:latin typeface="Calibri"/>
                <a:cs typeface="Calibri"/>
              </a:rPr>
              <a:t>idle,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puts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address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word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wants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bus, </a:t>
            </a:r>
            <a:r>
              <a:rPr lang="en-US" sz="2000" dirty="0">
                <a:latin typeface="Calibri"/>
                <a:cs typeface="Calibri"/>
              </a:rPr>
              <a:t>asserts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few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control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signals,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waits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until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puts </a:t>
            </a:r>
            <a:r>
              <a:rPr lang="en-US" sz="2000" spc="-50" dirty="0">
                <a:latin typeface="Calibri"/>
                <a:cs typeface="Calibri"/>
              </a:rPr>
              <a:t>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desired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60" dirty="0">
                <a:latin typeface="Calibri"/>
                <a:cs typeface="Calibri"/>
              </a:rPr>
              <a:t>word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on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spc="-1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bus.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722" y="2715662"/>
            <a:ext cx="8024555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15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41170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 marR="5080" indent="-12065" algn="just">
              <a:lnSpc>
                <a:spcPct val="97200"/>
              </a:lnSpc>
              <a:spcBef>
                <a:spcPts val="190"/>
              </a:spcBef>
              <a:buSzPct val="94444"/>
              <a:buAutoNum type="alphaLcParenBoth" startAt="2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ProbIem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previous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approach,</a:t>
            </a:r>
            <a:r>
              <a:rPr lang="en-US" sz="2000" spc="2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If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busy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when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CPU </a:t>
            </a:r>
            <a:r>
              <a:rPr lang="en-US" sz="2000" dirty="0">
                <a:latin typeface="Calibri"/>
                <a:cs typeface="Calibri"/>
              </a:rPr>
              <a:t>wants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write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memory,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just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waits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until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bus </a:t>
            </a:r>
            <a:r>
              <a:rPr lang="en-US" sz="2000" dirty="0">
                <a:latin typeface="Calibri"/>
                <a:cs typeface="Calibri"/>
              </a:rPr>
              <a:t>becomes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idle.</a:t>
            </a:r>
            <a:r>
              <a:rPr lang="en-US" sz="2000" spc="70" dirty="0">
                <a:latin typeface="Calibri"/>
                <a:cs typeface="Calibri"/>
              </a:rPr>
              <a:t>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cache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inside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chip,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next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chip,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board,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some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combination</a:t>
            </a:r>
            <a:r>
              <a:rPr lang="en-US" sz="2000" spc="45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all </a:t>
            </a:r>
            <a:r>
              <a:rPr lang="en-US" sz="2000" dirty="0">
                <a:latin typeface="Calibri"/>
                <a:cs typeface="Calibri"/>
              </a:rPr>
              <a:t>three.</a:t>
            </a:r>
            <a:r>
              <a:rPr lang="en-US" sz="2000" spc="400" dirty="0">
                <a:latin typeface="Calibri"/>
                <a:cs typeface="Calibri"/>
              </a:rPr>
              <a:t>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Since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many</a:t>
            </a:r>
            <a:r>
              <a:rPr lang="en-US" sz="2000" spc="3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reads</a:t>
            </a:r>
            <a:r>
              <a:rPr lang="en-US" sz="2000" spc="3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now</a:t>
            </a:r>
            <a:r>
              <a:rPr lang="en-US" sz="2000" spc="4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3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satisfied</a:t>
            </a:r>
            <a:r>
              <a:rPr lang="en-US" sz="2000" spc="4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</a:t>
            </a:r>
            <a:r>
              <a:rPr lang="en-US" sz="2000" spc="3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local </a:t>
            </a:r>
            <a:r>
              <a:rPr lang="en-US" sz="2000" dirty="0">
                <a:latin typeface="Calibri"/>
                <a:cs typeface="Calibri"/>
              </a:rPr>
              <a:t>cache,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will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much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less</a:t>
            </a:r>
            <a:r>
              <a:rPr lang="en-US" sz="2000" spc="3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traffic,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can </a:t>
            </a:r>
            <a:r>
              <a:rPr lang="en-US" sz="2000" spc="-35" dirty="0">
                <a:latin typeface="Calibri"/>
                <a:cs typeface="Calibri"/>
              </a:rPr>
              <a:t>support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more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CPUs.</a:t>
            </a:r>
            <a:endParaRPr lang="en-US" sz="2000" dirty="0">
              <a:latin typeface="Calibri"/>
              <a:cs typeface="Calibri"/>
            </a:endParaRPr>
          </a:p>
          <a:p>
            <a:pPr marL="14604" marR="7620" algn="just">
              <a:lnSpc>
                <a:spcPct val="96800"/>
              </a:lnSpc>
              <a:spcBef>
                <a:spcPts val="3215"/>
              </a:spcBef>
              <a:tabLst>
                <a:tab pos="454659" algn="l"/>
              </a:tabLst>
            </a:pPr>
            <a:r>
              <a:rPr lang="en-US" sz="2000" dirty="0">
                <a:latin typeface="Calibri"/>
                <a:cs typeface="Calibri"/>
              </a:rPr>
              <a:t>(c) in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cache,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local,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private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accesses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over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dedicated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(private)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bus.</a:t>
            </a:r>
            <a:r>
              <a:rPr lang="en-US" sz="2000" spc="15" dirty="0">
                <a:latin typeface="Calibri"/>
                <a:cs typeface="Calibri"/>
              </a:rPr>
              <a:t>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endParaRPr lang="en-US" sz="100" dirty="0">
              <a:latin typeface="Calibri"/>
              <a:cs typeface="Calibri"/>
            </a:endParaRP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To use this configuration optimally, the compiler should place all the program text, strings, constants and other read-only data, stacks, and local variables in the private memories.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endParaRPr lang="en-US" sz="300" dirty="0">
              <a:latin typeface="Calibri"/>
              <a:cs typeface="Calibri"/>
            </a:endParaRP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The shared memory is then only used for writable shared variables.</a:t>
            </a:r>
          </a:p>
        </p:txBody>
      </p:sp>
    </p:spTree>
    <p:extLst>
      <p:ext uri="{BB962C8B-B14F-4D97-AF65-F5344CB8AC3E}">
        <p14:creationId xmlns:p14="http://schemas.microsoft.com/office/powerpoint/2010/main" val="29533017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Types of Multiprocessors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790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76530" algn="just">
              <a:lnSpc>
                <a:spcPts val="2745"/>
              </a:lnSpc>
              <a:spcBef>
                <a:spcPts val="105"/>
              </a:spcBef>
            </a:pPr>
            <a:r>
              <a:rPr lang="en-US" sz="2000" spc="-10" dirty="0">
                <a:latin typeface="Calibri"/>
                <a:cs typeface="Calibri"/>
              </a:rPr>
              <a:t>There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mainly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two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types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multiprocessors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i.e.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symmetric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asymmetric</a:t>
            </a:r>
            <a:endParaRPr lang="en-US" sz="2000" dirty="0">
              <a:latin typeface="Calibri"/>
              <a:cs typeface="Calibri"/>
            </a:endParaRPr>
          </a:p>
          <a:p>
            <a:pPr marL="177165" algn="just">
              <a:lnSpc>
                <a:spcPts val="2620"/>
              </a:lnSpc>
            </a:pPr>
            <a:r>
              <a:rPr lang="en-US" sz="2000" dirty="0">
                <a:latin typeface="Calibri"/>
                <a:cs typeface="Calibri"/>
              </a:rPr>
              <a:t>multiprocessors.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Details</a:t>
            </a:r>
            <a:r>
              <a:rPr lang="en-US" sz="2000" spc="2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about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them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 </a:t>
            </a:r>
            <a:r>
              <a:rPr lang="en-US" sz="2000" spc="-10" dirty="0">
                <a:latin typeface="Calibri"/>
                <a:cs typeface="Calibri"/>
              </a:rPr>
              <a:t>follows:</a:t>
            </a:r>
            <a:endParaRPr lang="en-US" sz="2000" dirty="0">
              <a:latin typeface="Calibri"/>
              <a:cs typeface="Calibri"/>
            </a:endParaRPr>
          </a:p>
          <a:p>
            <a:pPr marL="31750" algn="just">
              <a:lnSpc>
                <a:spcPct val="100000"/>
              </a:lnSpc>
              <a:spcBef>
                <a:spcPts val="10"/>
              </a:spcBef>
            </a:pPr>
            <a:endParaRPr lang="en-US" sz="2400" spc="-10" dirty="0">
              <a:solidFill>
                <a:srgbClr val="95010F"/>
              </a:solidFill>
              <a:latin typeface="Calibri"/>
              <a:cs typeface="Calibri"/>
            </a:endParaRPr>
          </a:p>
          <a:p>
            <a:pPr marL="31750" algn="just">
              <a:lnSpc>
                <a:spcPct val="100000"/>
              </a:lnSpc>
              <a:spcBef>
                <a:spcPts val="10"/>
              </a:spcBef>
            </a:pPr>
            <a:r>
              <a:rPr lang="en-US" sz="2400" spc="-10" dirty="0">
                <a:solidFill>
                  <a:srgbClr val="95010F"/>
                </a:solidFill>
                <a:latin typeface="Calibri"/>
                <a:cs typeface="Calibri"/>
              </a:rPr>
              <a:t>• Symmetric</a:t>
            </a:r>
            <a:r>
              <a:rPr lang="en-US" sz="2400" spc="35" dirty="0">
                <a:solidFill>
                  <a:srgbClr val="95010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950A0A"/>
                </a:solidFill>
                <a:latin typeface="Calibri"/>
                <a:cs typeface="Calibri"/>
              </a:rPr>
              <a:t>Multiprocessors</a:t>
            </a:r>
            <a:endParaRPr lang="en-US" sz="2400" dirty="0">
              <a:latin typeface="Calibri"/>
              <a:cs typeface="Calibri"/>
            </a:endParaRPr>
          </a:p>
          <a:p>
            <a:pPr marL="354965" marR="6985" indent="-342900" algn="just">
              <a:lnSpc>
                <a:spcPct val="100699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354965" marR="6985" indent="-342900" algn="just">
              <a:lnSpc>
                <a:spcPct val="100699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ln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types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systems,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11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1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contains</a:t>
            </a:r>
            <a:r>
              <a:rPr lang="en-US" sz="2000" spc="1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similar</a:t>
            </a:r>
            <a:r>
              <a:rPr lang="en-US" sz="2000" spc="1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copy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operating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communicate</a:t>
            </a:r>
            <a:r>
              <a:rPr lang="en-US" sz="2000" spc="1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 other.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4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4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peer</a:t>
            </a:r>
            <a:r>
              <a:rPr lang="en-US" sz="2000" spc="4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4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peer</a:t>
            </a:r>
            <a:r>
              <a:rPr lang="en-US" sz="2000" spc="48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relationship</a:t>
            </a:r>
            <a:r>
              <a:rPr lang="en-US" sz="2000" spc="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i.e.</a:t>
            </a:r>
            <a:r>
              <a:rPr lang="en-US" sz="2000" spc="42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60F52"/>
                </a:solidFill>
                <a:latin typeface="Calibri"/>
                <a:cs typeface="Calibri"/>
              </a:rPr>
              <a:t>no</a:t>
            </a:r>
            <a:r>
              <a:rPr lang="en-US" sz="2000" spc="475" dirty="0">
                <a:solidFill>
                  <a:srgbClr val="160F52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A0833"/>
                </a:solidFill>
                <a:latin typeface="Calibri"/>
                <a:cs typeface="Calibri"/>
              </a:rPr>
              <a:t>master</a:t>
            </a:r>
            <a:r>
              <a:rPr lang="en-US" sz="2000" spc="30" dirty="0">
                <a:solidFill>
                  <a:srgbClr val="0A0833"/>
                </a:solidFill>
                <a:latin typeface="Calibri"/>
                <a:cs typeface="Calibri"/>
              </a:rPr>
              <a:t>  </a:t>
            </a:r>
            <a:r>
              <a:rPr lang="en-US" sz="2000" dirty="0">
                <a:solidFill>
                  <a:srgbClr val="363636"/>
                </a:solidFill>
                <a:latin typeface="Calibri"/>
                <a:cs typeface="Calibri"/>
              </a:rPr>
              <a:t>-</a:t>
            </a:r>
            <a:r>
              <a:rPr lang="en-US" sz="2000" spc="4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61559"/>
                </a:solidFill>
                <a:latin typeface="Calibri"/>
                <a:cs typeface="Calibri"/>
              </a:rPr>
              <a:t>slave</a:t>
            </a:r>
            <a:r>
              <a:rPr lang="en-US" sz="2000" spc="425" dirty="0">
                <a:solidFill>
                  <a:srgbClr val="16155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2F2F2F"/>
                </a:solidFill>
                <a:latin typeface="Calibri"/>
                <a:cs typeface="Calibri"/>
              </a:rPr>
              <a:t>relationship</a:t>
            </a:r>
            <a:r>
              <a:rPr lang="en-US" sz="2000" spc="509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exists </a:t>
            </a:r>
            <a:r>
              <a:rPr lang="en-US" sz="2000" dirty="0">
                <a:latin typeface="Calibri"/>
                <a:cs typeface="Calibri"/>
              </a:rPr>
              <a:t>between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them.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745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lang="en-US" sz="2000" spc="-40" dirty="0">
              <a:latin typeface="Calibri"/>
              <a:cs typeface="Calibri"/>
            </a:endParaRPr>
          </a:p>
          <a:p>
            <a:pPr marL="355600" indent="-342900" algn="just">
              <a:lnSpc>
                <a:spcPts val="2745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r>
              <a:rPr lang="en-US" sz="2000" spc="-40" dirty="0">
                <a:latin typeface="Calibri"/>
                <a:cs typeface="Calibri"/>
              </a:rPr>
              <a:t>An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example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symmetric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multiprocessing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Encore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version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 Unix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Multimax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Computer.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1187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Types of Multiprocessors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7001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1750" algn="just">
              <a:lnSpc>
                <a:spcPct val="100000"/>
              </a:lnSpc>
              <a:spcBef>
                <a:spcPts val="10"/>
              </a:spcBef>
            </a:pPr>
            <a:r>
              <a:rPr lang="en-US" sz="2400" spc="-10" dirty="0">
                <a:solidFill>
                  <a:srgbClr val="93070A"/>
                </a:solidFill>
                <a:latin typeface="Calibri"/>
                <a:cs typeface="Calibri"/>
              </a:rPr>
              <a:t>• Asymmetric</a:t>
            </a:r>
            <a:r>
              <a:rPr lang="en-US" sz="2400" spc="90" dirty="0">
                <a:solidFill>
                  <a:srgbClr val="93070A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890E08"/>
                </a:solidFill>
                <a:latin typeface="Calibri"/>
                <a:cs typeface="Calibri"/>
              </a:rPr>
              <a:t>Multiprocessors</a:t>
            </a:r>
            <a:endParaRPr lang="en-US" sz="24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700"/>
              </a:lnSpc>
              <a:spcBef>
                <a:spcPts val="7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700"/>
              </a:lnSpc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ln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asymmetric</a:t>
            </a:r>
            <a:r>
              <a:rPr lang="en-US" sz="2000" spc="4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systems,</a:t>
            </a:r>
            <a:r>
              <a:rPr lang="en-US" sz="2000" spc="5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48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given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predefined</a:t>
            </a:r>
            <a:r>
              <a:rPr lang="en-US" sz="2000" spc="4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task.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a </a:t>
            </a:r>
            <a:r>
              <a:rPr lang="en-US" sz="2000" dirty="0">
                <a:latin typeface="Calibri"/>
                <a:cs typeface="Calibri"/>
              </a:rPr>
              <a:t>master</a:t>
            </a:r>
            <a:r>
              <a:rPr lang="en-US" sz="2000" spc="1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gives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instruction</a:t>
            </a:r>
            <a:r>
              <a:rPr lang="en-US" sz="2000" spc="3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2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processors.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Asymmetric </a:t>
            </a:r>
            <a:r>
              <a:rPr lang="en-US" sz="2000" dirty="0">
                <a:latin typeface="Calibri"/>
                <a:cs typeface="Calibri"/>
              </a:rPr>
              <a:t>multiprocessor system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282480"/>
                </a:solidFill>
                <a:latin typeface="Calibri"/>
                <a:cs typeface="Calibri"/>
              </a:rPr>
              <a:t>contains</a:t>
            </a:r>
            <a:r>
              <a:rPr lang="en-US" sz="2000" spc="120" dirty="0">
                <a:solidFill>
                  <a:srgbClr val="28248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50070"/>
                </a:solidFill>
                <a:latin typeface="Calibri"/>
                <a:cs typeface="Calibri"/>
              </a:rPr>
              <a:t>a</a:t>
            </a:r>
            <a:r>
              <a:rPr lang="en-US" sz="2000" spc="25" dirty="0">
                <a:solidFill>
                  <a:srgbClr val="05007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A1852"/>
                </a:solidFill>
                <a:latin typeface="Calibri"/>
                <a:cs typeface="Calibri"/>
              </a:rPr>
              <a:t>master</a:t>
            </a:r>
            <a:r>
              <a:rPr lang="en-US" sz="2000" spc="215" dirty="0">
                <a:solidFill>
                  <a:srgbClr val="1A1852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C1848"/>
                </a:solidFill>
                <a:latin typeface="Calibri"/>
                <a:cs typeface="Calibri"/>
              </a:rPr>
              <a:t>slave</a:t>
            </a:r>
            <a:r>
              <a:rPr lang="en-US" sz="2000" spc="110" dirty="0">
                <a:solidFill>
                  <a:srgbClr val="1C1848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relationship.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565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565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Asymmetric</a:t>
            </a:r>
            <a:r>
              <a:rPr lang="en-US" sz="2000" spc="3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multiprocessor</a:t>
            </a:r>
            <a:r>
              <a:rPr lang="en-US" sz="2000" spc="1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was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1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type</a:t>
            </a:r>
            <a:r>
              <a:rPr lang="en-US" sz="2000" spc="2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multiprocessor</a:t>
            </a:r>
            <a:r>
              <a:rPr lang="en-US" sz="2000" spc="155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available</a:t>
            </a:r>
            <a:r>
              <a:rPr lang="en-US" sz="2000" dirty="0">
                <a:latin typeface="Calibri"/>
                <a:cs typeface="Calibri"/>
              </a:rPr>
              <a:t> before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symmetric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multiprocessors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were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created.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Now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also,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lang="en-US" sz="2000" spc="7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cheaper option.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6028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94114" y="381001"/>
            <a:ext cx="8453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Multiprocessor Systems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50275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53365" algn="just">
              <a:lnSpc>
                <a:spcPct val="100000"/>
              </a:lnSpc>
              <a:spcBef>
                <a:spcPts val="45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2000" spc="2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advantages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systems.</a:t>
            </a:r>
            <a:r>
              <a:rPr lang="en-US" sz="2000" spc="2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en-US" sz="2000" spc="2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0" dirty="0">
                <a:latin typeface="Calibri" panose="020F0502020204030204" pitchFamily="34" charset="0"/>
                <a:cs typeface="Calibri" panose="020F0502020204030204" pitchFamily="34" charset="0"/>
              </a:rPr>
              <a:t>are:</a:t>
            </a:r>
          </a:p>
          <a:p>
            <a:pPr marL="253365" algn="just">
              <a:lnSpc>
                <a:spcPct val="100000"/>
              </a:lnSpc>
              <a:spcBef>
                <a:spcPts val="450"/>
              </a:spcBef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5080" indent="-342900" algn="just">
              <a:lnSpc>
                <a:spcPct val="1056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z="2000" spc="4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70" dirty="0">
                <a:solidFill>
                  <a:srgbClr val="7011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reliable</a:t>
            </a:r>
            <a:r>
              <a:rPr lang="en-US" sz="2000" spc="480" dirty="0">
                <a:solidFill>
                  <a:srgbClr val="7011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200" dirty="0">
                <a:solidFill>
                  <a:srgbClr val="A501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375" dirty="0">
                <a:solidFill>
                  <a:srgbClr val="A501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system,</a:t>
            </a:r>
            <a:r>
              <a:rPr lang="en-US" sz="2000" spc="4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2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sz="2000" spc="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processor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fails,</a:t>
            </a:r>
            <a:r>
              <a:rPr lang="en-US" sz="2000" spc="204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en-US" sz="2000" spc="19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000" spc="16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halt.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2000" spc="12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18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24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17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multiprocessor</a:t>
            </a:r>
            <a:r>
              <a:rPr lang="en-US" sz="2000" spc="3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15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000" spc="1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sz="2000" spc="1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fails,</a:t>
            </a:r>
            <a:r>
              <a:rPr lang="en-US" sz="2000" spc="11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en-US" sz="2000" spc="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still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working.</a:t>
            </a: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lang="en-US" sz="20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20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becomes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slower</a:t>
            </a:r>
            <a:r>
              <a:rPr lang="en-US" sz="2000" spc="1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000" spc="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000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ground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halt.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35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4" marR="9525" indent="-342900" algn="just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en-US"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60" dirty="0">
                <a:solidFill>
                  <a:srgbClr val="8E0C0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en-US" sz="2000" spc="90" dirty="0">
                <a:solidFill>
                  <a:srgbClr val="8E0C0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85" dirty="0" err="1">
                <a:latin typeface="Calibri" panose="020F0502020204030204" pitchFamily="34" charset="0"/>
                <a:cs typeface="Calibri" panose="020F0502020204030204" pitchFamily="34" charset="0"/>
              </a:rPr>
              <a:t>wDrking</a:t>
            </a:r>
            <a:r>
              <a:rPr lang="en-US" sz="2000" spc="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tandem,</a:t>
            </a:r>
            <a:r>
              <a:rPr lang="en-US" sz="2000" spc="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en-US" sz="2000" spc="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increases</a:t>
            </a:r>
            <a:r>
              <a:rPr lang="en-US" sz="20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i.e.</a:t>
            </a:r>
            <a:r>
              <a:rPr lang="en-US" sz="2000" spc="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20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getting</a:t>
            </a:r>
            <a:r>
              <a:rPr lang="en-US" sz="2000" spc="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executed</a:t>
            </a:r>
            <a:r>
              <a:rPr lang="en-US" sz="20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per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unit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increase.</a:t>
            </a:r>
            <a:r>
              <a:rPr lang="en-US" sz="2000" spc="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increases</a:t>
            </a:r>
            <a:r>
              <a:rPr lang="en-US" sz="2000" spc="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sz="2000" spc="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just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under</a:t>
            </a:r>
            <a:r>
              <a:rPr lang="en-US" sz="2000" spc="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N.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6" marR="13970" indent="-342900" algn="just">
              <a:lnSpc>
                <a:spcPct val="103800"/>
              </a:lnSpc>
              <a:buFont typeface="Arial" panose="020B0604020202020204" pitchFamily="34" charset="0"/>
              <a:buChar char="•"/>
            </a:pPr>
            <a:r>
              <a:rPr lang="en-US" sz="2000" spc="210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z="2000" spc="4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45" dirty="0">
                <a:solidFill>
                  <a:srgbClr val="7B13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</a:t>
            </a:r>
            <a:r>
              <a:rPr lang="en-US" sz="2000" spc="470" dirty="0">
                <a:solidFill>
                  <a:srgbClr val="7B13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60" dirty="0">
                <a:solidFill>
                  <a:srgbClr val="7E131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450" dirty="0">
                <a:solidFill>
                  <a:srgbClr val="7E131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3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2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cheaper</a:t>
            </a:r>
            <a:r>
              <a:rPr lang="en-US" sz="2000" spc="2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en-US" sz="2000" spc="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single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</a:t>
            </a:r>
            <a:r>
              <a:rPr lang="en-US" sz="2000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lang="en-US" sz="2000" spc="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US"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lang="en-US"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storage,</a:t>
            </a:r>
            <a:r>
              <a:rPr lang="en-US" sz="2000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peripheral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devices,</a:t>
            </a:r>
            <a:r>
              <a:rPr lang="en-US" sz="2000" spc="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n-US" sz="2000" spc="4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supplies</a:t>
            </a:r>
            <a:r>
              <a:rPr lang="en-US" sz="2000" spc="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etc.</a:t>
            </a:r>
            <a:r>
              <a:rPr lang="en-US" sz="2000" spc="4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2000" spc="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2000" spc="4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en-US" sz="2000" spc="4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lang="en-US" sz="2000" spc="4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data,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better</a:t>
            </a:r>
            <a:r>
              <a:rPr lang="en-US" sz="2000" spc="3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spc="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schedule</a:t>
            </a:r>
            <a:r>
              <a:rPr lang="en-US" sz="2000" spc="4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en-US" sz="2000" spc="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2000" spc="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4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2000" spc="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shared</a:t>
            </a:r>
            <a:r>
              <a:rPr lang="en-US" sz="2000" spc="4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20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en-US" sz="2000" spc="3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0" dirty="0">
                <a:latin typeface="Calibri" panose="020F0502020204030204" pitchFamily="34" charset="0"/>
                <a:cs typeface="Calibri" panose="020F0502020204030204" pitchFamily="34" charset="0"/>
              </a:rPr>
              <a:t>have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different</a:t>
            </a:r>
            <a:r>
              <a:rPr lang="en-US" sz="2000" spc="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lang="en-US" sz="2000" spc="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20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 err="1">
                <a:latin typeface="Calibri" panose="020F0502020204030204" pitchFamily="34" charset="0"/>
                <a:cs typeface="Calibri" panose="020F0502020204030204" pitchFamily="34" charset="0"/>
              </a:rPr>
              <a:t>muItipIe</a:t>
            </a:r>
            <a:r>
              <a:rPr lang="en-US" sz="2000" spc="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copies</a:t>
            </a:r>
            <a:r>
              <a:rPr lang="en-US" sz="2000" spc="3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data.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20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588" y="381001"/>
            <a:ext cx="10067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9020">
              <a:lnSpc>
                <a:spcPct val="100000"/>
              </a:lnSpc>
              <a:spcBef>
                <a:spcPts val="125"/>
              </a:spcBef>
            </a:pPr>
            <a:r>
              <a:rPr lang="en-US" sz="3200" b="1" spc="20" dirty="0">
                <a:latin typeface="Calibri" panose="020F0502020204030204" pitchFamily="34" charset="0"/>
                <a:cs typeface="Calibri" panose="020F0502020204030204" pitchFamily="34" charset="0"/>
              </a:rPr>
              <a:t>Disadvantages of Multiprocessor Systems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43370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54635">
              <a:lnSpc>
                <a:spcPct val="100000"/>
              </a:lnSpc>
              <a:spcBef>
                <a:spcPts val="6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are some disadvantages as well to multiprocessor systems. Some of</a:t>
            </a:r>
          </a:p>
          <a:p>
            <a:pPr marL="252095">
              <a:lnSpc>
                <a:spcPct val="100000"/>
              </a:lnSpc>
              <a:spcBef>
                <a:spcPts val="1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these are:</a:t>
            </a:r>
          </a:p>
          <a:p>
            <a:pPr marL="356235" marR="55880" indent="-342900">
              <a:lnSpc>
                <a:spcPct val="102299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lncreased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Expense Even though multiprocessor systems are cheaper in the long run than using multiple computer systems, still they are quite expensive. It is much cheaper to buy a simple single processor system than a multiprocessor system.</a:t>
            </a:r>
          </a:p>
          <a:p>
            <a:pPr marL="342900" indent="-342900">
              <a:lnSpc>
                <a:spcPct val="1000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6" marR="92075" indent="-342900">
              <a:lnSpc>
                <a:spcPct val="10069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Complicated Operating System Required There are multiple processors in a multiprocessor system that share peripherals, memory etc. So, it is much more complicated to schedule processes and impart resources to processes, than in single processor systems. Hence, a more complex and complicated operating system is required in multiprocessor systems.</a:t>
            </a:r>
          </a:p>
          <a:p>
            <a:pPr marL="34290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Large Main Memory Required All the processors in the multiprocessor system share the memory. So a much larger pool of memory is required as compared to single processor systems.</a:t>
            </a:r>
          </a:p>
        </p:txBody>
      </p:sp>
    </p:spTree>
    <p:extLst>
      <p:ext uri="{BB962C8B-B14F-4D97-AF65-F5344CB8AC3E}">
        <p14:creationId xmlns:p14="http://schemas.microsoft.com/office/powerpoint/2010/main" val="2776023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Coupling of Processors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3214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5240">
              <a:lnSpc>
                <a:spcPct val="100000"/>
              </a:lnSpc>
              <a:spcBef>
                <a:spcPts val="1160"/>
              </a:spcBef>
            </a:pPr>
            <a:r>
              <a:rPr lang="en-US" sz="2000" dirty="0">
                <a:latin typeface="Calibri"/>
                <a:cs typeface="Calibri"/>
              </a:rPr>
              <a:t>Tightly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Coupled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490855" indent="-149860">
              <a:lnSpc>
                <a:spcPct val="100000"/>
              </a:lnSpc>
              <a:spcBef>
                <a:spcPts val="1040"/>
              </a:spcBef>
              <a:buChar char="-"/>
              <a:tabLst>
                <a:tab pos="490855" algn="l"/>
              </a:tabLst>
            </a:pPr>
            <a:r>
              <a:rPr lang="en-US" sz="2000" dirty="0">
                <a:latin typeface="Calibri"/>
                <a:cs typeface="Calibri"/>
              </a:rPr>
              <a:t>Tasks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and/or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communicate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highly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synchronized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fashion</a:t>
            </a:r>
            <a:endParaRPr lang="en-US" sz="2000" dirty="0">
              <a:latin typeface="Calibri"/>
              <a:cs typeface="Calibri"/>
            </a:endParaRPr>
          </a:p>
          <a:p>
            <a:pPr marL="488950" indent="-147955">
              <a:lnSpc>
                <a:spcPct val="100000"/>
              </a:lnSpc>
              <a:spcBef>
                <a:spcPts val="190"/>
              </a:spcBef>
              <a:buChar char="-"/>
              <a:tabLst>
                <a:tab pos="488950" algn="l"/>
              </a:tabLst>
            </a:pPr>
            <a:r>
              <a:rPr lang="en-US" sz="2000" dirty="0">
                <a:latin typeface="Calibri"/>
                <a:cs typeface="Calibri"/>
              </a:rPr>
              <a:t>Communicates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through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common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shared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endParaRPr lang="en-US" sz="2000" dirty="0">
              <a:latin typeface="Calibri"/>
              <a:cs typeface="Calibri"/>
            </a:endParaRPr>
          </a:p>
          <a:p>
            <a:pPr marL="483870" indent="-152400">
              <a:lnSpc>
                <a:spcPct val="100000"/>
              </a:lnSpc>
              <a:spcBef>
                <a:spcPts val="260"/>
              </a:spcBef>
              <a:buChar char="-"/>
              <a:tabLst>
                <a:tab pos="483870" algn="l"/>
              </a:tabLst>
            </a:pPr>
            <a:r>
              <a:rPr lang="en-US" sz="2000" dirty="0">
                <a:latin typeface="Calibri"/>
                <a:cs typeface="Calibri"/>
              </a:rPr>
              <a:t>Shared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lang="en-US" sz="2000" dirty="0">
                <a:latin typeface="Calibri"/>
                <a:cs typeface="Calibri"/>
              </a:rPr>
              <a:t>Loosely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Coupled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490855" indent="-149860">
              <a:lnSpc>
                <a:spcPct val="100000"/>
              </a:lnSpc>
              <a:spcBef>
                <a:spcPts val="975"/>
              </a:spcBef>
              <a:buChar char="-"/>
              <a:tabLst>
                <a:tab pos="490855" algn="l"/>
              </a:tabLst>
            </a:pPr>
            <a:r>
              <a:rPr lang="en-US" sz="2000" dirty="0">
                <a:latin typeface="Calibri"/>
                <a:cs typeface="Calibri"/>
              </a:rPr>
              <a:t>Tasks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45" dirty="0" err="1">
                <a:latin typeface="Calibri"/>
                <a:cs typeface="Calibri"/>
              </a:rPr>
              <a:t>cir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do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communicate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synchronized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fashion</a:t>
            </a:r>
            <a:endParaRPr lang="en-US" sz="2000" dirty="0">
              <a:latin typeface="Calibri"/>
              <a:cs typeface="Calibri"/>
            </a:endParaRPr>
          </a:p>
          <a:p>
            <a:pPr marL="488950" indent="-147955">
              <a:lnSpc>
                <a:spcPct val="100000"/>
              </a:lnSpc>
              <a:buChar char="-"/>
              <a:tabLst>
                <a:tab pos="488950" algn="l"/>
              </a:tabLst>
            </a:pPr>
            <a:r>
              <a:rPr lang="en-US" sz="2000" dirty="0">
                <a:latin typeface="Calibri"/>
                <a:cs typeface="Calibri"/>
              </a:rPr>
              <a:t>Communicates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message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passing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packets</a:t>
            </a:r>
            <a:endParaRPr lang="en-US" sz="2000" dirty="0">
              <a:latin typeface="Calibri"/>
              <a:cs typeface="Calibri"/>
            </a:endParaRPr>
          </a:p>
          <a:p>
            <a:pPr marL="489584" indent="-158115">
              <a:lnSpc>
                <a:spcPct val="100000"/>
              </a:lnSpc>
              <a:buChar char="-"/>
              <a:tabLst>
                <a:tab pos="489584" algn="l"/>
              </a:tabLst>
            </a:pPr>
            <a:r>
              <a:rPr lang="en-US" sz="2000" dirty="0">
                <a:latin typeface="Calibri"/>
                <a:cs typeface="Calibri"/>
              </a:rPr>
              <a:t>Overhead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 data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exchange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is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high</a:t>
            </a:r>
            <a:endParaRPr lang="en-US" sz="2000" dirty="0">
              <a:latin typeface="Calibri"/>
              <a:cs typeface="Calibri"/>
            </a:endParaRPr>
          </a:p>
          <a:p>
            <a:pPr marL="488315" indent="-147320">
              <a:lnSpc>
                <a:spcPct val="100000"/>
              </a:lnSpc>
              <a:buClr>
                <a:srgbClr val="131313"/>
              </a:buClr>
              <a:buChar char="-"/>
              <a:tabLst>
                <a:tab pos="488315" algn="l"/>
              </a:tabLst>
            </a:pPr>
            <a:r>
              <a:rPr lang="en-US" sz="2000" dirty="0">
                <a:latin typeface="Calibri"/>
                <a:cs typeface="Calibri"/>
              </a:rPr>
              <a:t>Distributed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63869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20" dirty="0">
                <a:solidFill>
                  <a:srgbClr val="950A0E"/>
                </a:solidFill>
                <a:latin typeface="Calibri"/>
                <a:cs typeface="Calibri"/>
              </a:rPr>
              <a:t>Interconnection</a:t>
            </a:r>
            <a:r>
              <a:rPr lang="en-US" sz="3200" b="1" spc="-90" dirty="0">
                <a:solidFill>
                  <a:srgbClr val="950A0E"/>
                </a:solidFill>
                <a:latin typeface="Calibri"/>
                <a:cs typeface="Calibri"/>
              </a:rPr>
              <a:t> </a:t>
            </a:r>
            <a:r>
              <a:rPr lang="en-US" sz="3200" b="1" spc="-10" dirty="0">
                <a:solidFill>
                  <a:srgbClr val="8E0000"/>
                </a:solidFill>
                <a:latin typeface="Calibri"/>
                <a:cs typeface="Calibri"/>
              </a:rPr>
              <a:t>Structure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46202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0320" marR="5080" indent="1905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components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form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multiprocessor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CPUs,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IOPs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connected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input-</a:t>
            </a:r>
            <a:r>
              <a:rPr lang="en-US" sz="2000" dirty="0">
                <a:latin typeface="Calibri"/>
                <a:cs typeface="Calibri"/>
              </a:rPr>
              <a:t>output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devices,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unit.</a:t>
            </a:r>
            <a:endParaRPr lang="en-US" sz="2000" dirty="0">
              <a:latin typeface="Calibri"/>
              <a:cs typeface="Calibri"/>
            </a:endParaRPr>
          </a:p>
          <a:p>
            <a:pPr marL="22225" marR="138430" indent="635">
              <a:lnSpc>
                <a:spcPct val="100000"/>
              </a:lnSpc>
            </a:pPr>
            <a:r>
              <a:rPr lang="en-US" sz="2000" spc="-10" dirty="0">
                <a:latin typeface="Calibri"/>
                <a:cs typeface="Calibri"/>
              </a:rPr>
              <a:t>The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interconnection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between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components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different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physical configurations,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depending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number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transfer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paths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available.</a:t>
            </a:r>
          </a:p>
          <a:p>
            <a:pPr marL="22225" marR="138430" indent="635">
              <a:lnSpc>
                <a:spcPct val="100000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365125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29870" algn="l"/>
              </a:tabLst>
            </a:pPr>
            <a:r>
              <a:rPr lang="en-US" sz="2000" spc="-10" dirty="0">
                <a:latin typeface="Calibri"/>
                <a:cs typeface="Calibri"/>
              </a:rPr>
              <a:t>Between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shared memory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>
              <a:lnSpc>
                <a:spcPts val="2680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229870" algn="l"/>
              </a:tabLst>
            </a:pPr>
            <a:r>
              <a:rPr lang="en-US" sz="2000" dirty="0">
                <a:latin typeface="Calibri"/>
                <a:cs typeface="Calibri"/>
              </a:rPr>
              <a:t>Among 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elements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loosely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coupled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13335" marR="83820" indent="9525">
              <a:lnSpc>
                <a:spcPts val="2780"/>
              </a:lnSpc>
              <a:spcBef>
                <a:spcPts val="1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13335" marR="83820" indent="9525">
              <a:lnSpc>
                <a:spcPts val="2780"/>
              </a:lnSpc>
              <a:spcBef>
                <a:spcPts val="10"/>
              </a:spcBef>
            </a:pP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several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physical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forms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available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establishing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interconnection network.</a:t>
            </a:r>
            <a:endParaRPr lang="en-US" sz="2000" dirty="0">
              <a:latin typeface="Calibri"/>
              <a:cs typeface="Calibri"/>
            </a:endParaRPr>
          </a:p>
          <a:p>
            <a:pPr marL="19050" marR="4915535" indent="-1270">
              <a:lnSpc>
                <a:spcPts val="3190"/>
              </a:lnSpc>
            </a:pPr>
            <a:r>
              <a:rPr lang="en-US" sz="2000" spc="-30" dirty="0">
                <a:latin typeface="Calibri"/>
                <a:cs typeface="Calibri"/>
              </a:rPr>
              <a:t>1.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5" dirty="0">
                <a:latin typeface="Calibri"/>
                <a:cs typeface="Calibri"/>
              </a:rPr>
              <a:t>Time-</a:t>
            </a:r>
            <a:r>
              <a:rPr lang="en-US" sz="2000" spc="-45" dirty="0">
                <a:latin typeface="Calibri"/>
                <a:cs typeface="Calibri"/>
              </a:rPr>
              <a:t>shared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spc="-65" dirty="0">
                <a:latin typeface="Calibri"/>
                <a:cs typeface="Calibri"/>
              </a:rPr>
              <a:t>common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bus </a:t>
            </a:r>
          </a:p>
          <a:p>
            <a:pPr marL="19050" marR="4915535" indent="-1270">
              <a:lnSpc>
                <a:spcPts val="3190"/>
              </a:lnSpc>
            </a:pPr>
            <a:r>
              <a:rPr lang="en-US" sz="2000" spc="-55" dirty="0">
                <a:latin typeface="Calibri"/>
                <a:cs typeface="Calibri"/>
              </a:rPr>
              <a:t>2.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65" dirty="0">
                <a:latin typeface="Calibri"/>
                <a:cs typeface="Calibri"/>
              </a:rPr>
              <a:t>Multiport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endParaRPr lang="en-US" sz="2000" dirty="0">
              <a:latin typeface="Calibri"/>
              <a:cs typeface="Calibri"/>
            </a:endParaRPr>
          </a:p>
          <a:p>
            <a:pPr marL="16510">
              <a:lnSpc>
                <a:spcPts val="3060"/>
              </a:lnSpc>
            </a:pPr>
            <a:r>
              <a:rPr lang="en-US" sz="2000" spc="-20" dirty="0">
                <a:latin typeface="Calibri"/>
                <a:cs typeface="Calibri"/>
              </a:rPr>
              <a:t>3.</a:t>
            </a:r>
            <a:r>
              <a:rPr lang="en-US" sz="2000" spc="-14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Crossbar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switch</a:t>
            </a:r>
            <a:endParaRPr lang="en-US" sz="2000" dirty="0">
              <a:latin typeface="Calibri"/>
              <a:cs typeface="Calibri"/>
            </a:endParaRPr>
          </a:p>
          <a:p>
            <a:pPr marL="17780" marR="4385310" indent="635">
              <a:lnSpc>
                <a:spcPts val="3190"/>
              </a:lnSpc>
              <a:spcBef>
                <a:spcPts val="160"/>
              </a:spcBef>
            </a:pP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5037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E0F0F"/>
                </a:solidFill>
                <a:latin typeface="Calibri"/>
                <a:cs typeface="Calibri"/>
              </a:rPr>
              <a:t>Time</a:t>
            </a:r>
            <a:r>
              <a:rPr lang="en-US" sz="3200" spc="-125" dirty="0">
                <a:solidFill>
                  <a:srgbClr val="8E0F0F"/>
                </a:solidFill>
                <a:latin typeface="Calibri"/>
                <a:cs typeface="Calibri"/>
              </a:rPr>
              <a:t> </a:t>
            </a:r>
            <a:r>
              <a:rPr lang="en-US" sz="3200" spc="-20" dirty="0">
                <a:solidFill>
                  <a:srgbClr val="7C1F1C"/>
                </a:solidFill>
                <a:latin typeface="Calibri"/>
                <a:cs typeface="Calibri"/>
              </a:rPr>
              <a:t>Shared</a:t>
            </a:r>
            <a:r>
              <a:rPr lang="en-US" sz="3200" spc="-95" dirty="0">
                <a:solidFill>
                  <a:srgbClr val="7C1F1C"/>
                </a:solidFill>
                <a:latin typeface="Calibri"/>
                <a:cs typeface="Calibri"/>
              </a:rPr>
              <a:t> </a:t>
            </a:r>
            <a:r>
              <a:rPr lang="en-US" sz="3200" spc="-25" dirty="0">
                <a:solidFill>
                  <a:srgbClr val="7B0C0C"/>
                </a:solidFill>
                <a:latin typeface="Calibri"/>
                <a:cs typeface="Calibri"/>
              </a:rPr>
              <a:t>Common</a:t>
            </a:r>
            <a:r>
              <a:rPr lang="en-US" sz="3200" spc="-135" dirty="0">
                <a:solidFill>
                  <a:srgbClr val="7B0C0C"/>
                </a:solidFill>
                <a:latin typeface="Calibri"/>
                <a:cs typeface="Calibri"/>
              </a:rPr>
              <a:t> </a:t>
            </a:r>
            <a:r>
              <a:rPr lang="en-US" sz="3200" spc="-25" dirty="0">
                <a:solidFill>
                  <a:srgbClr val="8C110F"/>
                </a:solidFill>
                <a:latin typeface="Calibri"/>
                <a:cs typeface="Calibri"/>
              </a:rPr>
              <a:t>Bus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4750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7345" algn="l"/>
                <a:tab pos="2043430" algn="l"/>
                <a:tab pos="3949065" algn="l"/>
                <a:tab pos="4938395" algn="l"/>
                <a:tab pos="6024245" algn="l"/>
                <a:tab pos="6424295" algn="l"/>
                <a:tab pos="6729730" algn="l"/>
                <a:tab pos="7814945" algn="l"/>
                <a:tab pos="8225155" algn="l"/>
              </a:tabLst>
            </a:pPr>
            <a:r>
              <a:rPr lang="en-US" sz="2000" spc="-5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75" dirty="0">
                <a:latin typeface="Calibri"/>
                <a:cs typeface="Calibri"/>
              </a:rPr>
              <a:t>common-</a:t>
            </a:r>
            <a:r>
              <a:rPr lang="en-US" sz="2000" spc="-25" dirty="0">
                <a:latin typeface="Calibri"/>
                <a:cs typeface="Calibri"/>
              </a:rPr>
              <a:t>bus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multiprocessor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consists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5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number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35" dirty="0">
                <a:latin typeface="Calibri"/>
                <a:cs typeface="Calibri"/>
              </a:rPr>
              <a:t>processors</a:t>
            </a:r>
            <a:endParaRPr lang="en-US" sz="2000" dirty="0">
              <a:latin typeface="Calibri"/>
              <a:cs typeface="Calibri"/>
            </a:endParaRPr>
          </a:p>
          <a:p>
            <a:pPr marL="14604">
              <a:lnSpc>
                <a:spcPts val="2620"/>
              </a:lnSpc>
            </a:pPr>
            <a:r>
              <a:rPr lang="en-US" sz="2000" dirty="0">
                <a:latin typeface="Calibri"/>
                <a:cs typeface="Calibri"/>
              </a:rPr>
              <a:t>connected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through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F0877"/>
                </a:solidFill>
                <a:latin typeface="Calibri"/>
                <a:cs typeface="Calibri"/>
              </a:rPr>
              <a:t>common</a:t>
            </a:r>
            <a:r>
              <a:rPr lang="en-US" sz="2000" spc="130" dirty="0">
                <a:solidFill>
                  <a:srgbClr val="0F0877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C0A8C"/>
                </a:solidFill>
                <a:latin typeface="Calibri"/>
                <a:cs typeface="Calibri"/>
              </a:rPr>
              <a:t>path</a:t>
            </a:r>
            <a:r>
              <a:rPr lang="en-US" sz="2000" spc="60" dirty="0">
                <a:solidFill>
                  <a:srgbClr val="0C0A8C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unit.</a:t>
            </a:r>
            <a:endParaRPr lang="en-US" sz="2000" dirty="0">
              <a:latin typeface="Calibri"/>
              <a:cs typeface="Calibri"/>
            </a:endParaRPr>
          </a:p>
          <a:p>
            <a:pPr marL="357505" indent="-34290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  <a:tabLst>
                <a:tab pos="261620" algn="l"/>
                <a:tab pos="4820285" algn="l"/>
              </a:tabLst>
            </a:pP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communicate</a:t>
            </a:r>
            <a:r>
              <a:rPr lang="en-US" sz="2000" dirty="0">
                <a:latin typeface="Calibri"/>
                <a:cs typeface="Calibri"/>
              </a:rPr>
              <a:t> with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another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</a:t>
            </a:r>
            <a:r>
              <a:rPr lang="en-US" sz="2000" dirty="0">
                <a:latin typeface="Calibri"/>
                <a:cs typeface="Calibri"/>
              </a:rPr>
              <a:t> at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any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given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time.</a:t>
            </a:r>
            <a:endParaRPr lang="en-US" sz="2000" dirty="0">
              <a:latin typeface="Calibri"/>
              <a:cs typeface="Calibri"/>
            </a:endParaRPr>
          </a:p>
          <a:p>
            <a:pPr marL="356871" indent="-342900">
              <a:lnSpc>
                <a:spcPts val="2720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231775" algn="l"/>
              </a:tabLst>
            </a:pP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consequence,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total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overall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transfer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rate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within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system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limited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by</a:t>
            </a:r>
            <a:r>
              <a:rPr lang="en-US" sz="2000" dirty="0">
                <a:latin typeface="Calibri"/>
                <a:cs typeface="Calibri"/>
              </a:rPr>
              <a:t> the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speed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path.</a:t>
            </a:r>
            <a:endParaRPr lang="en-US" sz="2000" dirty="0">
              <a:latin typeface="Calibri"/>
              <a:cs typeface="Calibri"/>
            </a:endParaRPr>
          </a:p>
          <a:p>
            <a:pPr marL="354964" marR="11430" indent="-342900">
              <a:lnSpc>
                <a:spcPts val="2700"/>
              </a:lnSpc>
              <a:spcBef>
                <a:spcPts val="165"/>
              </a:spcBef>
              <a:buFont typeface="Arial" panose="020B0604020202020204" pitchFamily="34" charset="0"/>
              <a:buChar char="•"/>
              <a:tabLst>
                <a:tab pos="1022985" algn="l"/>
                <a:tab pos="7332345" algn="l"/>
              </a:tabLst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more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economical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implementation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2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dual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structure</a:t>
            </a:r>
            <a:r>
              <a:rPr lang="en-US" sz="2000" dirty="0">
                <a:latin typeface="Calibri"/>
                <a:cs typeface="Calibri"/>
              </a:rPr>
              <a:t> is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depicted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lang="en-US" sz="2000" spc="22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Fig. </a:t>
            </a:r>
            <a:r>
              <a:rPr lang="en-US" sz="2000" spc="-10" dirty="0">
                <a:latin typeface="Calibri"/>
                <a:cs typeface="Calibri"/>
              </a:rPr>
              <a:t>below.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>
              <a:lnSpc>
                <a:spcPts val="26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Part</a:t>
            </a:r>
            <a:r>
              <a:rPr lang="en-US" sz="2000" spc="1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local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2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may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cache</a:t>
            </a:r>
            <a:r>
              <a:rPr lang="en-US" sz="2000" i="1" spc="18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memory</a:t>
            </a:r>
            <a:r>
              <a:rPr lang="en-US" sz="2000" i="1" spc="25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attached</a:t>
            </a:r>
            <a:r>
              <a:rPr lang="en-US" sz="2000" i="1" spc="26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to</a:t>
            </a:r>
            <a:r>
              <a:rPr lang="en-US" sz="2000" i="1" spc="185" dirty="0">
                <a:latin typeface="Calibri"/>
                <a:cs typeface="Calibri"/>
              </a:rPr>
              <a:t> </a:t>
            </a:r>
            <a:r>
              <a:rPr lang="en-US" sz="2000" i="1" spc="-25" dirty="0">
                <a:latin typeface="Calibri"/>
                <a:cs typeface="Calibri"/>
              </a:rPr>
              <a:t>the CPU.</a:t>
            </a: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391" y="3721878"/>
            <a:ext cx="1828800" cy="771525"/>
          </a:xfrm>
          <a:prstGeom prst="rect">
            <a:avLst/>
          </a:prstGeom>
        </p:spPr>
      </p:pic>
      <p:pic>
        <p:nvPicPr>
          <p:cNvPr id="6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9178" y="5063931"/>
            <a:ext cx="695325" cy="581025"/>
          </a:xfrm>
          <a:prstGeom prst="rect">
            <a:avLst/>
          </a:prstGeom>
        </p:spPr>
      </p:pic>
      <p:pic>
        <p:nvPicPr>
          <p:cNvPr id="7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2178" y="5054406"/>
            <a:ext cx="676275" cy="590550"/>
          </a:xfrm>
          <a:prstGeom prst="rect">
            <a:avLst/>
          </a:prstGeom>
        </p:spPr>
      </p:pic>
      <p:pic>
        <p:nvPicPr>
          <p:cNvPr id="10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6128" y="5025831"/>
            <a:ext cx="695325" cy="619125"/>
          </a:xfrm>
          <a:prstGeom prst="rect">
            <a:avLst/>
          </a:prstGeom>
        </p:spPr>
      </p:pic>
      <p:pic>
        <p:nvPicPr>
          <p:cNvPr id="11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01978" y="5063931"/>
            <a:ext cx="685800" cy="581025"/>
          </a:xfrm>
          <a:prstGeom prst="rect">
            <a:avLst/>
          </a:prstGeom>
        </p:spPr>
      </p:pic>
      <p:pic>
        <p:nvPicPr>
          <p:cNvPr id="12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21153" y="5063931"/>
            <a:ext cx="685800" cy="581025"/>
          </a:xfrm>
          <a:prstGeom prst="rect">
            <a:avLst/>
          </a:prstGeom>
        </p:spPr>
      </p:pic>
      <p:pic>
        <p:nvPicPr>
          <p:cNvPr id="13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11202" y="6020222"/>
            <a:ext cx="3305175" cy="18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703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891D18"/>
                </a:solidFill>
                <a:latin typeface="Calibri"/>
                <a:cs typeface="Calibri"/>
              </a:rPr>
              <a:t>MuItiport</a:t>
            </a:r>
            <a:r>
              <a:rPr lang="en-US" sz="3200" spc="265" dirty="0">
                <a:solidFill>
                  <a:srgbClr val="891D18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8A0005"/>
                </a:solidFill>
                <a:latin typeface="Calibri"/>
                <a:cs typeface="Calibri"/>
              </a:rPr>
              <a:t>Memory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674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>
              <a:lnSpc>
                <a:spcPts val="2425"/>
              </a:lnSpc>
              <a:spcBef>
                <a:spcPts val="100"/>
              </a:spcBef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multiport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employs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separate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buses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between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module</a:t>
            </a:r>
            <a:endParaRPr lang="en-US" sz="2000" dirty="0">
              <a:latin typeface="Calibri"/>
              <a:cs typeface="Calibri"/>
            </a:endParaRPr>
          </a:p>
          <a:p>
            <a:pPr marL="14604">
              <a:lnSpc>
                <a:spcPts val="2475"/>
              </a:lnSpc>
            </a:pPr>
            <a:r>
              <a:rPr lang="en-US" sz="2000" spc="-35" dirty="0">
                <a:latin typeface="Calibri"/>
                <a:cs typeface="Calibri"/>
              </a:rPr>
              <a:t>and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each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CPU.</a:t>
            </a:r>
            <a:endParaRPr lang="en-US" sz="2000" dirty="0">
              <a:latin typeface="Calibri"/>
              <a:cs typeface="Calibri"/>
            </a:endParaRPr>
          </a:p>
          <a:p>
            <a:pPr marL="15240">
              <a:lnSpc>
                <a:spcPts val="2390"/>
              </a:lnSpc>
            </a:pP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module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must</a:t>
            </a:r>
            <a:r>
              <a:rPr lang="en-US" spc="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have</a:t>
            </a:r>
            <a:r>
              <a:rPr lang="en-US" spc="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internal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control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logic</a:t>
            </a:r>
            <a:r>
              <a:rPr lang="en-US" spc="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determine</a:t>
            </a:r>
            <a:r>
              <a:rPr lang="en-US" spc="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port</a:t>
            </a:r>
            <a:r>
              <a:rPr lang="en-US" spc="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will</a:t>
            </a:r>
            <a:r>
              <a:rPr lang="en-US" spc="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have</a:t>
            </a:r>
            <a:r>
              <a:rPr lang="en-US" spc="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access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any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given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time,</a:t>
            </a:r>
            <a:r>
              <a:rPr lang="en-US" sz="2000" dirty="0">
                <a:latin typeface="Calibri"/>
                <a:cs typeface="Calibri"/>
              </a:rPr>
              <a:t> Memory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conflicts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resolved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assigning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fixed</a:t>
            </a:r>
            <a:r>
              <a:rPr lang="en-US" sz="2000" spc="19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priorities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 port.</a:t>
            </a:r>
            <a:endParaRPr lang="en-US" sz="2000" dirty="0">
              <a:latin typeface="Calibri"/>
              <a:cs typeface="Calibri"/>
            </a:endParaRPr>
          </a:p>
          <a:p>
            <a:pPr marL="14604">
              <a:lnSpc>
                <a:spcPts val="2415"/>
              </a:lnSpc>
            </a:pPr>
            <a:r>
              <a:rPr lang="en-US" sz="2000" b="1" i="1" spc="-10" dirty="0">
                <a:solidFill>
                  <a:srgbClr val="2A2A2A"/>
                </a:solidFill>
                <a:latin typeface="Calibri"/>
                <a:cs typeface="Calibri"/>
              </a:rPr>
              <a:t>Adv..</a:t>
            </a:r>
            <a:endParaRPr lang="en-US" sz="2000" b="1" dirty="0">
              <a:latin typeface="Calibri"/>
              <a:cs typeface="Calibri"/>
            </a:endParaRPr>
          </a:p>
          <a:p>
            <a:pPr marL="300990" indent="-285750">
              <a:lnSpc>
                <a:spcPts val="2380"/>
              </a:lnSpc>
              <a:buFont typeface="Arial" panose="020B0604020202020204" pitchFamily="34" charset="0"/>
              <a:buChar char="•"/>
              <a:tabLst>
                <a:tab pos="204470" algn="l"/>
              </a:tabLst>
            </a:pP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transfer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rate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achieved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because</a:t>
            </a:r>
            <a:r>
              <a:rPr lang="en-US" spc="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multiple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paths.</a:t>
            </a:r>
            <a:endParaRPr lang="en-US" dirty="0">
              <a:latin typeface="Calibri"/>
              <a:cs typeface="Calibri"/>
            </a:endParaRPr>
          </a:p>
          <a:p>
            <a:pPr marL="15240">
              <a:lnSpc>
                <a:spcPts val="2430"/>
              </a:lnSpc>
              <a:spcBef>
                <a:spcPts val="100"/>
              </a:spcBef>
            </a:pPr>
            <a:r>
              <a:rPr lang="en-US" sz="2000" b="1" i="1" spc="-10" dirty="0" err="1">
                <a:solidFill>
                  <a:srgbClr val="111111"/>
                </a:solidFill>
                <a:latin typeface="Calibri"/>
                <a:cs typeface="Calibri"/>
              </a:rPr>
              <a:t>Disadv</a:t>
            </a:r>
            <a:r>
              <a:rPr lang="en-US" sz="2000" b="1" i="1" spc="-10" dirty="0">
                <a:solidFill>
                  <a:srgbClr val="111111"/>
                </a:solidFill>
                <a:latin typeface="Calibri"/>
                <a:cs typeface="Calibri"/>
              </a:rPr>
              <a:t>.:</a:t>
            </a:r>
            <a:endParaRPr lang="en-US" sz="2000" b="1" dirty="0">
              <a:latin typeface="Calibri"/>
              <a:cs typeface="Calibri"/>
            </a:endParaRPr>
          </a:p>
          <a:p>
            <a:pPr marL="358140" indent="-342900">
              <a:lnSpc>
                <a:spcPts val="2430"/>
              </a:lnSpc>
              <a:buFont typeface="Arial" panose="020B0604020202020204" pitchFamily="34" charset="0"/>
              <a:buChar char="•"/>
              <a:tabLst>
                <a:tab pos="270510" algn="l"/>
                <a:tab pos="1529080" algn="l"/>
                <a:tab pos="2683510" algn="l"/>
                <a:tab pos="3691254" algn="l"/>
                <a:tab pos="4559935" algn="l"/>
                <a:tab pos="5167630" algn="l"/>
                <a:tab pos="5681980" algn="l"/>
                <a:tab pos="6569709" algn="l"/>
                <a:tab pos="7520305" algn="l"/>
                <a:tab pos="7853680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4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requires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expensive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control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logic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and</a:t>
            </a:r>
            <a:r>
              <a:rPr lang="en-US" sz="2000" dirty="0">
                <a:latin typeface="Calibri"/>
                <a:cs typeface="Calibri"/>
              </a:rPr>
              <a:t>	a</a:t>
            </a:r>
            <a:r>
              <a:rPr lang="en-US" sz="2000" spc="4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large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number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cables</a:t>
            </a:r>
            <a:r>
              <a:rPr lang="en-US" sz="2000" spc="30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and</a:t>
            </a:r>
            <a:endParaRPr lang="en-US" sz="2000" dirty="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65"/>
              </a:spcBef>
            </a:pPr>
            <a:r>
              <a:rPr lang="en-US" spc="-10" dirty="0">
                <a:latin typeface="Calibri"/>
                <a:cs typeface="Calibri"/>
              </a:rPr>
              <a:t>connections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2262" y="3514725"/>
            <a:ext cx="63912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678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20C16"/>
                </a:solidFill>
                <a:latin typeface="Calibri"/>
                <a:cs typeface="Calibri"/>
              </a:rPr>
              <a:t>Cross</a:t>
            </a:r>
            <a:r>
              <a:rPr lang="en-US" sz="3200" spc="-40" dirty="0">
                <a:solidFill>
                  <a:srgbClr val="820C16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srgbClr val="77050F"/>
                </a:solidFill>
                <a:latin typeface="Calibri"/>
                <a:cs typeface="Calibri"/>
              </a:rPr>
              <a:t>Bar</a:t>
            </a:r>
            <a:r>
              <a:rPr lang="en-US" sz="3200" spc="-140" dirty="0">
                <a:solidFill>
                  <a:srgbClr val="77050F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79131F"/>
                </a:solidFill>
                <a:latin typeface="Calibri"/>
                <a:cs typeface="Calibri"/>
              </a:rPr>
              <a:t>Switch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62581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9050" marR="13970" indent="-4445">
              <a:lnSpc>
                <a:spcPts val="2440"/>
              </a:lnSpc>
              <a:tabLst>
                <a:tab pos="977265" algn="l"/>
                <a:tab pos="7572375" algn="l"/>
              </a:tabLst>
            </a:pPr>
            <a:r>
              <a:rPr lang="en-US" sz="2000" spc="-10" dirty="0">
                <a:latin typeface="Calibri"/>
                <a:cs typeface="Calibri"/>
              </a:rPr>
              <a:t>Consists</a:t>
            </a:r>
            <a:r>
              <a:rPr lang="en-US" sz="2000" dirty="0">
                <a:latin typeface="Calibri"/>
                <a:cs typeface="Calibri"/>
              </a:rPr>
              <a:t>	of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number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18117C"/>
                </a:solidFill>
                <a:latin typeface="Calibri"/>
                <a:cs typeface="Calibri"/>
              </a:rPr>
              <a:t>crosspoints</a:t>
            </a:r>
            <a:r>
              <a:rPr lang="en-US" sz="2000" i="1" spc="370" dirty="0">
                <a:solidFill>
                  <a:srgbClr val="18117C"/>
                </a:solidFill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that</a:t>
            </a:r>
            <a:r>
              <a:rPr lang="en-US" sz="2000" i="1" spc="24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ore</a:t>
            </a:r>
            <a:r>
              <a:rPr lang="en-US" sz="2000" i="1" spc="24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placed</a:t>
            </a:r>
            <a:r>
              <a:rPr lang="en-US" sz="2000" i="1" spc="360" dirty="0">
                <a:latin typeface="Calibri"/>
                <a:cs typeface="Calibri"/>
              </a:rPr>
              <a:t> </a:t>
            </a:r>
            <a:r>
              <a:rPr lang="en-US" sz="2000" i="1" dirty="0" err="1">
                <a:latin typeface="Calibri"/>
                <a:cs typeface="Calibri"/>
              </a:rPr>
              <a:t>ot</a:t>
            </a:r>
            <a:r>
              <a:rPr lang="en-US" sz="2000" i="1" spc="23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intersections</a:t>
            </a:r>
            <a:r>
              <a:rPr lang="en-US" sz="2000" i="1" dirty="0">
                <a:latin typeface="Calibri"/>
                <a:cs typeface="Calibri"/>
              </a:rPr>
              <a:t>	between</a:t>
            </a:r>
            <a:r>
              <a:rPr lang="en-US" sz="2000" i="1" spc="170" dirty="0">
                <a:latin typeface="Calibri"/>
                <a:cs typeface="Calibri"/>
              </a:rPr>
              <a:t> </a:t>
            </a:r>
            <a:r>
              <a:rPr lang="en-US" sz="2000" i="1" spc="-30" dirty="0">
                <a:latin typeface="Calibri"/>
                <a:cs typeface="Calibri"/>
              </a:rPr>
              <a:t>processor </a:t>
            </a:r>
            <a:r>
              <a:rPr lang="en-US" sz="2000" i="1" dirty="0">
                <a:latin typeface="Calibri"/>
                <a:cs typeface="Calibri"/>
              </a:rPr>
              <a:t>buses</a:t>
            </a:r>
            <a:r>
              <a:rPr lang="en-US" sz="2000" i="1" spc="-8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and</a:t>
            </a:r>
            <a:r>
              <a:rPr lang="en-US" sz="2000" i="1" spc="-8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memory</a:t>
            </a:r>
            <a:r>
              <a:rPr lang="en-US" sz="2000" i="1" spc="-4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module</a:t>
            </a:r>
            <a:r>
              <a:rPr lang="en-US" sz="2000" i="1" spc="-7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paths.</a:t>
            </a:r>
            <a:endParaRPr lang="en-US" sz="2000" dirty="0">
              <a:latin typeface="Calibri"/>
              <a:cs typeface="Calibri"/>
            </a:endParaRPr>
          </a:p>
          <a:p>
            <a:pPr marL="12065" marR="5080" indent="2540">
              <a:lnSpc>
                <a:spcPts val="2400"/>
              </a:lnSpc>
              <a:spcBef>
                <a:spcPts val="25"/>
              </a:spcBef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small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square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spc="-10" dirty="0" err="1">
                <a:latin typeface="Calibri"/>
                <a:cs typeface="Calibri"/>
              </a:rPr>
              <a:t>crosspoint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i="1" dirty="0">
                <a:solidFill>
                  <a:srgbClr val="2A2370"/>
                </a:solidFill>
                <a:latin typeface="Calibri"/>
                <a:cs typeface="Calibri"/>
              </a:rPr>
              <a:t>switch</a:t>
            </a:r>
            <a:r>
              <a:rPr lang="en-US" sz="2000" i="1" spc="200" dirty="0">
                <a:solidFill>
                  <a:srgbClr val="2A237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thot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determines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path</a:t>
            </a:r>
            <a:r>
              <a:rPr lang="en-US" sz="2000" i="1" spc="30" dirty="0">
                <a:latin typeface="Calibri"/>
                <a:cs typeface="Calibri"/>
              </a:rPr>
              <a:t> </a:t>
            </a:r>
            <a:r>
              <a:rPr lang="en-US" sz="2000" i="1" spc="-25" dirty="0">
                <a:latin typeface="Calibri"/>
                <a:cs typeface="Calibri"/>
              </a:rPr>
              <a:t>/rom</a:t>
            </a:r>
            <a:r>
              <a:rPr lang="en-US" sz="2000" i="1" spc="4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a</a:t>
            </a:r>
            <a:r>
              <a:rPr lang="en-US" sz="2000" i="1" spc="30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processor </a:t>
            </a:r>
            <a:r>
              <a:rPr lang="en-US" sz="2000" i="1" dirty="0">
                <a:latin typeface="Calibri"/>
                <a:cs typeface="Calibri"/>
              </a:rPr>
              <a:t>to</a:t>
            </a:r>
            <a:r>
              <a:rPr lang="en-US" sz="2000" i="1" spc="-6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o</a:t>
            </a:r>
            <a:r>
              <a:rPr lang="en-US" sz="2000" i="1" spc="-4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memory</a:t>
            </a:r>
            <a:r>
              <a:rPr lang="en-US" sz="2000" i="1" spc="50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module.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ts val="2415"/>
              </a:lnSpc>
            </a:pPr>
            <a:r>
              <a:rPr lang="en-US" sz="2000" spc="-10" dirty="0">
                <a:solidFill>
                  <a:srgbClr val="160AB1"/>
                </a:solidFill>
                <a:latin typeface="Calibri"/>
                <a:cs typeface="Calibri"/>
              </a:rPr>
              <a:t>Adv.:</a:t>
            </a:r>
            <a:endParaRPr lang="en-US" sz="2000" dirty="0">
              <a:latin typeface="Calibri"/>
              <a:cs typeface="Calibri"/>
            </a:endParaRPr>
          </a:p>
          <a:p>
            <a:pPr marL="358140" indent="-342900">
              <a:lnSpc>
                <a:spcPts val="2425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07645" algn="l"/>
              </a:tabLst>
            </a:pPr>
            <a:r>
              <a:rPr lang="en-US" sz="2000" spc="-10" dirty="0">
                <a:latin typeface="Calibri"/>
                <a:cs typeface="Calibri"/>
              </a:rPr>
              <a:t>Supports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simultaneous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transfers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from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modules</a:t>
            </a:r>
            <a:endParaRPr lang="en-US" sz="2000" dirty="0">
              <a:latin typeface="Calibri"/>
              <a:cs typeface="Calibri"/>
            </a:endParaRPr>
          </a:p>
          <a:p>
            <a:pPr marL="13970">
              <a:lnSpc>
                <a:spcPts val="2470"/>
              </a:lnSpc>
            </a:pPr>
            <a:r>
              <a:rPr lang="en-US" sz="2000" spc="-10" dirty="0" err="1">
                <a:solidFill>
                  <a:srgbClr val="0A0869"/>
                </a:solidFill>
                <a:latin typeface="Calibri"/>
                <a:cs typeface="Calibri"/>
              </a:rPr>
              <a:t>Disadv</a:t>
            </a:r>
            <a:r>
              <a:rPr lang="en-US" sz="2000" spc="-10" dirty="0">
                <a:solidFill>
                  <a:srgbClr val="0A0869"/>
                </a:solidFill>
                <a:latin typeface="Calibri"/>
                <a:cs typeface="Calibri"/>
              </a:rPr>
              <a:t>.:</a:t>
            </a:r>
            <a:endParaRPr lang="en-US" sz="200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hardware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required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implement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switch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become quite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large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complex.</a:t>
            </a: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15239" algn="ctr">
              <a:lnSpc>
                <a:spcPts val="2445"/>
              </a:lnSpc>
              <a:tabLst>
                <a:tab pos="205104" algn="l"/>
              </a:tabLst>
            </a:pPr>
            <a:endParaRPr lang="en-US" dirty="0">
              <a:latin typeface="Calibri"/>
              <a:cs typeface="Calibri"/>
            </a:endParaRPr>
          </a:p>
          <a:p>
            <a:pPr marL="15239" algn="ctr">
              <a:lnSpc>
                <a:spcPts val="2445"/>
              </a:lnSpc>
              <a:tabLst>
                <a:tab pos="205104" algn="l"/>
              </a:tabLst>
            </a:pPr>
            <a:r>
              <a:rPr lang="en-US" dirty="0">
                <a:latin typeface="Calibri"/>
                <a:cs typeface="Calibri"/>
              </a:rPr>
              <a:t>fig.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shows</a:t>
            </a:r>
            <a:r>
              <a:rPr lang="en-US" spc="-20" dirty="0">
                <a:latin typeface="Calibri"/>
                <a:cs typeface="Calibri"/>
              </a:rPr>
              <a:t> the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functional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design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crossbar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switch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connected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one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memory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module.</a:t>
            </a:r>
            <a:endParaRPr lang="en-US" dirty="0">
              <a:latin typeface="Calibri"/>
              <a:cs typeface="Calibri"/>
            </a:endParaRPr>
          </a:p>
          <a:p>
            <a:pPr marL="205104" indent="-189865">
              <a:lnSpc>
                <a:spcPts val="2445"/>
              </a:lnSpc>
              <a:buChar char="o"/>
              <a:tabLst>
                <a:tab pos="205104" algn="l"/>
              </a:tabLst>
            </a:pPr>
            <a:endParaRPr lang="en-US" dirty="0">
              <a:latin typeface="Calibri"/>
              <a:cs typeface="Calibri"/>
            </a:endParaRPr>
          </a:p>
        </p:txBody>
      </p:sp>
      <p:pic>
        <p:nvPicPr>
          <p:cNvPr id="6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079" y="3552437"/>
            <a:ext cx="95916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242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4379</Words>
  <Application>Microsoft Office PowerPoint</Application>
  <PresentationFormat>Widescreen</PresentationFormat>
  <Paragraphs>1056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Times New Roman</vt:lpstr>
      <vt:lpstr>Wingdings</vt:lpstr>
      <vt:lpstr>1_Office Theme</vt:lpstr>
      <vt:lpstr>Applications/Example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Dr. Swapnil Srivastava</cp:lastModifiedBy>
  <cp:revision>85</cp:revision>
  <dcterms:created xsi:type="dcterms:W3CDTF">2024-12-19T08:47:23Z</dcterms:created>
  <dcterms:modified xsi:type="dcterms:W3CDTF">2026-04-16T06:55:56Z</dcterms:modified>
</cp:coreProperties>
</file>