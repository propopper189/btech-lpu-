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6"/>
  </p:notesMasterIdLst>
  <p:sldIdLst>
    <p:sldId id="4028" r:id="rId2"/>
    <p:sldId id="4030" r:id="rId3"/>
    <p:sldId id="4102" r:id="rId4"/>
    <p:sldId id="4033" r:id="rId5"/>
    <p:sldId id="4034" r:id="rId6"/>
    <p:sldId id="4035" r:id="rId7"/>
    <p:sldId id="4085" r:id="rId8"/>
    <p:sldId id="4036" r:id="rId9"/>
    <p:sldId id="4038" r:id="rId10"/>
    <p:sldId id="4037" r:id="rId11"/>
    <p:sldId id="4086" r:id="rId12"/>
    <p:sldId id="4087" r:id="rId13"/>
    <p:sldId id="4039" r:id="rId14"/>
    <p:sldId id="4041" r:id="rId15"/>
    <p:sldId id="4088" r:id="rId16"/>
    <p:sldId id="4042" r:id="rId17"/>
    <p:sldId id="4089" r:id="rId18"/>
    <p:sldId id="4043" r:id="rId19"/>
    <p:sldId id="4044" r:id="rId20"/>
    <p:sldId id="4090" r:id="rId21"/>
    <p:sldId id="4045" r:id="rId22"/>
    <p:sldId id="4046" r:id="rId23"/>
    <p:sldId id="4091" r:id="rId24"/>
    <p:sldId id="4047" r:id="rId25"/>
    <p:sldId id="4048" r:id="rId26"/>
    <p:sldId id="4049" r:id="rId27"/>
    <p:sldId id="4092" r:id="rId28"/>
    <p:sldId id="4050" r:id="rId29"/>
    <p:sldId id="4051" r:id="rId30"/>
    <p:sldId id="4052" r:id="rId31"/>
    <p:sldId id="4053" r:id="rId32"/>
    <p:sldId id="4054" r:id="rId33"/>
    <p:sldId id="4055" r:id="rId34"/>
    <p:sldId id="4056" r:id="rId35"/>
    <p:sldId id="4057" r:id="rId36"/>
    <p:sldId id="4058" r:id="rId37"/>
    <p:sldId id="4059" r:id="rId38"/>
    <p:sldId id="4093" r:id="rId39"/>
    <p:sldId id="4060" r:id="rId40"/>
    <p:sldId id="4061" r:id="rId41"/>
    <p:sldId id="4062" r:id="rId42"/>
    <p:sldId id="4063" r:id="rId43"/>
    <p:sldId id="4064" r:id="rId44"/>
    <p:sldId id="4094" r:id="rId45"/>
    <p:sldId id="4065" r:id="rId46"/>
    <p:sldId id="4101" r:id="rId47"/>
    <p:sldId id="4066" r:id="rId48"/>
    <p:sldId id="4096" r:id="rId49"/>
    <p:sldId id="4067" r:id="rId50"/>
    <p:sldId id="4103" r:id="rId51"/>
    <p:sldId id="4104" r:id="rId52"/>
    <p:sldId id="4095" r:id="rId53"/>
    <p:sldId id="4068" r:id="rId54"/>
    <p:sldId id="4069" r:id="rId55"/>
    <p:sldId id="4105" r:id="rId56"/>
    <p:sldId id="4070" r:id="rId57"/>
    <p:sldId id="4071" r:id="rId58"/>
    <p:sldId id="4072" r:id="rId59"/>
    <p:sldId id="4073" r:id="rId60"/>
    <p:sldId id="4074" r:id="rId61"/>
    <p:sldId id="4075" r:id="rId62"/>
    <p:sldId id="4076" r:id="rId63"/>
    <p:sldId id="4077" r:id="rId64"/>
    <p:sldId id="4097" r:id="rId65"/>
    <p:sldId id="4078" r:id="rId66"/>
    <p:sldId id="4079" r:id="rId67"/>
    <p:sldId id="4098" r:id="rId68"/>
    <p:sldId id="4080" r:id="rId69"/>
    <p:sldId id="4081" r:id="rId70"/>
    <p:sldId id="4099" r:id="rId71"/>
    <p:sldId id="4082" r:id="rId72"/>
    <p:sldId id="4083" r:id="rId73"/>
    <p:sldId id="4100" r:id="rId74"/>
    <p:sldId id="4084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13AB74-DD09-4577-8084-4A7101E1B02C}" v="1" dt="2026-03-09T08:24:24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3" autoAdjust="0"/>
    <p:restoredTop sz="89599" autoAdjust="0"/>
  </p:normalViewPr>
  <p:slideViewPr>
    <p:cSldViewPr snapToGrid="0">
      <p:cViewPr varScale="1">
        <p:scale>
          <a:sx n="66" d="100"/>
          <a:sy n="66" d="100"/>
        </p:scale>
        <p:origin x="5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wapnil Srivastava" userId="8e7a524a12681a1a" providerId="LiveId" clId="{3392755C-FEE6-4A1C-A916-8E762528AC6E}"/>
    <pc:docChg chg="addSld modSld">
      <pc:chgData name="Dr. Swapnil Srivastava" userId="8e7a524a12681a1a" providerId="LiveId" clId="{3392755C-FEE6-4A1C-A916-8E762528AC6E}" dt="2026-03-11T04:48:47.434" v="4" actId="680"/>
      <pc:docMkLst>
        <pc:docMk/>
      </pc:docMkLst>
      <pc:sldChg chg="modSp">
        <pc:chgData name="Dr. Swapnil Srivastava" userId="8e7a524a12681a1a" providerId="LiveId" clId="{3392755C-FEE6-4A1C-A916-8E762528AC6E}" dt="2026-03-09T08:24:24.954" v="1" actId="1036"/>
        <pc:sldMkLst>
          <pc:docMk/>
          <pc:sldMk cId="2161270017" sldId="4060"/>
        </pc:sldMkLst>
        <pc:picChg chg="mod">
          <ac:chgData name="Dr. Swapnil Srivastava" userId="8e7a524a12681a1a" providerId="LiveId" clId="{3392755C-FEE6-4A1C-A916-8E762528AC6E}" dt="2026-03-09T08:24:24.954" v="1" actId="1036"/>
          <ac:picMkLst>
            <pc:docMk/>
            <pc:sldMk cId="2161270017" sldId="4060"/>
            <ac:picMk id="36866" creationId="{00000000-0000-0000-0000-000000000000}"/>
          </ac:picMkLst>
        </pc:picChg>
      </pc:sldChg>
      <pc:sldChg chg="new">
        <pc:chgData name="Dr. Swapnil Srivastava" userId="8e7a524a12681a1a" providerId="LiveId" clId="{3392755C-FEE6-4A1C-A916-8E762528AC6E}" dt="2026-03-05T05:59:15.599" v="0" actId="680"/>
        <pc:sldMkLst>
          <pc:docMk/>
          <pc:sldMk cId="1918671525" sldId="4102"/>
        </pc:sldMkLst>
      </pc:sldChg>
      <pc:sldChg chg="new">
        <pc:chgData name="Dr. Swapnil Srivastava" userId="8e7a524a12681a1a" providerId="LiveId" clId="{3392755C-FEE6-4A1C-A916-8E762528AC6E}" dt="2026-03-10T06:59:08.321" v="2" actId="680"/>
        <pc:sldMkLst>
          <pc:docMk/>
          <pc:sldMk cId="3362434893" sldId="4103"/>
        </pc:sldMkLst>
      </pc:sldChg>
      <pc:sldChg chg="new">
        <pc:chgData name="Dr. Swapnil Srivastava" userId="8e7a524a12681a1a" providerId="LiveId" clId="{3392755C-FEE6-4A1C-A916-8E762528AC6E}" dt="2026-03-10T06:59:10.890" v="3" actId="680"/>
        <pc:sldMkLst>
          <pc:docMk/>
          <pc:sldMk cId="268644978" sldId="4104"/>
        </pc:sldMkLst>
      </pc:sldChg>
      <pc:sldChg chg="new">
        <pc:chgData name="Dr. Swapnil Srivastava" userId="8e7a524a12681a1a" providerId="LiveId" clId="{3392755C-FEE6-4A1C-A916-8E762528AC6E}" dt="2026-03-11T04:48:47.434" v="4" actId="680"/>
        <pc:sldMkLst>
          <pc:docMk/>
          <pc:sldMk cId="1907420810" sldId="41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4659-0ED1-4E51-86A0-9BBF4E66109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35501-1542-45B6-9AF4-9929E24FB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7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35501-1542-45B6-9AF4-9929E24FB64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35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DMA is more efficient</a:t>
            </a:r>
            <a:r>
              <a:rPr lang="en-GB" dirty="0"/>
              <a:t> for large data transfers since it frees the CPU and speeds up the process.</a:t>
            </a:r>
          </a:p>
          <a:p>
            <a:r>
              <a:rPr lang="en-GB" b="1" dirty="0"/>
              <a:t>Interrupt-Initiated I/O is simpler</a:t>
            </a:r>
            <a:r>
              <a:rPr lang="en-GB" dirty="0"/>
              <a:t> but can slow down the CPU, making it less suitable for handling large amounts of data.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F35501-1542-45B6-9AF4-9929E24FB64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84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DMA is more efficient</a:t>
            </a:r>
            <a:r>
              <a:rPr lang="en-GB" dirty="0"/>
              <a:t> for large data transfers since it frees the CPU and speeds up the process.</a:t>
            </a:r>
          </a:p>
          <a:p>
            <a:r>
              <a:rPr lang="en-GB" b="1" dirty="0"/>
              <a:t>Interrupt-Initiated I/O is simpler</a:t>
            </a:r>
            <a:r>
              <a:rPr lang="en-GB" dirty="0"/>
              <a:t> but can slow down the CPU, making it less suitable for handling large amounts of data.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F35501-1542-45B6-9AF4-9929E24FB64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23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035-66C3-4887-AFB5-741198C05989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D95-F8C8-4514-86FA-F689F6E88E95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1670-6007-4C62-8F59-41E1CC4F9BDC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668A-9FCB-47AB-ACD6-07FD44555D1C}" type="datetime1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513F-6A83-4B3A-BB09-049F4E61F634}" type="datetime1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FEFD-3C69-4305-A7B6-834AA69834DB}" type="datetime1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C8DF-4781-438A-A2D9-AAF8FD8F57EF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9324-6718-4C38-A249-E09CAC183CDE}" type="datetime1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1BC8-94F8-45FC-B95B-8E7D82B4A049}" type="datetime1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F1F87-1041-451E-898C-31740E1620AA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74D95-0A6A-4FF0-A602-FE349279ABDC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838200" y="5990253"/>
            <a:ext cx="10515600" cy="863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ntroduction of Input-Output Processor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1376362"/>
            <a:ext cx="8477250" cy="51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81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A126462B-7513-4214-9813-BF171B0512BC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307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Overview</a:t>
            </a:r>
          </a:p>
        </p:txBody>
      </p:sp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4336434" y="1168124"/>
            <a:ext cx="3519131" cy="513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Peripheral Devices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Input-Output Interface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Asynchronous Data Transfer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Modes of Transfer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Priority Interrupt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Direct Memory Access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Input-Output Processor</a:t>
            </a: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 Serial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990282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A5ED06-236A-B4E7-FB30-B17A0B4A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val="1918671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Os\Pictures\Screenshots\IO_syste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524000"/>
            <a:ext cx="7391400" cy="304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972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3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C769CCA-FA0B-476E-933C-ED90D5E77780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5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Input Output Organization</a:t>
            </a:r>
          </a:p>
        </p:txBody>
      </p:sp>
      <p:sp>
        <p:nvSpPr>
          <p:cNvPr id="5126" name="Rectangle 3"/>
          <p:cNvSpPr txBox="1">
            <a:spLocks noChangeArrowheads="1"/>
          </p:cNvSpPr>
          <p:nvPr/>
        </p:nvSpPr>
        <p:spPr bwMode="auto">
          <a:xfrm>
            <a:off x="1981200" y="13414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73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 Subsystem</a:t>
            </a:r>
          </a:p>
          <a:p>
            <a:pPr marL="757626" lvl="1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Mode Of Communication</a:t>
            </a:r>
          </a:p>
          <a:p>
            <a:pPr marL="1157676" lvl="2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central system and outside environment</a:t>
            </a:r>
          </a:p>
          <a:p>
            <a:pPr marL="757626" lvl="1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en-GB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Programmed, Input Data, Process, Record, Display Results.</a:t>
            </a:r>
            <a:endParaRPr lang="en-US" altLang="ko-KR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7626" lvl="1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en-GB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Keyboard </a:t>
            </a:r>
            <a:r>
              <a:rPr lang="en-GB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GB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 Idles Waiting For Slow Input.</a:t>
            </a:r>
          </a:p>
          <a:p>
            <a:pPr marL="757626" lvl="1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of waiting is more for information to arrive</a:t>
            </a:r>
            <a:endParaRPr lang="en-GB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7626" lvl="1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en-GB" altLang="ko-K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US" altLang="ko-K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Tapes, Disks</a:t>
            </a:r>
          </a:p>
        </p:txBody>
      </p:sp>
    </p:spTree>
    <p:extLst>
      <p:ext uri="{BB962C8B-B14F-4D97-AF65-F5344CB8AC3E}">
        <p14:creationId xmlns:p14="http://schemas.microsoft.com/office/powerpoint/2010/main" val="234185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7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6B4E8E4B-775A-44E1-9DF6-E42657ADC8B7}" type="slidenum">
              <a:rPr lang="en-US" altLang="en-US">
                <a:latin typeface="Calibri" panose="020F0502020204030204" pitchFamily="34" charset="0"/>
              </a:rPr>
              <a:pPr eaLnBrk="1" hangingPunct="1"/>
              <a:t>6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9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Peripheral Devices</a:t>
            </a:r>
          </a:p>
        </p:txBody>
      </p:sp>
      <p:sp>
        <p:nvSpPr>
          <p:cNvPr id="3078" name="Rectangle 6"/>
          <p:cNvSpPr txBox="1">
            <a:spLocks noChangeArrowheads="1"/>
          </p:cNvSpPr>
          <p:nvPr/>
        </p:nvSpPr>
        <p:spPr bwMode="auto">
          <a:xfrm>
            <a:off x="1828801" y="1066800"/>
            <a:ext cx="8462963" cy="357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latin typeface="Arial" charset="0"/>
                <a:cs typeface="Arial" charset="0"/>
              </a:rPr>
              <a:t>Devices under direct control of computer are </a:t>
            </a:r>
          </a:p>
          <a:p>
            <a:pPr>
              <a:spcBef>
                <a:spcPct val="20000"/>
              </a:spcBef>
              <a:defRPr/>
            </a:pPr>
            <a:r>
              <a:rPr lang="en-US" altLang="ko-KR" sz="2000" b="1" dirty="0">
                <a:latin typeface="Arial" charset="0"/>
                <a:cs typeface="Arial" charset="0"/>
                <a:sym typeface="Wingdings" panose="05000000000000000000" pitchFamily="2" charset="2"/>
              </a:rPr>
              <a:t>	</a:t>
            </a:r>
            <a:r>
              <a:rPr lang="en-US" altLang="ko-KR" sz="2000" b="1" dirty="0">
                <a:latin typeface="Arial" charset="0"/>
                <a:cs typeface="Arial" charset="0"/>
              </a:rPr>
              <a:t>connected on-line.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Arial" charset="0"/>
                <a:cs typeface="Arial" charset="0"/>
              </a:rPr>
              <a:t>Peripherals </a:t>
            </a:r>
            <a:r>
              <a:rPr lang="en-US" altLang="ko-KR" sz="2000" b="1" dirty="0">
                <a:solidFill>
                  <a:schemeClr val="tx2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</a:t>
            </a:r>
            <a:r>
              <a:rPr lang="en-US" altLang="ko-KR" sz="2000" b="1" dirty="0">
                <a:latin typeface="Arial" charset="0"/>
                <a:cs typeface="Arial" charset="0"/>
              </a:rPr>
              <a:t>I/O devices attached to the computer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latin typeface="Arial" charset="0"/>
                <a:cs typeface="Arial" charset="0"/>
              </a:rPr>
              <a:t>There are three types of peripherals :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latin typeface="Arial" charset="0"/>
                <a:cs typeface="Arial" charset="0"/>
              </a:rPr>
              <a:t>Input peripherals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latin typeface="Arial" charset="0"/>
                <a:cs typeface="Arial" charset="0"/>
              </a:rPr>
              <a:t>Output peripherals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latin typeface="Arial" charset="0"/>
                <a:cs typeface="Arial" charset="0"/>
              </a:rPr>
              <a:t>Input-output peripherals</a:t>
            </a:r>
          </a:p>
        </p:txBody>
      </p:sp>
    </p:spTree>
    <p:extLst>
      <p:ext uri="{BB962C8B-B14F-4D97-AF65-F5344CB8AC3E}">
        <p14:creationId xmlns:p14="http://schemas.microsoft.com/office/powerpoint/2010/main" val="91847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7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6B4E8E4B-775A-44E1-9DF6-E42657ADC8B7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9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Peripheral Devices</a:t>
            </a:r>
          </a:p>
        </p:txBody>
      </p:sp>
      <p:sp>
        <p:nvSpPr>
          <p:cNvPr id="3078" name="Rectangle 6"/>
          <p:cNvSpPr txBox="1">
            <a:spLocks noChangeArrowheads="1"/>
          </p:cNvSpPr>
          <p:nvPr/>
        </p:nvSpPr>
        <p:spPr bwMode="auto">
          <a:xfrm>
            <a:off x="1828801" y="1066800"/>
            <a:ext cx="8462963" cy="357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20000"/>
              </a:spcBef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ctr" eaLnBrk="1" hangingPunct="1">
              <a:defRPr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 (or </a:t>
            </a:r>
            <a:r>
              <a:rPr lang="en-US" altLang="ko-KR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 Device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3" eaLnBrk="1" hangingPunct="1">
              <a:defRPr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eaLnBrk="1" hangingPunct="1">
              <a:defRPr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600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Output Device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CRT, LCD</a:t>
            </a:r>
          </a:p>
          <a:p>
            <a:pPr lvl="3" eaLnBrk="1" hangingPunct="1">
              <a:defRPr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eaLnBrk="1" hangingPunct="1">
              <a:defRPr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KeyBoard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600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Device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light pen, mouse, touch screen, joy stick, digitizer</a:t>
            </a:r>
          </a:p>
          <a:p>
            <a:pPr lvl="3" eaLnBrk="1" hangingPunct="1">
              <a:defRPr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eaLnBrk="1" hangingPunct="1">
              <a:defRPr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600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Copy Device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Daisy wheel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matrix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printer</a:t>
            </a:r>
          </a:p>
          <a:p>
            <a:pPr lvl="3" eaLnBrk="1" hangingPunct="1">
              <a:defRPr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eaLnBrk="1" hangingPunct="1">
              <a:defRPr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Device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Magnetic tape, magnetic disk, optical disk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40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7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3120D1D0-E7E0-4CE0-AAFC-ECEB7F4ACEB8}" type="slidenum">
              <a:rPr lang="en-US" altLang="en-US">
                <a:latin typeface="Calibri" panose="020F0502020204030204" pitchFamily="34" charset="0"/>
              </a:rPr>
              <a:pPr eaLnBrk="1" hangingPunct="1"/>
              <a:t>8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Peripheral Devices</a:t>
            </a:r>
          </a:p>
        </p:txBody>
      </p:sp>
      <p:sp>
        <p:nvSpPr>
          <p:cNvPr id="7174" name="Rectangle 3"/>
          <p:cNvSpPr>
            <a:spLocks noChangeArrowheads="1"/>
          </p:cNvSpPr>
          <p:nvPr/>
        </p:nvSpPr>
        <p:spPr bwMode="auto">
          <a:xfrm>
            <a:off x="2252663" y="1166814"/>
            <a:ext cx="24257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r>
              <a:rPr lang="en-US" altLang="ko-KR" sz="2400" b="1">
                <a:cs typeface="Arial" panose="020B0604020202020204" pitchFamily="34" charset="0"/>
              </a:rPr>
              <a:t>Input Devices</a:t>
            </a:r>
          </a:p>
        </p:txBody>
      </p:sp>
      <p:sp>
        <p:nvSpPr>
          <p:cNvPr id="7175" name="Rectangle 4"/>
          <p:cNvSpPr>
            <a:spLocks noChangeArrowheads="1"/>
          </p:cNvSpPr>
          <p:nvPr/>
        </p:nvSpPr>
        <p:spPr bwMode="auto">
          <a:xfrm>
            <a:off x="2187576" y="1838326"/>
            <a:ext cx="3375025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Keyboard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Optical input devices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Card Reader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Paper Tape Reader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Bar code reader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Optical Mark Reader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Magnetic Input Devices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Magnetic Stripe Reader (ATM)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Screen Input Devices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Touch Screen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Light Pen</a:t>
            </a:r>
          </a:p>
          <a:p>
            <a:pPr eaLnBrk="1" hangingPunct="1">
              <a:lnSpc>
                <a:spcPct val="111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     - Mouse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</a:t>
            </a:r>
          </a:p>
        </p:txBody>
      </p:sp>
      <p:sp>
        <p:nvSpPr>
          <p:cNvPr id="7176" name="Rectangle 5"/>
          <p:cNvSpPr>
            <a:spLocks noChangeArrowheads="1"/>
          </p:cNvSpPr>
          <p:nvPr/>
        </p:nvSpPr>
        <p:spPr bwMode="auto">
          <a:xfrm>
            <a:off x="6300789" y="1168401"/>
            <a:ext cx="27193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r>
              <a:rPr lang="en-US" altLang="ko-KR" sz="2400" b="1">
                <a:cs typeface="Arial" panose="020B0604020202020204" pitchFamily="34" charset="0"/>
              </a:rPr>
              <a:t>Output Devices</a:t>
            </a:r>
          </a:p>
        </p:txBody>
      </p:sp>
      <p:sp>
        <p:nvSpPr>
          <p:cNvPr id="7177" name="Rectangle 6"/>
          <p:cNvSpPr>
            <a:spLocks noChangeArrowheads="1"/>
          </p:cNvSpPr>
          <p:nvPr/>
        </p:nvSpPr>
        <p:spPr bwMode="auto">
          <a:xfrm>
            <a:off x="6096000" y="1838325"/>
            <a:ext cx="42497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Card Puncher,  Paper Tape Puncher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CRT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Printer (Daisy Wheel, Dot Matrix, Laser)</a:t>
            </a:r>
          </a:p>
          <a:p>
            <a:pPr eaLnBrk="1" hangingPunct="1">
              <a:lnSpc>
                <a:spcPct val="111000"/>
              </a:lnSpc>
              <a:buFontTx/>
              <a:buChar char="•"/>
            </a:pPr>
            <a:r>
              <a:rPr lang="en-US" altLang="ko-KR" sz="1600" b="1">
                <a:cs typeface="Arial" panose="020B0604020202020204" pitchFamily="34" charset="0"/>
              </a:rPr>
              <a:t> Plotter</a:t>
            </a:r>
          </a:p>
        </p:txBody>
      </p:sp>
    </p:spTree>
    <p:extLst>
      <p:ext uri="{BB962C8B-B14F-4D97-AF65-F5344CB8AC3E}">
        <p14:creationId xmlns:p14="http://schemas.microsoft.com/office/powerpoint/2010/main" val="1708052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1000"/>
            <a:ext cx="81534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1837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EB757C5-9044-4B21-A3F6-BF7CB1BAEE7F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Input Output Organization</a:t>
            </a:r>
          </a:p>
        </p:txBody>
      </p:sp>
      <p:sp>
        <p:nvSpPr>
          <p:cNvPr id="8198" name="Rectangle 9"/>
          <p:cNvSpPr>
            <a:spLocks noChangeArrowheads="1"/>
          </p:cNvSpPr>
          <p:nvPr/>
        </p:nvSpPr>
        <p:spPr bwMode="auto">
          <a:xfrm>
            <a:off x="1447800" y="1143001"/>
            <a:ext cx="906780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ASCII (</a:t>
            </a:r>
            <a:r>
              <a:rPr lang="en-US" altLang="ko-KR" sz="2000" b="1" i="1" dirty="0">
                <a:solidFill>
                  <a:srgbClr val="FF0000"/>
                </a:solidFill>
                <a:cs typeface="Arial" panose="020B0604020202020204" pitchFamily="34" charset="0"/>
              </a:rPr>
              <a:t>American Standard Code for Information Interchange</a:t>
            </a: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)</a:t>
            </a:r>
          </a:p>
          <a:p>
            <a:pPr lvl="1" eaLnBrk="1" hangingPunct="1"/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</a:p>
          <a:p>
            <a:pPr lvl="1" eaLnBrk="1" hangingPunct="1"/>
            <a:endParaRPr lang="en-IN" altLang="ko-KR" sz="20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 eaLnBrk="1" hangingPunct="1"/>
            <a:endParaRPr lang="en-US" altLang="ko-KR" sz="2000" dirty="0"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anose="020B0604020202020204" pitchFamily="34" charset="0"/>
              </a:rPr>
              <a:t>  I/O communications usually involves data transfer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ko-KR" sz="2000" dirty="0"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anose="020B0604020202020204" pitchFamily="34" charset="0"/>
              </a:rPr>
              <a:t> Alphanumeric information from device and the computer.</a:t>
            </a:r>
          </a:p>
          <a:p>
            <a:pPr lvl="2" eaLnBrk="1" hangingPunct="1"/>
            <a:endParaRPr lang="en-US" altLang="ko-KR" sz="2000" dirty="0"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anose="020B0604020202020204" pitchFamily="34" charset="0"/>
              </a:rPr>
              <a:t>  Standard binary code for alphanumeric character is </a:t>
            </a: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ASCII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ko-KR" sz="2000" dirty="0"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anose="020B0604020202020204" pitchFamily="34" charset="0"/>
              </a:rPr>
              <a:t>  ASCII Code : 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anose="020B0604020202020204" pitchFamily="34" charset="0"/>
              </a:rPr>
              <a:t> It uses 7 bits to code 128 characters</a:t>
            </a:r>
            <a:r>
              <a:rPr lang="en-US" altLang="ko-KR" sz="1600" dirty="0">
                <a:cs typeface="Arial" panose="020B0604020202020204" pitchFamily="34" charset="0"/>
              </a:rPr>
              <a:t> (94 printable and 34 non printing)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ko-KR" sz="1600" dirty="0">
                <a:cs typeface="Arial" panose="020B0604020202020204" pitchFamily="34" charset="0"/>
              </a:rPr>
              <a:t>   </a:t>
            </a:r>
            <a:r>
              <a:rPr lang="en-US" altLang="ko-KR" sz="2000" dirty="0">
                <a:cs typeface="Arial" panose="020B0604020202020204" pitchFamily="34" charset="0"/>
              </a:rPr>
              <a:t>7 bit -      </a:t>
            </a:r>
            <a:r>
              <a:rPr lang="ko-KR" altLang="en-US" sz="2000" dirty="0">
                <a:cs typeface="Arial" panose="020B0604020202020204" pitchFamily="34" charset="0"/>
              </a:rPr>
              <a:t>00 - 7</a:t>
            </a:r>
            <a:r>
              <a:rPr lang="en-US" altLang="ko-KR" sz="2000" dirty="0">
                <a:cs typeface="Arial" panose="020B0604020202020204" pitchFamily="34" charset="0"/>
              </a:rPr>
              <a:t>F ( </a:t>
            </a:r>
            <a:r>
              <a:rPr lang="en-US" altLang="ko-KR" sz="2000" i="1" dirty="0">
                <a:solidFill>
                  <a:srgbClr val="FF6600"/>
                </a:solidFill>
                <a:cs typeface="Arial" panose="020B0604020202020204" pitchFamily="34" charset="0"/>
              </a:rPr>
              <a:t>0 - 127</a:t>
            </a:r>
            <a:r>
              <a:rPr lang="en-US" altLang="ko-KR" sz="2000" dirty="0">
                <a:cs typeface="Arial" panose="020B0604020202020204" pitchFamily="34" charset="0"/>
              </a:rPr>
              <a:t> )</a:t>
            </a:r>
          </a:p>
          <a:p>
            <a:pPr lvl="3" eaLnBrk="1" hangingPunct="1"/>
            <a:endParaRPr lang="en-US" altLang="ko-KR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399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EB757C5-9044-4B21-A3F6-BF7CB1BAEE7F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Input Output Organization</a:t>
            </a:r>
          </a:p>
        </p:txBody>
      </p:sp>
      <p:sp>
        <p:nvSpPr>
          <p:cNvPr id="8198" name="Rectangle 9"/>
          <p:cNvSpPr>
            <a:spLocks noChangeArrowheads="1"/>
          </p:cNvSpPr>
          <p:nvPr/>
        </p:nvSpPr>
        <p:spPr bwMode="auto">
          <a:xfrm>
            <a:off x="1447800" y="1143001"/>
            <a:ext cx="9067800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ASCII (</a:t>
            </a:r>
            <a:r>
              <a:rPr lang="en-US" altLang="ko-KR" sz="2000" b="1" i="1" dirty="0">
                <a:solidFill>
                  <a:srgbClr val="FF0000"/>
                </a:solidFill>
                <a:cs typeface="Arial" panose="020B0604020202020204" pitchFamily="34" charset="0"/>
              </a:rPr>
              <a:t>American Standard Code for Information Interchange</a:t>
            </a: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)</a:t>
            </a:r>
          </a:p>
          <a:p>
            <a:pPr lvl="1" eaLnBrk="1" hangingPunct="1"/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</a:p>
          <a:p>
            <a:pPr lvl="1" eaLnBrk="1" hangingPunct="1"/>
            <a:endParaRPr lang="en-IN" altLang="ko-KR" sz="20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 eaLnBrk="1" hangingPunct="1"/>
            <a:endParaRPr lang="en-US" altLang="ko-KR" sz="2000" dirty="0">
              <a:cs typeface="Arial" panose="020B0604020202020204" pitchFamily="34" charset="0"/>
            </a:endParaRPr>
          </a:p>
          <a:p>
            <a:pPr marL="1257300" lvl="2" indent="-342900" eaLnBrk="1" hangingPunct="1"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anose="020B0604020202020204" pitchFamily="34" charset="0"/>
              </a:rPr>
              <a:t>ASCII is 7 bits but,</a:t>
            </a:r>
          </a:p>
          <a:p>
            <a:pPr lvl="2" eaLnBrk="1" hangingPunct="1"/>
            <a:r>
              <a:rPr lang="en-US" altLang="ko-KR" sz="2000" dirty="0">
                <a:cs typeface="Arial" panose="020B0604020202020204" pitchFamily="34" charset="0"/>
              </a:rPr>
              <a:t>	</a:t>
            </a:r>
            <a:r>
              <a:rPr lang="en-US" altLang="ko-KR" sz="2000" dirty="0"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2000" dirty="0">
                <a:cs typeface="Arial" panose="020B0604020202020204" pitchFamily="34" charset="0"/>
              </a:rPr>
              <a:t>most computers manipulate 8 bit quantity as a  </a:t>
            </a:r>
          </a:p>
          <a:p>
            <a:pPr lvl="2" eaLnBrk="1" hangingPunct="1"/>
            <a:r>
              <a:rPr lang="en-US" altLang="ko-KR" sz="2000" dirty="0">
                <a:cs typeface="Arial" panose="020B0604020202020204" pitchFamily="34" charset="0"/>
              </a:rPr>
              <a:t>  	single unit called byte.</a:t>
            </a:r>
          </a:p>
          <a:p>
            <a:pPr lvl="4" eaLnBrk="1" hangingPunct="1"/>
            <a:endParaRPr lang="en-US" altLang="ko-KR" sz="2000" dirty="0">
              <a:cs typeface="Arial" panose="020B0604020202020204" pitchFamily="34" charset="0"/>
            </a:endParaRPr>
          </a:p>
          <a:p>
            <a:pPr lvl="4" eaLnBrk="1" hangingPunct="1"/>
            <a:r>
              <a:rPr lang="en-US" altLang="ko-KR" sz="2000" dirty="0">
                <a:cs typeface="Arial" panose="020B0604020202020204" pitchFamily="34" charset="0"/>
              </a:rPr>
              <a:t>     80 - FF ( </a:t>
            </a:r>
            <a:r>
              <a:rPr lang="en-US" altLang="ko-KR" sz="2000" dirty="0">
                <a:solidFill>
                  <a:srgbClr val="FF6600"/>
                </a:solidFill>
                <a:cs typeface="Arial" panose="020B0604020202020204" pitchFamily="34" charset="0"/>
              </a:rPr>
              <a:t>128 - 255</a:t>
            </a:r>
            <a:r>
              <a:rPr lang="en-US" altLang="ko-KR" sz="2000" dirty="0">
                <a:cs typeface="Arial" panose="020B0604020202020204" pitchFamily="34" charset="0"/>
              </a:rPr>
              <a:t> ) : Greek, Italic type font</a:t>
            </a:r>
          </a:p>
          <a:p>
            <a:pPr lvl="4" eaLnBrk="1" hangingPunct="1"/>
            <a:endParaRPr lang="en-US" altLang="ko-KR" sz="2000" dirty="0">
              <a:cs typeface="Arial" panose="020B0604020202020204" pitchFamily="34" charset="0"/>
            </a:endParaRPr>
          </a:p>
          <a:p>
            <a:pPr marL="1257300" lvl="2" indent="-342900" eaLnBrk="1" hangingPunct="1"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anose="020B0604020202020204" pitchFamily="34" charset="0"/>
              </a:rPr>
              <a:t>Three types of control characters: Format effectors, Information separators and communication control</a:t>
            </a:r>
          </a:p>
          <a:p>
            <a:pPr lvl="4" eaLnBrk="1" hangingPunct="1"/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45840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EB757C5-9044-4B21-A3F6-BF7CB1BAEE7F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Input Output Organization</a:t>
            </a:r>
          </a:p>
        </p:txBody>
      </p:sp>
      <p:sp>
        <p:nvSpPr>
          <p:cNvPr id="8198" name="Rectangle 9"/>
          <p:cNvSpPr>
            <a:spLocks noChangeArrowheads="1"/>
          </p:cNvSpPr>
          <p:nvPr/>
        </p:nvSpPr>
        <p:spPr bwMode="auto">
          <a:xfrm>
            <a:off x="1752601" y="1143001"/>
            <a:ext cx="8567056" cy="5293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eaLnBrk="0" hangingPunct="0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cs typeface="Arial" panose="020B0604020202020204" pitchFamily="34" charset="0"/>
              </a:rPr>
              <a:t>Format effectors control printing layout.  </a:t>
            </a:r>
          </a:p>
          <a:p>
            <a:pPr lvl="1" eaLnBrk="0" hangingPunct="0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cs typeface="Arial" panose="020B0604020202020204" pitchFamily="34" charset="0"/>
              </a:rPr>
              <a:t>Examples: backspace (BS), </a:t>
            </a:r>
            <a:r>
              <a:rPr lang="en-IN" altLang="en-US" sz="2000" dirty="0"/>
              <a:t>horizontal </a:t>
            </a:r>
            <a:r>
              <a:rPr lang="en-US" altLang="en-US" sz="2000" dirty="0">
                <a:cs typeface="Arial" panose="020B0604020202020204" pitchFamily="34" charset="0"/>
              </a:rPr>
              <a:t>tab (HT),  </a:t>
            </a:r>
          </a:p>
          <a:p>
            <a:pPr lvl="1" eaLnBrk="0" hangingPunct="0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cs typeface="Arial" panose="020B0604020202020204" pitchFamily="34" charset="0"/>
              </a:rPr>
              <a:t>Carriage return (CR) is also included.  </a:t>
            </a:r>
          </a:p>
          <a:p>
            <a:pPr lvl="0" eaLnBrk="0" hangingPunct="0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cs typeface="Arial" panose="020B0604020202020204" pitchFamily="34" charset="0"/>
              </a:rPr>
              <a:t>Information separators divide data sections,</a:t>
            </a:r>
            <a:r>
              <a:rPr lang="en-IN" altLang="en-US" sz="2000" dirty="0"/>
              <a:t> divisions like paragraphs and pages</a:t>
            </a:r>
            <a:r>
              <a:rPr lang="en-US" altLang="en-US" sz="2000" dirty="0">
                <a:cs typeface="Arial" panose="020B0604020202020204" pitchFamily="34" charset="0"/>
              </a:rPr>
              <a:t>.  </a:t>
            </a:r>
          </a:p>
          <a:p>
            <a:pPr lvl="1" eaLnBrk="0" hangingPunct="0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cs typeface="Arial" panose="020B0604020202020204" pitchFamily="34" charset="0"/>
              </a:rPr>
              <a:t>Examples: record (RS), file separator (FS).  </a:t>
            </a:r>
          </a:p>
          <a:p>
            <a:pPr lvl="0" eaLnBrk="0" hangingPunct="0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cs typeface="Arial" panose="020B0604020202020204" pitchFamily="34" charset="0"/>
              </a:rPr>
              <a:t>Communication control: </a:t>
            </a:r>
            <a:r>
              <a:rPr lang="en-IN" altLang="en-US" sz="2000" dirty="0"/>
              <a:t>transmission of text between remote terminals STX(Start of text) and ETX(end of text)</a:t>
            </a:r>
            <a:r>
              <a:rPr lang="en-US" altLang="en-US" sz="2000" dirty="0">
                <a:cs typeface="Arial" panose="020B0604020202020204" pitchFamily="34" charset="0"/>
              </a:rPr>
              <a:t>. </a:t>
            </a:r>
          </a:p>
          <a:p>
            <a:pPr marL="0" indent="0" algn="ctr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1260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81000"/>
            <a:ext cx="906780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6261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AD5359C-F3B4-4AD3-BB1D-8DA1C0D7BB7D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r>
              <a:rPr lang="en-US" altLang="en-US">
                <a:latin typeface="Calibri" panose="020F0502020204030204" pitchFamily="34" charset="0"/>
              </a:rPr>
              <a:t>				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Interface</a:t>
            </a:r>
          </a:p>
        </p:txBody>
      </p:sp>
      <p:sp>
        <p:nvSpPr>
          <p:cNvPr id="7174" name="Rectangle 6"/>
          <p:cNvSpPr txBox="1">
            <a:spLocks noChangeArrowheads="1"/>
          </p:cNvSpPr>
          <p:nvPr/>
        </p:nvSpPr>
        <p:spPr bwMode="auto">
          <a:xfrm>
            <a:off x="1919288" y="1001714"/>
            <a:ext cx="8462962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latin typeface="Arial" charset="0"/>
                <a:cs typeface="Arial" charset="0"/>
              </a:rPr>
              <a:t>Provides a method for transferring information 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latin typeface="Arial" charset="0"/>
                <a:cs typeface="Arial" charset="0"/>
              </a:rPr>
              <a:t>Transfer between internal storage and external I/O devices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latin typeface="Arial" charset="0"/>
                <a:cs typeface="Arial" charset="0"/>
              </a:rPr>
              <a:t>(such as memory and CPU registers)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2000" b="1" dirty="0">
              <a:latin typeface="Arial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2000" b="1" dirty="0">
                <a:latin typeface="Arial" charset="0"/>
                <a:cs typeface="Arial" charset="0"/>
              </a:rPr>
              <a:t>Resolves the </a:t>
            </a:r>
            <a:r>
              <a:rPr lang="en-US" altLang="ko-KR" sz="2000" b="1" i="1" dirty="0">
                <a:latin typeface="Arial" charset="0"/>
                <a:cs typeface="Arial" charset="0"/>
              </a:rPr>
              <a:t>differences</a:t>
            </a:r>
            <a:r>
              <a:rPr lang="en-US" altLang="ko-KR" sz="2000" b="1" dirty="0">
                <a:latin typeface="Arial" charset="0"/>
                <a:cs typeface="Arial" charset="0"/>
              </a:rPr>
              <a:t>  between the computer and peripheral devices</a:t>
            </a:r>
          </a:p>
          <a:p>
            <a:pPr marL="742950" lvl="1" indent="-285750">
              <a:spcBef>
                <a:spcPct val="20000"/>
              </a:spcBef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(1).  Peripherals – Electromechanical or Electromagnetic Devices </a:t>
            </a: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       CPU or Memory - Electronic Device</a:t>
            </a:r>
          </a:p>
          <a:p>
            <a:pPr marL="1657350" lvl="3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altLang="ko-KR" sz="1200" b="1" dirty="0">
                <a:latin typeface="Arial" charset="0"/>
                <a:cs typeface="Arial" charset="0"/>
              </a:rPr>
              <a:t>Conversion of signal values required</a:t>
            </a:r>
          </a:p>
          <a:p>
            <a:pPr marL="742950" lvl="1" indent="-285750">
              <a:spcBef>
                <a:spcPct val="20000"/>
              </a:spcBef>
              <a:defRPr/>
            </a:pPr>
            <a:endParaRPr lang="en-US" altLang="ko-KR" sz="1200" b="1" dirty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</a:t>
            </a:r>
            <a:endParaRPr lang="en-US" altLang="ko-KR" sz="1400" b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615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AD5359C-F3B4-4AD3-BB1D-8DA1C0D7BB7D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r>
              <a:rPr lang="en-US" altLang="en-US">
                <a:latin typeface="Calibri" panose="020F0502020204030204" pitchFamily="34" charset="0"/>
              </a:rPr>
              <a:t>				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Interface</a:t>
            </a:r>
          </a:p>
        </p:txBody>
      </p:sp>
      <p:sp>
        <p:nvSpPr>
          <p:cNvPr id="7174" name="Rectangle 6"/>
          <p:cNvSpPr txBox="1">
            <a:spLocks noChangeArrowheads="1"/>
          </p:cNvSpPr>
          <p:nvPr/>
        </p:nvSpPr>
        <p:spPr bwMode="auto">
          <a:xfrm>
            <a:off x="1919288" y="1001714"/>
            <a:ext cx="8462962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(2).  Data Transfer Rate 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 Peripherals - Usually slower 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 CPU or Memory - Usually faster than peripherals</a:t>
            </a:r>
          </a:p>
          <a:p>
            <a:pPr marL="1600200" lvl="3" indent="-22860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altLang="ko-KR" sz="1200" b="1" dirty="0">
                <a:latin typeface="Arial" charset="0"/>
                <a:cs typeface="Arial" charset="0"/>
              </a:rPr>
              <a:t>  Some kinds of Synchronization mechanism may be needed</a:t>
            </a:r>
          </a:p>
          <a:p>
            <a:pPr marL="742950" lvl="1" indent="-285750">
              <a:spcBef>
                <a:spcPct val="20000"/>
              </a:spcBef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(3).  Data formats or Unit of Information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 Peripherals – Byte, Block, …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 CPU or Memory – Word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(4).  Operating modes of peripherals may differ</a:t>
            </a:r>
          </a:p>
          <a:p>
            <a:pPr marL="1200150" lvl="2" indent="-28575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</a:t>
            </a:r>
            <a:r>
              <a:rPr lang="en-US" altLang="ko-KR" sz="1200" b="1" dirty="0">
                <a:latin typeface="Arial" charset="0"/>
                <a:cs typeface="Arial" charset="0"/>
              </a:rPr>
              <a:t>must be controlled so that not to disturbed other peripherals connected to CPU</a:t>
            </a: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 </a:t>
            </a:r>
            <a:endParaRPr lang="en-US" altLang="ko-KR" sz="1400" b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20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1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B47E0226-57E7-4B0D-BF92-27F92CCF60D2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Bus and Interface</a:t>
            </a:r>
          </a:p>
        </p:txBody>
      </p:sp>
      <p:grpSp>
        <p:nvGrpSpPr>
          <p:cNvPr id="13318" name="Group 78"/>
          <p:cNvGrpSpPr>
            <a:grpSpLocks/>
          </p:cNvGrpSpPr>
          <p:nvPr/>
        </p:nvGrpSpPr>
        <p:grpSpPr bwMode="auto">
          <a:xfrm>
            <a:off x="1351384" y="2304661"/>
            <a:ext cx="7811278" cy="5175542"/>
            <a:chOff x="236537" y="882650"/>
            <a:chExt cx="7251470" cy="5335397"/>
          </a:xfrm>
        </p:grpSpPr>
        <p:sp>
          <p:nvSpPr>
            <p:cNvPr id="13320" name="Rectangle 3"/>
            <p:cNvSpPr>
              <a:spLocks noChangeArrowheads="1"/>
            </p:cNvSpPr>
            <p:nvPr/>
          </p:nvSpPr>
          <p:spPr bwMode="auto">
            <a:xfrm>
              <a:off x="236537" y="3238611"/>
              <a:ext cx="128301" cy="328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b="1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322" name="Rectangle 5"/>
            <p:cNvSpPr>
              <a:spLocks noChangeArrowheads="1"/>
            </p:cNvSpPr>
            <p:nvPr/>
          </p:nvSpPr>
          <p:spPr bwMode="auto">
            <a:xfrm>
              <a:off x="247650" y="5597525"/>
              <a:ext cx="128301" cy="290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endParaRPr lang="en-US" altLang="ko-KR" sz="1600" b="1">
                <a:cs typeface="Arial" panose="020B0604020202020204" pitchFamily="34" charset="0"/>
              </a:endParaRPr>
            </a:p>
          </p:txBody>
        </p:sp>
        <p:sp>
          <p:nvSpPr>
            <p:cNvPr id="13323" name="Rectangle 67"/>
            <p:cNvSpPr>
              <a:spLocks noChangeArrowheads="1"/>
            </p:cNvSpPr>
            <p:nvPr/>
          </p:nvSpPr>
          <p:spPr bwMode="auto">
            <a:xfrm>
              <a:off x="3194050" y="5943600"/>
              <a:ext cx="182802" cy="274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24" name="Rectangle 68"/>
            <p:cNvSpPr>
              <a:spLocks noChangeArrowheads="1"/>
            </p:cNvSpPr>
            <p:nvPr/>
          </p:nvSpPr>
          <p:spPr bwMode="auto">
            <a:xfrm>
              <a:off x="4630738" y="5934075"/>
              <a:ext cx="182802" cy="274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25" name="Rectangle 7"/>
            <p:cNvSpPr>
              <a:spLocks noChangeArrowheads="1"/>
            </p:cNvSpPr>
            <p:nvPr/>
          </p:nvSpPr>
          <p:spPr bwMode="auto">
            <a:xfrm>
              <a:off x="1979613" y="1181100"/>
              <a:ext cx="93294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Processor</a:t>
              </a:r>
            </a:p>
          </p:txBody>
        </p:sp>
        <p:sp>
          <p:nvSpPr>
            <p:cNvPr id="13326" name="Rectangle 8"/>
            <p:cNvSpPr>
              <a:spLocks noChangeArrowheads="1"/>
            </p:cNvSpPr>
            <p:nvPr/>
          </p:nvSpPr>
          <p:spPr bwMode="auto">
            <a:xfrm>
              <a:off x="2982913" y="1979613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 dirty="0"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13327" name="Rectangle 9"/>
            <p:cNvSpPr>
              <a:spLocks noChangeArrowheads="1"/>
            </p:cNvSpPr>
            <p:nvPr/>
          </p:nvSpPr>
          <p:spPr bwMode="auto">
            <a:xfrm>
              <a:off x="2947988" y="2525713"/>
              <a:ext cx="891271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Keyboard</a:t>
              </a:r>
            </a:p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28" name="Rectangle 10"/>
            <p:cNvSpPr>
              <a:spLocks noChangeArrowheads="1"/>
            </p:cNvSpPr>
            <p:nvPr/>
          </p:nvSpPr>
          <p:spPr bwMode="auto">
            <a:xfrm>
              <a:off x="3154363" y="2673350"/>
              <a:ext cx="456857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and</a:t>
              </a:r>
            </a:p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29" name="Rectangle 11"/>
            <p:cNvSpPr>
              <a:spLocks noChangeArrowheads="1"/>
            </p:cNvSpPr>
            <p:nvPr/>
          </p:nvSpPr>
          <p:spPr bwMode="auto">
            <a:xfrm>
              <a:off x="3036888" y="2824163"/>
              <a:ext cx="713338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display</a:t>
              </a:r>
            </a:p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30" name="Rectangle 12"/>
            <p:cNvSpPr>
              <a:spLocks noChangeArrowheads="1"/>
            </p:cNvSpPr>
            <p:nvPr/>
          </p:nvSpPr>
          <p:spPr bwMode="auto">
            <a:xfrm>
              <a:off x="2998788" y="2971800"/>
              <a:ext cx="78066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terminal</a:t>
              </a:r>
            </a:p>
          </p:txBody>
        </p:sp>
        <p:sp>
          <p:nvSpPr>
            <p:cNvPr id="13331" name="Rectangle 13"/>
            <p:cNvSpPr>
              <a:spLocks noChangeArrowheads="1"/>
            </p:cNvSpPr>
            <p:nvPr/>
          </p:nvSpPr>
          <p:spPr bwMode="auto">
            <a:xfrm>
              <a:off x="5772150" y="2643188"/>
              <a:ext cx="84959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Magnetic</a:t>
              </a:r>
            </a:p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32" name="Rectangle 14"/>
            <p:cNvSpPr>
              <a:spLocks noChangeArrowheads="1"/>
            </p:cNvSpPr>
            <p:nvPr/>
          </p:nvSpPr>
          <p:spPr bwMode="auto">
            <a:xfrm>
              <a:off x="5934075" y="2790825"/>
              <a:ext cx="49853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tape</a:t>
              </a:r>
            </a:p>
          </p:txBody>
        </p:sp>
        <p:sp>
          <p:nvSpPr>
            <p:cNvPr id="13333" name="Rectangle 15"/>
            <p:cNvSpPr>
              <a:spLocks noChangeArrowheads="1"/>
            </p:cNvSpPr>
            <p:nvPr/>
          </p:nvSpPr>
          <p:spPr bwMode="auto">
            <a:xfrm>
              <a:off x="2979738" y="2527300"/>
              <a:ext cx="788987" cy="6508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34" name="Rectangle 16"/>
            <p:cNvSpPr>
              <a:spLocks noChangeArrowheads="1"/>
            </p:cNvSpPr>
            <p:nvPr/>
          </p:nvSpPr>
          <p:spPr bwMode="auto">
            <a:xfrm>
              <a:off x="3028950" y="1984375"/>
              <a:ext cx="701675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35" name="Line 17"/>
            <p:cNvSpPr>
              <a:spLocks noChangeShapeType="1"/>
            </p:cNvSpPr>
            <p:nvPr/>
          </p:nvSpPr>
          <p:spPr bwMode="auto">
            <a:xfrm>
              <a:off x="3390900" y="2220913"/>
              <a:ext cx="0" cy="307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6" name="Line 18"/>
            <p:cNvSpPr>
              <a:spLocks noChangeShapeType="1"/>
            </p:cNvSpPr>
            <p:nvPr/>
          </p:nvSpPr>
          <p:spPr bwMode="auto">
            <a:xfrm flipV="1">
              <a:off x="3390900" y="1300163"/>
              <a:ext cx="0" cy="684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7" name="Line 19"/>
            <p:cNvSpPr>
              <a:spLocks noChangeShapeType="1"/>
            </p:cNvSpPr>
            <p:nvPr/>
          </p:nvSpPr>
          <p:spPr bwMode="auto">
            <a:xfrm flipV="1">
              <a:off x="3175000" y="1481138"/>
              <a:ext cx="0" cy="5032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8" name="Line 20"/>
            <p:cNvSpPr>
              <a:spLocks noChangeShapeType="1"/>
            </p:cNvSpPr>
            <p:nvPr/>
          </p:nvSpPr>
          <p:spPr bwMode="auto">
            <a:xfrm flipV="1">
              <a:off x="3609975" y="1119188"/>
              <a:ext cx="0" cy="865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9" name="Line 21"/>
            <p:cNvSpPr>
              <a:spLocks noChangeShapeType="1"/>
            </p:cNvSpPr>
            <p:nvPr/>
          </p:nvSpPr>
          <p:spPr bwMode="auto">
            <a:xfrm>
              <a:off x="2863850" y="1498600"/>
              <a:ext cx="38401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0" name="Line 22"/>
            <p:cNvSpPr>
              <a:spLocks noChangeShapeType="1"/>
            </p:cNvSpPr>
            <p:nvPr/>
          </p:nvSpPr>
          <p:spPr bwMode="auto">
            <a:xfrm>
              <a:off x="2863850" y="1316038"/>
              <a:ext cx="38401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1" name="Line 23"/>
            <p:cNvSpPr>
              <a:spLocks noChangeShapeType="1"/>
            </p:cNvSpPr>
            <p:nvPr/>
          </p:nvSpPr>
          <p:spPr bwMode="auto">
            <a:xfrm>
              <a:off x="2859088" y="1135063"/>
              <a:ext cx="384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2" name="Rectangle 24"/>
            <p:cNvSpPr>
              <a:spLocks noChangeArrowheads="1"/>
            </p:cNvSpPr>
            <p:nvPr/>
          </p:nvSpPr>
          <p:spPr bwMode="auto">
            <a:xfrm>
              <a:off x="2019300" y="1012825"/>
              <a:ext cx="842963" cy="585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43" name="Oval 25"/>
            <p:cNvSpPr>
              <a:spLocks noChangeArrowheads="1"/>
            </p:cNvSpPr>
            <p:nvPr/>
          </p:nvSpPr>
          <p:spPr bwMode="auto">
            <a:xfrm>
              <a:off x="3141663" y="1471613"/>
              <a:ext cx="52387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44" name="Oval 26"/>
            <p:cNvSpPr>
              <a:spLocks noChangeArrowheads="1"/>
            </p:cNvSpPr>
            <p:nvPr/>
          </p:nvSpPr>
          <p:spPr bwMode="auto">
            <a:xfrm>
              <a:off x="3357563" y="1290638"/>
              <a:ext cx="49212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45" name="Oval 27"/>
            <p:cNvSpPr>
              <a:spLocks noChangeArrowheads="1"/>
            </p:cNvSpPr>
            <p:nvPr/>
          </p:nvSpPr>
          <p:spPr bwMode="auto">
            <a:xfrm>
              <a:off x="3576638" y="1108075"/>
              <a:ext cx="50800" cy="4445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46" name="Rectangle 28"/>
            <p:cNvSpPr>
              <a:spLocks noChangeArrowheads="1"/>
            </p:cNvSpPr>
            <p:nvPr/>
          </p:nvSpPr>
          <p:spPr bwMode="auto">
            <a:xfrm>
              <a:off x="3989388" y="2703513"/>
              <a:ext cx="67807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Printer</a:t>
              </a:r>
            </a:p>
          </p:txBody>
        </p:sp>
        <p:sp>
          <p:nvSpPr>
            <p:cNvPr id="13347" name="Rectangle 29"/>
            <p:cNvSpPr>
              <a:spLocks noChangeArrowheads="1"/>
            </p:cNvSpPr>
            <p:nvPr/>
          </p:nvSpPr>
          <p:spPr bwMode="auto">
            <a:xfrm>
              <a:off x="3930650" y="1979613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13348" name="Rectangle 30"/>
            <p:cNvSpPr>
              <a:spLocks noChangeArrowheads="1"/>
            </p:cNvSpPr>
            <p:nvPr/>
          </p:nvSpPr>
          <p:spPr bwMode="auto">
            <a:xfrm>
              <a:off x="3971925" y="2527300"/>
              <a:ext cx="703263" cy="6508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49" name="Rectangle 31"/>
            <p:cNvSpPr>
              <a:spLocks noChangeArrowheads="1"/>
            </p:cNvSpPr>
            <p:nvPr/>
          </p:nvSpPr>
          <p:spPr bwMode="auto">
            <a:xfrm>
              <a:off x="3971925" y="1984375"/>
              <a:ext cx="703263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50" name="Line 32"/>
            <p:cNvSpPr>
              <a:spLocks noChangeShapeType="1"/>
            </p:cNvSpPr>
            <p:nvPr/>
          </p:nvSpPr>
          <p:spPr bwMode="auto">
            <a:xfrm>
              <a:off x="4324350" y="2220913"/>
              <a:ext cx="0" cy="307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1" name="Line 33"/>
            <p:cNvSpPr>
              <a:spLocks noChangeShapeType="1"/>
            </p:cNvSpPr>
            <p:nvPr/>
          </p:nvSpPr>
          <p:spPr bwMode="auto">
            <a:xfrm flipV="1">
              <a:off x="4324350" y="1300163"/>
              <a:ext cx="0" cy="684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2" name="Line 34"/>
            <p:cNvSpPr>
              <a:spLocks noChangeShapeType="1"/>
            </p:cNvSpPr>
            <p:nvPr/>
          </p:nvSpPr>
          <p:spPr bwMode="auto">
            <a:xfrm flipV="1">
              <a:off x="4106863" y="1481138"/>
              <a:ext cx="0" cy="5032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3" name="Line 35"/>
            <p:cNvSpPr>
              <a:spLocks noChangeShapeType="1"/>
            </p:cNvSpPr>
            <p:nvPr/>
          </p:nvSpPr>
          <p:spPr bwMode="auto">
            <a:xfrm flipV="1">
              <a:off x="4540250" y="1119188"/>
              <a:ext cx="0" cy="865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4" name="Oval 36"/>
            <p:cNvSpPr>
              <a:spLocks noChangeArrowheads="1"/>
            </p:cNvSpPr>
            <p:nvPr/>
          </p:nvSpPr>
          <p:spPr bwMode="auto">
            <a:xfrm>
              <a:off x="4087813" y="1471613"/>
              <a:ext cx="38100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55" name="Oval 37"/>
            <p:cNvSpPr>
              <a:spLocks noChangeArrowheads="1"/>
            </p:cNvSpPr>
            <p:nvPr/>
          </p:nvSpPr>
          <p:spPr bwMode="auto">
            <a:xfrm>
              <a:off x="4306888" y="1290638"/>
              <a:ext cx="38100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56" name="Oval 38"/>
            <p:cNvSpPr>
              <a:spLocks noChangeArrowheads="1"/>
            </p:cNvSpPr>
            <p:nvPr/>
          </p:nvSpPr>
          <p:spPr bwMode="auto">
            <a:xfrm>
              <a:off x="4521200" y="1108075"/>
              <a:ext cx="38100" cy="4445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57" name="Rectangle 39"/>
            <p:cNvSpPr>
              <a:spLocks noChangeArrowheads="1"/>
            </p:cNvSpPr>
            <p:nvPr/>
          </p:nvSpPr>
          <p:spPr bwMode="auto">
            <a:xfrm>
              <a:off x="4852988" y="1979613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13358" name="Rectangle 40"/>
            <p:cNvSpPr>
              <a:spLocks noChangeArrowheads="1"/>
            </p:cNvSpPr>
            <p:nvPr/>
          </p:nvSpPr>
          <p:spPr bwMode="auto">
            <a:xfrm>
              <a:off x="4879975" y="2527300"/>
              <a:ext cx="717550" cy="6429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59" name="Rectangle 41"/>
            <p:cNvSpPr>
              <a:spLocks noChangeArrowheads="1"/>
            </p:cNvSpPr>
            <p:nvPr/>
          </p:nvSpPr>
          <p:spPr bwMode="auto">
            <a:xfrm>
              <a:off x="4916488" y="1984375"/>
              <a:ext cx="690562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60" name="Line 42"/>
            <p:cNvSpPr>
              <a:spLocks noChangeShapeType="1"/>
            </p:cNvSpPr>
            <p:nvPr/>
          </p:nvSpPr>
          <p:spPr bwMode="auto">
            <a:xfrm>
              <a:off x="5268913" y="2212975"/>
              <a:ext cx="0" cy="319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1" name="Line 43"/>
            <p:cNvSpPr>
              <a:spLocks noChangeShapeType="1"/>
            </p:cNvSpPr>
            <p:nvPr/>
          </p:nvSpPr>
          <p:spPr bwMode="auto">
            <a:xfrm flipV="1">
              <a:off x="5268913" y="1300163"/>
              <a:ext cx="0" cy="684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2" name="Line 44"/>
            <p:cNvSpPr>
              <a:spLocks noChangeShapeType="1"/>
            </p:cNvSpPr>
            <p:nvPr/>
          </p:nvSpPr>
          <p:spPr bwMode="auto">
            <a:xfrm flipV="1">
              <a:off x="5051425" y="1481138"/>
              <a:ext cx="0" cy="5032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3" name="Line 45"/>
            <p:cNvSpPr>
              <a:spLocks noChangeShapeType="1"/>
            </p:cNvSpPr>
            <p:nvPr/>
          </p:nvSpPr>
          <p:spPr bwMode="auto">
            <a:xfrm flipV="1">
              <a:off x="5484813" y="1119188"/>
              <a:ext cx="0" cy="865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4" name="Oval 46"/>
            <p:cNvSpPr>
              <a:spLocks noChangeArrowheads="1"/>
            </p:cNvSpPr>
            <p:nvPr/>
          </p:nvSpPr>
          <p:spPr bwMode="auto">
            <a:xfrm>
              <a:off x="5019675" y="1471613"/>
              <a:ext cx="50800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65" name="Oval 48"/>
            <p:cNvSpPr>
              <a:spLocks noChangeArrowheads="1"/>
            </p:cNvSpPr>
            <p:nvPr/>
          </p:nvSpPr>
          <p:spPr bwMode="auto">
            <a:xfrm>
              <a:off x="5453063" y="1108075"/>
              <a:ext cx="52387" cy="4445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66" name="Rectangle 49"/>
            <p:cNvSpPr>
              <a:spLocks noChangeArrowheads="1"/>
            </p:cNvSpPr>
            <p:nvPr/>
          </p:nvSpPr>
          <p:spPr bwMode="auto">
            <a:xfrm>
              <a:off x="5791200" y="1979613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13367" name="Rectangle 50"/>
            <p:cNvSpPr>
              <a:spLocks noChangeArrowheads="1"/>
            </p:cNvSpPr>
            <p:nvPr/>
          </p:nvSpPr>
          <p:spPr bwMode="auto">
            <a:xfrm>
              <a:off x="5821363" y="2527300"/>
              <a:ext cx="730250" cy="6508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68" name="Rectangle 51"/>
            <p:cNvSpPr>
              <a:spLocks noChangeArrowheads="1"/>
            </p:cNvSpPr>
            <p:nvPr/>
          </p:nvSpPr>
          <p:spPr bwMode="auto">
            <a:xfrm>
              <a:off x="5849938" y="1984375"/>
              <a:ext cx="701675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13369" name="Line 52"/>
            <p:cNvSpPr>
              <a:spLocks noChangeShapeType="1"/>
            </p:cNvSpPr>
            <p:nvPr/>
          </p:nvSpPr>
          <p:spPr bwMode="auto">
            <a:xfrm>
              <a:off x="6211888" y="2212975"/>
              <a:ext cx="0" cy="319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70" name="Line 53"/>
            <p:cNvSpPr>
              <a:spLocks noChangeShapeType="1"/>
            </p:cNvSpPr>
            <p:nvPr/>
          </p:nvSpPr>
          <p:spPr bwMode="auto">
            <a:xfrm flipV="1">
              <a:off x="6211888" y="1300163"/>
              <a:ext cx="0" cy="684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71" name="Line 55"/>
            <p:cNvSpPr>
              <a:spLocks noChangeShapeType="1"/>
            </p:cNvSpPr>
            <p:nvPr/>
          </p:nvSpPr>
          <p:spPr bwMode="auto">
            <a:xfrm flipV="1">
              <a:off x="6430963" y="1119188"/>
              <a:ext cx="0" cy="865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72" name="Oval 56"/>
            <p:cNvSpPr>
              <a:spLocks noChangeArrowheads="1"/>
            </p:cNvSpPr>
            <p:nvPr/>
          </p:nvSpPr>
          <p:spPr bwMode="auto">
            <a:xfrm>
              <a:off x="5964238" y="1471613"/>
              <a:ext cx="50800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73" name="Oval 57"/>
            <p:cNvSpPr>
              <a:spLocks noChangeArrowheads="1"/>
            </p:cNvSpPr>
            <p:nvPr/>
          </p:nvSpPr>
          <p:spPr bwMode="auto">
            <a:xfrm>
              <a:off x="6186488" y="1290638"/>
              <a:ext cx="52387" cy="4286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74" name="Oval 58"/>
            <p:cNvSpPr>
              <a:spLocks noChangeArrowheads="1"/>
            </p:cNvSpPr>
            <p:nvPr/>
          </p:nvSpPr>
          <p:spPr bwMode="auto">
            <a:xfrm>
              <a:off x="6397625" y="1108075"/>
              <a:ext cx="50800" cy="4445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75" name="Rectangle 59"/>
            <p:cNvSpPr>
              <a:spLocks noChangeArrowheads="1"/>
            </p:cNvSpPr>
            <p:nvPr/>
          </p:nvSpPr>
          <p:spPr bwMode="auto">
            <a:xfrm>
              <a:off x="6716713" y="1000125"/>
              <a:ext cx="51456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13376" name="Rectangle 60"/>
            <p:cNvSpPr>
              <a:spLocks noChangeArrowheads="1"/>
            </p:cNvSpPr>
            <p:nvPr/>
          </p:nvSpPr>
          <p:spPr bwMode="auto">
            <a:xfrm>
              <a:off x="6691313" y="1201738"/>
              <a:ext cx="79669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13377" name="Rectangle 61"/>
            <p:cNvSpPr>
              <a:spLocks noChangeArrowheads="1"/>
            </p:cNvSpPr>
            <p:nvPr/>
          </p:nvSpPr>
          <p:spPr bwMode="auto">
            <a:xfrm>
              <a:off x="6702425" y="1395413"/>
              <a:ext cx="73097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Control</a:t>
              </a:r>
            </a:p>
          </p:txBody>
        </p:sp>
        <p:sp>
          <p:nvSpPr>
            <p:cNvPr id="13378" name="Rectangle 62"/>
            <p:cNvSpPr>
              <a:spLocks noChangeArrowheads="1"/>
            </p:cNvSpPr>
            <p:nvPr/>
          </p:nvSpPr>
          <p:spPr bwMode="auto">
            <a:xfrm>
              <a:off x="4826000" y="2643188"/>
              <a:ext cx="84959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Magnetic</a:t>
              </a:r>
            </a:p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79" name="Rectangle 63"/>
            <p:cNvSpPr>
              <a:spLocks noChangeArrowheads="1"/>
            </p:cNvSpPr>
            <p:nvPr/>
          </p:nvSpPr>
          <p:spPr bwMode="auto">
            <a:xfrm>
              <a:off x="5003800" y="2790825"/>
              <a:ext cx="49052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disk</a:t>
              </a:r>
            </a:p>
          </p:txBody>
        </p:sp>
        <p:sp>
          <p:nvSpPr>
            <p:cNvPr id="13380" name="Rectangle 64"/>
            <p:cNvSpPr>
              <a:spLocks noChangeArrowheads="1"/>
            </p:cNvSpPr>
            <p:nvPr/>
          </p:nvSpPr>
          <p:spPr bwMode="auto">
            <a:xfrm>
              <a:off x="4087813" y="882650"/>
              <a:ext cx="70692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I/O bus</a:t>
              </a:r>
            </a:p>
          </p:txBody>
        </p:sp>
        <p:sp>
          <p:nvSpPr>
            <p:cNvPr id="13381" name="Oval 73"/>
            <p:cNvSpPr>
              <a:spLocks noChangeArrowheads="1"/>
            </p:cNvSpPr>
            <p:nvPr/>
          </p:nvSpPr>
          <p:spPr bwMode="auto">
            <a:xfrm>
              <a:off x="5237163" y="1296988"/>
              <a:ext cx="52387" cy="4127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13382" name="Line 75"/>
            <p:cNvSpPr>
              <a:spLocks noChangeShapeType="1"/>
            </p:cNvSpPr>
            <p:nvPr/>
          </p:nvSpPr>
          <p:spPr bwMode="auto">
            <a:xfrm flipV="1">
              <a:off x="5994400" y="1481138"/>
              <a:ext cx="0" cy="5032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1575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B47E0226-57E7-4B0D-BF92-27F92CCF60D2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Bus and Interface</a:t>
            </a:r>
          </a:p>
        </p:txBody>
      </p:sp>
      <p:grpSp>
        <p:nvGrpSpPr>
          <p:cNvPr id="13318" name="Group 78"/>
          <p:cNvGrpSpPr>
            <a:grpSpLocks/>
          </p:cNvGrpSpPr>
          <p:nvPr/>
        </p:nvGrpSpPr>
        <p:grpSpPr bwMode="auto">
          <a:xfrm>
            <a:off x="2209800" y="1133091"/>
            <a:ext cx="9457815" cy="5218109"/>
            <a:chOff x="247650" y="1000125"/>
            <a:chExt cx="7824714" cy="5217922"/>
          </a:xfrm>
        </p:grpSpPr>
        <p:sp>
          <p:nvSpPr>
            <p:cNvPr id="13320" name="Rectangle 3"/>
            <p:cNvSpPr>
              <a:spLocks noChangeArrowheads="1"/>
            </p:cNvSpPr>
            <p:nvPr/>
          </p:nvSpPr>
          <p:spPr bwMode="auto">
            <a:xfrm>
              <a:off x="486251" y="1123553"/>
              <a:ext cx="1725398" cy="543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3200" b="1" dirty="0">
                  <a:solidFill>
                    <a:srgbClr val="FF0000"/>
                  </a:solidFill>
                  <a:cs typeface="Arial" panose="020B0604020202020204" pitchFamily="34" charset="0"/>
                </a:rPr>
                <a:t>Interface :</a:t>
              </a:r>
            </a:p>
          </p:txBody>
        </p:sp>
        <p:sp>
          <p:nvSpPr>
            <p:cNvPr id="13321" name="Rectangle 4"/>
            <p:cNvSpPr>
              <a:spLocks noChangeArrowheads="1"/>
            </p:cNvSpPr>
            <p:nvPr/>
          </p:nvSpPr>
          <p:spPr bwMode="auto">
            <a:xfrm>
              <a:off x="486251" y="1987073"/>
              <a:ext cx="7586113" cy="318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2400" b="1" dirty="0">
                  <a:cs typeface="Arial" panose="020B0604020202020204" pitchFamily="34" charset="0"/>
                </a:rPr>
                <a:t>- Decodes the device address (device code)</a:t>
              </a:r>
            </a:p>
            <a:p>
              <a:pPr eaLnBrk="1" hangingPunct="1">
                <a:lnSpc>
                  <a:spcPct val="97000"/>
                </a:lnSpc>
              </a:pPr>
              <a:endParaRPr lang="en-US" altLang="ko-KR" sz="2400" b="1" dirty="0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2400" b="1" dirty="0">
                  <a:cs typeface="Arial" panose="020B0604020202020204" pitchFamily="34" charset="0"/>
                </a:rPr>
                <a:t>- Decodes the commands (operation)</a:t>
              </a:r>
            </a:p>
            <a:p>
              <a:pPr eaLnBrk="1" hangingPunct="1">
                <a:lnSpc>
                  <a:spcPct val="97000"/>
                </a:lnSpc>
              </a:pPr>
              <a:endParaRPr lang="en-US" altLang="ko-KR" sz="2400" b="1" dirty="0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2400" b="1" dirty="0">
                  <a:cs typeface="Arial" panose="020B0604020202020204" pitchFamily="34" charset="0"/>
                </a:rPr>
                <a:t>- Provides signals for the peripheral controller</a:t>
              </a:r>
            </a:p>
            <a:p>
              <a:pPr eaLnBrk="1" hangingPunct="1">
                <a:lnSpc>
                  <a:spcPct val="97000"/>
                </a:lnSpc>
              </a:pPr>
              <a:endParaRPr lang="en-US" altLang="ko-KR" sz="2400" b="1" dirty="0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2400" b="1" dirty="0">
                  <a:cs typeface="Arial" panose="020B0604020202020204" pitchFamily="34" charset="0"/>
                </a:rPr>
                <a:t>- Synchronizes the data flow and supervises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2400" b="1" dirty="0">
                  <a:cs typeface="Arial" panose="020B0604020202020204" pitchFamily="34" charset="0"/>
                </a:rPr>
                <a:t>  the transfer rate between peripheral and CPU or Memory</a:t>
              </a:r>
            </a:p>
            <a:p>
              <a:pPr eaLnBrk="1" hangingPunct="1">
                <a:lnSpc>
                  <a:spcPct val="97000"/>
                </a:lnSpc>
              </a:pPr>
              <a:endParaRPr lang="en-US" altLang="ko-KR" b="1" dirty="0">
                <a:cs typeface="Arial" panose="020B0604020202020204" pitchFamily="34" charset="0"/>
              </a:endParaRPr>
            </a:p>
          </p:txBody>
        </p:sp>
        <p:sp>
          <p:nvSpPr>
            <p:cNvPr id="13322" name="Rectangle 5"/>
            <p:cNvSpPr>
              <a:spLocks noChangeArrowheads="1"/>
            </p:cNvSpPr>
            <p:nvPr/>
          </p:nvSpPr>
          <p:spPr bwMode="auto">
            <a:xfrm>
              <a:off x="247650" y="5597525"/>
              <a:ext cx="128301" cy="290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endParaRPr lang="en-US" altLang="ko-KR" sz="1600" b="1">
                <a:cs typeface="Arial" panose="020B0604020202020204" pitchFamily="34" charset="0"/>
              </a:endParaRPr>
            </a:p>
          </p:txBody>
        </p:sp>
        <p:sp>
          <p:nvSpPr>
            <p:cNvPr id="13323" name="Rectangle 67"/>
            <p:cNvSpPr>
              <a:spLocks noChangeArrowheads="1"/>
            </p:cNvSpPr>
            <p:nvPr/>
          </p:nvSpPr>
          <p:spPr bwMode="auto">
            <a:xfrm>
              <a:off x="3194050" y="5943600"/>
              <a:ext cx="182802" cy="274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24" name="Rectangle 68"/>
            <p:cNvSpPr>
              <a:spLocks noChangeArrowheads="1"/>
            </p:cNvSpPr>
            <p:nvPr/>
          </p:nvSpPr>
          <p:spPr bwMode="auto">
            <a:xfrm>
              <a:off x="4630738" y="5934075"/>
              <a:ext cx="182802" cy="274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>
                <a:cs typeface="Arial" panose="020B0604020202020204" pitchFamily="34" charset="0"/>
              </a:endParaRPr>
            </a:p>
          </p:txBody>
        </p:sp>
        <p:sp>
          <p:nvSpPr>
            <p:cNvPr id="13326" name="Rectangle 8"/>
            <p:cNvSpPr>
              <a:spLocks noChangeArrowheads="1"/>
            </p:cNvSpPr>
            <p:nvPr/>
          </p:nvSpPr>
          <p:spPr bwMode="auto">
            <a:xfrm>
              <a:off x="2982913" y="1979613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31" name="Rectangle 13"/>
            <p:cNvSpPr>
              <a:spLocks noChangeArrowheads="1"/>
            </p:cNvSpPr>
            <p:nvPr/>
          </p:nvSpPr>
          <p:spPr bwMode="auto">
            <a:xfrm>
              <a:off x="5772150" y="2643188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32" name="Rectangle 14"/>
            <p:cNvSpPr>
              <a:spLocks noChangeArrowheads="1"/>
            </p:cNvSpPr>
            <p:nvPr/>
          </p:nvSpPr>
          <p:spPr bwMode="auto">
            <a:xfrm>
              <a:off x="5934075" y="2790825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47" name="Rectangle 29"/>
            <p:cNvSpPr>
              <a:spLocks noChangeArrowheads="1"/>
            </p:cNvSpPr>
            <p:nvPr/>
          </p:nvSpPr>
          <p:spPr bwMode="auto">
            <a:xfrm>
              <a:off x="3930650" y="1979613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57" name="Rectangle 39"/>
            <p:cNvSpPr>
              <a:spLocks noChangeArrowheads="1"/>
            </p:cNvSpPr>
            <p:nvPr/>
          </p:nvSpPr>
          <p:spPr bwMode="auto">
            <a:xfrm>
              <a:off x="4852988" y="1979613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66" name="Rectangle 49"/>
            <p:cNvSpPr>
              <a:spLocks noChangeArrowheads="1"/>
            </p:cNvSpPr>
            <p:nvPr/>
          </p:nvSpPr>
          <p:spPr bwMode="auto">
            <a:xfrm>
              <a:off x="5791200" y="1979613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75" name="Rectangle 59"/>
            <p:cNvSpPr>
              <a:spLocks noChangeArrowheads="1"/>
            </p:cNvSpPr>
            <p:nvPr/>
          </p:nvSpPr>
          <p:spPr bwMode="auto">
            <a:xfrm>
              <a:off x="6716713" y="1000125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76" name="Rectangle 60"/>
            <p:cNvSpPr>
              <a:spLocks noChangeArrowheads="1"/>
            </p:cNvSpPr>
            <p:nvPr/>
          </p:nvSpPr>
          <p:spPr bwMode="auto">
            <a:xfrm>
              <a:off x="6691313" y="1201738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77" name="Rectangle 61"/>
            <p:cNvSpPr>
              <a:spLocks noChangeArrowheads="1"/>
            </p:cNvSpPr>
            <p:nvPr/>
          </p:nvSpPr>
          <p:spPr bwMode="auto">
            <a:xfrm>
              <a:off x="6702425" y="1395413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78" name="Rectangle 62"/>
            <p:cNvSpPr>
              <a:spLocks noChangeArrowheads="1"/>
            </p:cNvSpPr>
            <p:nvPr/>
          </p:nvSpPr>
          <p:spPr bwMode="auto">
            <a:xfrm>
              <a:off x="4826000" y="2643188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  <p:sp>
          <p:nvSpPr>
            <p:cNvPr id="13379" name="Rectangle 63"/>
            <p:cNvSpPr>
              <a:spLocks noChangeArrowheads="1"/>
            </p:cNvSpPr>
            <p:nvPr/>
          </p:nvSpPr>
          <p:spPr bwMode="auto">
            <a:xfrm>
              <a:off x="5003800" y="2790825"/>
              <a:ext cx="182802" cy="274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200" b="1" dirty="0">
                <a:cs typeface="Arial" panose="020B0604020202020204" pitchFamily="34" charset="0"/>
              </a:endParaRPr>
            </a:p>
          </p:txBody>
        </p:sp>
      </p:grpSp>
      <p:sp>
        <p:nvSpPr>
          <p:cNvPr id="13319" name="TextBox 74"/>
          <p:cNvSpPr txBox="1">
            <a:spLocks noChangeArrowheads="1"/>
          </p:cNvSpPr>
          <p:nvPr/>
        </p:nvSpPr>
        <p:spPr bwMode="auto">
          <a:xfrm>
            <a:off x="2209800" y="5397346"/>
            <a:ext cx="8763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/>
              <a:t>4 types of command interface can receive : control, status, data o/p and data </a:t>
            </a:r>
            <a:r>
              <a:rPr lang="en-US" altLang="en-US" sz="1600" dirty="0" err="1"/>
              <a:t>i</a:t>
            </a:r>
            <a:r>
              <a:rPr lang="en-US" altLang="en-US" sz="1600" dirty="0"/>
              <a:t>/p</a:t>
            </a:r>
          </a:p>
        </p:txBody>
      </p:sp>
    </p:spTree>
    <p:extLst>
      <p:ext uri="{BB962C8B-B14F-4D97-AF65-F5344CB8AC3E}">
        <p14:creationId xmlns:p14="http://schemas.microsoft.com/office/powerpoint/2010/main" val="4012486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39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1417CD5B-6D45-4005-815C-952A291331A2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1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Bus and Interface</a:t>
            </a:r>
          </a:p>
        </p:txBody>
      </p:sp>
      <p:sp>
        <p:nvSpPr>
          <p:cNvPr id="14342" name="Rectangle 76"/>
          <p:cNvSpPr>
            <a:spLocks noChangeArrowheads="1"/>
          </p:cNvSpPr>
          <p:nvPr/>
        </p:nvSpPr>
        <p:spPr bwMode="auto">
          <a:xfrm>
            <a:off x="1981201" y="1676401"/>
            <a:ext cx="7802136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Control  command :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en-US" dirty="0"/>
              <a:t>issued to activate peripheral and to inform what to do </a:t>
            </a:r>
          </a:p>
          <a:p>
            <a:pPr eaLnBrk="1" hangingPunct="1"/>
            <a:endParaRPr lang="en-US" altLang="en-US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Status command :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en-US" dirty="0"/>
              <a:t>used to test various status condition in interface and peripherals </a:t>
            </a:r>
          </a:p>
          <a:p>
            <a:pPr eaLnBrk="1" hangingPunct="1"/>
            <a:endParaRPr lang="en-US" altLang="en-US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data o/p command : 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en-US" dirty="0"/>
              <a:t>causes the interface to respond by transferring data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en-US" dirty="0"/>
              <a:t>From the bus into one of its registers</a:t>
            </a:r>
          </a:p>
          <a:p>
            <a:pPr eaLnBrk="1" hangingPunct="1"/>
            <a:endParaRPr lang="en-US" altLang="en-US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data </a:t>
            </a:r>
            <a:r>
              <a:rPr lang="en-US" altLang="en-US" dirty="0" err="1"/>
              <a:t>i</a:t>
            </a:r>
            <a:r>
              <a:rPr lang="en-US" altLang="en-US" dirty="0"/>
              <a:t>/p command :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en-US" dirty="0"/>
              <a:t>interface receives an item of data from the peripheral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en-US" dirty="0"/>
              <a:t>Then, places it in its buffer register.</a:t>
            </a:r>
          </a:p>
        </p:txBody>
      </p:sp>
    </p:spTree>
    <p:extLst>
      <p:ext uri="{BB962C8B-B14F-4D97-AF65-F5344CB8AC3E}">
        <p14:creationId xmlns:p14="http://schemas.microsoft.com/office/powerpoint/2010/main" val="105698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9B50F766-6CB4-4A0E-8279-FDC636707FA3}" type="slidenum">
              <a:rPr lang="en-US" altLang="en-US">
                <a:latin typeface="Calibri" panose="020F0502020204030204" pitchFamily="34" charset="0"/>
              </a:rPr>
              <a:pPr eaLnBrk="1" hangingPunct="1"/>
              <a:t>19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I/O Bus and Memory Bus</a:t>
            </a:r>
          </a:p>
        </p:txBody>
      </p:sp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1447801" y="1633538"/>
            <a:ext cx="8937625" cy="2582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342900" indent="-3429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endParaRPr lang="en-US" altLang="ko-KR" b="1" i="1" dirty="0">
              <a:cs typeface="Arial" panose="020B0604020202020204" pitchFamily="34" charset="0"/>
            </a:endParaRPr>
          </a:p>
          <a:p>
            <a:pPr lvl="1" eaLnBrk="1" hangingPunct="1"/>
            <a:endParaRPr lang="en-US" altLang="ko-KR" b="1" i="1" dirty="0">
              <a:cs typeface="Arial" panose="020B0604020202020204" pitchFamily="34" charset="0"/>
            </a:endParaRPr>
          </a:p>
          <a:p>
            <a:pPr marL="8572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ko-KR" b="1" i="1" dirty="0">
                <a:cs typeface="Arial" panose="020B0604020202020204" pitchFamily="34" charset="0"/>
              </a:rPr>
              <a:t>MEMORY BUS</a:t>
            </a:r>
            <a:r>
              <a:rPr lang="en-US" altLang="ko-KR" b="1" dirty="0">
                <a:cs typeface="Arial" panose="020B0604020202020204" pitchFamily="34" charset="0"/>
              </a:rPr>
              <a:t>  is for information transfers between CPU and the MM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IN" altLang="ko-KR" b="1" dirty="0"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ko-KR" b="1" dirty="0">
              <a:cs typeface="Arial" panose="020B0604020202020204" pitchFamily="34" charset="0"/>
            </a:endParaRPr>
          </a:p>
          <a:p>
            <a:pPr marL="8572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ko-KR" b="1" i="1" dirty="0">
                <a:cs typeface="Arial" panose="020B0604020202020204" pitchFamily="34" charset="0"/>
              </a:rPr>
              <a:t>I/O BUS</a:t>
            </a:r>
            <a:r>
              <a:rPr lang="en-US" altLang="ko-KR" b="1" dirty="0">
                <a:cs typeface="Arial" panose="020B0604020202020204" pitchFamily="34" charset="0"/>
              </a:rPr>
              <a:t> is for information transfers. </a:t>
            </a:r>
          </a:p>
          <a:p>
            <a:pPr marL="857250" lvl="1" indent="-285750" eaLnBrk="1" hangingPunct="1">
              <a:buFont typeface="Arial" panose="020B0604020202020204" pitchFamily="34" charset="0"/>
              <a:buChar char="•"/>
            </a:pPr>
            <a:endParaRPr lang="en-IN" altLang="ko-KR" b="1" dirty="0">
              <a:cs typeface="Arial" panose="020B0604020202020204" pitchFamily="34" charset="0"/>
            </a:endParaRPr>
          </a:p>
          <a:p>
            <a:pPr marL="857250" lvl="1" indent="-285750" eaLnBrk="1" hangingPunct="1">
              <a:buFont typeface="Arial" panose="020B0604020202020204" pitchFamily="34" charset="0"/>
              <a:buChar char="•"/>
            </a:pPr>
            <a:endParaRPr lang="en-US" altLang="ko-KR" b="1" dirty="0">
              <a:cs typeface="Arial" panose="020B0604020202020204" pitchFamily="34" charset="0"/>
            </a:endParaRPr>
          </a:p>
          <a:p>
            <a:pPr marL="8572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ko-KR" b="1" dirty="0">
                <a:cs typeface="Arial" panose="020B0604020202020204" pitchFamily="34" charset="0"/>
              </a:rPr>
              <a:t>Transfer between CPU and I/O devices through their I/O interface</a:t>
            </a:r>
          </a:p>
        </p:txBody>
      </p:sp>
      <p:sp>
        <p:nvSpPr>
          <p:cNvPr id="15367" name="Rectangle 5"/>
          <p:cNvSpPr>
            <a:spLocks noChangeArrowheads="1"/>
          </p:cNvSpPr>
          <p:nvPr/>
        </p:nvSpPr>
        <p:spPr bwMode="auto">
          <a:xfrm>
            <a:off x="1890713" y="1157288"/>
            <a:ext cx="2324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b="1" u="sng">
                <a:cs typeface="Arial" panose="020B0604020202020204" pitchFamily="34" charset="0"/>
              </a:rPr>
              <a:t>Functions of Buses</a:t>
            </a:r>
          </a:p>
        </p:txBody>
      </p:sp>
    </p:spTree>
    <p:extLst>
      <p:ext uri="{BB962C8B-B14F-4D97-AF65-F5344CB8AC3E}">
        <p14:creationId xmlns:p14="http://schemas.microsoft.com/office/powerpoint/2010/main" val="3980392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9B50F766-6CB4-4A0E-8279-FDC636707FA3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I/O Bus and Memory Bus</a:t>
            </a:r>
          </a:p>
        </p:txBody>
      </p:sp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1447801" y="1633538"/>
            <a:ext cx="9562321" cy="3906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marL="342900" indent="-3429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endParaRPr lang="en-US" altLang="ko-KR" b="1" dirty="0"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3 ways to bus can communicate with memory and I/O 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ko-KR" b="1" dirty="0"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ko-KR" b="1" dirty="0">
                <a:cs typeface="Arial" panose="020B0604020202020204" pitchFamily="34" charset="0"/>
              </a:rPr>
              <a:t> (1).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use two separate buses, </a:t>
            </a:r>
          </a:p>
          <a:p>
            <a:pPr marL="8572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2"/>
                </a:solidFill>
                <a:cs typeface="Arial" panose="020B0604020202020204" pitchFamily="34" charset="0"/>
              </a:rPr>
              <a:t>one to communicate with memory , the other with I/O interfaces</a:t>
            </a:r>
          </a:p>
          <a:p>
            <a:pPr lvl="1" eaLnBrk="1" hangingPunct="1"/>
            <a:r>
              <a:rPr lang="en-US" altLang="ko-KR" b="1" dirty="0">
                <a:cs typeface="Arial" panose="020B0604020202020204" pitchFamily="34" charset="0"/>
              </a:rPr>
              <a:t>	       	</a:t>
            </a:r>
            <a:r>
              <a:rPr lang="en-US" altLang="ko-KR" sz="1600" b="1" dirty="0">
                <a:cs typeface="Arial" panose="020B0604020202020204" pitchFamily="34" charset="0"/>
              </a:rPr>
              <a:t>- Computer has independent set of data, address and control bus </a:t>
            </a:r>
          </a:p>
          <a:p>
            <a:pPr lvl="1" eaLnBrk="1" hangingPunct="1"/>
            <a:r>
              <a:rPr lang="en-US" altLang="ko-KR" sz="1600" b="1" dirty="0">
                <a:cs typeface="Arial" panose="020B0604020202020204" pitchFamily="34" charset="0"/>
              </a:rPr>
              <a:t>		- one for accessing memory and another I/O.</a:t>
            </a:r>
          </a:p>
          <a:p>
            <a:pPr lvl="1" eaLnBrk="1" hangingPunct="1"/>
            <a:r>
              <a:rPr lang="en-US" altLang="ko-KR" sz="1600" b="1" dirty="0">
                <a:cs typeface="Arial" panose="020B0604020202020204" pitchFamily="34" charset="0"/>
              </a:rPr>
              <a:t>		- done in computers that have separate IOP other than CPU.</a:t>
            </a:r>
          </a:p>
          <a:p>
            <a:pPr lvl="1" eaLnBrk="1" hangingPunct="1"/>
            <a:endParaRPr lang="en-US" altLang="ko-KR" sz="1600" b="1" dirty="0"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ko-KR" sz="2000" b="1" dirty="0">
                <a:cs typeface="Arial" panose="020B0604020202020204" pitchFamily="34" charset="0"/>
              </a:rPr>
              <a:t> </a:t>
            </a:r>
            <a:r>
              <a:rPr lang="en-US" altLang="ko-KR" b="1" dirty="0">
                <a:cs typeface="Arial" panose="020B0604020202020204" pitchFamily="34" charset="0"/>
              </a:rPr>
              <a:t>(2). 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Use one common bus for memory and I/O but separate control lines  </a:t>
            </a:r>
          </a:p>
          <a:p>
            <a:pPr lvl="1" eaLnBrk="1" hangingPunct="1"/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         for each </a:t>
            </a:r>
          </a:p>
          <a:p>
            <a:pPr lvl="1" eaLnBrk="1" hangingPunct="1"/>
            <a:endParaRPr lang="en-US" altLang="ko-KR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ko-KR" b="1" dirty="0">
                <a:cs typeface="Arial" panose="020B0604020202020204" pitchFamily="34" charset="0"/>
              </a:rPr>
              <a:t> (3). 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Use one common bus for memory and I/O with common  control </a:t>
            </a:r>
          </a:p>
          <a:p>
            <a:pPr lvl="1" eaLnBrk="1" hangingPunct="1"/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         lines for both </a:t>
            </a:r>
            <a:endParaRPr lang="en-US" altLang="ko-KR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248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Os\Desktop\Memorymapped_InputOutpu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85800"/>
            <a:ext cx="4495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 descr="C:\Users\Os\Desktop\Memorymapped_InputOutput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295400"/>
            <a:ext cx="3962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146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C3DCF622-DE6C-47A3-8C5C-8E4E3FC8FBD2}" type="slidenum">
              <a:rPr lang="en-US" altLang="en-US">
                <a:latin typeface="Calibri" panose="020F0502020204030204" pitchFamily="34" charset="0"/>
              </a:rPr>
              <a:pPr eaLnBrk="1" hangingPunct="1"/>
              <a:t>22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Isolated vs. Memory Mapped I/O</a:t>
            </a:r>
          </a:p>
        </p:txBody>
      </p:sp>
      <p:sp>
        <p:nvSpPr>
          <p:cNvPr id="17414" name="Rectangle 3"/>
          <p:cNvSpPr>
            <a:spLocks noChangeArrowheads="1"/>
          </p:cNvSpPr>
          <p:nvPr/>
        </p:nvSpPr>
        <p:spPr bwMode="auto">
          <a:xfrm>
            <a:off x="6307139" y="1028700"/>
            <a:ext cx="34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b="1">
              <a:cs typeface="Arial" panose="020B0604020202020204" pitchFamily="34" charset="0"/>
            </a:endParaRPr>
          </a:p>
        </p:txBody>
      </p:sp>
      <p:sp>
        <p:nvSpPr>
          <p:cNvPr id="17415" name="Rectangle 4"/>
          <p:cNvSpPr>
            <a:spLocks noChangeArrowheads="1"/>
          </p:cNvSpPr>
          <p:nvPr/>
        </p:nvSpPr>
        <p:spPr bwMode="auto">
          <a:xfrm>
            <a:off x="2107454" y="1915319"/>
            <a:ext cx="8124825" cy="3889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101600" indent="-101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7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- Many computers use common bus to transfer information between   memory or I/O.</a:t>
            </a:r>
          </a:p>
          <a:p>
            <a:pPr eaLnBrk="1" hangingPunct="1">
              <a:lnSpc>
                <a:spcPct val="80000"/>
              </a:lnSpc>
              <a:spcBef>
                <a:spcPct val="57000"/>
              </a:spcBef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57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- The distinction between memory transfer and I/O transfer is made through separate read and write line.</a:t>
            </a:r>
          </a:p>
          <a:p>
            <a:pPr eaLnBrk="1" hangingPunct="1">
              <a:lnSpc>
                <a:spcPct val="80000"/>
              </a:lnSpc>
              <a:spcBef>
                <a:spcPct val="57000"/>
              </a:spcBef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57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-In the isolated I/O configuration , </a:t>
            </a:r>
          </a:p>
          <a:p>
            <a:pPr marL="285750" indent="-285750" eaLnBrk="1" hangingPunct="1">
              <a:lnSpc>
                <a:spcPct val="80000"/>
              </a:lnSpc>
              <a:spcBef>
                <a:spcPct val="57000"/>
              </a:spcBef>
              <a:buFont typeface="Arial" panose="020B0604020202020204" pitchFamily="34" charset="0"/>
              <a:buChar char="•"/>
            </a:pPr>
            <a:r>
              <a:rPr lang="en-US" altLang="ko-KR" b="1" dirty="0">
                <a:cs typeface="Arial" panose="020B0604020202020204" pitchFamily="34" charset="0"/>
              </a:rPr>
              <a:t>	the CPU has distinct input and output instructions and each of these instruction is associated with the address of an interface register.  </a:t>
            </a:r>
          </a:p>
          <a:p>
            <a:pPr eaLnBrk="1" hangingPunct="1">
              <a:lnSpc>
                <a:spcPct val="80000"/>
              </a:lnSpc>
              <a:spcBef>
                <a:spcPct val="57000"/>
              </a:spcBef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57000"/>
              </a:spcBef>
              <a:buFontTx/>
              <a:buChar char="-"/>
            </a:pPr>
            <a:r>
              <a:rPr lang="en-US" altLang="ko-KR" b="1" dirty="0">
                <a:cs typeface="Arial" panose="020B0604020202020204" pitchFamily="34" charset="0"/>
              </a:rPr>
              <a:t>Distinct input and output instructions </a:t>
            </a:r>
          </a:p>
          <a:p>
            <a:pPr lvl="1">
              <a:lnSpc>
                <a:spcPct val="80000"/>
              </a:lnSpc>
              <a:spcBef>
                <a:spcPct val="57000"/>
              </a:spcBef>
              <a:buFontTx/>
              <a:buChar char="-"/>
            </a:pPr>
            <a:r>
              <a:rPr lang="en-US" altLang="ko-KR" sz="1400" b="1" dirty="0">
                <a:cs typeface="Arial" panose="020B0604020202020204" pitchFamily="34" charset="0"/>
              </a:rPr>
              <a:t>each associated with address of  interface register</a:t>
            </a:r>
          </a:p>
        </p:txBody>
      </p:sp>
      <p:sp>
        <p:nvSpPr>
          <p:cNvPr id="17416" name="Rectangle 5"/>
          <p:cNvSpPr>
            <a:spLocks noChangeArrowheads="1"/>
          </p:cNvSpPr>
          <p:nvPr/>
        </p:nvSpPr>
        <p:spPr bwMode="auto">
          <a:xfrm>
            <a:off x="5255467" y="1296988"/>
            <a:ext cx="18288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</a:pPr>
            <a:r>
              <a:rPr lang="en-US" altLang="ko-KR" b="1" u="sng">
                <a:solidFill>
                  <a:srgbClr val="FF0000"/>
                </a:solidFill>
                <a:cs typeface="Arial" panose="020B0604020202020204" pitchFamily="34" charset="0"/>
              </a:rPr>
              <a:t>Isolated I/O</a:t>
            </a:r>
          </a:p>
        </p:txBody>
      </p:sp>
    </p:spTree>
    <p:extLst>
      <p:ext uri="{BB962C8B-B14F-4D97-AF65-F5344CB8AC3E}">
        <p14:creationId xmlns:p14="http://schemas.microsoft.com/office/powerpoint/2010/main" val="267408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C3DCF622-DE6C-47A3-8C5C-8E4E3FC8FBD2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Isolated vs. Memory Mapped I/O</a:t>
            </a:r>
          </a:p>
        </p:txBody>
      </p:sp>
      <p:sp>
        <p:nvSpPr>
          <p:cNvPr id="17414" name="Rectangle 3"/>
          <p:cNvSpPr>
            <a:spLocks noChangeArrowheads="1"/>
          </p:cNvSpPr>
          <p:nvPr/>
        </p:nvSpPr>
        <p:spPr bwMode="auto">
          <a:xfrm>
            <a:off x="6307139" y="1028700"/>
            <a:ext cx="34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b="1">
              <a:cs typeface="Arial" panose="020B0604020202020204" pitchFamily="34" charset="0"/>
            </a:endParaRPr>
          </a:p>
        </p:txBody>
      </p:sp>
      <p:sp>
        <p:nvSpPr>
          <p:cNvPr id="17417" name="Rectangle 6"/>
          <p:cNvSpPr>
            <a:spLocks noChangeArrowheads="1"/>
          </p:cNvSpPr>
          <p:nvPr/>
        </p:nvSpPr>
        <p:spPr bwMode="auto">
          <a:xfrm>
            <a:off x="4962331" y="1323976"/>
            <a:ext cx="3135313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</a:pPr>
            <a:r>
              <a:rPr lang="en-US" altLang="ko-KR" b="1" u="sng" dirty="0">
                <a:solidFill>
                  <a:srgbClr val="FF0000"/>
                </a:solidFill>
                <a:cs typeface="Arial" panose="020B0604020202020204" pitchFamily="34" charset="0"/>
              </a:rPr>
              <a:t>Memory-mapped I/O</a:t>
            </a:r>
          </a:p>
        </p:txBody>
      </p:sp>
      <p:sp>
        <p:nvSpPr>
          <p:cNvPr id="17418" name="Rectangle 7"/>
          <p:cNvSpPr>
            <a:spLocks noChangeArrowheads="1"/>
          </p:cNvSpPr>
          <p:nvPr/>
        </p:nvSpPr>
        <p:spPr bwMode="auto">
          <a:xfrm>
            <a:off x="1893095" y="2224088"/>
            <a:ext cx="8897938" cy="355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- A single set of read/write control lines</a:t>
            </a:r>
          </a:p>
          <a:p>
            <a:pPr lvl="1" eaLnBrk="1" hangingPunct="1">
              <a:lnSpc>
                <a:spcPct val="65000"/>
              </a:lnSpc>
              <a:spcBef>
                <a:spcPct val="15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  		(no distinction between memory and I/O transfer)</a:t>
            </a: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endParaRPr lang="en-US" altLang="ko-KR" b="1" dirty="0">
              <a:cs typeface="Arial" panose="020B0604020202020204" pitchFamily="34" charset="0"/>
            </a:endParaRP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- Memory and I/O addresses share the common address space </a:t>
            </a: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  		-&gt; reduces memory address range available</a:t>
            </a: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endParaRPr lang="en-US" altLang="ko-KR" b="1" dirty="0">
              <a:cs typeface="Arial" panose="020B0604020202020204" pitchFamily="34" charset="0"/>
            </a:endParaRP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- No specific input or output instruction </a:t>
            </a: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  		-&gt; The same memory reference instructions can      </a:t>
            </a:r>
          </a:p>
          <a:p>
            <a:pPr lvl="1" eaLnBrk="1" hangingPunct="1">
              <a:lnSpc>
                <a:spcPct val="65000"/>
              </a:lnSpc>
              <a:spcBef>
                <a:spcPct val="25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      		be used for I/O transfers</a:t>
            </a: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endParaRPr lang="en-US" altLang="ko-KR" b="1" dirty="0">
              <a:cs typeface="Arial" panose="020B0604020202020204" pitchFamily="34" charset="0"/>
            </a:endParaRPr>
          </a:p>
          <a:p>
            <a:pPr lvl="1" eaLnBrk="1" hangingPunct="1">
              <a:lnSpc>
                <a:spcPct val="65000"/>
              </a:lnSpc>
              <a:spcBef>
                <a:spcPct val="54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- Considerable flexibility in handling I/O operations</a:t>
            </a:r>
          </a:p>
          <a:p>
            <a:pPr eaLnBrk="1" latinLnBrk="1" hangingPunct="1">
              <a:lnSpc>
                <a:spcPct val="65000"/>
              </a:lnSpc>
            </a:pPr>
            <a:endParaRPr lang="en-US" altLang="ko-KR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300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3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C9321D27-7EF3-4947-9D4B-906964733B4F}" type="slidenum">
              <a:rPr lang="en-US" altLang="en-US">
                <a:latin typeface="Calibri" panose="020F0502020204030204" pitchFamily="34" charset="0"/>
              </a:rPr>
              <a:pPr eaLnBrk="1" hangingPunct="1"/>
              <a:t>24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 I/O Interface</a:t>
            </a:r>
          </a:p>
        </p:txBody>
      </p:sp>
      <p:sp>
        <p:nvSpPr>
          <p:cNvPr id="18438" name="Rectangle 3"/>
          <p:cNvSpPr>
            <a:spLocks noChangeArrowheads="1"/>
          </p:cNvSpPr>
          <p:nvPr/>
        </p:nvSpPr>
        <p:spPr bwMode="auto">
          <a:xfrm>
            <a:off x="6307139" y="1028700"/>
            <a:ext cx="34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b="1">
              <a:cs typeface="Arial" panose="020B0604020202020204" pitchFamily="34" charset="0"/>
            </a:endParaRPr>
          </a:p>
        </p:txBody>
      </p:sp>
      <p:grpSp>
        <p:nvGrpSpPr>
          <p:cNvPr id="18439" name="Group 79"/>
          <p:cNvGrpSpPr>
            <a:grpSpLocks/>
          </p:cNvGrpSpPr>
          <p:nvPr/>
        </p:nvGrpSpPr>
        <p:grpSpPr bwMode="auto">
          <a:xfrm>
            <a:off x="1828800" y="1066800"/>
            <a:ext cx="8610600" cy="5221288"/>
            <a:chOff x="380772" y="772688"/>
            <a:chExt cx="8610828" cy="5221862"/>
          </a:xfrm>
        </p:grpSpPr>
        <p:sp>
          <p:nvSpPr>
            <p:cNvPr id="18440" name="Rectangle 3"/>
            <p:cNvSpPr>
              <a:spLocks noChangeArrowheads="1"/>
            </p:cNvSpPr>
            <p:nvPr/>
          </p:nvSpPr>
          <p:spPr bwMode="auto">
            <a:xfrm>
              <a:off x="457200" y="4887488"/>
              <a:ext cx="8382000" cy="1107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- Information in each port can be assigned a meaning depending on the mode of operation of the I/O device→ Port A = Data; Port B = Command; </a:t>
              </a:r>
            </a:p>
            <a:p>
              <a:pPr eaLnBrk="1" hangingPunct="1">
                <a:lnSpc>
                  <a:spcPct val="70000"/>
                </a:lnSpc>
              </a:pPr>
              <a:endParaRPr lang="en-US" altLang="ko-KR" sz="1400" b="1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70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- CPU initializes(loads) each port by transferring a byte to the Control Register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  → Allows CPU can define the mode of operation of each port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  →</a:t>
              </a:r>
              <a:r>
                <a:rPr lang="en-US" altLang="ko-KR" sz="1400" b="1" i="1">
                  <a:cs typeface="Arial" panose="020B0604020202020204" pitchFamily="34" charset="0"/>
                </a:rPr>
                <a:t> Programmable Port</a:t>
              </a:r>
              <a:r>
                <a:rPr lang="en-US" altLang="ko-KR" sz="1400" b="1">
                  <a:cs typeface="Arial" panose="020B0604020202020204" pitchFamily="34" charset="0"/>
                </a:rPr>
                <a:t>: By changing the bits in the control register, it is possible to change the 	interface characteristics</a:t>
              </a:r>
            </a:p>
          </p:txBody>
        </p:sp>
        <p:sp>
          <p:nvSpPr>
            <p:cNvPr id="18441" name="Rectangle 79"/>
            <p:cNvSpPr>
              <a:spLocks noChangeArrowheads="1"/>
            </p:cNvSpPr>
            <p:nvPr/>
          </p:nvSpPr>
          <p:spPr bwMode="auto">
            <a:xfrm>
              <a:off x="4421188" y="3567113"/>
              <a:ext cx="3042501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CS  RS1   RS0               Register selected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42" name="Rectangle 80"/>
            <p:cNvSpPr>
              <a:spLocks noChangeArrowheads="1"/>
            </p:cNvSpPr>
            <p:nvPr/>
          </p:nvSpPr>
          <p:spPr bwMode="auto">
            <a:xfrm>
              <a:off x="4421188" y="3767138"/>
              <a:ext cx="4062010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  0      x        x             None - data bus in high-impedence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43" name="Rectangle 81"/>
            <p:cNvSpPr>
              <a:spLocks noChangeArrowheads="1"/>
            </p:cNvSpPr>
            <p:nvPr/>
          </p:nvSpPr>
          <p:spPr bwMode="auto">
            <a:xfrm>
              <a:off x="4421188" y="3935413"/>
              <a:ext cx="2658486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  1      0        0             Port A register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44" name="Rectangle 82"/>
            <p:cNvSpPr>
              <a:spLocks noChangeArrowheads="1"/>
            </p:cNvSpPr>
            <p:nvPr/>
          </p:nvSpPr>
          <p:spPr bwMode="auto">
            <a:xfrm>
              <a:off x="4421188" y="4105275"/>
              <a:ext cx="267541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  1      0        1             Port B register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45" name="Rectangle 83"/>
            <p:cNvSpPr>
              <a:spLocks noChangeArrowheads="1"/>
            </p:cNvSpPr>
            <p:nvPr/>
          </p:nvSpPr>
          <p:spPr bwMode="auto">
            <a:xfrm>
              <a:off x="4421188" y="4276725"/>
              <a:ext cx="2741136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  1      1        0             Control register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46" name="Rectangle 84"/>
            <p:cNvSpPr>
              <a:spLocks noChangeArrowheads="1"/>
            </p:cNvSpPr>
            <p:nvPr/>
          </p:nvSpPr>
          <p:spPr bwMode="auto">
            <a:xfrm>
              <a:off x="4421188" y="4448175"/>
              <a:ext cx="2683428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  1      1        1             Status register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47" name="Line 85"/>
            <p:cNvSpPr>
              <a:spLocks noChangeShapeType="1"/>
            </p:cNvSpPr>
            <p:nvPr/>
          </p:nvSpPr>
          <p:spPr bwMode="auto">
            <a:xfrm>
              <a:off x="4378325" y="3800475"/>
              <a:ext cx="4613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8" name="Line 86"/>
            <p:cNvSpPr>
              <a:spLocks noChangeShapeType="1"/>
            </p:cNvSpPr>
            <p:nvPr/>
          </p:nvSpPr>
          <p:spPr bwMode="auto">
            <a:xfrm>
              <a:off x="4378325" y="4700588"/>
              <a:ext cx="4613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Line 87"/>
            <p:cNvSpPr>
              <a:spLocks noChangeShapeType="1"/>
            </p:cNvSpPr>
            <p:nvPr/>
          </p:nvSpPr>
          <p:spPr bwMode="auto">
            <a:xfrm>
              <a:off x="5892800" y="3619500"/>
              <a:ext cx="0" cy="1082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Rectangle 92"/>
            <p:cNvSpPr>
              <a:spLocks noChangeArrowheads="1"/>
            </p:cNvSpPr>
            <p:nvPr/>
          </p:nvSpPr>
          <p:spPr bwMode="auto">
            <a:xfrm>
              <a:off x="380772" y="4560888"/>
              <a:ext cx="223458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 u="sng">
                  <a:cs typeface="Arial" panose="020B0604020202020204" pitchFamily="34" charset="0"/>
                </a:rPr>
                <a:t>Programmable Interface</a:t>
              </a:r>
            </a:p>
          </p:txBody>
        </p:sp>
        <p:sp>
          <p:nvSpPr>
            <p:cNvPr id="18451" name="Rectangle 4"/>
            <p:cNvSpPr>
              <a:spLocks noChangeArrowheads="1"/>
            </p:cNvSpPr>
            <p:nvPr/>
          </p:nvSpPr>
          <p:spPr bwMode="auto">
            <a:xfrm>
              <a:off x="1296988" y="1839488"/>
              <a:ext cx="94096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Chip select</a:t>
              </a:r>
            </a:p>
          </p:txBody>
        </p:sp>
        <p:sp>
          <p:nvSpPr>
            <p:cNvPr id="18452" name="Line 6"/>
            <p:cNvSpPr>
              <a:spLocks noChangeShapeType="1"/>
            </p:cNvSpPr>
            <p:nvPr/>
          </p:nvSpPr>
          <p:spPr bwMode="auto">
            <a:xfrm>
              <a:off x="1412875" y="2120900"/>
              <a:ext cx="143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3" name="Rectangle 7"/>
            <p:cNvSpPr>
              <a:spLocks noChangeArrowheads="1"/>
            </p:cNvSpPr>
            <p:nvPr/>
          </p:nvSpPr>
          <p:spPr bwMode="auto">
            <a:xfrm>
              <a:off x="1296988" y="2096663"/>
              <a:ext cx="119744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Register select</a:t>
              </a:r>
            </a:p>
          </p:txBody>
        </p:sp>
        <p:sp>
          <p:nvSpPr>
            <p:cNvPr id="18454" name="Line 9"/>
            <p:cNvSpPr>
              <a:spLocks noChangeShapeType="1"/>
            </p:cNvSpPr>
            <p:nvPr/>
          </p:nvSpPr>
          <p:spPr bwMode="auto">
            <a:xfrm flipV="1">
              <a:off x="1412875" y="2374900"/>
              <a:ext cx="1447800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Rectangle 10"/>
            <p:cNvSpPr>
              <a:spLocks noChangeArrowheads="1"/>
            </p:cNvSpPr>
            <p:nvPr/>
          </p:nvSpPr>
          <p:spPr bwMode="auto">
            <a:xfrm>
              <a:off x="1296988" y="2372888"/>
              <a:ext cx="119744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Register select</a:t>
              </a:r>
            </a:p>
          </p:txBody>
        </p:sp>
        <p:sp>
          <p:nvSpPr>
            <p:cNvPr id="18456" name="Line 12"/>
            <p:cNvSpPr>
              <a:spLocks noChangeShapeType="1"/>
            </p:cNvSpPr>
            <p:nvPr/>
          </p:nvSpPr>
          <p:spPr bwMode="auto">
            <a:xfrm>
              <a:off x="1412875" y="2651125"/>
              <a:ext cx="14478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7" name="Rectangle 13"/>
            <p:cNvSpPr>
              <a:spLocks noChangeArrowheads="1"/>
            </p:cNvSpPr>
            <p:nvPr/>
          </p:nvSpPr>
          <p:spPr bwMode="auto">
            <a:xfrm>
              <a:off x="1296988" y="2633238"/>
              <a:ext cx="73898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I/O read</a:t>
              </a:r>
            </a:p>
          </p:txBody>
        </p:sp>
        <p:sp>
          <p:nvSpPr>
            <p:cNvPr id="18458" name="Line 15"/>
            <p:cNvSpPr>
              <a:spLocks noChangeShapeType="1"/>
            </p:cNvSpPr>
            <p:nvPr/>
          </p:nvSpPr>
          <p:spPr bwMode="auto">
            <a:xfrm>
              <a:off x="1412875" y="2922588"/>
              <a:ext cx="14430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Rectangle 16"/>
            <p:cNvSpPr>
              <a:spLocks noChangeArrowheads="1"/>
            </p:cNvSpPr>
            <p:nvPr/>
          </p:nvSpPr>
          <p:spPr bwMode="auto">
            <a:xfrm>
              <a:off x="1296988" y="2901525"/>
              <a:ext cx="75661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I/O write</a:t>
              </a:r>
            </a:p>
          </p:txBody>
        </p:sp>
        <p:sp>
          <p:nvSpPr>
            <p:cNvPr id="18460" name="Line 18"/>
            <p:cNvSpPr>
              <a:spLocks noChangeShapeType="1"/>
            </p:cNvSpPr>
            <p:nvPr/>
          </p:nvSpPr>
          <p:spPr bwMode="auto">
            <a:xfrm flipV="1">
              <a:off x="1412875" y="3179763"/>
              <a:ext cx="1433513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Rectangle 19"/>
            <p:cNvSpPr>
              <a:spLocks noChangeArrowheads="1"/>
            </p:cNvSpPr>
            <p:nvPr/>
          </p:nvSpPr>
          <p:spPr bwMode="auto">
            <a:xfrm>
              <a:off x="2870200" y="1924050"/>
              <a:ext cx="1343025" cy="13827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cs typeface="Arial" panose="020B0604020202020204" pitchFamily="34" charset="0"/>
              </a:endParaRPr>
            </a:p>
          </p:txBody>
        </p:sp>
        <p:sp>
          <p:nvSpPr>
            <p:cNvPr id="18462" name="Rectangle 20"/>
            <p:cNvSpPr>
              <a:spLocks noChangeArrowheads="1"/>
            </p:cNvSpPr>
            <p:nvPr/>
          </p:nvSpPr>
          <p:spPr bwMode="auto">
            <a:xfrm>
              <a:off x="2840038" y="1979613"/>
              <a:ext cx="39594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CS</a:t>
              </a:r>
            </a:p>
          </p:txBody>
        </p:sp>
        <p:sp>
          <p:nvSpPr>
            <p:cNvPr id="18463" name="Rectangle 21"/>
            <p:cNvSpPr>
              <a:spLocks noChangeArrowheads="1"/>
            </p:cNvSpPr>
            <p:nvPr/>
          </p:nvSpPr>
          <p:spPr bwMode="auto">
            <a:xfrm>
              <a:off x="2840038" y="2241550"/>
              <a:ext cx="4809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RS1</a:t>
              </a:r>
            </a:p>
          </p:txBody>
        </p:sp>
        <p:sp>
          <p:nvSpPr>
            <p:cNvPr id="18464" name="Rectangle 22"/>
            <p:cNvSpPr>
              <a:spLocks noChangeArrowheads="1"/>
            </p:cNvSpPr>
            <p:nvPr/>
          </p:nvSpPr>
          <p:spPr bwMode="auto">
            <a:xfrm>
              <a:off x="2840038" y="2514600"/>
              <a:ext cx="4809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RS0</a:t>
              </a:r>
            </a:p>
          </p:txBody>
        </p:sp>
        <p:sp>
          <p:nvSpPr>
            <p:cNvPr id="18465" name="Rectangle 23"/>
            <p:cNvSpPr>
              <a:spLocks noChangeArrowheads="1"/>
            </p:cNvSpPr>
            <p:nvPr/>
          </p:nvSpPr>
          <p:spPr bwMode="auto">
            <a:xfrm>
              <a:off x="2840038" y="2782888"/>
              <a:ext cx="40395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18466" name="Rectangle 24"/>
            <p:cNvSpPr>
              <a:spLocks noChangeArrowheads="1"/>
            </p:cNvSpPr>
            <p:nvPr/>
          </p:nvSpPr>
          <p:spPr bwMode="auto">
            <a:xfrm>
              <a:off x="2840038" y="3055938"/>
              <a:ext cx="43922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18467" name="Rectangle 25"/>
            <p:cNvSpPr>
              <a:spLocks noChangeArrowheads="1"/>
            </p:cNvSpPr>
            <p:nvPr/>
          </p:nvSpPr>
          <p:spPr bwMode="auto">
            <a:xfrm>
              <a:off x="3368675" y="2312988"/>
              <a:ext cx="637098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Timing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68" name="Rectangle 26"/>
            <p:cNvSpPr>
              <a:spLocks noChangeArrowheads="1"/>
            </p:cNvSpPr>
            <p:nvPr/>
          </p:nvSpPr>
          <p:spPr bwMode="auto">
            <a:xfrm>
              <a:off x="3481388" y="2479675"/>
              <a:ext cx="437621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and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69" name="Rectangle 27"/>
            <p:cNvSpPr>
              <a:spLocks noChangeArrowheads="1"/>
            </p:cNvSpPr>
            <p:nvPr/>
          </p:nvSpPr>
          <p:spPr bwMode="auto">
            <a:xfrm>
              <a:off x="3354388" y="2644775"/>
              <a:ext cx="67646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Control</a:t>
              </a:r>
            </a:p>
          </p:txBody>
        </p:sp>
        <p:sp>
          <p:nvSpPr>
            <p:cNvPr id="18470" name="Rectangle 28"/>
            <p:cNvSpPr>
              <a:spLocks noChangeArrowheads="1"/>
            </p:cNvSpPr>
            <p:nvPr/>
          </p:nvSpPr>
          <p:spPr bwMode="auto">
            <a:xfrm>
              <a:off x="3297238" y="1176338"/>
              <a:ext cx="447239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Bus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71" name="Rectangle 29"/>
            <p:cNvSpPr>
              <a:spLocks noChangeArrowheads="1"/>
            </p:cNvSpPr>
            <p:nvPr/>
          </p:nvSpPr>
          <p:spPr bwMode="auto">
            <a:xfrm>
              <a:off x="3182938" y="1341438"/>
              <a:ext cx="64966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buffers</a:t>
              </a:r>
            </a:p>
          </p:txBody>
        </p:sp>
        <p:sp>
          <p:nvSpPr>
            <p:cNvPr id="18472" name="Rectangle 30"/>
            <p:cNvSpPr>
              <a:spLocks noChangeArrowheads="1"/>
            </p:cNvSpPr>
            <p:nvPr/>
          </p:nvSpPr>
          <p:spPr bwMode="auto">
            <a:xfrm>
              <a:off x="2870200" y="1179513"/>
              <a:ext cx="1343025" cy="3778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cs typeface="Arial" panose="020B0604020202020204" pitchFamily="34" charset="0"/>
              </a:endParaRPr>
            </a:p>
          </p:txBody>
        </p:sp>
        <p:sp>
          <p:nvSpPr>
            <p:cNvPr id="18473" name="Line 33"/>
            <p:cNvSpPr>
              <a:spLocks noChangeShapeType="1"/>
            </p:cNvSpPr>
            <p:nvPr/>
          </p:nvSpPr>
          <p:spPr bwMode="auto">
            <a:xfrm>
              <a:off x="1447800" y="1374775"/>
              <a:ext cx="141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4" name="Rectangle 34"/>
            <p:cNvSpPr>
              <a:spLocks noChangeArrowheads="1"/>
            </p:cNvSpPr>
            <p:nvPr/>
          </p:nvSpPr>
          <p:spPr bwMode="auto">
            <a:xfrm>
              <a:off x="1543050" y="1077488"/>
              <a:ext cx="1016305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Bidirectional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75" name="Rectangle 35"/>
            <p:cNvSpPr>
              <a:spLocks noChangeArrowheads="1"/>
            </p:cNvSpPr>
            <p:nvPr/>
          </p:nvSpPr>
          <p:spPr bwMode="auto">
            <a:xfrm>
              <a:off x="1695450" y="1330325"/>
              <a:ext cx="77104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data bus</a:t>
              </a:r>
            </a:p>
          </p:txBody>
        </p:sp>
        <p:sp>
          <p:nvSpPr>
            <p:cNvPr id="18476" name="Line 38"/>
            <p:cNvSpPr>
              <a:spLocks noChangeShapeType="1"/>
            </p:cNvSpPr>
            <p:nvPr/>
          </p:nvSpPr>
          <p:spPr bwMode="auto">
            <a:xfrm flipV="1">
              <a:off x="4225925" y="1371600"/>
              <a:ext cx="587375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7" name="Line 39"/>
            <p:cNvSpPr>
              <a:spLocks noChangeShapeType="1"/>
            </p:cNvSpPr>
            <p:nvPr/>
          </p:nvSpPr>
          <p:spPr bwMode="auto">
            <a:xfrm>
              <a:off x="4819650" y="919163"/>
              <a:ext cx="0" cy="2387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8" name="Rectangle 43"/>
            <p:cNvSpPr>
              <a:spLocks noChangeArrowheads="1"/>
            </p:cNvSpPr>
            <p:nvPr/>
          </p:nvSpPr>
          <p:spPr bwMode="auto">
            <a:xfrm>
              <a:off x="5565775" y="847725"/>
              <a:ext cx="602282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Port A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79" name="Rectangle 44"/>
            <p:cNvSpPr>
              <a:spLocks noChangeArrowheads="1"/>
            </p:cNvSpPr>
            <p:nvPr/>
          </p:nvSpPr>
          <p:spPr bwMode="auto">
            <a:xfrm>
              <a:off x="5519738" y="1001713"/>
              <a:ext cx="6941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18480" name="Rectangle 45"/>
            <p:cNvSpPr>
              <a:spLocks noChangeArrowheads="1"/>
            </p:cNvSpPr>
            <p:nvPr/>
          </p:nvSpPr>
          <p:spPr bwMode="auto">
            <a:xfrm>
              <a:off x="5384800" y="847725"/>
              <a:ext cx="1027113" cy="3778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cs typeface="Arial" panose="020B0604020202020204" pitchFamily="34" charset="0"/>
              </a:endParaRPr>
            </a:p>
          </p:txBody>
        </p:sp>
        <p:sp>
          <p:nvSpPr>
            <p:cNvPr id="18481" name="Rectangle 53"/>
            <p:cNvSpPr>
              <a:spLocks noChangeArrowheads="1"/>
            </p:cNvSpPr>
            <p:nvPr/>
          </p:nvSpPr>
          <p:spPr bwMode="auto">
            <a:xfrm>
              <a:off x="5565775" y="1519238"/>
              <a:ext cx="610746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Port B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82" name="Rectangle 54"/>
            <p:cNvSpPr>
              <a:spLocks noChangeArrowheads="1"/>
            </p:cNvSpPr>
            <p:nvPr/>
          </p:nvSpPr>
          <p:spPr bwMode="auto">
            <a:xfrm>
              <a:off x="5510213" y="1674813"/>
              <a:ext cx="6941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18483" name="Rectangle 55"/>
            <p:cNvSpPr>
              <a:spLocks noChangeArrowheads="1"/>
            </p:cNvSpPr>
            <p:nvPr/>
          </p:nvSpPr>
          <p:spPr bwMode="auto">
            <a:xfrm>
              <a:off x="5384800" y="1522413"/>
              <a:ext cx="1027113" cy="3778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cs typeface="Arial" panose="020B0604020202020204" pitchFamily="34" charset="0"/>
              </a:endParaRPr>
            </a:p>
          </p:txBody>
        </p:sp>
        <p:sp>
          <p:nvSpPr>
            <p:cNvPr id="18484" name="Line 60"/>
            <p:cNvSpPr>
              <a:spLocks noChangeShapeType="1"/>
            </p:cNvSpPr>
            <p:nvPr/>
          </p:nvSpPr>
          <p:spPr bwMode="auto">
            <a:xfrm>
              <a:off x="4827588" y="2378075"/>
              <a:ext cx="542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5" name="Rectangle 61"/>
            <p:cNvSpPr>
              <a:spLocks noChangeArrowheads="1"/>
            </p:cNvSpPr>
            <p:nvPr/>
          </p:nvSpPr>
          <p:spPr bwMode="auto">
            <a:xfrm>
              <a:off x="5524500" y="2179638"/>
              <a:ext cx="676468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Control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86" name="Rectangle 62"/>
            <p:cNvSpPr>
              <a:spLocks noChangeArrowheads="1"/>
            </p:cNvSpPr>
            <p:nvPr/>
          </p:nvSpPr>
          <p:spPr bwMode="auto">
            <a:xfrm>
              <a:off x="5510213" y="2330450"/>
              <a:ext cx="6941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18487" name="Rectangle 63"/>
            <p:cNvSpPr>
              <a:spLocks noChangeArrowheads="1"/>
            </p:cNvSpPr>
            <p:nvPr/>
          </p:nvSpPr>
          <p:spPr bwMode="auto">
            <a:xfrm>
              <a:off x="5384800" y="2184400"/>
              <a:ext cx="1027113" cy="3778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cs typeface="Arial" panose="020B0604020202020204" pitchFamily="34" charset="0"/>
              </a:endParaRPr>
            </a:p>
          </p:txBody>
        </p:sp>
        <p:sp>
          <p:nvSpPr>
            <p:cNvPr id="18488" name="Line 65"/>
            <p:cNvSpPr>
              <a:spLocks noChangeShapeType="1"/>
            </p:cNvSpPr>
            <p:nvPr/>
          </p:nvSpPr>
          <p:spPr bwMode="auto">
            <a:xfrm>
              <a:off x="6440488" y="2378075"/>
              <a:ext cx="936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9" name="Line 67"/>
            <p:cNvSpPr>
              <a:spLocks noChangeShapeType="1"/>
            </p:cNvSpPr>
            <p:nvPr/>
          </p:nvSpPr>
          <p:spPr bwMode="auto">
            <a:xfrm flipV="1">
              <a:off x="4824413" y="3052763"/>
              <a:ext cx="547687" cy="47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0" name="Rectangle 68"/>
            <p:cNvSpPr>
              <a:spLocks noChangeArrowheads="1"/>
            </p:cNvSpPr>
            <p:nvPr/>
          </p:nvSpPr>
          <p:spPr bwMode="auto">
            <a:xfrm>
              <a:off x="5551488" y="2854325"/>
              <a:ext cx="618760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Status</a:t>
              </a:r>
            </a:p>
            <a:p>
              <a:pPr eaLnBrk="1" hangingPunct="1"/>
              <a:endParaRPr lang="en-US" altLang="ko-KR" sz="1200">
                <a:cs typeface="Arial" panose="020B0604020202020204" pitchFamily="34" charset="0"/>
              </a:endParaRPr>
            </a:p>
          </p:txBody>
        </p:sp>
        <p:sp>
          <p:nvSpPr>
            <p:cNvPr id="18491" name="Rectangle 69"/>
            <p:cNvSpPr>
              <a:spLocks noChangeArrowheads="1"/>
            </p:cNvSpPr>
            <p:nvPr/>
          </p:nvSpPr>
          <p:spPr bwMode="auto">
            <a:xfrm>
              <a:off x="5510213" y="3022600"/>
              <a:ext cx="6941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18492" name="Rectangle 70"/>
            <p:cNvSpPr>
              <a:spLocks noChangeArrowheads="1"/>
            </p:cNvSpPr>
            <p:nvPr/>
          </p:nvSpPr>
          <p:spPr bwMode="auto">
            <a:xfrm>
              <a:off x="5384800" y="2859088"/>
              <a:ext cx="1027113" cy="3778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cs typeface="Arial" panose="020B0604020202020204" pitchFamily="34" charset="0"/>
              </a:endParaRPr>
            </a:p>
          </p:txBody>
        </p:sp>
        <p:sp>
          <p:nvSpPr>
            <p:cNvPr id="18493" name="Line 72"/>
            <p:cNvSpPr>
              <a:spLocks noChangeShapeType="1"/>
            </p:cNvSpPr>
            <p:nvPr/>
          </p:nvSpPr>
          <p:spPr bwMode="auto">
            <a:xfrm>
              <a:off x="6448425" y="3052763"/>
              <a:ext cx="936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4" name="Rectangle 88"/>
            <p:cNvSpPr>
              <a:spLocks noChangeArrowheads="1"/>
            </p:cNvSpPr>
            <p:nvPr/>
          </p:nvSpPr>
          <p:spPr bwMode="auto">
            <a:xfrm>
              <a:off x="6569075" y="772688"/>
              <a:ext cx="73097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I/O data</a:t>
              </a:r>
            </a:p>
          </p:txBody>
        </p:sp>
        <p:sp>
          <p:nvSpPr>
            <p:cNvPr id="18495" name="Rectangle 89"/>
            <p:cNvSpPr>
              <a:spLocks noChangeArrowheads="1"/>
            </p:cNvSpPr>
            <p:nvPr/>
          </p:nvSpPr>
          <p:spPr bwMode="auto">
            <a:xfrm>
              <a:off x="6569075" y="1447375"/>
              <a:ext cx="73097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I/O data</a:t>
              </a:r>
            </a:p>
          </p:txBody>
        </p:sp>
        <p:sp>
          <p:nvSpPr>
            <p:cNvPr id="18496" name="Rectangle 90"/>
            <p:cNvSpPr>
              <a:spLocks noChangeArrowheads="1"/>
            </p:cNvSpPr>
            <p:nvPr/>
          </p:nvSpPr>
          <p:spPr bwMode="auto">
            <a:xfrm>
              <a:off x="6481763" y="2122063"/>
              <a:ext cx="67646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Control</a:t>
              </a:r>
            </a:p>
          </p:txBody>
        </p:sp>
        <p:sp>
          <p:nvSpPr>
            <p:cNvPr id="18497" name="Rectangle 91"/>
            <p:cNvSpPr>
              <a:spLocks noChangeArrowheads="1"/>
            </p:cNvSpPr>
            <p:nvPr/>
          </p:nvSpPr>
          <p:spPr bwMode="auto">
            <a:xfrm>
              <a:off x="6640513" y="2782463"/>
              <a:ext cx="61876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cs typeface="Arial" panose="020B0604020202020204" pitchFamily="34" charset="0"/>
                </a:rPr>
                <a:t>Status</a:t>
              </a:r>
            </a:p>
          </p:txBody>
        </p:sp>
        <p:sp>
          <p:nvSpPr>
            <p:cNvPr id="18498" name="Line 94"/>
            <p:cNvSpPr>
              <a:spLocks noChangeShapeType="1"/>
            </p:cNvSpPr>
            <p:nvPr/>
          </p:nvSpPr>
          <p:spPr bwMode="auto">
            <a:xfrm flipV="1">
              <a:off x="4819650" y="1038225"/>
              <a:ext cx="555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9" name="Line 95"/>
            <p:cNvSpPr>
              <a:spLocks noChangeShapeType="1"/>
            </p:cNvSpPr>
            <p:nvPr/>
          </p:nvSpPr>
          <p:spPr bwMode="auto">
            <a:xfrm flipV="1">
              <a:off x="4830763" y="1720850"/>
              <a:ext cx="555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00" name="Rectangle 96"/>
            <p:cNvSpPr>
              <a:spLocks noChangeArrowheads="1"/>
            </p:cNvSpPr>
            <p:nvPr/>
          </p:nvSpPr>
          <p:spPr bwMode="auto">
            <a:xfrm rot="-5424559">
              <a:off x="3975100" y="2090046"/>
              <a:ext cx="131762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200">
                  <a:cs typeface="Arial" panose="020B0604020202020204" pitchFamily="34" charset="0"/>
                </a:rPr>
                <a:t>Internal bus</a:t>
              </a:r>
            </a:p>
          </p:txBody>
        </p:sp>
        <p:sp>
          <p:nvSpPr>
            <p:cNvPr id="18501" name="Line 97"/>
            <p:cNvSpPr>
              <a:spLocks noChangeShapeType="1"/>
            </p:cNvSpPr>
            <p:nvPr/>
          </p:nvSpPr>
          <p:spPr bwMode="auto">
            <a:xfrm flipV="1">
              <a:off x="6448425" y="1019175"/>
              <a:ext cx="1058863" cy="111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02" name="Line 98"/>
            <p:cNvSpPr>
              <a:spLocks noChangeShapeType="1"/>
            </p:cNvSpPr>
            <p:nvPr/>
          </p:nvSpPr>
          <p:spPr bwMode="auto">
            <a:xfrm flipV="1">
              <a:off x="6438900" y="1693863"/>
              <a:ext cx="1058863" cy="79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03" name="Text Box 102"/>
            <p:cNvSpPr txBox="1">
              <a:spLocks noChangeArrowheads="1"/>
            </p:cNvSpPr>
            <p:nvPr/>
          </p:nvSpPr>
          <p:spPr bwMode="auto">
            <a:xfrm>
              <a:off x="527126" y="1916113"/>
              <a:ext cx="6158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18504" name="Text Box 103"/>
            <p:cNvSpPr txBox="1">
              <a:spLocks noChangeArrowheads="1"/>
            </p:cNvSpPr>
            <p:nvPr/>
          </p:nvSpPr>
          <p:spPr bwMode="auto">
            <a:xfrm>
              <a:off x="7620000" y="1820863"/>
              <a:ext cx="845104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600" b="1">
                  <a:cs typeface="Arial" panose="020B0604020202020204" pitchFamily="34" charset="0"/>
                </a:rPr>
                <a:t>I/O</a:t>
              </a:r>
            </a:p>
            <a:p>
              <a:pPr algn="ctr" eaLnBrk="1" hangingPunct="1"/>
              <a:r>
                <a:rPr lang="en-US" altLang="ko-KR" sz="1600" b="1">
                  <a:cs typeface="Arial" panose="020B0604020202020204" pitchFamily="34" charset="0"/>
                </a:rPr>
                <a:t>Device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3063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5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Calibri" panose="020F0502020204030204" pitchFamily="34" charset="0"/>
                <a:ea typeface="Gulim" pitchFamily="34" charset="-127"/>
              </a:rPr>
              <a:t>Input/Output Organization		               </a:t>
            </a:r>
            <a:fld id="{E630613F-A10A-4AA7-ACB3-0DDB2809726D}" type="slidenum">
              <a:rPr lang="en-US" altLang="en-US" sz="1400">
                <a:latin typeface="Calibri" panose="020F0502020204030204" pitchFamily="34" charset="0"/>
                <a:ea typeface="Gulim" pitchFamily="34" charset="-127"/>
              </a:rPr>
              <a:pPr eaLnBrk="1" hangingPunct="1"/>
              <a:t>25</a:t>
            </a:fld>
            <a:r>
              <a:rPr lang="en-US" altLang="en-US" sz="1400">
                <a:latin typeface="Calibri" panose="020F0502020204030204" pitchFamily="34" charset="0"/>
                <a:ea typeface="Gulim" pitchFamily="34" charset="-127"/>
              </a:rPr>
              <a:t>				          Lecture 36</a:t>
            </a:r>
          </a:p>
        </p:txBody>
      </p:sp>
      <p:sp>
        <p:nvSpPr>
          <p:cNvPr id="19460" name="Rectangle 2"/>
          <p:cNvSpPr>
            <a:spLocks noChangeArrowheads="1"/>
          </p:cNvSpPr>
          <p:nvPr/>
        </p:nvSpPr>
        <p:spPr bwMode="auto">
          <a:xfrm>
            <a:off x="3792539" y="1503363"/>
            <a:ext cx="3559175" cy="371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</a:t>
            </a: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Peripheral Devices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Input-Output Interface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</a:t>
            </a:r>
            <a:r>
              <a:rPr lang="en-US" altLang="ko-KR" sz="2000" b="1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Asynchronous Data Transfer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Modes of Transfer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Priority Interrupt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Direct Memory Access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latin typeface="Times New Roman" panose="02020603050405020304" pitchFamily="18" charset="0"/>
                <a:ea typeface="Gulim" pitchFamily="34" charset="-127"/>
                <a:cs typeface="Arial" panose="020B0604020202020204" pitchFamily="34" charset="0"/>
              </a:rPr>
              <a:t> Input-Output Processor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latin typeface="Times New Roman" panose="02020603050405020304" pitchFamily="18" charset="0"/>
              <a:ea typeface="Gulim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38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/>
          </p:cNvSpPr>
          <p:nvPr>
            <p:ph type="body" idx="1"/>
          </p:nvPr>
        </p:nvSpPr>
        <p:spPr>
          <a:xfrm>
            <a:off x="1517779" y="569168"/>
            <a:ext cx="8991600" cy="58502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Data Transfer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Data Transfer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spcBef>
                <a:spcPct val="0"/>
              </a:spcBef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ct val="0"/>
              </a:spcBef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common clock for all registers. </a:t>
            </a: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 occurs simultaneously with clock pulses. </a:t>
            </a: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and I/O Interface operate independently but share a clock for transfer.</a:t>
            </a:r>
          </a:p>
          <a:p>
            <a:pPr marL="0" lvl="1" indent="0" algn="just">
              <a:spcBef>
                <a:spcPct val="0"/>
              </a:spcBef>
              <a:buNone/>
            </a:pPr>
            <a:endParaRPr lang="en-US" altLang="ko-KR" sz="1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lvl="1" indent="0" algn="just">
              <a:spcBef>
                <a:spcPct val="0"/>
              </a:spcBef>
              <a:buNone/>
            </a:pPr>
            <a:endParaRPr lang="en-US" altLang="ko-KR" sz="1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lvl="1" indent="0" algn="jus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Data Transfer: </a:t>
            </a: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unit (CPU &amp; Interface) has its own independent clock. </a:t>
            </a: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signals are required to synchronize data transfer</a:t>
            </a: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unit uses its own private clock for internal registers.</a:t>
            </a:r>
          </a:p>
          <a:p>
            <a:pPr lvl="1" algn="just">
              <a:spcBef>
                <a:spcPct val="0"/>
              </a:spcBef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data transfer between two independent units requires that control signals </a:t>
            </a:r>
          </a:p>
        </p:txBody>
      </p:sp>
    </p:spTree>
    <p:extLst>
      <p:ext uri="{BB962C8B-B14F-4D97-AF65-F5344CB8AC3E}">
        <p14:creationId xmlns:p14="http://schemas.microsoft.com/office/powerpoint/2010/main" val="13411466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/>
          </p:cNvSpPr>
          <p:nvPr>
            <p:ph type="body" idx="1"/>
          </p:nvPr>
        </p:nvSpPr>
        <p:spPr>
          <a:xfrm>
            <a:off x="1667069" y="1231641"/>
            <a:ext cx="8991600" cy="49172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Data Transfer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lvl="1" indent="0" algn="just">
              <a:spcBef>
                <a:spcPct val="0"/>
              </a:spcBef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spcBef>
                <a:spcPct val="0"/>
              </a:spcBef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spcBef>
                <a:spcPct val="0"/>
              </a:spcBef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methods: </a:t>
            </a:r>
          </a:p>
          <a:p>
            <a:pPr lvl="1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STROBE: A control signal indicates when data is transmitted. </a:t>
            </a:r>
          </a:p>
          <a:p>
            <a:pPr lvl="1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HANDSHAKING: A mutual agreement between units for data transfer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>
              <a:buFont typeface="Monotype Sorts"/>
              <a:buNone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119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Box 4"/>
          <p:cNvSpPr txBox="1">
            <a:spLocks noChangeArrowheads="1"/>
          </p:cNvSpPr>
          <p:nvPr/>
        </p:nvSpPr>
        <p:spPr bwMode="auto">
          <a:xfrm>
            <a:off x="3048000" y="34671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alt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3021013" y="4695825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altLang="en-US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18" y="1589809"/>
            <a:ext cx="7772400" cy="37545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50525" y="1043832"/>
            <a:ext cx="2762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Mulish"/>
              </a:rPr>
              <a:t>Source initiated strobe: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3629608" y="3467100"/>
            <a:ext cx="27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810000" y="4301412"/>
            <a:ext cx="21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268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Box 2"/>
          <p:cNvSpPr txBox="1">
            <a:spLocks noChangeArrowheads="1"/>
          </p:cNvSpPr>
          <p:nvPr/>
        </p:nvSpPr>
        <p:spPr bwMode="auto">
          <a:xfrm>
            <a:off x="3482975" y="4360864"/>
            <a:ext cx="457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alt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2532" name="TextBox 3"/>
          <p:cNvSpPr txBox="1">
            <a:spLocks noChangeArrowheads="1"/>
          </p:cNvSpPr>
          <p:nvPr/>
        </p:nvSpPr>
        <p:spPr bwMode="auto">
          <a:xfrm>
            <a:off x="3482975" y="2982914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altLang="en-US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514" y="2074718"/>
            <a:ext cx="7786253" cy="35311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454844" y="1251650"/>
            <a:ext cx="3236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Mulish"/>
              </a:rPr>
              <a:t>Destination initiated strobe: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605828" y="3621871"/>
            <a:ext cx="21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00669" y="4301412"/>
            <a:ext cx="21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995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855" y="1246909"/>
            <a:ext cx="8839200" cy="52924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37855" y="792080"/>
            <a:ext cx="3480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Mulish"/>
              </a:rPr>
              <a:t>Source initiated handshaking: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7972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Box 2"/>
          <p:cNvSpPr txBox="1">
            <a:spLocks noChangeArrowheads="1"/>
          </p:cNvSpPr>
          <p:nvPr/>
        </p:nvSpPr>
        <p:spPr bwMode="auto">
          <a:xfrm>
            <a:off x="1676399" y="6124575"/>
            <a:ext cx="8839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/>
            <a:r>
              <a:rPr lang="en-US" altLang="ko-KR" b="1" dirty="0"/>
              <a:t>Timeout</a:t>
            </a:r>
            <a:r>
              <a:rPr lang="en-US" altLang="ko-KR" dirty="0"/>
              <a:t> : If the return handshake signal does not respond within a given time period, the unit assumes that an error has occurred.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99" y="733425"/>
            <a:ext cx="973974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98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1676400" y="793102"/>
            <a:ext cx="8686800" cy="5493398"/>
          </a:xfrm>
        </p:spPr>
        <p:txBody>
          <a:bodyPr/>
          <a:lstStyle/>
          <a:p>
            <a:pPr lvl="1"/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Serial Transfer</a:t>
            </a:r>
          </a:p>
          <a:p>
            <a:pPr lvl="2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transmission : </a:t>
            </a:r>
            <a:endParaRPr lang="en-US" altLang="ko-KR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unit share a common clock frequency </a:t>
            </a:r>
          </a:p>
          <a:p>
            <a:pPr lvl="3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 are transmitted continuously at the rate dictated by the clock pulses</a:t>
            </a:r>
          </a:p>
          <a:p>
            <a:pPr lvl="2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transmission : </a:t>
            </a:r>
            <a:endParaRPr lang="en-US" altLang="ko-KR" b="1" i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information sent only when it is available and line remain idle otherwise</a:t>
            </a:r>
          </a:p>
          <a:p>
            <a:pPr lvl="3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bits are inserted at both ends of the character code</a:t>
            </a:r>
          </a:p>
          <a:p>
            <a:pPr lvl="3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character consists of three parts : </a:t>
            </a:r>
          </a:p>
          <a:p>
            <a:pPr lvl="4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start bit : always “0”, indicate the beginning of a character</a:t>
            </a:r>
          </a:p>
          <a:p>
            <a:pPr lvl="4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character bits : data</a:t>
            </a:r>
          </a:p>
          <a:p>
            <a:pPr lvl="4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stop bit : always “1”</a:t>
            </a:r>
          </a:p>
          <a:p>
            <a:pPr lvl="3"/>
            <a:endParaRPr lang="ko-KR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28" name="Group 9"/>
          <p:cNvGrpSpPr>
            <a:grpSpLocks/>
          </p:cNvGrpSpPr>
          <p:nvPr/>
        </p:nvGrpSpPr>
        <p:grpSpPr bwMode="auto">
          <a:xfrm>
            <a:off x="2783795" y="4735480"/>
            <a:ext cx="6096000" cy="1066800"/>
            <a:chOff x="816" y="2352"/>
            <a:chExt cx="3840" cy="1173"/>
          </a:xfrm>
        </p:grpSpPr>
        <p:graphicFrame>
          <p:nvGraphicFramePr>
            <p:cNvPr id="1026" name="Object 4"/>
            <p:cNvGraphicFramePr>
              <a:graphicFrameLocks noChangeAspect="1"/>
            </p:cNvGraphicFramePr>
            <p:nvPr/>
          </p:nvGraphicFramePr>
          <p:xfrm>
            <a:off x="960" y="2544"/>
            <a:ext cx="3696" cy="9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5824800" imgH="1546920" progId="Visio.Drawing.5">
                    <p:embed/>
                  </p:oleObj>
                </mc:Choice>
                <mc:Fallback>
                  <p:oleObj name="VISIO" r:id="rId2" imgW="5824800" imgH="1546920" progId="Visio.Drawing.5">
                    <p:embed/>
                    <p:pic>
                      <p:nvPicPr>
                        <p:cNvPr id="102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544"/>
                          <a:ext cx="3696" cy="9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" name="AutoShape 5"/>
            <p:cNvSpPr>
              <a:spLocks/>
            </p:cNvSpPr>
            <p:nvPr/>
          </p:nvSpPr>
          <p:spPr bwMode="auto">
            <a:xfrm rot="-5400000">
              <a:off x="912" y="2304"/>
              <a:ext cx="96" cy="288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Times New Roman" panose="02020603050405020304" pitchFamily="18" charset="0"/>
                <a:ea typeface="Gulim" pitchFamily="34" charset="-127"/>
              </a:endParaRPr>
            </a:p>
          </p:txBody>
        </p:sp>
        <p:sp>
          <p:nvSpPr>
            <p:cNvPr id="1030" name="AutoShape 6"/>
            <p:cNvSpPr>
              <a:spLocks/>
            </p:cNvSpPr>
            <p:nvPr/>
          </p:nvSpPr>
          <p:spPr bwMode="auto">
            <a:xfrm rot="-5400000">
              <a:off x="1248" y="2304"/>
              <a:ext cx="96" cy="288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Times New Roman" panose="02020603050405020304" pitchFamily="18" charset="0"/>
                <a:ea typeface="Gulim" pitchFamily="34" charset="-127"/>
              </a:endParaRPr>
            </a:p>
          </p:txBody>
        </p:sp>
        <p:sp>
          <p:nvSpPr>
            <p:cNvPr id="1031" name="AutoShape 7"/>
            <p:cNvSpPr>
              <a:spLocks/>
            </p:cNvSpPr>
            <p:nvPr/>
          </p:nvSpPr>
          <p:spPr bwMode="auto">
            <a:xfrm rot="-5400000">
              <a:off x="2520" y="1320"/>
              <a:ext cx="144" cy="2208"/>
            </a:xfrm>
            <a:prstGeom prst="rightBrace">
              <a:avLst>
                <a:gd name="adj1" fmla="val 127778"/>
                <a:gd name="adj2" fmla="val 50000"/>
              </a:avLst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Times New Roman" panose="02020603050405020304" pitchFamily="18" charset="0"/>
                <a:ea typeface="Gulim" pitchFamily="34" charset="-127"/>
              </a:endParaRPr>
            </a:p>
          </p:txBody>
        </p:sp>
        <p:sp>
          <p:nvSpPr>
            <p:cNvPr id="1032" name="AutoShape 8"/>
            <p:cNvSpPr>
              <a:spLocks/>
            </p:cNvSpPr>
            <p:nvPr/>
          </p:nvSpPr>
          <p:spPr bwMode="auto">
            <a:xfrm rot="-5400000">
              <a:off x="4104" y="2040"/>
              <a:ext cx="96" cy="816"/>
            </a:xfrm>
            <a:prstGeom prst="rightBrace">
              <a:avLst>
                <a:gd name="adj1" fmla="val 70833"/>
                <a:gd name="adj2" fmla="val 50000"/>
              </a:avLst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Times New Roman" panose="02020603050405020304" pitchFamily="18" charset="0"/>
                <a:ea typeface="Gulim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0644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1533330" y="1432250"/>
            <a:ext cx="8686800" cy="4525963"/>
          </a:xfrm>
        </p:spPr>
        <p:txBody>
          <a:bodyPr/>
          <a:lstStyle/>
          <a:p>
            <a:pPr lvl="2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transmission rules :</a:t>
            </a:r>
          </a:p>
          <a:p>
            <a:pPr lvl="3">
              <a:lnSpc>
                <a:spcPct val="90000"/>
              </a:lnSpc>
            </a:pPr>
            <a:r>
              <a:rPr lang="ko-KR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</a:t>
            </a:r>
            <a:r>
              <a:rPr lang="ko-KR" altLang="en-US" sz="1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character is not being sent, the line is kept in the 1-state</a:t>
            </a:r>
          </a:p>
          <a:p>
            <a:pPr lvl="3">
              <a:lnSpc>
                <a:spcPct val="90000"/>
              </a:lnSpc>
            </a:pPr>
            <a:r>
              <a:rPr lang="ko-KR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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initiation of a character transmission is detected from the start bit, which is always “0”</a:t>
            </a:r>
          </a:p>
          <a:p>
            <a:pPr lvl="3">
              <a:lnSpc>
                <a:spcPct val="90000"/>
              </a:lnSpc>
            </a:pPr>
            <a:r>
              <a:rPr lang="ko-KR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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character bits always follow the start bit</a:t>
            </a:r>
          </a:p>
          <a:p>
            <a:pPr lvl="3">
              <a:lnSpc>
                <a:spcPct val="90000"/>
              </a:lnSpc>
            </a:pPr>
            <a:r>
              <a:rPr lang="ko-KR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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last bit of the character is transmitted, a stop bit is detected when the line returns to the 1-state for at least one bit time</a:t>
            </a:r>
          </a:p>
          <a:p>
            <a:pPr lvl="3">
              <a:lnSpc>
                <a:spcPct val="90000"/>
              </a:lnSpc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Baud Rate : Data transfer rate in bits per second</a:t>
            </a:r>
          </a:p>
          <a:p>
            <a:pPr lvl="3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character per second with 11 bit format = 110 bit per second</a:t>
            </a:r>
          </a:p>
          <a:p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519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2596" y="186613"/>
            <a:ext cx="11709918" cy="63951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2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Calibri" panose="020F0502020204030204" pitchFamily="34" charset="0"/>
                <a:ea typeface="Gulim" pitchFamily="34" charset="-127"/>
              </a:rPr>
              <a:t>Input/Output Organization		               </a:t>
            </a:r>
            <a:fld id="{5ADCE1BE-3DA9-4C88-B802-8593AA200711}" type="slidenum">
              <a:rPr lang="en-US" altLang="en-US" sz="1400">
                <a:latin typeface="Calibri" panose="020F0502020204030204" pitchFamily="34" charset="0"/>
                <a:ea typeface="Gulim" pitchFamily="34" charset="-127"/>
              </a:rPr>
              <a:pPr eaLnBrk="1" hangingPunct="1"/>
              <a:t>34</a:t>
            </a:fld>
            <a:r>
              <a:rPr lang="en-US" altLang="en-US" sz="1400">
                <a:latin typeface="Calibri" panose="020F0502020204030204" pitchFamily="34" charset="0"/>
                <a:ea typeface="Gulim" pitchFamily="34" charset="-127"/>
              </a:rPr>
              <a:t>				     </a:t>
            </a:r>
          </a:p>
        </p:txBody>
      </p:sp>
      <p:sp>
        <p:nvSpPr>
          <p:cNvPr id="26628" name="TextBox 8"/>
          <p:cNvSpPr txBox="1">
            <a:spLocks noChangeArrowheads="1"/>
          </p:cNvSpPr>
          <p:nvPr/>
        </p:nvSpPr>
        <p:spPr bwMode="auto">
          <a:xfrm>
            <a:off x="1600200" y="400646"/>
            <a:ext cx="899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  <a:ea typeface="Gulim" pitchFamily="34" charset="-127"/>
              </a:rPr>
              <a:t>    Universal Asynchronous Receiver Transmitter	</a:t>
            </a:r>
          </a:p>
        </p:txBody>
      </p:sp>
      <p:grpSp>
        <p:nvGrpSpPr>
          <p:cNvPr id="26629" name="Group 109"/>
          <p:cNvGrpSpPr>
            <a:grpSpLocks/>
          </p:cNvGrpSpPr>
          <p:nvPr/>
        </p:nvGrpSpPr>
        <p:grpSpPr bwMode="auto">
          <a:xfrm>
            <a:off x="1862139" y="1071563"/>
            <a:ext cx="8586787" cy="5510212"/>
            <a:chOff x="338138" y="898525"/>
            <a:chExt cx="8586787" cy="5510213"/>
          </a:xfrm>
        </p:grpSpPr>
        <p:sp>
          <p:nvSpPr>
            <p:cNvPr id="26630" name="Rectangle 3"/>
            <p:cNvSpPr>
              <a:spLocks noChangeArrowheads="1"/>
            </p:cNvSpPr>
            <p:nvPr/>
          </p:nvSpPr>
          <p:spPr bwMode="auto">
            <a:xfrm>
              <a:off x="477838" y="898525"/>
              <a:ext cx="5191229" cy="268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1000"/>
                </a:lnSpc>
              </a:pPr>
              <a:r>
                <a:rPr lang="en-US" altLang="ko-KR" sz="1400">
                  <a:latin typeface="Calibri" panose="020F0502020204030204" pitchFamily="34" charset="0"/>
                  <a:ea typeface="Gulim" pitchFamily="34" charset="-127"/>
                </a:rPr>
                <a:t>A typical asynchronous communication interface available as an IC      </a:t>
              </a:r>
            </a:p>
          </p:txBody>
        </p:sp>
        <p:sp>
          <p:nvSpPr>
            <p:cNvPr id="26631" name="Rectangle 4"/>
            <p:cNvSpPr>
              <a:spLocks noChangeArrowheads="1"/>
            </p:cNvSpPr>
            <p:nvPr/>
          </p:nvSpPr>
          <p:spPr bwMode="auto">
            <a:xfrm>
              <a:off x="465138" y="4017963"/>
              <a:ext cx="8374062" cy="2390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7000"/>
                </a:lnSpc>
              </a:pPr>
              <a:r>
                <a:rPr lang="en-US" altLang="ko-KR" sz="1600" b="1">
                  <a:latin typeface="Calibri" panose="020F0502020204030204" pitchFamily="34" charset="0"/>
                  <a:ea typeface="Gulim" pitchFamily="34" charset="-127"/>
                </a:rPr>
                <a:t>Transmitter Register 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>
                  <a:latin typeface="Calibri" panose="020F0502020204030204" pitchFamily="34" charset="0"/>
                  <a:ea typeface="Gulim" pitchFamily="34" charset="-127"/>
                </a:rPr>
                <a:t>      - Accepts a data byte(from CPU) through the data bus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>
                  <a:latin typeface="Calibri" panose="020F0502020204030204" pitchFamily="34" charset="0"/>
                  <a:ea typeface="Gulim" pitchFamily="34" charset="-127"/>
                </a:rPr>
                <a:t>      - Transferred to a shift register for serial transmission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 b="1">
                  <a:latin typeface="Calibri" panose="020F0502020204030204" pitchFamily="34" charset="0"/>
                  <a:ea typeface="Gulim" pitchFamily="34" charset="-127"/>
                </a:rPr>
                <a:t>Receiver Register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>
                  <a:latin typeface="Calibri" panose="020F0502020204030204" pitchFamily="34" charset="0"/>
                  <a:ea typeface="Gulim" pitchFamily="34" charset="-127"/>
                </a:rPr>
                <a:t>      - Receives serial information into another shift register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>
                  <a:latin typeface="Calibri" panose="020F0502020204030204" pitchFamily="34" charset="0"/>
                  <a:ea typeface="Gulim" pitchFamily="34" charset="-127"/>
                </a:rPr>
                <a:t>      - Complete data byte is sent to the receiver register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 b="1">
                  <a:latin typeface="Calibri" panose="020F0502020204030204" pitchFamily="34" charset="0"/>
                  <a:ea typeface="Gulim" pitchFamily="34" charset="-127"/>
                </a:rPr>
                <a:t>Status Register Bits 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>
                  <a:latin typeface="Calibri" panose="020F0502020204030204" pitchFamily="34" charset="0"/>
                  <a:ea typeface="Gulim" pitchFamily="34" charset="-127"/>
                </a:rPr>
                <a:t>      - Used for I/O flags and for recording errors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 b="1">
                  <a:latin typeface="Calibri" panose="020F0502020204030204" pitchFamily="34" charset="0"/>
                  <a:ea typeface="Gulim" pitchFamily="34" charset="-127"/>
                </a:rPr>
                <a:t>Control Register Bits </a:t>
              </a:r>
            </a:p>
            <a:p>
              <a:pPr eaLnBrk="1" hangingPunct="1">
                <a:lnSpc>
                  <a:spcPct val="87000"/>
                </a:lnSpc>
              </a:pPr>
              <a:r>
                <a:rPr lang="en-US" altLang="ko-KR" sz="1600">
                  <a:latin typeface="Calibri" panose="020F0502020204030204" pitchFamily="34" charset="0"/>
                  <a:ea typeface="Gulim" pitchFamily="34" charset="-127"/>
                </a:rPr>
                <a:t>      - Define baud rate, no. of bits in each character, whether to generate and check parity, and no. of stop bits </a:t>
              </a:r>
            </a:p>
          </p:txBody>
        </p:sp>
        <p:sp>
          <p:nvSpPr>
            <p:cNvPr id="26632" name="Rectangle 6"/>
            <p:cNvSpPr>
              <a:spLocks noChangeArrowheads="1"/>
            </p:cNvSpPr>
            <p:nvPr/>
          </p:nvSpPr>
          <p:spPr bwMode="auto">
            <a:xfrm>
              <a:off x="338138" y="2439988"/>
              <a:ext cx="78707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Chip select</a:t>
              </a:r>
            </a:p>
          </p:txBody>
        </p:sp>
        <p:sp>
          <p:nvSpPr>
            <p:cNvPr id="26633" name="Arc 7"/>
            <p:cNvSpPr>
              <a:spLocks/>
            </p:cNvSpPr>
            <p:nvPr/>
          </p:nvSpPr>
          <p:spPr bwMode="auto">
            <a:xfrm>
              <a:off x="1371600" y="2619375"/>
              <a:ext cx="119063" cy="104775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34" name="Line 8"/>
            <p:cNvSpPr>
              <a:spLocks noChangeShapeType="1"/>
            </p:cNvSpPr>
            <p:nvPr/>
          </p:nvSpPr>
          <p:spPr bwMode="auto">
            <a:xfrm flipV="1">
              <a:off x="439738" y="2668588"/>
              <a:ext cx="9493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5" name="Arc 10"/>
            <p:cNvSpPr>
              <a:spLocks/>
            </p:cNvSpPr>
            <p:nvPr/>
          </p:nvSpPr>
          <p:spPr bwMode="auto">
            <a:xfrm>
              <a:off x="1371600" y="2919413"/>
              <a:ext cx="119063" cy="106362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36" name="Line 11"/>
            <p:cNvSpPr>
              <a:spLocks noChangeShapeType="1"/>
            </p:cNvSpPr>
            <p:nvPr/>
          </p:nvSpPr>
          <p:spPr bwMode="auto">
            <a:xfrm>
              <a:off x="439738" y="2974975"/>
              <a:ext cx="9493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7" name="Rectangle 12"/>
            <p:cNvSpPr>
              <a:spLocks noChangeArrowheads="1"/>
            </p:cNvSpPr>
            <p:nvPr/>
          </p:nvSpPr>
          <p:spPr bwMode="auto">
            <a:xfrm>
              <a:off x="338138" y="3044825"/>
              <a:ext cx="64280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I/O read</a:t>
              </a:r>
            </a:p>
          </p:txBody>
        </p:sp>
        <p:sp>
          <p:nvSpPr>
            <p:cNvPr id="26638" name="Arc 13"/>
            <p:cNvSpPr>
              <a:spLocks/>
            </p:cNvSpPr>
            <p:nvPr/>
          </p:nvSpPr>
          <p:spPr bwMode="auto">
            <a:xfrm>
              <a:off x="1371600" y="3243263"/>
              <a:ext cx="119063" cy="104775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39" name="Line 14"/>
            <p:cNvSpPr>
              <a:spLocks noChangeShapeType="1"/>
            </p:cNvSpPr>
            <p:nvPr/>
          </p:nvSpPr>
          <p:spPr bwMode="auto">
            <a:xfrm>
              <a:off x="439738" y="3292475"/>
              <a:ext cx="9540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0" name="Rectangle 15"/>
            <p:cNvSpPr>
              <a:spLocks noChangeArrowheads="1"/>
            </p:cNvSpPr>
            <p:nvPr/>
          </p:nvSpPr>
          <p:spPr bwMode="auto">
            <a:xfrm>
              <a:off x="338138" y="3360738"/>
              <a:ext cx="681277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I/O write</a:t>
              </a:r>
            </a:p>
          </p:txBody>
        </p:sp>
        <p:sp>
          <p:nvSpPr>
            <p:cNvPr id="26641" name="Arc 16"/>
            <p:cNvSpPr>
              <a:spLocks/>
            </p:cNvSpPr>
            <p:nvPr/>
          </p:nvSpPr>
          <p:spPr bwMode="auto">
            <a:xfrm>
              <a:off x="1371600" y="3540125"/>
              <a:ext cx="119063" cy="104775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42" name="Line 17"/>
            <p:cNvSpPr>
              <a:spLocks noChangeShapeType="1"/>
            </p:cNvSpPr>
            <p:nvPr/>
          </p:nvSpPr>
          <p:spPr bwMode="auto">
            <a:xfrm>
              <a:off x="439738" y="3595688"/>
              <a:ext cx="9747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3" name="Rectangle 18"/>
            <p:cNvSpPr>
              <a:spLocks noChangeArrowheads="1"/>
            </p:cNvSpPr>
            <p:nvPr/>
          </p:nvSpPr>
          <p:spPr bwMode="auto">
            <a:xfrm>
              <a:off x="1495425" y="2447925"/>
              <a:ext cx="1028700" cy="1346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44" name="Rectangle 19"/>
            <p:cNvSpPr>
              <a:spLocks noChangeArrowheads="1"/>
            </p:cNvSpPr>
            <p:nvPr/>
          </p:nvSpPr>
          <p:spPr bwMode="auto">
            <a:xfrm>
              <a:off x="1465263" y="2509838"/>
              <a:ext cx="306174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CS</a:t>
              </a:r>
            </a:p>
          </p:txBody>
        </p:sp>
        <p:sp>
          <p:nvSpPr>
            <p:cNvPr id="26645" name="Rectangle 20"/>
            <p:cNvSpPr>
              <a:spLocks noChangeArrowheads="1"/>
            </p:cNvSpPr>
            <p:nvPr/>
          </p:nvSpPr>
          <p:spPr bwMode="auto">
            <a:xfrm>
              <a:off x="1465263" y="2809875"/>
              <a:ext cx="307777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RS</a:t>
              </a:r>
            </a:p>
          </p:txBody>
        </p:sp>
        <p:sp>
          <p:nvSpPr>
            <p:cNvPr id="26646" name="Rectangle 21"/>
            <p:cNvSpPr>
              <a:spLocks noChangeArrowheads="1"/>
            </p:cNvSpPr>
            <p:nvPr/>
          </p:nvSpPr>
          <p:spPr bwMode="auto">
            <a:xfrm>
              <a:off x="1465263" y="3127375"/>
              <a:ext cx="330219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RD</a:t>
              </a:r>
            </a:p>
          </p:txBody>
        </p:sp>
        <p:sp>
          <p:nvSpPr>
            <p:cNvPr id="26647" name="Rectangle 22"/>
            <p:cNvSpPr>
              <a:spLocks noChangeArrowheads="1"/>
            </p:cNvSpPr>
            <p:nvPr/>
          </p:nvSpPr>
          <p:spPr bwMode="auto">
            <a:xfrm>
              <a:off x="1465263" y="3441700"/>
              <a:ext cx="368691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WR</a:t>
              </a:r>
            </a:p>
          </p:txBody>
        </p:sp>
        <p:sp>
          <p:nvSpPr>
            <p:cNvPr id="26648" name="Rectangle 23"/>
            <p:cNvSpPr>
              <a:spLocks noChangeArrowheads="1"/>
            </p:cNvSpPr>
            <p:nvPr/>
          </p:nvSpPr>
          <p:spPr bwMode="auto">
            <a:xfrm>
              <a:off x="1839913" y="2809875"/>
              <a:ext cx="551433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Timing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49" name="Rectangle 24"/>
            <p:cNvSpPr>
              <a:spLocks noChangeArrowheads="1"/>
            </p:cNvSpPr>
            <p:nvPr/>
          </p:nvSpPr>
          <p:spPr bwMode="auto">
            <a:xfrm>
              <a:off x="1938338" y="3003550"/>
              <a:ext cx="381515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and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50" name="Rectangle 25"/>
            <p:cNvSpPr>
              <a:spLocks noChangeArrowheads="1"/>
            </p:cNvSpPr>
            <p:nvPr/>
          </p:nvSpPr>
          <p:spPr bwMode="auto">
            <a:xfrm>
              <a:off x="1824038" y="3195638"/>
              <a:ext cx="591509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Control</a:t>
              </a:r>
            </a:p>
          </p:txBody>
        </p:sp>
        <p:sp>
          <p:nvSpPr>
            <p:cNvPr id="26651" name="Rectangle 26"/>
            <p:cNvSpPr>
              <a:spLocks noChangeArrowheads="1"/>
            </p:cNvSpPr>
            <p:nvPr/>
          </p:nvSpPr>
          <p:spPr bwMode="auto">
            <a:xfrm>
              <a:off x="1789113" y="1538288"/>
              <a:ext cx="371897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Bus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52" name="Rectangle 27"/>
            <p:cNvSpPr>
              <a:spLocks noChangeArrowheads="1"/>
            </p:cNvSpPr>
            <p:nvPr/>
          </p:nvSpPr>
          <p:spPr bwMode="auto">
            <a:xfrm>
              <a:off x="1687513" y="1722438"/>
              <a:ext cx="575479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buffers</a:t>
              </a:r>
            </a:p>
          </p:txBody>
        </p:sp>
        <p:sp>
          <p:nvSpPr>
            <p:cNvPr id="26653" name="Rectangle 28"/>
            <p:cNvSpPr>
              <a:spLocks noChangeArrowheads="1"/>
            </p:cNvSpPr>
            <p:nvPr/>
          </p:nvSpPr>
          <p:spPr bwMode="auto">
            <a:xfrm>
              <a:off x="1495425" y="1512888"/>
              <a:ext cx="1028700" cy="4810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54" name="Arc 29"/>
            <p:cNvSpPr>
              <a:spLocks/>
            </p:cNvSpPr>
            <p:nvPr/>
          </p:nvSpPr>
          <p:spPr bwMode="auto">
            <a:xfrm>
              <a:off x="1371600" y="1711325"/>
              <a:ext cx="119063" cy="106363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55" name="Arc 30"/>
            <p:cNvSpPr>
              <a:spLocks/>
            </p:cNvSpPr>
            <p:nvPr/>
          </p:nvSpPr>
          <p:spPr bwMode="auto">
            <a:xfrm>
              <a:off x="433388" y="1717675"/>
              <a:ext cx="117475" cy="107950"/>
            </a:xfrm>
            <a:custGeom>
              <a:avLst/>
              <a:gdLst>
                <a:gd name="T0" fmla="*/ 2147483647 w 21600"/>
                <a:gd name="T1" fmla="*/ 0 h 17776"/>
                <a:gd name="T2" fmla="*/ 2147483647 w 21600"/>
                <a:gd name="T3" fmla="*/ 2147483647 h 17776"/>
                <a:gd name="T4" fmla="*/ 0 w 21600"/>
                <a:gd name="T5" fmla="*/ 2147483647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lnTo>
                    <a:pt x="19565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56" name="Line 31"/>
            <p:cNvSpPr>
              <a:spLocks noChangeShapeType="1"/>
            </p:cNvSpPr>
            <p:nvPr/>
          </p:nvSpPr>
          <p:spPr bwMode="auto">
            <a:xfrm>
              <a:off x="538163" y="1766888"/>
              <a:ext cx="844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7" name="Rectangle 32"/>
            <p:cNvSpPr>
              <a:spLocks noChangeArrowheads="1"/>
            </p:cNvSpPr>
            <p:nvPr/>
          </p:nvSpPr>
          <p:spPr bwMode="auto">
            <a:xfrm>
              <a:off x="469900" y="1382713"/>
              <a:ext cx="886461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Bidirectional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58" name="Rectangle 33"/>
            <p:cNvSpPr>
              <a:spLocks noChangeArrowheads="1"/>
            </p:cNvSpPr>
            <p:nvPr/>
          </p:nvSpPr>
          <p:spPr bwMode="auto">
            <a:xfrm>
              <a:off x="606425" y="1519238"/>
              <a:ext cx="655629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data bus</a:t>
              </a:r>
            </a:p>
          </p:txBody>
        </p:sp>
        <p:sp>
          <p:nvSpPr>
            <p:cNvPr id="26659" name="Arc 34"/>
            <p:cNvSpPr>
              <a:spLocks/>
            </p:cNvSpPr>
            <p:nvPr/>
          </p:nvSpPr>
          <p:spPr bwMode="auto">
            <a:xfrm>
              <a:off x="2849563" y="1687513"/>
              <a:ext cx="119062" cy="104775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60" name="Arc 35"/>
            <p:cNvSpPr>
              <a:spLocks/>
            </p:cNvSpPr>
            <p:nvPr/>
          </p:nvSpPr>
          <p:spPr bwMode="auto">
            <a:xfrm>
              <a:off x="2544763" y="1687513"/>
              <a:ext cx="119062" cy="107950"/>
            </a:xfrm>
            <a:custGeom>
              <a:avLst/>
              <a:gdLst>
                <a:gd name="T0" fmla="*/ 2147483647 w 21600"/>
                <a:gd name="T1" fmla="*/ 0 h 17776"/>
                <a:gd name="T2" fmla="*/ 2147483647 w 21600"/>
                <a:gd name="T3" fmla="*/ 2147483647 h 17776"/>
                <a:gd name="T4" fmla="*/ 0 w 21600"/>
                <a:gd name="T5" fmla="*/ 2147483647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lnTo>
                    <a:pt x="19565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61" name="Line 36"/>
            <p:cNvSpPr>
              <a:spLocks noChangeShapeType="1"/>
            </p:cNvSpPr>
            <p:nvPr/>
          </p:nvSpPr>
          <p:spPr bwMode="auto">
            <a:xfrm>
              <a:off x="2657475" y="1738313"/>
              <a:ext cx="1936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2" name="Rectangle 47"/>
            <p:cNvSpPr>
              <a:spLocks noChangeArrowheads="1"/>
            </p:cNvSpPr>
            <p:nvPr/>
          </p:nvSpPr>
          <p:spPr bwMode="auto">
            <a:xfrm>
              <a:off x="3268663" y="1363663"/>
              <a:ext cx="838371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Transmitter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63" name="Rectangle 48"/>
            <p:cNvSpPr>
              <a:spLocks noChangeArrowheads="1"/>
            </p:cNvSpPr>
            <p:nvPr/>
          </p:nvSpPr>
          <p:spPr bwMode="auto">
            <a:xfrm>
              <a:off x="3397250" y="1509713"/>
              <a:ext cx="60593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register</a:t>
              </a:r>
            </a:p>
          </p:txBody>
        </p:sp>
        <p:sp>
          <p:nvSpPr>
            <p:cNvPr id="26664" name="Rectangle 49"/>
            <p:cNvSpPr>
              <a:spLocks noChangeArrowheads="1"/>
            </p:cNvSpPr>
            <p:nvPr/>
          </p:nvSpPr>
          <p:spPr bwMode="auto">
            <a:xfrm>
              <a:off x="3305175" y="1350963"/>
              <a:ext cx="874713" cy="4349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65" name="Arc 50"/>
            <p:cNvSpPr>
              <a:spLocks/>
            </p:cNvSpPr>
            <p:nvPr/>
          </p:nvSpPr>
          <p:spPr bwMode="auto">
            <a:xfrm>
              <a:off x="3197225" y="1524000"/>
              <a:ext cx="119063" cy="104775"/>
            </a:xfrm>
            <a:custGeom>
              <a:avLst/>
              <a:gdLst>
                <a:gd name="T0" fmla="*/ 2147483647 w 21600"/>
                <a:gd name="T1" fmla="*/ 2147483647 h 17433"/>
                <a:gd name="T2" fmla="*/ 2147483647 w 21600"/>
                <a:gd name="T3" fmla="*/ 0 h 17433"/>
                <a:gd name="T4" fmla="*/ 2147483647 w 21600"/>
                <a:gd name="T5" fmla="*/ 2147483647 h 1743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33"/>
                <a:gd name="T11" fmla="*/ 21600 w 21600"/>
                <a:gd name="T12" fmla="*/ 17433 h 174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33" fill="none" extrusionOk="0">
                  <a:moveTo>
                    <a:pt x="1723" y="17433"/>
                  </a:moveTo>
                  <a:cubicBezTo>
                    <a:pt x="586" y="14759"/>
                    <a:pt x="0" y="11882"/>
                    <a:pt x="0" y="8977"/>
                  </a:cubicBezTo>
                  <a:cubicBezTo>
                    <a:pt x="-1" y="5879"/>
                    <a:pt x="666" y="2817"/>
                    <a:pt x="1953" y="-1"/>
                  </a:cubicBezTo>
                </a:path>
                <a:path w="21600" h="17433" stroke="0" extrusionOk="0">
                  <a:moveTo>
                    <a:pt x="1723" y="17433"/>
                  </a:moveTo>
                  <a:cubicBezTo>
                    <a:pt x="586" y="14759"/>
                    <a:pt x="0" y="11882"/>
                    <a:pt x="0" y="8977"/>
                  </a:cubicBezTo>
                  <a:cubicBezTo>
                    <a:pt x="-1" y="5879"/>
                    <a:pt x="666" y="2817"/>
                    <a:pt x="1953" y="-1"/>
                  </a:cubicBezTo>
                  <a:lnTo>
                    <a:pt x="21600" y="8977"/>
                  </a:lnTo>
                  <a:lnTo>
                    <a:pt x="1723" y="174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66" name="Line 51"/>
            <p:cNvSpPr>
              <a:spLocks noChangeShapeType="1"/>
            </p:cNvSpPr>
            <p:nvPr/>
          </p:nvSpPr>
          <p:spPr bwMode="auto">
            <a:xfrm>
              <a:off x="2973388" y="1574800"/>
              <a:ext cx="2460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7" name="Line 52"/>
            <p:cNvSpPr>
              <a:spLocks noChangeShapeType="1"/>
            </p:cNvSpPr>
            <p:nvPr/>
          </p:nvSpPr>
          <p:spPr bwMode="auto">
            <a:xfrm>
              <a:off x="2963863" y="1268413"/>
              <a:ext cx="0" cy="28543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8" name="Rectangle 53"/>
            <p:cNvSpPr>
              <a:spLocks noChangeArrowheads="1"/>
            </p:cNvSpPr>
            <p:nvPr/>
          </p:nvSpPr>
          <p:spPr bwMode="auto">
            <a:xfrm>
              <a:off x="3425825" y="2055813"/>
              <a:ext cx="591509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Control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69" name="Rectangle 54"/>
            <p:cNvSpPr>
              <a:spLocks noChangeArrowheads="1"/>
            </p:cNvSpPr>
            <p:nvPr/>
          </p:nvSpPr>
          <p:spPr bwMode="auto">
            <a:xfrm>
              <a:off x="3425825" y="2219325"/>
              <a:ext cx="60593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register</a:t>
              </a:r>
            </a:p>
          </p:txBody>
        </p:sp>
        <p:sp>
          <p:nvSpPr>
            <p:cNvPr id="26670" name="Rectangle 55"/>
            <p:cNvSpPr>
              <a:spLocks noChangeArrowheads="1"/>
            </p:cNvSpPr>
            <p:nvPr/>
          </p:nvSpPr>
          <p:spPr bwMode="auto">
            <a:xfrm>
              <a:off x="3321050" y="2051050"/>
              <a:ext cx="817563" cy="43656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71" name="Arc 56"/>
            <p:cNvSpPr>
              <a:spLocks/>
            </p:cNvSpPr>
            <p:nvPr/>
          </p:nvSpPr>
          <p:spPr bwMode="auto">
            <a:xfrm>
              <a:off x="3197225" y="2219325"/>
              <a:ext cx="119063" cy="104775"/>
            </a:xfrm>
            <a:custGeom>
              <a:avLst/>
              <a:gdLst>
                <a:gd name="T0" fmla="*/ 2147483647 w 21600"/>
                <a:gd name="T1" fmla="*/ 2147483647 h 17433"/>
                <a:gd name="T2" fmla="*/ 2147483647 w 21600"/>
                <a:gd name="T3" fmla="*/ 0 h 17433"/>
                <a:gd name="T4" fmla="*/ 2147483647 w 21600"/>
                <a:gd name="T5" fmla="*/ 2147483647 h 1743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33"/>
                <a:gd name="T11" fmla="*/ 21600 w 21600"/>
                <a:gd name="T12" fmla="*/ 17433 h 174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33" fill="none" extrusionOk="0">
                  <a:moveTo>
                    <a:pt x="1723" y="17433"/>
                  </a:moveTo>
                  <a:cubicBezTo>
                    <a:pt x="586" y="14759"/>
                    <a:pt x="0" y="11882"/>
                    <a:pt x="0" y="8977"/>
                  </a:cubicBezTo>
                  <a:cubicBezTo>
                    <a:pt x="-1" y="5879"/>
                    <a:pt x="666" y="2817"/>
                    <a:pt x="1953" y="-1"/>
                  </a:cubicBezTo>
                </a:path>
                <a:path w="21600" h="17433" stroke="0" extrusionOk="0">
                  <a:moveTo>
                    <a:pt x="1723" y="17433"/>
                  </a:moveTo>
                  <a:cubicBezTo>
                    <a:pt x="586" y="14759"/>
                    <a:pt x="0" y="11882"/>
                    <a:pt x="0" y="8977"/>
                  </a:cubicBezTo>
                  <a:cubicBezTo>
                    <a:pt x="-1" y="5879"/>
                    <a:pt x="666" y="2817"/>
                    <a:pt x="1953" y="-1"/>
                  </a:cubicBezTo>
                  <a:lnTo>
                    <a:pt x="21600" y="8977"/>
                  </a:lnTo>
                  <a:lnTo>
                    <a:pt x="1723" y="174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72" name="Line 57"/>
            <p:cNvSpPr>
              <a:spLocks noChangeShapeType="1"/>
            </p:cNvSpPr>
            <p:nvPr/>
          </p:nvSpPr>
          <p:spPr bwMode="auto">
            <a:xfrm>
              <a:off x="2973388" y="2274888"/>
              <a:ext cx="241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3" name="Rectangle 58"/>
            <p:cNvSpPr>
              <a:spLocks noChangeArrowheads="1"/>
            </p:cNvSpPr>
            <p:nvPr/>
          </p:nvSpPr>
          <p:spPr bwMode="auto">
            <a:xfrm>
              <a:off x="3455988" y="2755900"/>
              <a:ext cx="519373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Status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74" name="Rectangle 59"/>
            <p:cNvSpPr>
              <a:spLocks noChangeArrowheads="1"/>
            </p:cNvSpPr>
            <p:nvPr/>
          </p:nvSpPr>
          <p:spPr bwMode="auto">
            <a:xfrm>
              <a:off x="3425825" y="2919413"/>
              <a:ext cx="60593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register</a:t>
              </a:r>
            </a:p>
          </p:txBody>
        </p:sp>
        <p:sp>
          <p:nvSpPr>
            <p:cNvPr id="26675" name="Rectangle 60"/>
            <p:cNvSpPr>
              <a:spLocks noChangeArrowheads="1"/>
            </p:cNvSpPr>
            <p:nvPr/>
          </p:nvSpPr>
          <p:spPr bwMode="auto">
            <a:xfrm>
              <a:off x="3321050" y="2751138"/>
              <a:ext cx="817563" cy="4365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76" name="Arc 61"/>
            <p:cNvSpPr>
              <a:spLocks/>
            </p:cNvSpPr>
            <p:nvPr/>
          </p:nvSpPr>
          <p:spPr bwMode="auto">
            <a:xfrm>
              <a:off x="2967038" y="2919413"/>
              <a:ext cx="119062" cy="107950"/>
            </a:xfrm>
            <a:custGeom>
              <a:avLst/>
              <a:gdLst>
                <a:gd name="T0" fmla="*/ 2147483647 w 21600"/>
                <a:gd name="T1" fmla="*/ 0 h 17776"/>
                <a:gd name="T2" fmla="*/ 2147483647 w 21600"/>
                <a:gd name="T3" fmla="*/ 2147483647 h 17776"/>
                <a:gd name="T4" fmla="*/ 0 w 21600"/>
                <a:gd name="T5" fmla="*/ 2147483647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lnTo>
                    <a:pt x="19565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77" name="Line 62"/>
            <p:cNvSpPr>
              <a:spLocks noChangeShapeType="1"/>
            </p:cNvSpPr>
            <p:nvPr/>
          </p:nvSpPr>
          <p:spPr bwMode="auto">
            <a:xfrm>
              <a:off x="3071813" y="2974975"/>
              <a:ext cx="241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8" name="Rectangle 63"/>
            <p:cNvSpPr>
              <a:spLocks noChangeArrowheads="1"/>
            </p:cNvSpPr>
            <p:nvPr/>
          </p:nvSpPr>
          <p:spPr bwMode="auto">
            <a:xfrm>
              <a:off x="3375025" y="3459163"/>
              <a:ext cx="660437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Receiver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79" name="Rectangle 64"/>
            <p:cNvSpPr>
              <a:spLocks noChangeArrowheads="1"/>
            </p:cNvSpPr>
            <p:nvPr/>
          </p:nvSpPr>
          <p:spPr bwMode="auto">
            <a:xfrm>
              <a:off x="3425825" y="3621088"/>
              <a:ext cx="60593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register</a:t>
              </a:r>
            </a:p>
          </p:txBody>
        </p:sp>
        <p:sp>
          <p:nvSpPr>
            <p:cNvPr id="26680" name="Rectangle 65"/>
            <p:cNvSpPr>
              <a:spLocks noChangeArrowheads="1"/>
            </p:cNvSpPr>
            <p:nvPr/>
          </p:nvSpPr>
          <p:spPr bwMode="auto">
            <a:xfrm>
              <a:off x="3321050" y="3452813"/>
              <a:ext cx="817563" cy="4349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81" name="Arc 66"/>
            <p:cNvSpPr>
              <a:spLocks/>
            </p:cNvSpPr>
            <p:nvPr/>
          </p:nvSpPr>
          <p:spPr bwMode="auto">
            <a:xfrm>
              <a:off x="2967038" y="3624263"/>
              <a:ext cx="119062" cy="104775"/>
            </a:xfrm>
            <a:custGeom>
              <a:avLst/>
              <a:gdLst>
                <a:gd name="T0" fmla="*/ 2147483647 w 21600"/>
                <a:gd name="T1" fmla="*/ 0 h 17621"/>
                <a:gd name="T2" fmla="*/ 2147483647 w 21600"/>
                <a:gd name="T3" fmla="*/ 2147483647 h 17621"/>
                <a:gd name="T4" fmla="*/ 0 w 21600"/>
                <a:gd name="T5" fmla="*/ 2147483647 h 1762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621"/>
                <a:gd name="T11" fmla="*/ 21600 w 21600"/>
                <a:gd name="T12" fmla="*/ 17621 h 17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621" fill="none" extrusionOk="0">
                  <a:moveTo>
                    <a:pt x="19661" y="-1"/>
                  </a:moveTo>
                  <a:cubicBezTo>
                    <a:pt x="20938" y="2808"/>
                    <a:pt x="21600" y="5858"/>
                    <a:pt x="21600" y="8944"/>
                  </a:cubicBezTo>
                  <a:cubicBezTo>
                    <a:pt x="21600" y="11931"/>
                    <a:pt x="20980" y="14885"/>
                    <a:pt x="19780" y="17621"/>
                  </a:cubicBezTo>
                </a:path>
                <a:path w="21600" h="17621" stroke="0" extrusionOk="0">
                  <a:moveTo>
                    <a:pt x="19661" y="-1"/>
                  </a:moveTo>
                  <a:cubicBezTo>
                    <a:pt x="20938" y="2808"/>
                    <a:pt x="21600" y="5858"/>
                    <a:pt x="21600" y="8944"/>
                  </a:cubicBezTo>
                  <a:cubicBezTo>
                    <a:pt x="21600" y="11931"/>
                    <a:pt x="20980" y="14885"/>
                    <a:pt x="19780" y="17621"/>
                  </a:cubicBezTo>
                  <a:lnTo>
                    <a:pt x="0" y="8944"/>
                  </a:lnTo>
                  <a:lnTo>
                    <a:pt x="19661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82" name="Line 67"/>
            <p:cNvSpPr>
              <a:spLocks noChangeShapeType="1"/>
            </p:cNvSpPr>
            <p:nvPr/>
          </p:nvSpPr>
          <p:spPr bwMode="auto">
            <a:xfrm>
              <a:off x="3071813" y="3678238"/>
              <a:ext cx="257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3" name="Rectangle 68"/>
            <p:cNvSpPr>
              <a:spLocks noChangeArrowheads="1"/>
            </p:cNvSpPr>
            <p:nvPr/>
          </p:nvSpPr>
          <p:spPr bwMode="auto">
            <a:xfrm>
              <a:off x="4610100" y="1373188"/>
              <a:ext cx="426399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Shift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84" name="Rectangle 69"/>
            <p:cNvSpPr>
              <a:spLocks noChangeArrowheads="1"/>
            </p:cNvSpPr>
            <p:nvPr/>
          </p:nvSpPr>
          <p:spPr bwMode="auto">
            <a:xfrm>
              <a:off x="4506913" y="1519238"/>
              <a:ext cx="60593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register</a:t>
              </a:r>
            </a:p>
          </p:txBody>
        </p:sp>
        <p:sp>
          <p:nvSpPr>
            <p:cNvPr id="26685" name="Rectangle 70"/>
            <p:cNvSpPr>
              <a:spLocks noChangeArrowheads="1"/>
            </p:cNvSpPr>
            <p:nvPr/>
          </p:nvSpPr>
          <p:spPr bwMode="auto">
            <a:xfrm>
              <a:off x="4452938" y="1350963"/>
              <a:ext cx="815975" cy="4349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86" name="Rectangle 71"/>
            <p:cNvSpPr>
              <a:spLocks noChangeArrowheads="1"/>
            </p:cNvSpPr>
            <p:nvPr/>
          </p:nvSpPr>
          <p:spPr bwMode="auto">
            <a:xfrm>
              <a:off x="4400550" y="2065338"/>
              <a:ext cx="838371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Transmitter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87" name="Rectangle 72"/>
            <p:cNvSpPr>
              <a:spLocks noChangeArrowheads="1"/>
            </p:cNvSpPr>
            <p:nvPr/>
          </p:nvSpPr>
          <p:spPr bwMode="auto">
            <a:xfrm>
              <a:off x="4533900" y="2219325"/>
              <a:ext cx="575479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control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88" name="Rectangle 73"/>
            <p:cNvSpPr>
              <a:spLocks noChangeArrowheads="1"/>
            </p:cNvSpPr>
            <p:nvPr/>
          </p:nvSpPr>
          <p:spPr bwMode="auto">
            <a:xfrm>
              <a:off x="4462463" y="2365375"/>
              <a:ext cx="70211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and clock</a:t>
              </a:r>
            </a:p>
          </p:txBody>
        </p:sp>
        <p:sp>
          <p:nvSpPr>
            <p:cNvPr id="26689" name="Rectangle 74"/>
            <p:cNvSpPr>
              <a:spLocks noChangeArrowheads="1"/>
            </p:cNvSpPr>
            <p:nvPr/>
          </p:nvSpPr>
          <p:spPr bwMode="auto">
            <a:xfrm>
              <a:off x="4452938" y="2051050"/>
              <a:ext cx="866775" cy="5953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90" name="Rectangle 75"/>
            <p:cNvSpPr>
              <a:spLocks noChangeArrowheads="1"/>
            </p:cNvSpPr>
            <p:nvPr/>
          </p:nvSpPr>
          <p:spPr bwMode="auto">
            <a:xfrm>
              <a:off x="4460875" y="2765425"/>
              <a:ext cx="660437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Receiver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91" name="Rectangle 76"/>
            <p:cNvSpPr>
              <a:spLocks noChangeArrowheads="1"/>
            </p:cNvSpPr>
            <p:nvPr/>
          </p:nvSpPr>
          <p:spPr bwMode="auto">
            <a:xfrm>
              <a:off x="4519613" y="2919413"/>
              <a:ext cx="575479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control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92" name="Rectangle 77"/>
            <p:cNvSpPr>
              <a:spLocks noChangeArrowheads="1"/>
            </p:cNvSpPr>
            <p:nvPr/>
          </p:nvSpPr>
          <p:spPr bwMode="auto">
            <a:xfrm>
              <a:off x="4443413" y="3065463"/>
              <a:ext cx="70211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and clock</a:t>
              </a:r>
            </a:p>
          </p:txBody>
        </p:sp>
        <p:sp>
          <p:nvSpPr>
            <p:cNvPr id="26693" name="Rectangle 78"/>
            <p:cNvSpPr>
              <a:spLocks noChangeArrowheads="1"/>
            </p:cNvSpPr>
            <p:nvPr/>
          </p:nvSpPr>
          <p:spPr bwMode="auto">
            <a:xfrm>
              <a:off x="4452938" y="2751138"/>
              <a:ext cx="815975" cy="6016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94" name="Rectangle 79"/>
            <p:cNvSpPr>
              <a:spLocks noChangeArrowheads="1"/>
            </p:cNvSpPr>
            <p:nvPr/>
          </p:nvSpPr>
          <p:spPr bwMode="auto">
            <a:xfrm>
              <a:off x="4619625" y="3459163"/>
              <a:ext cx="426399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Shift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95" name="Rectangle 80"/>
            <p:cNvSpPr>
              <a:spLocks noChangeArrowheads="1"/>
            </p:cNvSpPr>
            <p:nvPr/>
          </p:nvSpPr>
          <p:spPr bwMode="auto">
            <a:xfrm>
              <a:off x="4506913" y="3621088"/>
              <a:ext cx="605935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register</a:t>
              </a:r>
            </a:p>
          </p:txBody>
        </p:sp>
        <p:sp>
          <p:nvSpPr>
            <p:cNvPr id="26696" name="Rectangle 81"/>
            <p:cNvSpPr>
              <a:spLocks noChangeArrowheads="1"/>
            </p:cNvSpPr>
            <p:nvPr/>
          </p:nvSpPr>
          <p:spPr bwMode="auto">
            <a:xfrm>
              <a:off x="4452938" y="3452813"/>
              <a:ext cx="815975" cy="4349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697" name="Arc 82"/>
            <p:cNvSpPr>
              <a:spLocks/>
            </p:cNvSpPr>
            <p:nvPr/>
          </p:nvSpPr>
          <p:spPr bwMode="auto">
            <a:xfrm>
              <a:off x="4327525" y="1512888"/>
              <a:ext cx="119063" cy="104775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698" name="Line 83"/>
            <p:cNvSpPr>
              <a:spLocks noChangeShapeType="1"/>
            </p:cNvSpPr>
            <p:nvPr/>
          </p:nvSpPr>
          <p:spPr bwMode="auto">
            <a:xfrm>
              <a:off x="4175125" y="1574800"/>
              <a:ext cx="1603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9" name="Arc 84"/>
            <p:cNvSpPr>
              <a:spLocks/>
            </p:cNvSpPr>
            <p:nvPr/>
          </p:nvSpPr>
          <p:spPr bwMode="auto">
            <a:xfrm>
              <a:off x="4152900" y="3624263"/>
              <a:ext cx="120650" cy="104775"/>
            </a:xfrm>
            <a:custGeom>
              <a:avLst/>
              <a:gdLst>
                <a:gd name="T0" fmla="*/ 2147483647 w 21600"/>
                <a:gd name="T1" fmla="*/ 0 h 17621"/>
                <a:gd name="T2" fmla="*/ 2147483647 w 21600"/>
                <a:gd name="T3" fmla="*/ 2147483647 h 17621"/>
                <a:gd name="T4" fmla="*/ 0 w 21600"/>
                <a:gd name="T5" fmla="*/ 2147483647 h 1762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621"/>
                <a:gd name="T11" fmla="*/ 21600 w 21600"/>
                <a:gd name="T12" fmla="*/ 17621 h 17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621" fill="none" extrusionOk="0">
                  <a:moveTo>
                    <a:pt x="19661" y="-1"/>
                  </a:moveTo>
                  <a:cubicBezTo>
                    <a:pt x="20938" y="2808"/>
                    <a:pt x="21600" y="5858"/>
                    <a:pt x="21600" y="8944"/>
                  </a:cubicBezTo>
                  <a:cubicBezTo>
                    <a:pt x="21600" y="11931"/>
                    <a:pt x="20980" y="14885"/>
                    <a:pt x="19780" y="17621"/>
                  </a:cubicBezTo>
                </a:path>
                <a:path w="21600" h="17621" stroke="0" extrusionOk="0">
                  <a:moveTo>
                    <a:pt x="19661" y="-1"/>
                  </a:moveTo>
                  <a:cubicBezTo>
                    <a:pt x="20938" y="2808"/>
                    <a:pt x="21600" y="5858"/>
                    <a:pt x="21600" y="8944"/>
                  </a:cubicBezTo>
                  <a:cubicBezTo>
                    <a:pt x="21600" y="11931"/>
                    <a:pt x="20980" y="14885"/>
                    <a:pt x="19780" y="17621"/>
                  </a:cubicBezTo>
                  <a:lnTo>
                    <a:pt x="0" y="8944"/>
                  </a:lnTo>
                  <a:lnTo>
                    <a:pt x="19661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00" name="Line 85"/>
            <p:cNvSpPr>
              <a:spLocks noChangeShapeType="1"/>
            </p:cNvSpPr>
            <p:nvPr/>
          </p:nvSpPr>
          <p:spPr bwMode="auto">
            <a:xfrm>
              <a:off x="4265613" y="3678238"/>
              <a:ext cx="195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01" name="Arc 86"/>
            <p:cNvSpPr>
              <a:spLocks/>
            </p:cNvSpPr>
            <p:nvPr/>
          </p:nvSpPr>
          <p:spPr bwMode="auto">
            <a:xfrm>
              <a:off x="6011863" y="1519238"/>
              <a:ext cx="119062" cy="104775"/>
            </a:xfrm>
            <a:custGeom>
              <a:avLst/>
              <a:gdLst>
                <a:gd name="T0" fmla="*/ 2147483647 w 21600"/>
                <a:gd name="T1" fmla="*/ 2147483647 h 17311"/>
                <a:gd name="T2" fmla="*/ 2147483647 w 21600"/>
                <a:gd name="T3" fmla="*/ 0 h 17311"/>
                <a:gd name="T4" fmla="*/ 2147483647 w 21600"/>
                <a:gd name="T5" fmla="*/ 2147483647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02" name="Line 87"/>
            <p:cNvSpPr>
              <a:spLocks noChangeShapeType="1"/>
            </p:cNvSpPr>
            <p:nvPr/>
          </p:nvSpPr>
          <p:spPr bwMode="auto">
            <a:xfrm>
              <a:off x="5275263" y="1574800"/>
              <a:ext cx="758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03" name="Rectangle 88"/>
            <p:cNvSpPr>
              <a:spLocks noChangeArrowheads="1"/>
            </p:cNvSpPr>
            <p:nvPr/>
          </p:nvSpPr>
          <p:spPr bwMode="auto">
            <a:xfrm>
              <a:off x="5338763" y="1227138"/>
              <a:ext cx="671659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Transmit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704" name="Rectangle 89"/>
            <p:cNvSpPr>
              <a:spLocks noChangeArrowheads="1"/>
            </p:cNvSpPr>
            <p:nvPr/>
          </p:nvSpPr>
          <p:spPr bwMode="auto">
            <a:xfrm>
              <a:off x="5487988" y="1354138"/>
              <a:ext cx="421590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data</a:t>
              </a:r>
            </a:p>
          </p:txBody>
        </p:sp>
        <p:sp>
          <p:nvSpPr>
            <p:cNvPr id="26705" name="Arc 90"/>
            <p:cNvSpPr>
              <a:spLocks/>
            </p:cNvSpPr>
            <p:nvPr/>
          </p:nvSpPr>
          <p:spPr bwMode="auto">
            <a:xfrm>
              <a:off x="5314950" y="2305050"/>
              <a:ext cx="115888" cy="104775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06" name="Line 91"/>
            <p:cNvSpPr>
              <a:spLocks noChangeShapeType="1"/>
            </p:cNvSpPr>
            <p:nvPr/>
          </p:nvSpPr>
          <p:spPr bwMode="auto">
            <a:xfrm>
              <a:off x="5421313" y="2357438"/>
              <a:ext cx="717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07" name="Rectangle 92"/>
            <p:cNvSpPr>
              <a:spLocks noChangeArrowheads="1"/>
            </p:cNvSpPr>
            <p:nvPr/>
          </p:nvSpPr>
          <p:spPr bwMode="auto">
            <a:xfrm>
              <a:off x="5302250" y="2012950"/>
              <a:ext cx="838371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Transmitter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708" name="Rectangle 93"/>
            <p:cNvSpPr>
              <a:spLocks noChangeArrowheads="1"/>
            </p:cNvSpPr>
            <p:nvPr/>
          </p:nvSpPr>
          <p:spPr bwMode="auto">
            <a:xfrm>
              <a:off x="5503863" y="2146300"/>
              <a:ext cx="455253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clock</a:t>
              </a:r>
            </a:p>
          </p:txBody>
        </p:sp>
        <p:sp>
          <p:nvSpPr>
            <p:cNvPr id="26709" name="Arc 94"/>
            <p:cNvSpPr>
              <a:spLocks/>
            </p:cNvSpPr>
            <p:nvPr/>
          </p:nvSpPr>
          <p:spPr bwMode="auto">
            <a:xfrm>
              <a:off x="5289550" y="3011488"/>
              <a:ext cx="117475" cy="104775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10" name="Line 95"/>
            <p:cNvSpPr>
              <a:spLocks noChangeShapeType="1"/>
            </p:cNvSpPr>
            <p:nvPr/>
          </p:nvSpPr>
          <p:spPr bwMode="auto">
            <a:xfrm>
              <a:off x="5395913" y="3057525"/>
              <a:ext cx="717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11" name="Rectangle 96"/>
            <p:cNvSpPr>
              <a:spLocks noChangeArrowheads="1"/>
            </p:cNvSpPr>
            <p:nvPr/>
          </p:nvSpPr>
          <p:spPr bwMode="auto">
            <a:xfrm>
              <a:off x="5337175" y="2741613"/>
              <a:ext cx="660437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Receiver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712" name="Rectangle 97"/>
            <p:cNvSpPr>
              <a:spLocks noChangeArrowheads="1"/>
            </p:cNvSpPr>
            <p:nvPr/>
          </p:nvSpPr>
          <p:spPr bwMode="auto">
            <a:xfrm>
              <a:off x="5453063" y="2865438"/>
              <a:ext cx="455253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clock</a:t>
              </a:r>
            </a:p>
          </p:txBody>
        </p:sp>
        <p:sp>
          <p:nvSpPr>
            <p:cNvPr id="26713" name="Arc 98"/>
            <p:cNvSpPr>
              <a:spLocks/>
            </p:cNvSpPr>
            <p:nvPr/>
          </p:nvSpPr>
          <p:spPr bwMode="auto">
            <a:xfrm>
              <a:off x="5289550" y="3624263"/>
              <a:ext cx="117475" cy="104775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14" name="Line 99"/>
            <p:cNvSpPr>
              <a:spLocks noChangeShapeType="1"/>
            </p:cNvSpPr>
            <p:nvPr/>
          </p:nvSpPr>
          <p:spPr bwMode="auto">
            <a:xfrm>
              <a:off x="5395913" y="3678238"/>
              <a:ext cx="717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15" name="Rectangle 100"/>
            <p:cNvSpPr>
              <a:spLocks noChangeArrowheads="1"/>
            </p:cNvSpPr>
            <p:nvPr/>
          </p:nvSpPr>
          <p:spPr bwMode="auto">
            <a:xfrm>
              <a:off x="5351463" y="3322638"/>
              <a:ext cx="610745" cy="42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Receive</a:t>
              </a:r>
            </a:p>
            <a:p>
              <a:pPr eaLnBrk="1" hangingPunct="1"/>
              <a:endParaRPr lang="en-US" altLang="ko-KR" sz="1100">
                <a:latin typeface="Calibri" panose="020F0502020204030204" pitchFamily="34" charset="0"/>
                <a:ea typeface="Gulim" pitchFamily="34" charset="-127"/>
              </a:endParaRPr>
            </a:p>
          </p:txBody>
        </p:sp>
        <p:sp>
          <p:nvSpPr>
            <p:cNvPr id="26716" name="Rectangle 101"/>
            <p:cNvSpPr>
              <a:spLocks noChangeArrowheads="1"/>
            </p:cNvSpPr>
            <p:nvPr/>
          </p:nvSpPr>
          <p:spPr bwMode="auto">
            <a:xfrm>
              <a:off x="5483225" y="3455988"/>
              <a:ext cx="421590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data</a:t>
              </a:r>
            </a:p>
          </p:txBody>
        </p:sp>
        <p:grpSp>
          <p:nvGrpSpPr>
            <p:cNvPr id="26717" name="Group 108"/>
            <p:cNvGrpSpPr>
              <a:grpSpLocks/>
            </p:cNvGrpSpPr>
            <p:nvPr/>
          </p:nvGrpSpPr>
          <p:grpSpPr bwMode="auto">
            <a:xfrm>
              <a:off x="6330950" y="2719388"/>
              <a:ext cx="2593975" cy="1082675"/>
              <a:chOff x="2846" y="2565"/>
              <a:chExt cx="1634" cy="682"/>
            </a:xfrm>
          </p:grpSpPr>
          <p:sp>
            <p:nvSpPr>
              <p:cNvPr id="26719" name="Rectangle 38"/>
              <p:cNvSpPr>
                <a:spLocks noChangeArrowheads="1"/>
              </p:cNvSpPr>
              <p:nvPr/>
            </p:nvSpPr>
            <p:spPr bwMode="auto">
              <a:xfrm>
                <a:off x="2858" y="2565"/>
                <a:ext cx="1423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550" tIns="41275" rIns="82550" bIns="41275">
                <a:spAutoFit/>
              </a:bodyPr>
              <a:lstStyle>
                <a:lvl1pPr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100">
                    <a:latin typeface="Calibri" panose="020F0502020204030204" pitchFamily="34" charset="0"/>
                    <a:ea typeface="Gulim" pitchFamily="34" charset="-127"/>
                  </a:rPr>
                  <a:t>CS     RS      Oper.     Register selected</a:t>
                </a:r>
              </a:p>
              <a:p>
                <a:pPr eaLnBrk="1" hangingPunct="1"/>
                <a:endParaRPr lang="en-US" altLang="ko-KR" sz="1100">
                  <a:latin typeface="Calibri" panose="020F0502020204030204" pitchFamily="34" charset="0"/>
                  <a:ea typeface="Gulim" pitchFamily="34" charset="-127"/>
                </a:endParaRPr>
              </a:p>
            </p:txBody>
          </p:sp>
          <p:sp>
            <p:nvSpPr>
              <p:cNvPr id="26720" name="Rectangle 39"/>
              <p:cNvSpPr>
                <a:spLocks noChangeArrowheads="1"/>
              </p:cNvSpPr>
              <p:nvPr/>
            </p:nvSpPr>
            <p:spPr bwMode="auto">
              <a:xfrm>
                <a:off x="2846" y="2688"/>
                <a:ext cx="1028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550" tIns="41275" rIns="82550" bIns="41275">
                <a:spAutoFit/>
              </a:bodyPr>
              <a:lstStyle>
                <a:lvl1pPr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100">
                    <a:latin typeface="Calibri" panose="020F0502020204030204" pitchFamily="34" charset="0"/>
                    <a:ea typeface="Gulim" pitchFamily="34" charset="-127"/>
                  </a:rPr>
                  <a:t>  0      x         x            None</a:t>
                </a:r>
              </a:p>
            </p:txBody>
          </p:sp>
          <p:sp>
            <p:nvSpPr>
              <p:cNvPr id="26721" name="Rectangle 40"/>
              <p:cNvSpPr>
                <a:spLocks noChangeArrowheads="1"/>
              </p:cNvSpPr>
              <p:nvPr/>
            </p:nvSpPr>
            <p:spPr bwMode="auto">
              <a:xfrm>
                <a:off x="2846" y="2787"/>
                <a:ext cx="1528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550" tIns="41275" rIns="82550" bIns="41275">
                <a:spAutoFit/>
              </a:bodyPr>
              <a:lstStyle>
                <a:lvl1pPr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100">
                    <a:latin typeface="Calibri" panose="020F0502020204030204" pitchFamily="34" charset="0"/>
                    <a:ea typeface="Gulim" pitchFamily="34" charset="-127"/>
                  </a:rPr>
                  <a:t>  1      0       WR         Transmitter register</a:t>
                </a:r>
              </a:p>
              <a:p>
                <a:pPr eaLnBrk="1" hangingPunct="1"/>
                <a:endParaRPr lang="en-US" altLang="ko-KR" sz="1100">
                  <a:latin typeface="Calibri" panose="020F0502020204030204" pitchFamily="34" charset="0"/>
                  <a:ea typeface="Gulim" pitchFamily="34" charset="-127"/>
                </a:endParaRPr>
              </a:p>
            </p:txBody>
          </p:sp>
          <p:sp>
            <p:nvSpPr>
              <p:cNvPr id="26722" name="Rectangle 41"/>
              <p:cNvSpPr>
                <a:spLocks noChangeArrowheads="1"/>
              </p:cNvSpPr>
              <p:nvPr/>
            </p:nvSpPr>
            <p:spPr bwMode="auto">
              <a:xfrm>
                <a:off x="2846" y="2886"/>
                <a:ext cx="1392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550" tIns="41275" rIns="82550" bIns="41275">
                <a:spAutoFit/>
              </a:bodyPr>
              <a:lstStyle>
                <a:lvl1pPr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100">
                    <a:latin typeface="Calibri" panose="020F0502020204030204" pitchFamily="34" charset="0"/>
                    <a:ea typeface="Gulim" pitchFamily="34" charset="-127"/>
                  </a:rPr>
                  <a:t>  1      1       WR         Control register</a:t>
                </a:r>
              </a:p>
            </p:txBody>
          </p:sp>
          <p:sp>
            <p:nvSpPr>
              <p:cNvPr id="26723" name="Rectangle 42"/>
              <p:cNvSpPr>
                <a:spLocks noChangeArrowheads="1"/>
              </p:cNvSpPr>
              <p:nvPr/>
            </p:nvSpPr>
            <p:spPr bwMode="auto">
              <a:xfrm>
                <a:off x="2846" y="2982"/>
                <a:ext cx="1432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550" tIns="41275" rIns="82550" bIns="41275">
                <a:spAutoFit/>
              </a:bodyPr>
              <a:lstStyle>
                <a:lvl1pPr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100">
                    <a:latin typeface="Calibri" panose="020F0502020204030204" pitchFamily="34" charset="0"/>
                    <a:ea typeface="Gulim" pitchFamily="34" charset="-127"/>
                  </a:rPr>
                  <a:t>  1      0       RD           Receiver register</a:t>
                </a:r>
              </a:p>
            </p:txBody>
          </p:sp>
          <p:sp>
            <p:nvSpPr>
              <p:cNvPr id="26724" name="Rectangle 43"/>
              <p:cNvSpPr>
                <a:spLocks noChangeArrowheads="1"/>
              </p:cNvSpPr>
              <p:nvPr/>
            </p:nvSpPr>
            <p:spPr bwMode="auto">
              <a:xfrm>
                <a:off x="2846" y="3083"/>
                <a:ext cx="1343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2550" tIns="41275" rIns="82550" bIns="41275">
                <a:spAutoFit/>
              </a:bodyPr>
              <a:lstStyle>
                <a:lvl1pPr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617538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617538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100">
                    <a:latin typeface="Calibri" panose="020F0502020204030204" pitchFamily="34" charset="0"/>
                    <a:ea typeface="Gulim" pitchFamily="34" charset="-127"/>
                  </a:rPr>
                  <a:t>  1      1       RD           Status register</a:t>
                </a:r>
              </a:p>
            </p:txBody>
          </p:sp>
          <p:sp>
            <p:nvSpPr>
              <p:cNvPr id="26725" name="Line 44"/>
              <p:cNvSpPr>
                <a:spLocks noChangeShapeType="1"/>
              </p:cNvSpPr>
              <p:nvPr/>
            </p:nvSpPr>
            <p:spPr bwMode="auto">
              <a:xfrm>
                <a:off x="2907" y="2699"/>
                <a:ext cx="157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726" name="Line 45"/>
              <p:cNvSpPr>
                <a:spLocks noChangeShapeType="1"/>
              </p:cNvSpPr>
              <p:nvPr/>
            </p:nvSpPr>
            <p:spPr bwMode="auto">
              <a:xfrm>
                <a:off x="2907" y="3233"/>
                <a:ext cx="157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727" name="Line 102"/>
              <p:cNvSpPr>
                <a:spLocks noChangeShapeType="1"/>
              </p:cNvSpPr>
              <p:nvPr/>
            </p:nvSpPr>
            <p:spPr bwMode="auto">
              <a:xfrm>
                <a:off x="3581" y="2601"/>
                <a:ext cx="0" cy="6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728" name="Line 105"/>
              <p:cNvSpPr>
                <a:spLocks noChangeShapeType="1"/>
              </p:cNvSpPr>
              <p:nvPr/>
            </p:nvSpPr>
            <p:spPr bwMode="auto">
              <a:xfrm>
                <a:off x="3275" y="2606"/>
                <a:ext cx="0" cy="6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718" name="Rectangle 109"/>
            <p:cNvSpPr>
              <a:spLocks noChangeArrowheads="1"/>
            </p:cNvSpPr>
            <p:nvPr/>
          </p:nvSpPr>
          <p:spPr bwMode="auto">
            <a:xfrm rot="16200000">
              <a:off x="2379508" y="2539096"/>
              <a:ext cx="852798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latin typeface="Calibri" panose="020F0502020204030204" pitchFamily="34" charset="0"/>
                  <a:ea typeface="Gulim" pitchFamily="34" charset="-127"/>
                </a:rPr>
                <a:t>Internal Bus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65344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ChangeArrowheads="1"/>
          </p:cNvSpPr>
          <p:nvPr/>
        </p:nvSpPr>
        <p:spPr bwMode="auto">
          <a:xfrm>
            <a:off x="1676400" y="641350"/>
            <a:ext cx="8534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UART stands for?   </a:t>
            </a:r>
          </a:p>
          <a:p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 </a:t>
            </a:r>
            <a:endParaRPr lang="en-US" altLang="en-US" sz="3200"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a. Universal Asynchronous Sender Receiver</a:t>
            </a:r>
            <a:endParaRPr lang="en-US" altLang="en-US" sz="3200"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b. Universal Asynchronous Receiver Transmitter</a:t>
            </a:r>
            <a:endParaRPr lang="en-US" altLang="en-US" sz="3200"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c. Universal Synchronous Receiver Transmitter</a:t>
            </a:r>
            <a:endParaRPr lang="en-US" altLang="en-US" sz="3200"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d. None Of These.</a:t>
            </a:r>
            <a:endParaRPr lang="en-US" altLang="en-US" sz="3200"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303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Overview</a:t>
            </a:r>
          </a:p>
        </p:txBody>
      </p:sp>
      <p:sp>
        <p:nvSpPr>
          <p:cNvPr id="28677" name="Rectangle 2"/>
          <p:cNvSpPr>
            <a:spLocks noChangeArrowheads="1"/>
          </p:cNvSpPr>
          <p:nvPr/>
        </p:nvSpPr>
        <p:spPr bwMode="auto">
          <a:xfrm>
            <a:off x="3792538" y="1503363"/>
            <a:ext cx="3636962" cy="371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 </a:t>
            </a:r>
            <a:r>
              <a:rPr lang="en-US" altLang="ko-KR" sz="2000">
                <a:cs typeface="Arial" panose="020B0604020202020204" pitchFamily="34" charset="0"/>
              </a:rPr>
              <a:t>Peripheral Devices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Input-Output Interface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Asynchronous Data Transfer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 Modes of Transfer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</a:t>
            </a:r>
            <a:r>
              <a:rPr lang="en-US" altLang="ko-KR" sz="2000" b="1">
                <a:cs typeface="Arial" panose="020B0604020202020204" pitchFamily="34" charset="0"/>
              </a:rPr>
              <a:t>Priority Interrupt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Direct Memory Access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Input-Output Processor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5933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0" name="Rectangle 2"/>
          <p:cNvSpPr>
            <a:spLocks noChangeArrowheads="1"/>
          </p:cNvSpPr>
          <p:nvPr/>
        </p:nvSpPr>
        <p:spPr bwMode="auto">
          <a:xfrm>
            <a:off x="2247900" y="2044960"/>
            <a:ext cx="7696200" cy="2929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 dirty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>
                <a:cs typeface="Arial" panose="020B0604020202020204" pitchFamily="34" charset="0"/>
              </a:rPr>
              <a:t>Binary information received from external device is usually stored in memory.</a:t>
            </a:r>
          </a:p>
          <a:p>
            <a:pPr algn="just" eaLnBrk="1" hangingPunct="1">
              <a:lnSpc>
                <a:spcPct val="85000"/>
              </a:lnSpc>
              <a:buFont typeface="Arial" panose="020B0604020202020204" pitchFamily="34" charset="0"/>
              <a:buNone/>
            </a:pPr>
            <a:endParaRPr lang="en-US" altLang="ko-KR" sz="2000" dirty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dirty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>
                <a:cs typeface="Arial" panose="020B0604020202020204" pitchFamily="34" charset="0"/>
              </a:rPr>
              <a:t>Information transferred from central computer into an external device originates in the memory unit.</a:t>
            </a:r>
          </a:p>
          <a:p>
            <a:pPr algn="just" eaLnBrk="1" hangingPunct="1">
              <a:lnSpc>
                <a:spcPct val="85000"/>
              </a:lnSpc>
              <a:buFont typeface="Arial" panose="020B0604020202020204" pitchFamily="34" charset="0"/>
              <a:buNone/>
            </a:pPr>
            <a:endParaRPr lang="en-IN" altLang="ko-KR" sz="2000" dirty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Arial" panose="020B0604020202020204" pitchFamily="34" charset="0"/>
              <a:buNone/>
            </a:pPr>
            <a:endParaRPr lang="en-US" altLang="ko-KR" sz="2000" dirty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>
                <a:cs typeface="Arial" panose="020B0604020202020204" pitchFamily="34" charset="0"/>
              </a:rPr>
              <a:t>The CPU merely execute I/O instructions and may accept data temporarily but ultimate source or destination is the Memory Unit.</a:t>
            </a:r>
          </a:p>
        </p:txBody>
      </p:sp>
      <p:sp>
        <p:nvSpPr>
          <p:cNvPr id="29701" name="TextBox 8"/>
          <p:cNvSpPr txBox="1">
            <a:spLocks noChangeArrowheads="1"/>
          </p:cNvSpPr>
          <p:nvPr/>
        </p:nvSpPr>
        <p:spPr bwMode="auto">
          <a:xfrm>
            <a:off x="1600200" y="381000"/>
            <a:ext cx="899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   Modes of Transfer 	</a:t>
            </a:r>
          </a:p>
        </p:txBody>
      </p:sp>
    </p:spTree>
    <p:extLst>
      <p:ext uri="{BB962C8B-B14F-4D97-AF65-F5344CB8AC3E}">
        <p14:creationId xmlns:p14="http://schemas.microsoft.com/office/powerpoint/2010/main" val="20288072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0" name="Rectangle 2"/>
          <p:cNvSpPr>
            <a:spLocks noChangeArrowheads="1"/>
          </p:cNvSpPr>
          <p:nvPr/>
        </p:nvSpPr>
        <p:spPr bwMode="auto">
          <a:xfrm>
            <a:off x="2369976" y="2019592"/>
            <a:ext cx="7696200" cy="371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>
                <a:cs typeface="Arial" panose="020B0604020202020204" pitchFamily="34" charset="0"/>
              </a:rPr>
              <a:t>Data transfer between central computer and I/O devices may be handled in a variety of modes. </a:t>
            </a: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dirty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>
                <a:cs typeface="Arial" panose="020B0604020202020204" pitchFamily="34" charset="0"/>
              </a:rPr>
              <a:t>Some modes use CPU as intermediate path, </a:t>
            </a: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dirty="0"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anose="020B0604020202020204" pitchFamily="34" charset="0"/>
              </a:rPr>
              <a:t>others transfer data directly to and from memory unit.</a:t>
            </a:r>
          </a:p>
          <a:p>
            <a:pPr algn="just" eaLnBrk="1" hangingPunct="1">
              <a:lnSpc>
                <a:spcPct val="85000"/>
              </a:lnSpc>
              <a:buFont typeface="Arial" panose="020B0604020202020204" pitchFamily="34" charset="0"/>
              <a:buNone/>
            </a:pPr>
            <a:r>
              <a:rPr lang="en-US" altLang="ko-KR" sz="2000" dirty="0">
                <a:cs typeface="Arial" panose="020B0604020202020204" pitchFamily="34" charset="0"/>
              </a:rPr>
              <a:t> </a:t>
            </a: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>
                <a:cs typeface="Arial" panose="020B0604020202020204" pitchFamily="34" charset="0"/>
              </a:rPr>
              <a:t>Data Transfer to or from peripheral can be handled in one of three possible modes : </a:t>
            </a: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IN" altLang="ko-KR" sz="2000" dirty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dirty="0"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>
                <a:solidFill>
                  <a:srgbClr val="FF0000"/>
                </a:solidFill>
                <a:cs typeface="Arial" panose="020B0604020202020204" pitchFamily="34" charset="0"/>
              </a:rPr>
              <a:t>  </a:t>
            </a: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Programmed I/O</a:t>
            </a:r>
          </a:p>
          <a:p>
            <a:pPr lvl="1"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  Interrupt-Initiated I/O</a:t>
            </a:r>
          </a:p>
          <a:p>
            <a:pPr lvl="1" algn="just"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  Direct Memory Access (DMA)</a:t>
            </a:r>
          </a:p>
        </p:txBody>
      </p:sp>
      <p:sp>
        <p:nvSpPr>
          <p:cNvPr id="29701" name="TextBox 8"/>
          <p:cNvSpPr txBox="1">
            <a:spLocks noChangeArrowheads="1"/>
          </p:cNvSpPr>
          <p:nvPr/>
        </p:nvSpPr>
        <p:spPr bwMode="auto">
          <a:xfrm>
            <a:off x="1600200" y="381000"/>
            <a:ext cx="899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   Modes of Transfer 	</a:t>
            </a:r>
          </a:p>
        </p:txBody>
      </p:sp>
    </p:spTree>
    <p:extLst>
      <p:ext uri="{BB962C8B-B14F-4D97-AF65-F5344CB8AC3E}">
        <p14:creationId xmlns:p14="http://schemas.microsoft.com/office/powerpoint/2010/main" val="185595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23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F7F6B96C-9A3B-4B7A-B1BE-036716496A73}" type="slidenum">
              <a:rPr lang="en-US" altLang="en-US">
                <a:latin typeface="Calibri" panose="020F0502020204030204" pitchFamily="34" charset="0"/>
              </a:rPr>
              <a:pPr eaLnBrk="1" hangingPunct="1"/>
              <a:t>39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5" name="TextBox 8"/>
          <p:cNvSpPr txBox="1">
            <a:spLocks noChangeArrowheads="1"/>
          </p:cNvSpPr>
          <p:nvPr/>
        </p:nvSpPr>
        <p:spPr bwMode="auto">
          <a:xfrm>
            <a:off x="1600200" y="381000"/>
            <a:ext cx="899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   Modes of Transfer – Programmed I/O	</a:t>
            </a:r>
          </a:p>
        </p:txBody>
      </p:sp>
      <p:pic>
        <p:nvPicPr>
          <p:cNvPr id="36866" name="Picture 2" descr="Programmed I/O - VCM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412" y="2602492"/>
            <a:ext cx="6353175" cy="229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2700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685801"/>
            <a:ext cx="7543800" cy="589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3458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Programmed I/O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Programmed I/O operations are the result of I/O Instructions written in computer program. 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Each data item transfer is initiated by an instruction in the program. </a:t>
            </a:r>
          </a:p>
          <a:p>
            <a:pPr algn="just" eaLnBrk="1" hangingPunct="1">
              <a:spcBef>
                <a:spcPct val="0"/>
              </a:spcBef>
              <a:buFontTx/>
              <a:buChar char="-"/>
            </a:pPr>
            <a:endParaRPr lang="en-IN" altLang="ko-K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Char char="-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Usually, transfer is to and from a CPU register to peripheral. </a:t>
            </a:r>
          </a:p>
          <a:p>
            <a:pPr algn="just" eaLnBrk="1" hangingPunct="1">
              <a:spcBef>
                <a:spcPct val="0"/>
              </a:spcBef>
              <a:buFontTx/>
              <a:buChar char="-"/>
            </a:pPr>
            <a:endParaRPr lang="en-US" altLang="ko-K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Char char="-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instructions are needed to transfer data to and from CPU and Memory </a:t>
            </a:r>
          </a:p>
          <a:p>
            <a:pPr algn="just" eaLnBrk="1" hangingPunct="1">
              <a:spcBef>
                <a:spcPct val="0"/>
              </a:spcBef>
              <a:buFontTx/>
              <a:buChar char="-"/>
            </a:pPr>
            <a:endParaRPr lang="en-US" altLang="ko-K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Char char="-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data under program control requires constant monitoring of the peripheral by CPU. </a:t>
            </a:r>
          </a:p>
          <a:p>
            <a:pPr algn="just"/>
            <a:endParaRPr lang="en-IN" altLang="en-US" sz="2400" dirty="0">
              <a:latin typeface="Times New Roman" panose="02020603050405020304" pitchFamily="18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889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1752600" y="1600200"/>
            <a:ext cx="8839200" cy="5257800"/>
          </a:xfrm>
        </p:spPr>
        <p:txBody>
          <a:bodyPr/>
          <a:lstStyle/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programmed I/O method, </a:t>
            </a:r>
          </a:p>
          <a:p>
            <a:pPr lvl="1"/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stays in a program loop until the I/O unit indicated that it is ready for data transfer. </a:t>
            </a:r>
          </a:p>
          <a:p>
            <a:pPr lvl="1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time consuming process since it keeps the processor busy needlessly. </a:t>
            </a:r>
          </a:p>
          <a:p>
            <a:pPr lvl="1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avoided by using 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facility and special commands </a:t>
            </a:r>
          </a:p>
          <a:p>
            <a:pPr lvl="1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inform the interface to issue an interrupt request signal when data are available for the device.</a:t>
            </a:r>
          </a:p>
        </p:txBody>
      </p:sp>
    </p:spTree>
    <p:extLst>
      <p:ext uri="{BB962C8B-B14F-4D97-AF65-F5344CB8AC3E}">
        <p14:creationId xmlns:p14="http://schemas.microsoft.com/office/powerpoint/2010/main" val="24995678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Interrupted I/O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12700" y="2090057"/>
            <a:ext cx="956659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programmed I/O method, the CPU stays in a program loop until the I/O unit indicates that it is ready for data transfer.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time-consuming process since it keeps the processor busy needlessly.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avoided by using an interrupt facility and special commands to inform the interface to issue an interrupt request signal when the data are available from the device.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meantime the CPU can proceed to execute another program. The interface meanwhile keeps monitoring the device.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043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Interrupted I/O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12700" y="2164702"/>
            <a:ext cx="95665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interface determines that the device is ready for data transfer, it generates an interrupt request to the computer.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detecting the external interrupt signal, the CPU momentarily stops the task it is processing,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Branches to a service program to process the I/O transfer, and then returns to the task it was originally performing.</a:t>
            </a:r>
          </a:p>
        </p:txBody>
      </p:sp>
    </p:spTree>
    <p:extLst>
      <p:ext uri="{BB962C8B-B14F-4D97-AF65-F5344CB8AC3E}">
        <p14:creationId xmlns:p14="http://schemas.microsoft.com/office/powerpoint/2010/main" val="9393038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95329" y="795048"/>
            <a:ext cx="6662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1195" y="4593440"/>
            <a:ext cx="1031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944595"/>
            <a:ext cx="12192000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Programmed I/O: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this method, data moves between the CPU and external devices (like a keyboard, printer, or hard drive). The CPU controls the entire process.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Memory Access (DMA):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the CPU handling data transfer, a special hardware unit (DMA controller) transfers data directly between memory and external devices.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CPU’s Role in DMA: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CPU starts the transfer by giving the DMA controller a memory address and the amount of data to transfer. Then, the CPU moves on to other tasks.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DMA Works: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the DMA is ready to transfer data, it requests permission to use the memory bus (the pathway between memory and other parts of the system).</a:t>
            </a:r>
          </a:p>
        </p:txBody>
      </p:sp>
    </p:spTree>
    <p:extLst>
      <p:ext uri="{BB962C8B-B14F-4D97-AF65-F5344CB8AC3E}">
        <p14:creationId xmlns:p14="http://schemas.microsoft.com/office/powerpoint/2010/main" val="16478727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95329" y="795048"/>
            <a:ext cx="6662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1195" y="4593440"/>
            <a:ext cx="1031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" y="1855773"/>
            <a:ext cx="12192000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altLang="en-US" b="1" dirty="0">
                <a:latin typeface="Arial" panose="020B0604020202020204" pitchFamily="34" charset="0"/>
              </a:rPr>
              <a:t>Memory Controller’s Role:</a:t>
            </a:r>
            <a:r>
              <a:rPr lang="en-US" altLang="en-US" dirty="0">
                <a:latin typeface="Arial" panose="020B0604020202020204" pitchFamily="34" charset="0"/>
              </a:rPr>
              <a:t> Once the memory controller allows access, the DMA controller moves data directly between the external device and memory.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6"/>
            </a:pPr>
            <a:r>
              <a:rPr lang="en-US" altLang="en-US" b="1" dirty="0">
                <a:latin typeface="Arial" panose="020B0604020202020204" pitchFamily="34" charset="0"/>
              </a:rPr>
              <a:t>Effect on CPU:</a:t>
            </a:r>
            <a:r>
              <a:rPr lang="en-US" altLang="en-US" dirty="0">
                <a:latin typeface="Arial" panose="020B0604020202020204" pitchFamily="34" charset="0"/>
              </a:rPr>
              <a:t> The CPU temporarily pauses its memory operations while DMA transfers data but resumes immediately after.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7"/>
            </a:pPr>
            <a:r>
              <a:rPr lang="en-US" altLang="en-US" b="1" dirty="0">
                <a:latin typeface="Arial" panose="020B0604020202020204" pitchFamily="34" charset="0"/>
              </a:rPr>
              <a:t>Why This Matters:</a:t>
            </a:r>
            <a:r>
              <a:rPr lang="en-US" altLang="en-US" dirty="0">
                <a:latin typeface="Arial" panose="020B0604020202020204" pitchFamily="34" charset="0"/>
              </a:rPr>
              <a:t> Since most external devices (like hard drives) work much slower than the CPU, these data transfers happen less frequently compared to how often the CPU accesses memory.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This approach allows the CPU to work on other tasks while data transfer happens in the background, improving overall system efficiency.</a:t>
            </a:r>
          </a:p>
        </p:txBody>
      </p:sp>
    </p:spTree>
    <p:extLst>
      <p:ext uri="{BB962C8B-B14F-4D97-AF65-F5344CB8AC3E}">
        <p14:creationId xmlns:p14="http://schemas.microsoft.com/office/powerpoint/2010/main" val="23831750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6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Priority Interrupts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1919935" y="1619380"/>
            <a:ext cx="8594725" cy="3690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u="sng" dirty="0">
                <a:cs typeface="Arial" panose="020B0604020202020204" pitchFamily="34" charset="0"/>
              </a:rPr>
              <a:t>Priority</a:t>
            </a:r>
          </a:p>
          <a:p>
            <a:pPr eaLnBrk="1" hangingPunct="1"/>
            <a:endParaRPr lang="en-IN" altLang="ko-KR" u="sng" dirty="0">
              <a:cs typeface="Arial" panose="020B0604020202020204" pitchFamily="34" charset="0"/>
            </a:endParaRPr>
          </a:p>
          <a:p>
            <a:pPr eaLnBrk="1" hangingPunct="1"/>
            <a:endParaRPr lang="en-US" altLang="ko-KR" u="sng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dirty="0">
                <a:cs typeface="Arial" panose="020B0604020202020204" pitchFamily="34" charset="0"/>
              </a:rPr>
              <a:t>     - Determines which interrupt is to be served first,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when two or more requests are made simultaneously</a:t>
            </a:r>
          </a:p>
          <a:p>
            <a:pPr eaLnBrk="1" hangingPunct="1"/>
            <a:endParaRPr lang="en-IN" altLang="ko-KR" dirty="0">
              <a:cs typeface="Arial" panose="020B0604020202020204" pitchFamily="34" charset="0"/>
            </a:endParaRPr>
          </a:p>
          <a:p>
            <a:pPr eaLnBrk="1" hangingPunct="1"/>
            <a:endParaRPr lang="en-US" altLang="ko-KR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dirty="0">
                <a:cs typeface="Arial" panose="020B0604020202020204" pitchFamily="34" charset="0"/>
              </a:rPr>
              <a:t>     - Also determines which interrupts are permitted to interrupt the computer,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while another is being serviced</a:t>
            </a:r>
          </a:p>
          <a:p>
            <a:pPr eaLnBrk="1" hangingPunct="1"/>
            <a:endParaRPr lang="en-IN" altLang="ko-KR" dirty="0">
              <a:cs typeface="Arial" panose="020B0604020202020204" pitchFamily="34" charset="0"/>
            </a:endParaRPr>
          </a:p>
          <a:p>
            <a:pPr eaLnBrk="1" hangingPunct="1"/>
            <a:endParaRPr lang="en-US" altLang="ko-KR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dirty="0">
                <a:cs typeface="Arial" panose="020B0604020202020204" pitchFamily="34" charset="0"/>
              </a:rPr>
              <a:t>     - Higher priority interrupts can make requests while servicing a lower priority  </a:t>
            </a:r>
          </a:p>
          <a:p>
            <a:pPr eaLnBrk="1" hangingPunct="1"/>
            <a:r>
              <a:rPr lang="en-US" altLang="ko-KR" dirty="0">
                <a:cs typeface="Arial" panose="020B0604020202020204" pitchFamily="34" charset="0"/>
              </a:rPr>
              <a:t>        interrupt </a:t>
            </a:r>
          </a:p>
        </p:txBody>
      </p:sp>
    </p:spTree>
    <p:extLst>
      <p:ext uri="{BB962C8B-B14F-4D97-AF65-F5344CB8AC3E}">
        <p14:creationId xmlns:p14="http://schemas.microsoft.com/office/powerpoint/2010/main" val="14266135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6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Priority Interrupts</a:t>
            </a:r>
          </a:p>
        </p:txBody>
      </p:sp>
      <p:sp>
        <p:nvSpPr>
          <p:cNvPr id="36870" name="TextBox 6"/>
          <p:cNvSpPr txBox="1">
            <a:spLocks noChangeArrowheads="1"/>
          </p:cNvSpPr>
          <p:nvPr/>
        </p:nvSpPr>
        <p:spPr bwMode="auto">
          <a:xfrm>
            <a:off x="2171700" y="2274838"/>
            <a:ext cx="7848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A priority interrupt is a system that establishes priority over the various sources to determine </a:t>
            </a:r>
          </a:p>
          <a:p>
            <a:pPr eaLnBrk="1" hangingPunct="1"/>
            <a:endParaRPr lang="en-US" altLang="en-US" b="1" dirty="0">
              <a:solidFill>
                <a:srgbClr val="0070C0"/>
              </a:solidFill>
            </a:endParaRPr>
          </a:p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- which condition is to serviced first when two or more requests  </a:t>
            </a:r>
          </a:p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    arrive simultaneously</a:t>
            </a:r>
          </a:p>
          <a:p>
            <a:pPr eaLnBrk="1" hangingPunct="1"/>
            <a:endParaRPr lang="en-US" altLang="en-US" b="1" dirty="0">
              <a:solidFill>
                <a:srgbClr val="0070C0"/>
              </a:solidFill>
            </a:endParaRPr>
          </a:p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-which conditions are permitted to interrupt the computer while  </a:t>
            </a:r>
          </a:p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    another request is being serviced</a:t>
            </a:r>
          </a:p>
        </p:txBody>
      </p:sp>
    </p:spTree>
    <p:extLst>
      <p:ext uri="{BB962C8B-B14F-4D97-AF65-F5344CB8AC3E}">
        <p14:creationId xmlns:p14="http://schemas.microsoft.com/office/powerpoint/2010/main" val="39150064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Priority Interrupts</a:t>
            </a:r>
          </a:p>
        </p:txBody>
      </p:sp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1082351" y="1770647"/>
            <a:ext cx="10011747" cy="3408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1000"/>
              </a:lnSpc>
            </a:pPr>
            <a:r>
              <a:rPr lang="en-US" altLang="ko-KR" u="sng" dirty="0">
                <a:cs typeface="Arial" panose="020B0604020202020204" pitchFamily="34" charset="0"/>
              </a:rPr>
              <a:t>Priority Interrupt by Software </a:t>
            </a:r>
            <a:r>
              <a:rPr lang="en-US" altLang="ko-KR" b="1" u="sng" dirty="0">
                <a:solidFill>
                  <a:srgbClr val="FF0000"/>
                </a:solidFill>
                <a:cs typeface="Arial" panose="020B0604020202020204" pitchFamily="34" charset="0"/>
              </a:rPr>
              <a:t>(Polling)</a:t>
            </a:r>
          </a:p>
          <a:p>
            <a:pPr eaLnBrk="1" hangingPunct="1">
              <a:lnSpc>
                <a:spcPct val="101000"/>
              </a:lnSpc>
            </a:pPr>
            <a:endParaRPr lang="en-US" altLang="ko-KR" b="1" u="sng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        Polling procedure is used to identify highest priority source by software    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        means</a:t>
            </a:r>
          </a:p>
          <a:p>
            <a:pPr eaLnBrk="1" hangingPunct="1">
              <a:lnSpc>
                <a:spcPct val="101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    -  </a:t>
            </a:r>
            <a:r>
              <a:rPr lang="en-US" altLang="ko-KR" dirty="0">
                <a:cs typeface="Arial" panose="020B0604020202020204" pitchFamily="34" charset="0"/>
              </a:rPr>
              <a:t>common branch address for all the interrupts</a:t>
            </a:r>
          </a:p>
          <a:p>
            <a:pPr eaLnBrk="1" hangingPunct="1">
              <a:lnSpc>
                <a:spcPct val="101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- </a:t>
            </a:r>
            <a:r>
              <a:rPr lang="en-US" altLang="ko-KR" b="1" dirty="0">
                <a:cs typeface="Arial" panose="020B0604020202020204" pitchFamily="34" charset="0"/>
              </a:rPr>
              <a:t>Priority is established by the order of polling the devices(interrupt sources)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    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	-  </a:t>
            </a:r>
            <a:r>
              <a:rPr lang="en-US" altLang="ko-KR" dirty="0">
                <a:cs typeface="Arial" panose="020B0604020202020204" pitchFamily="34" charset="0"/>
              </a:rPr>
              <a:t>highest priority device is tested first and if interrupt is on ,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-  control branches to service routine for this source otherwise next lower priority source is tested</a:t>
            </a:r>
          </a:p>
        </p:txBody>
      </p:sp>
    </p:spTree>
    <p:extLst>
      <p:ext uri="{BB962C8B-B14F-4D97-AF65-F5344CB8AC3E}">
        <p14:creationId xmlns:p14="http://schemas.microsoft.com/office/powerpoint/2010/main" val="41324918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E822B2-A210-E4E6-B9BD-FD093F58C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val="33624348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0940C0-2B6C-793B-0F04-7F5D14B0D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val="2686449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Priority Interrupts</a:t>
            </a:r>
          </a:p>
        </p:txBody>
      </p:sp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1752600" y="1341439"/>
            <a:ext cx="9067800" cy="2848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1000"/>
              </a:lnSpc>
            </a:pPr>
            <a:endParaRPr lang="en-IN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- Flexible since it is established by software</a:t>
            </a: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- Low cost since it needs a very little hardware</a:t>
            </a: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- Very slow </a:t>
            </a: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- if there are many interrupt time required to poll may exceed time available to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  service IO device </a:t>
            </a:r>
          </a:p>
        </p:txBody>
      </p:sp>
    </p:spTree>
    <p:extLst>
      <p:ext uri="{BB962C8B-B14F-4D97-AF65-F5344CB8AC3E}">
        <p14:creationId xmlns:p14="http://schemas.microsoft.com/office/powerpoint/2010/main" val="26492646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1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Priority Interrupts</a:t>
            </a:r>
          </a:p>
        </p:txBody>
      </p:sp>
      <p:sp>
        <p:nvSpPr>
          <p:cNvPr id="38917" name="Rectangle 3"/>
          <p:cNvSpPr>
            <a:spLocks noChangeArrowheads="1"/>
          </p:cNvSpPr>
          <p:nvPr/>
        </p:nvSpPr>
        <p:spPr bwMode="auto">
          <a:xfrm>
            <a:off x="1752601" y="1341438"/>
            <a:ext cx="8613775" cy="480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u="sng" dirty="0">
                <a:cs typeface="Arial" panose="020B0604020202020204" pitchFamily="34" charset="0"/>
              </a:rPr>
              <a:t>Priority Interrupt  by Hardware</a:t>
            </a: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- Require a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priority interrupt manager</a:t>
            </a:r>
            <a:r>
              <a:rPr lang="en-US" altLang="ko-KR" dirty="0">
                <a:cs typeface="Arial" panose="020B0604020202020204" pitchFamily="34" charset="0"/>
              </a:rPr>
              <a:t> which accepts all the interrupt requests 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    to determine the highest priority request </a:t>
            </a: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- Fast since identification of the highest priority interrupt request is identified by 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  the hardware </a:t>
            </a: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- Fast since each interrupt source has its own interrupt vector to access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  directly to its own service routine</a:t>
            </a: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- Can be addressed using serial or parallel connection of interrupt lines. </a:t>
            </a:r>
          </a:p>
          <a:p>
            <a:pPr eaLnBrk="1" hangingPunct="1">
              <a:lnSpc>
                <a:spcPct val="101000"/>
              </a:lnSpc>
            </a:pPr>
            <a:r>
              <a:rPr lang="en-US" altLang="ko-KR" dirty="0">
                <a:cs typeface="Arial" panose="020B0604020202020204" pitchFamily="34" charset="0"/>
              </a:rPr>
              <a:t>      Example of serial is Daisy chaining Priority  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6046237" y="2724539"/>
            <a:ext cx="9330" cy="578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6050902" y="3745013"/>
            <a:ext cx="9330" cy="578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6041572" y="4873690"/>
            <a:ext cx="9330" cy="578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2946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Hardware Priority Interrupts – Daisy Chain</a:t>
            </a:r>
          </a:p>
        </p:txBody>
      </p:sp>
      <p:grpSp>
        <p:nvGrpSpPr>
          <p:cNvPr id="39941" name="Group 58"/>
          <p:cNvGrpSpPr>
            <a:grpSpLocks/>
          </p:cNvGrpSpPr>
          <p:nvPr/>
        </p:nvGrpSpPr>
        <p:grpSpPr bwMode="auto">
          <a:xfrm>
            <a:off x="1921426" y="1240281"/>
            <a:ext cx="8123308" cy="2590800"/>
            <a:chOff x="500063" y="1006475"/>
            <a:chExt cx="8123519" cy="1835150"/>
          </a:xfrm>
        </p:grpSpPr>
        <p:sp>
          <p:nvSpPr>
            <p:cNvPr id="39943" name="Rectangle 73"/>
            <p:cNvSpPr>
              <a:spLocks noChangeArrowheads="1"/>
            </p:cNvSpPr>
            <p:nvPr/>
          </p:nvSpPr>
          <p:spPr bwMode="auto">
            <a:xfrm>
              <a:off x="865188" y="1327150"/>
              <a:ext cx="678090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Device 1</a:t>
              </a:r>
            </a:p>
          </p:txBody>
        </p:sp>
        <p:sp>
          <p:nvSpPr>
            <p:cNvPr id="39944" name="Rectangle 74"/>
            <p:cNvSpPr>
              <a:spLocks noChangeArrowheads="1"/>
            </p:cNvSpPr>
            <p:nvPr/>
          </p:nvSpPr>
          <p:spPr bwMode="auto">
            <a:xfrm>
              <a:off x="731838" y="1516063"/>
              <a:ext cx="294962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PI</a:t>
              </a:r>
            </a:p>
          </p:txBody>
        </p:sp>
        <p:sp>
          <p:nvSpPr>
            <p:cNvPr id="39945" name="Rectangle 75"/>
            <p:cNvSpPr>
              <a:spLocks noChangeArrowheads="1"/>
            </p:cNvSpPr>
            <p:nvPr/>
          </p:nvSpPr>
          <p:spPr bwMode="auto">
            <a:xfrm>
              <a:off x="1277938" y="1516063"/>
              <a:ext cx="354274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PO</a:t>
              </a:r>
            </a:p>
          </p:txBody>
        </p:sp>
        <p:sp>
          <p:nvSpPr>
            <p:cNvPr id="39946" name="Rectangle 76"/>
            <p:cNvSpPr>
              <a:spLocks noChangeArrowheads="1"/>
            </p:cNvSpPr>
            <p:nvPr/>
          </p:nvSpPr>
          <p:spPr bwMode="auto">
            <a:xfrm>
              <a:off x="782638" y="1349375"/>
              <a:ext cx="838200" cy="5397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39947" name="Rectangle 77"/>
            <p:cNvSpPr>
              <a:spLocks noChangeArrowheads="1"/>
            </p:cNvSpPr>
            <p:nvPr/>
          </p:nvSpPr>
          <p:spPr bwMode="auto">
            <a:xfrm>
              <a:off x="2217738" y="1327150"/>
              <a:ext cx="678090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Device 2</a:t>
              </a:r>
            </a:p>
          </p:txBody>
        </p:sp>
        <p:sp>
          <p:nvSpPr>
            <p:cNvPr id="39948" name="Rectangle 78"/>
            <p:cNvSpPr>
              <a:spLocks noChangeArrowheads="1"/>
            </p:cNvSpPr>
            <p:nvPr/>
          </p:nvSpPr>
          <p:spPr bwMode="auto">
            <a:xfrm>
              <a:off x="2073275" y="1516063"/>
              <a:ext cx="294962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PI</a:t>
              </a:r>
            </a:p>
          </p:txBody>
        </p:sp>
        <p:sp>
          <p:nvSpPr>
            <p:cNvPr id="39949" name="Rectangle 79"/>
            <p:cNvSpPr>
              <a:spLocks noChangeArrowheads="1"/>
            </p:cNvSpPr>
            <p:nvPr/>
          </p:nvSpPr>
          <p:spPr bwMode="auto">
            <a:xfrm>
              <a:off x="2619375" y="1516063"/>
              <a:ext cx="354274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PO</a:t>
              </a:r>
            </a:p>
          </p:txBody>
        </p:sp>
        <p:sp>
          <p:nvSpPr>
            <p:cNvPr id="39950" name="Rectangle 80"/>
            <p:cNvSpPr>
              <a:spLocks noChangeArrowheads="1"/>
            </p:cNvSpPr>
            <p:nvPr/>
          </p:nvSpPr>
          <p:spPr bwMode="auto">
            <a:xfrm>
              <a:off x="2124075" y="1349375"/>
              <a:ext cx="850900" cy="5397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39951" name="Rectangle 81"/>
            <p:cNvSpPr>
              <a:spLocks noChangeArrowheads="1"/>
            </p:cNvSpPr>
            <p:nvPr/>
          </p:nvSpPr>
          <p:spPr bwMode="auto">
            <a:xfrm>
              <a:off x="3556000" y="1327150"/>
              <a:ext cx="678090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Device 3</a:t>
              </a:r>
            </a:p>
          </p:txBody>
        </p:sp>
        <p:sp>
          <p:nvSpPr>
            <p:cNvPr id="39952" name="Rectangle 82"/>
            <p:cNvSpPr>
              <a:spLocks noChangeArrowheads="1"/>
            </p:cNvSpPr>
            <p:nvPr/>
          </p:nvSpPr>
          <p:spPr bwMode="auto">
            <a:xfrm>
              <a:off x="3425825" y="1516063"/>
              <a:ext cx="294962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PI</a:t>
              </a:r>
            </a:p>
          </p:txBody>
        </p:sp>
        <p:sp>
          <p:nvSpPr>
            <p:cNvPr id="39953" name="Rectangle 83"/>
            <p:cNvSpPr>
              <a:spLocks noChangeArrowheads="1"/>
            </p:cNvSpPr>
            <p:nvPr/>
          </p:nvSpPr>
          <p:spPr bwMode="auto">
            <a:xfrm>
              <a:off x="3973513" y="1516063"/>
              <a:ext cx="354274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PO</a:t>
              </a:r>
            </a:p>
          </p:txBody>
        </p:sp>
        <p:sp>
          <p:nvSpPr>
            <p:cNvPr id="39954" name="Rectangle 84"/>
            <p:cNvSpPr>
              <a:spLocks noChangeArrowheads="1"/>
            </p:cNvSpPr>
            <p:nvPr/>
          </p:nvSpPr>
          <p:spPr bwMode="auto">
            <a:xfrm>
              <a:off x="3463925" y="1349375"/>
              <a:ext cx="850900" cy="5397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39955" name="Arc 85"/>
            <p:cNvSpPr>
              <a:spLocks/>
            </p:cNvSpPr>
            <p:nvPr/>
          </p:nvSpPr>
          <p:spPr bwMode="auto">
            <a:xfrm>
              <a:off x="2005013" y="1608138"/>
              <a:ext cx="112712" cy="82550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56" name="Line 86"/>
            <p:cNvSpPr>
              <a:spLocks noChangeShapeType="1"/>
            </p:cNvSpPr>
            <p:nvPr/>
          </p:nvSpPr>
          <p:spPr bwMode="auto">
            <a:xfrm>
              <a:off x="1639888" y="1652588"/>
              <a:ext cx="384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7" name="Arc 87"/>
            <p:cNvSpPr>
              <a:spLocks/>
            </p:cNvSpPr>
            <p:nvPr/>
          </p:nvSpPr>
          <p:spPr bwMode="auto">
            <a:xfrm>
              <a:off x="3346450" y="1608138"/>
              <a:ext cx="112713" cy="82550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58" name="Line 88"/>
            <p:cNvSpPr>
              <a:spLocks noChangeShapeType="1"/>
            </p:cNvSpPr>
            <p:nvPr/>
          </p:nvSpPr>
          <p:spPr bwMode="auto">
            <a:xfrm>
              <a:off x="2982913" y="1652588"/>
              <a:ext cx="3730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9" name="Arc 89"/>
            <p:cNvSpPr>
              <a:spLocks/>
            </p:cNvSpPr>
            <p:nvPr/>
          </p:nvSpPr>
          <p:spPr bwMode="auto">
            <a:xfrm>
              <a:off x="4568825" y="1612900"/>
              <a:ext cx="112713" cy="82550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60" name="Line 90"/>
            <p:cNvSpPr>
              <a:spLocks noChangeShapeType="1"/>
            </p:cNvSpPr>
            <p:nvPr/>
          </p:nvSpPr>
          <p:spPr bwMode="auto">
            <a:xfrm>
              <a:off x="4332288" y="1652588"/>
              <a:ext cx="250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1" name="Arc 91"/>
            <p:cNvSpPr>
              <a:spLocks/>
            </p:cNvSpPr>
            <p:nvPr/>
          </p:nvSpPr>
          <p:spPr bwMode="auto">
            <a:xfrm>
              <a:off x="669925" y="1608138"/>
              <a:ext cx="111125" cy="82550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62" name="Line 92"/>
            <p:cNvSpPr>
              <a:spLocks noChangeShapeType="1"/>
            </p:cNvSpPr>
            <p:nvPr/>
          </p:nvSpPr>
          <p:spPr bwMode="auto">
            <a:xfrm>
              <a:off x="500063" y="1647825"/>
              <a:ext cx="174625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3" name="Line 93"/>
            <p:cNvSpPr>
              <a:spLocks noChangeShapeType="1"/>
            </p:cNvSpPr>
            <p:nvPr/>
          </p:nvSpPr>
          <p:spPr bwMode="auto">
            <a:xfrm>
              <a:off x="503238" y="1658938"/>
              <a:ext cx="0" cy="1022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4" name="Line 94"/>
            <p:cNvSpPr>
              <a:spLocks noChangeShapeType="1"/>
            </p:cNvSpPr>
            <p:nvPr/>
          </p:nvSpPr>
          <p:spPr bwMode="auto">
            <a:xfrm>
              <a:off x="1239838" y="1893888"/>
              <a:ext cx="0" cy="403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5" name="Line 95"/>
            <p:cNvSpPr>
              <a:spLocks noChangeShapeType="1"/>
            </p:cNvSpPr>
            <p:nvPr/>
          </p:nvSpPr>
          <p:spPr bwMode="auto">
            <a:xfrm flipH="1">
              <a:off x="2590800" y="1889125"/>
              <a:ext cx="0" cy="4079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6" name="Line 96"/>
            <p:cNvSpPr>
              <a:spLocks noChangeShapeType="1"/>
            </p:cNvSpPr>
            <p:nvPr/>
          </p:nvSpPr>
          <p:spPr bwMode="auto">
            <a:xfrm>
              <a:off x="3933825" y="1898650"/>
              <a:ext cx="0" cy="384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7" name="Line 97"/>
            <p:cNvSpPr>
              <a:spLocks noChangeShapeType="1"/>
            </p:cNvSpPr>
            <p:nvPr/>
          </p:nvSpPr>
          <p:spPr bwMode="auto">
            <a:xfrm>
              <a:off x="1235075" y="2289175"/>
              <a:ext cx="36258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8" name="Line 98"/>
            <p:cNvSpPr>
              <a:spLocks noChangeShapeType="1"/>
            </p:cNvSpPr>
            <p:nvPr/>
          </p:nvSpPr>
          <p:spPr bwMode="auto">
            <a:xfrm>
              <a:off x="511175" y="2667000"/>
              <a:ext cx="4349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9" name="Rectangle 99"/>
            <p:cNvSpPr>
              <a:spLocks noChangeArrowheads="1"/>
            </p:cNvSpPr>
            <p:nvPr/>
          </p:nvSpPr>
          <p:spPr bwMode="auto">
            <a:xfrm>
              <a:off x="4854575" y="1971675"/>
              <a:ext cx="741363" cy="8699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39970" name="Rectangle 100"/>
            <p:cNvSpPr>
              <a:spLocks noChangeArrowheads="1"/>
            </p:cNvSpPr>
            <p:nvPr/>
          </p:nvSpPr>
          <p:spPr bwMode="auto">
            <a:xfrm>
              <a:off x="4808538" y="2147888"/>
              <a:ext cx="383129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</a:t>
              </a:r>
            </a:p>
          </p:txBody>
        </p:sp>
        <p:sp>
          <p:nvSpPr>
            <p:cNvPr id="39971" name="Rectangle 101"/>
            <p:cNvSpPr>
              <a:spLocks noChangeArrowheads="1"/>
            </p:cNvSpPr>
            <p:nvPr/>
          </p:nvSpPr>
          <p:spPr bwMode="auto">
            <a:xfrm>
              <a:off x="4805363" y="2560638"/>
              <a:ext cx="620380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INTACK</a:t>
              </a:r>
            </a:p>
          </p:txBody>
        </p:sp>
        <p:sp>
          <p:nvSpPr>
            <p:cNvPr id="39972" name="Rectangle 102"/>
            <p:cNvSpPr>
              <a:spLocks noChangeArrowheads="1"/>
            </p:cNvSpPr>
            <p:nvPr/>
          </p:nvSpPr>
          <p:spPr bwMode="auto">
            <a:xfrm>
              <a:off x="1752600" y="2028825"/>
              <a:ext cx="1504747" cy="216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Interrupt  request</a:t>
              </a:r>
            </a:p>
          </p:txBody>
        </p:sp>
        <p:sp>
          <p:nvSpPr>
            <p:cNvPr id="39973" name="Rectangle 103"/>
            <p:cNvSpPr>
              <a:spLocks noChangeArrowheads="1"/>
            </p:cNvSpPr>
            <p:nvPr/>
          </p:nvSpPr>
          <p:spPr bwMode="auto">
            <a:xfrm>
              <a:off x="1797050" y="2432050"/>
              <a:ext cx="1876782" cy="216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Interrupt acknowledge</a:t>
              </a:r>
            </a:p>
          </p:txBody>
        </p:sp>
        <p:sp>
          <p:nvSpPr>
            <p:cNvPr id="39974" name="Arc 104"/>
            <p:cNvSpPr>
              <a:spLocks/>
            </p:cNvSpPr>
            <p:nvPr/>
          </p:nvSpPr>
          <p:spPr bwMode="auto">
            <a:xfrm>
              <a:off x="1193800" y="1006475"/>
              <a:ext cx="88900" cy="106363"/>
            </a:xfrm>
            <a:custGeom>
              <a:avLst/>
              <a:gdLst>
                <a:gd name="T0" fmla="*/ 2147483647 w 17514"/>
                <a:gd name="T1" fmla="*/ 2147483647 h 21600"/>
                <a:gd name="T2" fmla="*/ 0 w 17514"/>
                <a:gd name="T3" fmla="*/ 2147483647 h 21600"/>
                <a:gd name="T4" fmla="*/ 2147483647 w 1751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514"/>
                <a:gd name="T10" fmla="*/ 0 h 21600"/>
                <a:gd name="T11" fmla="*/ 17514 w 175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514" h="21600" fill="none" extrusionOk="0">
                  <a:moveTo>
                    <a:pt x="17513" y="19803"/>
                  </a:moveTo>
                  <a:cubicBezTo>
                    <a:pt x="14793" y="20988"/>
                    <a:pt x="11857" y="21599"/>
                    <a:pt x="8890" y="21600"/>
                  </a:cubicBezTo>
                  <a:cubicBezTo>
                    <a:pt x="5824" y="21600"/>
                    <a:pt x="2793" y="20947"/>
                    <a:pt x="0" y="19685"/>
                  </a:cubicBezTo>
                </a:path>
                <a:path w="17514" h="21600" stroke="0" extrusionOk="0">
                  <a:moveTo>
                    <a:pt x="17513" y="19803"/>
                  </a:moveTo>
                  <a:cubicBezTo>
                    <a:pt x="14793" y="20988"/>
                    <a:pt x="11857" y="21599"/>
                    <a:pt x="8890" y="21600"/>
                  </a:cubicBezTo>
                  <a:cubicBezTo>
                    <a:pt x="5824" y="21600"/>
                    <a:pt x="2793" y="20947"/>
                    <a:pt x="0" y="19685"/>
                  </a:cubicBezTo>
                  <a:lnTo>
                    <a:pt x="8890" y="0"/>
                  </a:lnTo>
                  <a:lnTo>
                    <a:pt x="17513" y="198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75" name="Line 105"/>
            <p:cNvSpPr>
              <a:spLocks noChangeShapeType="1"/>
            </p:cNvSpPr>
            <p:nvPr/>
          </p:nvSpPr>
          <p:spPr bwMode="auto">
            <a:xfrm flipV="1">
              <a:off x="1239838" y="108902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76" name="Arc 106"/>
            <p:cNvSpPr>
              <a:spLocks/>
            </p:cNvSpPr>
            <p:nvPr/>
          </p:nvSpPr>
          <p:spPr bwMode="auto">
            <a:xfrm>
              <a:off x="2546350" y="1006475"/>
              <a:ext cx="90488" cy="106363"/>
            </a:xfrm>
            <a:custGeom>
              <a:avLst/>
              <a:gdLst>
                <a:gd name="T0" fmla="*/ 2147483647 w 17514"/>
                <a:gd name="T1" fmla="*/ 2147483647 h 21600"/>
                <a:gd name="T2" fmla="*/ 0 w 17514"/>
                <a:gd name="T3" fmla="*/ 2147483647 h 21600"/>
                <a:gd name="T4" fmla="*/ 2147483647 w 1751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514"/>
                <a:gd name="T10" fmla="*/ 0 h 21600"/>
                <a:gd name="T11" fmla="*/ 17514 w 175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514" h="21600" fill="none" extrusionOk="0">
                  <a:moveTo>
                    <a:pt x="17513" y="19803"/>
                  </a:moveTo>
                  <a:cubicBezTo>
                    <a:pt x="14793" y="20988"/>
                    <a:pt x="11857" y="21599"/>
                    <a:pt x="8890" y="21600"/>
                  </a:cubicBezTo>
                  <a:cubicBezTo>
                    <a:pt x="5824" y="21600"/>
                    <a:pt x="2793" y="20947"/>
                    <a:pt x="0" y="19685"/>
                  </a:cubicBezTo>
                </a:path>
                <a:path w="17514" h="21600" stroke="0" extrusionOk="0">
                  <a:moveTo>
                    <a:pt x="17513" y="19803"/>
                  </a:moveTo>
                  <a:cubicBezTo>
                    <a:pt x="14793" y="20988"/>
                    <a:pt x="11857" y="21599"/>
                    <a:pt x="8890" y="21600"/>
                  </a:cubicBezTo>
                  <a:cubicBezTo>
                    <a:pt x="5824" y="21600"/>
                    <a:pt x="2793" y="20947"/>
                    <a:pt x="0" y="19685"/>
                  </a:cubicBezTo>
                  <a:lnTo>
                    <a:pt x="8890" y="0"/>
                  </a:lnTo>
                  <a:lnTo>
                    <a:pt x="17513" y="198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77" name="Line 107"/>
            <p:cNvSpPr>
              <a:spLocks noChangeShapeType="1"/>
            </p:cNvSpPr>
            <p:nvPr/>
          </p:nvSpPr>
          <p:spPr bwMode="auto">
            <a:xfrm flipV="1">
              <a:off x="2590800" y="108902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78" name="Arc 108"/>
            <p:cNvSpPr>
              <a:spLocks/>
            </p:cNvSpPr>
            <p:nvPr/>
          </p:nvSpPr>
          <p:spPr bwMode="auto">
            <a:xfrm>
              <a:off x="3887788" y="1006475"/>
              <a:ext cx="90487" cy="106363"/>
            </a:xfrm>
            <a:custGeom>
              <a:avLst/>
              <a:gdLst>
                <a:gd name="T0" fmla="*/ 2147483647 w 17514"/>
                <a:gd name="T1" fmla="*/ 2147483647 h 21600"/>
                <a:gd name="T2" fmla="*/ 0 w 17514"/>
                <a:gd name="T3" fmla="*/ 2147483647 h 21600"/>
                <a:gd name="T4" fmla="*/ 2147483647 w 1751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514"/>
                <a:gd name="T10" fmla="*/ 0 h 21600"/>
                <a:gd name="T11" fmla="*/ 17514 w 175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514" h="21600" fill="none" extrusionOk="0">
                  <a:moveTo>
                    <a:pt x="17513" y="19803"/>
                  </a:moveTo>
                  <a:cubicBezTo>
                    <a:pt x="14793" y="20988"/>
                    <a:pt x="11857" y="21599"/>
                    <a:pt x="8890" y="21600"/>
                  </a:cubicBezTo>
                  <a:cubicBezTo>
                    <a:pt x="5824" y="21600"/>
                    <a:pt x="2793" y="20947"/>
                    <a:pt x="0" y="19685"/>
                  </a:cubicBezTo>
                </a:path>
                <a:path w="17514" h="21600" stroke="0" extrusionOk="0">
                  <a:moveTo>
                    <a:pt x="17513" y="19803"/>
                  </a:moveTo>
                  <a:cubicBezTo>
                    <a:pt x="14793" y="20988"/>
                    <a:pt x="11857" y="21599"/>
                    <a:pt x="8890" y="21600"/>
                  </a:cubicBezTo>
                  <a:cubicBezTo>
                    <a:pt x="5824" y="21600"/>
                    <a:pt x="2793" y="20947"/>
                    <a:pt x="0" y="19685"/>
                  </a:cubicBezTo>
                  <a:lnTo>
                    <a:pt x="8890" y="0"/>
                  </a:lnTo>
                  <a:lnTo>
                    <a:pt x="17513" y="198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79" name="Line 109"/>
            <p:cNvSpPr>
              <a:spLocks noChangeShapeType="1"/>
            </p:cNvSpPr>
            <p:nvPr/>
          </p:nvSpPr>
          <p:spPr bwMode="auto">
            <a:xfrm flipV="1">
              <a:off x="3933825" y="1089025"/>
              <a:ext cx="0" cy="257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0" name="Line 110"/>
            <p:cNvSpPr>
              <a:spLocks noChangeShapeType="1"/>
            </p:cNvSpPr>
            <p:nvPr/>
          </p:nvSpPr>
          <p:spPr bwMode="auto">
            <a:xfrm>
              <a:off x="1244600" y="1017588"/>
              <a:ext cx="40449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1" name="Arc 111"/>
            <p:cNvSpPr>
              <a:spLocks/>
            </p:cNvSpPr>
            <p:nvPr/>
          </p:nvSpPr>
          <p:spPr bwMode="auto">
            <a:xfrm>
              <a:off x="5246688" y="1849438"/>
              <a:ext cx="90487" cy="104775"/>
            </a:xfrm>
            <a:custGeom>
              <a:avLst/>
              <a:gdLst>
                <a:gd name="T0" fmla="*/ 0 w 17282"/>
                <a:gd name="T1" fmla="*/ 2147483647 h 21600"/>
                <a:gd name="T2" fmla="*/ 2147483647 w 17282"/>
                <a:gd name="T3" fmla="*/ 2147483647 h 21600"/>
                <a:gd name="T4" fmla="*/ 2147483647 w 17282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82"/>
                <a:gd name="T10" fmla="*/ 0 h 21600"/>
                <a:gd name="T11" fmla="*/ 17282 w 17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lnTo>
                    <a:pt x="-1" y="18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82" name="Rectangle 113"/>
            <p:cNvSpPr>
              <a:spLocks noChangeArrowheads="1"/>
            </p:cNvSpPr>
            <p:nvPr/>
          </p:nvSpPr>
          <p:spPr bwMode="auto">
            <a:xfrm>
              <a:off x="4576763" y="1460500"/>
              <a:ext cx="620380" cy="303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To next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39983" name="Rectangle 114"/>
            <p:cNvSpPr>
              <a:spLocks noChangeArrowheads="1"/>
            </p:cNvSpPr>
            <p:nvPr/>
          </p:nvSpPr>
          <p:spPr bwMode="auto">
            <a:xfrm>
              <a:off x="4576763" y="1617663"/>
              <a:ext cx="561067" cy="18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device</a:t>
              </a:r>
            </a:p>
          </p:txBody>
        </p:sp>
        <p:sp>
          <p:nvSpPr>
            <p:cNvPr id="39984" name="Rectangle 115"/>
            <p:cNvSpPr>
              <a:spLocks noChangeArrowheads="1"/>
            </p:cNvSpPr>
            <p:nvPr/>
          </p:nvSpPr>
          <p:spPr bwMode="auto">
            <a:xfrm>
              <a:off x="5032375" y="2271713"/>
              <a:ext cx="490533" cy="216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CPU</a:t>
              </a:r>
            </a:p>
          </p:txBody>
        </p:sp>
        <p:sp>
          <p:nvSpPr>
            <p:cNvPr id="39985" name="Rectangle 116"/>
            <p:cNvSpPr>
              <a:spLocks noChangeArrowheads="1"/>
            </p:cNvSpPr>
            <p:nvPr/>
          </p:nvSpPr>
          <p:spPr bwMode="auto">
            <a:xfrm>
              <a:off x="1181100" y="1047750"/>
              <a:ext cx="633267" cy="216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VAD 1</a:t>
              </a:r>
            </a:p>
          </p:txBody>
        </p:sp>
        <p:sp>
          <p:nvSpPr>
            <p:cNvPr id="39986" name="Rectangle 117"/>
            <p:cNvSpPr>
              <a:spLocks noChangeArrowheads="1"/>
            </p:cNvSpPr>
            <p:nvPr/>
          </p:nvSpPr>
          <p:spPr bwMode="auto">
            <a:xfrm>
              <a:off x="2547938" y="1038225"/>
              <a:ext cx="633267" cy="216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VAD 2</a:t>
              </a:r>
            </a:p>
          </p:txBody>
        </p:sp>
        <p:sp>
          <p:nvSpPr>
            <p:cNvPr id="39987" name="Rectangle 118"/>
            <p:cNvSpPr>
              <a:spLocks noChangeArrowheads="1"/>
            </p:cNvSpPr>
            <p:nvPr/>
          </p:nvSpPr>
          <p:spPr bwMode="auto">
            <a:xfrm>
              <a:off x="3900488" y="1038225"/>
              <a:ext cx="633267" cy="216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VAD 3</a:t>
              </a:r>
            </a:p>
          </p:txBody>
        </p:sp>
        <p:sp>
          <p:nvSpPr>
            <p:cNvPr id="39988" name="Line 124"/>
            <p:cNvSpPr>
              <a:spLocks noChangeShapeType="1"/>
            </p:cNvSpPr>
            <p:nvPr/>
          </p:nvSpPr>
          <p:spPr bwMode="auto">
            <a:xfrm flipV="1">
              <a:off x="5289550" y="1027113"/>
              <a:ext cx="0" cy="835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9" name="Rectangle 137"/>
            <p:cNvSpPr>
              <a:spLocks noChangeArrowheads="1"/>
            </p:cNvSpPr>
            <p:nvPr/>
          </p:nvSpPr>
          <p:spPr bwMode="auto">
            <a:xfrm>
              <a:off x="5876925" y="1119188"/>
              <a:ext cx="2746657" cy="1024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* Serial hardware priority function</a:t>
              </a:r>
            </a:p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* Interrupt Request Line </a:t>
              </a:r>
            </a:p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	- Single common line</a:t>
              </a:r>
            </a:p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* Interrupt Acknowledge Line </a:t>
              </a:r>
            </a:p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	- Daisy-Chain</a:t>
              </a:r>
            </a:p>
            <a:p>
              <a:pPr eaLnBrk="1" hangingPunct="1"/>
              <a:endParaRPr lang="en-US" altLang="ko-KR" b="1">
                <a:latin typeface="Calibri" panose="020F0502020204030204" pitchFamily="34" charset="0"/>
              </a:endParaRPr>
            </a:p>
          </p:txBody>
        </p:sp>
      </p:grpSp>
      <p:sp>
        <p:nvSpPr>
          <p:cNvPr id="39942" name="Rectangle 122"/>
          <p:cNvSpPr>
            <a:spLocks noChangeArrowheads="1"/>
          </p:cNvSpPr>
          <p:nvPr/>
        </p:nvSpPr>
        <p:spPr bwMode="auto">
          <a:xfrm>
            <a:off x="1511559" y="3858069"/>
            <a:ext cx="9088017" cy="2798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Char char="-"/>
            </a:pPr>
            <a:r>
              <a:rPr lang="en-US" altLang="ko-KR" sz="1600" dirty="0">
                <a:cs typeface="Arial" panose="020B0604020202020204" pitchFamily="34" charset="0"/>
              </a:rPr>
              <a:t>Serial connection of all device that request an interrupt</a:t>
            </a:r>
          </a:p>
          <a:p>
            <a:pPr eaLnBrk="1" hangingPunct="1">
              <a:buFontTx/>
              <a:buChar char="-"/>
            </a:pPr>
            <a:endParaRPr lang="en-US" altLang="ko-KR" sz="1600" dirty="0">
              <a:cs typeface="Arial" panose="020B0604020202020204" pitchFamily="34" charset="0"/>
            </a:endParaRPr>
          </a:p>
          <a:p>
            <a:pPr eaLnBrk="1" hangingPunct="1">
              <a:buFontTx/>
              <a:buChar char="-"/>
            </a:pPr>
            <a:r>
              <a:rPr lang="en-US" altLang="ko-KR" sz="1600" dirty="0">
                <a:cs typeface="Arial" panose="020B0604020202020204" pitchFamily="34" charset="0"/>
              </a:rPr>
              <a:t>Device with highest priority placed in first position followed by devices with lower priority and so on.</a:t>
            </a:r>
          </a:p>
          <a:p>
            <a:pPr eaLnBrk="1" hangingPunct="1"/>
            <a:endParaRPr lang="en-US" altLang="ko-KR" sz="1600" dirty="0">
              <a:cs typeface="Arial" panose="020B0604020202020204" pitchFamily="34" charset="0"/>
            </a:endParaRPr>
          </a:p>
          <a:p>
            <a:pPr eaLnBrk="1" hangingPunct="1">
              <a:buFontTx/>
              <a:buChar char="-"/>
            </a:pPr>
            <a:r>
              <a:rPr lang="en-US" altLang="ko-KR" sz="1600" dirty="0">
                <a:cs typeface="Arial" panose="020B0604020202020204" pitchFamily="34" charset="0"/>
              </a:rPr>
              <a:t>Interrupt generated by any device </a:t>
            </a:r>
            <a:r>
              <a:rPr lang="en-US" altLang="ko-KR" sz="1600" dirty="0">
                <a:cs typeface="Arial" panose="020B0604020202020204" pitchFamily="34" charset="0"/>
                <a:sym typeface="Wingdings" panose="05000000000000000000" pitchFamily="2" charset="2"/>
              </a:rPr>
              <a:t> signals low state interrupt line</a:t>
            </a:r>
          </a:p>
          <a:p>
            <a:pPr eaLnBrk="1" hangingPunct="1">
              <a:buFontTx/>
              <a:buChar char="-"/>
            </a:pPr>
            <a:endParaRPr lang="en-US" altLang="ko-KR" sz="1600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Tx/>
              <a:buChar char="-"/>
            </a:pPr>
            <a:r>
              <a:rPr lang="en-US" altLang="ko-KR" sz="1600" dirty="0">
                <a:cs typeface="Arial" panose="020B0604020202020204" pitchFamily="34" charset="0"/>
                <a:sym typeface="Wingdings" panose="05000000000000000000" pitchFamily="2" charset="2"/>
              </a:rPr>
              <a:t>CPU responds by enabling interrupt acknowledgement (INTACK) line.</a:t>
            </a:r>
          </a:p>
          <a:p>
            <a:pPr eaLnBrk="1" hangingPunct="1">
              <a:buFontTx/>
              <a:buChar char="-"/>
            </a:pPr>
            <a:endParaRPr lang="en-US" altLang="ko-KR" sz="1600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Tx/>
              <a:buChar char="-"/>
            </a:pPr>
            <a:r>
              <a:rPr lang="en-US" altLang="ko-KR" sz="1600" dirty="0">
                <a:cs typeface="Arial" panose="020B0604020202020204" pitchFamily="34" charset="0"/>
                <a:sym typeface="Wingdings" panose="05000000000000000000" pitchFamily="2" charset="2"/>
              </a:rPr>
              <a:t> device receives PI=1 and passes to next only when not requesting else PI=0</a:t>
            </a:r>
          </a:p>
          <a:p>
            <a:pPr eaLnBrk="1" hangingPunct="1">
              <a:buFontTx/>
              <a:buChar char="-"/>
            </a:pPr>
            <a:endParaRPr lang="en-US" altLang="ko-KR" sz="1600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Tx/>
              <a:buChar char="-"/>
            </a:pPr>
            <a:r>
              <a:rPr lang="en-US" altLang="ko-KR" sz="1600" dirty="0">
                <a:cs typeface="Arial" panose="020B0604020202020204" pitchFamily="34" charset="0"/>
                <a:sym typeface="Wingdings" panose="05000000000000000000" pitchFamily="2" charset="2"/>
              </a:rPr>
              <a:t>Thus device with PI=1 and PO=0 is one with highest priority requesting interrupt</a:t>
            </a:r>
            <a:endParaRPr lang="en-US" altLang="ko-KR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2166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D17B56-BF06-0216-A6AF-0EFA292A6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val="19074208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Hardware Priority Interrupts – Daisy Chain</a:t>
            </a:r>
          </a:p>
        </p:txBody>
      </p:sp>
      <p:pic>
        <p:nvPicPr>
          <p:cNvPr id="4096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952626"/>
            <a:ext cx="838200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54"/>
          <p:cNvSpPr txBox="1">
            <a:spLocks noChangeArrowheads="1"/>
          </p:cNvSpPr>
          <p:nvPr/>
        </p:nvSpPr>
        <p:spPr bwMode="auto">
          <a:xfrm>
            <a:off x="2057400" y="1447800"/>
            <a:ext cx="434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Example: Daisy chain working</a:t>
            </a:r>
          </a:p>
        </p:txBody>
      </p:sp>
    </p:spTree>
    <p:extLst>
      <p:ext uri="{BB962C8B-B14F-4D97-AF65-F5344CB8AC3E}">
        <p14:creationId xmlns:p14="http://schemas.microsoft.com/office/powerpoint/2010/main" val="23566942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8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Hardware Priority Interrupts – Daisy Chain</a:t>
            </a:r>
          </a:p>
        </p:txBody>
      </p:sp>
      <p:pic>
        <p:nvPicPr>
          <p:cNvPr id="4198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668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25215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Parallel Priority Interrupts</a:t>
            </a:r>
          </a:p>
        </p:txBody>
      </p:sp>
      <p:grpSp>
        <p:nvGrpSpPr>
          <p:cNvPr id="43013" name="Group 211"/>
          <p:cNvGrpSpPr>
            <a:grpSpLocks/>
          </p:cNvGrpSpPr>
          <p:nvPr/>
        </p:nvGrpSpPr>
        <p:grpSpPr bwMode="auto">
          <a:xfrm>
            <a:off x="2149475" y="1363664"/>
            <a:ext cx="6237288" cy="3436937"/>
            <a:chOff x="394" y="489"/>
            <a:chExt cx="3929" cy="2165"/>
          </a:xfrm>
        </p:grpSpPr>
        <p:sp>
          <p:nvSpPr>
            <p:cNvPr id="43015" name="Rectangle 5"/>
            <p:cNvSpPr>
              <a:spLocks noChangeArrowheads="1"/>
            </p:cNvSpPr>
            <p:nvPr/>
          </p:nvSpPr>
          <p:spPr bwMode="auto">
            <a:xfrm>
              <a:off x="394" y="1385"/>
              <a:ext cx="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43016" name="Rectangle 6"/>
            <p:cNvSpPr>
              <a:spLocks noChangeArrowheads="1"/>
            </p:cNvSpPr>
            <p:nvPr/>
          </p:nvSpPr>
          <p:spPr bwMode="auto">
            <a:xfrm>
              <a:off x="965" y="1831"/>
              <a:ext cx="317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Mask</a:t>
              </a:r>
            </a:p>
            <a:p>
              <a:pPr eaLnBrk="1" latinLnBrk="1" hangingPunct="1"/>
              <a:endParaRPr lang="en-US" altLang="ko-KR" sz="1100">
                <a:cs typeface="Arial" panose="020B0604020202020204" pitchFamily="34" charset="0"/>
              </a:endParaRPr>
            </a:p>
          </p:txBody>
        </p:sp>
        <p:sp>
          <p:nvSpPr>
            <p:cNvPr id="43017" name="Rectangle 7"/>
            <p:cNvSpPr>
              <a:spLocks noChangeArrowheads="1"/>
            </p:cNvSpPr>
            <p:nvPr/>
          </p:nvSpPr>
          <p:spPr bwMode="auto">
            <a:xfrm>
              <a:off x="917" y="1910"/>
              <a:ext cx="401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43018" name="Rectangle 8"/>
            <p:cNvSpPr>
              <a:spLocks noChangeArrowheads="1"/>
            </p:cNvSpPr>
            <p:nvPr/>
          </p:nvSpPr>
          <p:spPr bwMode="auto">
            <a:xfrm>
              <a:off x="3855" y="2388"/>
              <a:ext cx="43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INTACK</a:t>
              </a:r>
            </a:p>
            <a:p>
              <a:pPr eaLnBrk="1" hangingPunct="1"/>
              <a:endParaRPr lang="en-US" altLang="ko-KR" sz="1100">
                <a:cs typeface="Arial" panose="020B0604020202020204" pitchFamily="34" charset="0"/>
              </a:endParaRPr>
            </a:p>
          </p:txBody>
        </p:sp>
        <p:sp>
          <p:nvSpPr>
            <p:cNvPr id="43019" name="Rectangle 9"/>
            <p:cNvSpPr>
              <a:spLocks noChangeArrowheads="1"/>
            </p:cNvSpPr>
            <p:nvPr/>
          </p:nvSpPr>
          <p:spPr bwMode="auto">
            <a:xfrm>
              <a:off x="3828" y="2477"/>
              <a:ext cx="495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from CPU</a:t>
              </a:r>
            </a:p>
          </p:txBody>
        </p:sp>
        <p:grpSp>
          <p:nvGrpSpPr>
            <p:cNvPr id="43020" name="Group 178"/>
            <p:cNvGrpSpPr>
              <a:grpSpLocks/>
            </p:cNvGrpSpPr>
            <p:nvPr/>
          </p:nvGrpSpPr>
          <p:grpSpPr bwMode="auto">
            <a:xfrm>
              <a:off x="2222" y="882"/>
              <a:ext cx="209" cy="165"/>
              <a:chOff x="1966" y="1414"/>
              <a:chExt cx="193" cy="165"/>
            </a:xfrm>
          </p:grpSpPr>
          <p:sp>
            <p:nvSpPr>
              <p:cNvPr id="43179" name="Line 10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80" name="Line 11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81" name="Arc 12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82" name="Arc 13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lnTo>
                      <a:pt x="2178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83" name="Line 14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021" name="Line 16"/>
            <p:cNvSpPr>
              <a:spLocks noChangeShapeType="1"/>
            </p:cNvSpPr>
            <p:nvPr/>
          </p:nvSpPr>
          <p:spPr bwMode="auto">
            <a:xfrm>
              <a:off x="2449" y="774"/>
              <a:ext cx="14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2" name="Line 17"/>
            <p:cNvSpPr>
              <a:spLocks noChangeShapeType="1"/>
            </p:cNvSpPr>
            <p:nvPr/>
          </p:nvSpPr>
          <p:spPr bwMode="auto">
            <a:xfrm flipH="1">
              <a:off x="1593" y="736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3" name="Line 18"/>
            <p:cNvSpPr>
              <a:spLocks noChangeShapeType="1"/>
            </p:cNvSpPr>
            <p:nvPr/>
          </p:nvSpPr>
          <p:spPr bwMode="auto">
            <a:xfrm flipH="1">
              <a:off x="1821" y="811"/>
              <a:ext cx="41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4" name="Line 25"/>
            <p:cNvSpPr>
              <a:spLocks noChangeShapeType="1"/>
            </p:cNvSpPr>
            <p:nvPr/>
          </p:nvSpPr>
          <p:spPr bwMode="auto">
            <a:xfrm flipV="1">
              <a:off x="2436" y="988"/>
              <a:ext cx="158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5" name="Line 26"/>
            <p:cNvSpPr>
              <a:spLocks noChangeShapeType="1"/>
            </p:cNvSpPr>
            <p:nvPr/>
          </p:nvSpPr>
          <p:spPr bwMode="auto">
            <a:xfrm flipH="1">
              <a:off x="1593" y="952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6" name="Line 27"/>
            <p:cNvSpPr>
              <a:spLocks noChangeShapeType="1"/>
            </p:cNvSpPr>
            <p:nvPr/>
          </p:nvSpPr>
          <p:spPr bwMode="auto">
            <a:xfrm flipH="1">
              <a:off x="1908" y="1026"/>
              <a:ext cx="33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7" name="Line 34"/>
            <p:cNvSpPr>
              <a:spLocks noChangeShapeType="1"/>
            </p:cNvSpPr>
            <p:nvPr/>
          </p:nvSpPr>
          <p:spPr bwMode="auto">
            <a:xfrm flipV="1">
              <a:off x="2449" y="1204"/>
              <a:ext cx="139" cy="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8" name="Line 35"/>
            <p:cNvSpPr>
              <a:spLocks noChangeShapeType="1"/>
            </p:cNvSpPr>
            <p:nvPr/>
          </p:nvSpPr>
          <p:spPr bwMode="auto">
            <a:xfrm flipH="1">
              <a:off x="1593" y="1166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9" name="Line 36"/>
            <p:cNvSpPr>
              <a:spLocks noChangeShapeType="1"/>
            </p:cNvSpPr>
            <p:nvPr/>
          </p:nvSpPr>
          <p:spPr bwMode="auto">
            <a:xfrm flipH="1">
              <a:off x="1993" y="1242"/>
              <a:ext cx="2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30" name="Line 43"/>
            <p:cNvSpPr>
              <a:spLocks noChangeShapeType="1"/>
            </p:cNvSpPr>
            <p:nvPr/>
          </p:nvSpPr>
          <p:spPr bwMode="auto">
            <a:xfrm>
              <a:off x="2439" y="1419"/>
              <a:ext cx="15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31" name="Line 44"/>
            <p:cNvSpPr>
              <a:spLocks noChangeShapeType="1"/>
            </p:cNvSpPr>
            <p:nvPr/>
          </p:nvSpPr>
          <p:spPr bwMode="auto">
            <a:xfrm flipH="1">
              <a:off x="1593" y="1380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32" name="Line 45"/>
            <p:cNvSpPr>
              <a:spLocks noChangeShapeType="1"/>
            </p:cNvSpPr>
            <p:nvPr/>
          </p:nvSpPr>
          <p:spPr bwMode="auto">
            <a:xfrm flipH="1">
              <a:off x="2087" y="1456"/>
              <a:ext cx="15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33" name="Rectangle 46"/>
            <p:cNvSpPr>
              <a:spLocks noChangeArrowheads="1"/>
            </p:cNvSpPr>
            <p:nvPr/>
          </p:nvSpPr>
          <p:spPr bwMode="auto">
            <a:xfrm>
              <a:off x="2592" y="670"/>
              <a:ext cx="517" cy="84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43034" name="Rectangle 47"/>
            <p:cNvSpPr>
              <a:spLocks noChangeArrowheads="1"/>
            </p:cNvSpPr>
            <p:nvPr/>
          </p:nvSpPr>
          <p:spPr bwMode="auto">
            <a:xfrm>
              <a:off x="2655" y="1001"/>
              <a:ext cx="38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Priority</a:t>
              </a:r>
            </a:p>
            <a:p>
              <a:pPr eaLnBrk="1" hangingPunct="1"/>
              <a:endParaRPr lang="en-US" altLang="ko-KR" sz="1100">
                <a:cs typeface="Arial" panose="020B0604020202020204" pitchFamily="34" charset="0"/>
              </a:endParaRPr>
            </a:p>
          </p:txBody>
        </p:sp>
        <p:sp>
          <p:nvSpPr>
            <p:cNvPr id="43035" name="Rectangle 48"/>
            <p:cNvSpPr>
              <a:spLocks noChangeArrowheads="1"/>
            </p:cNvSpPr>
            <p:nvPr/>
          </p:nvSpPr>
          <p:spPr bwMode="auto">
            <a:xfrm>
              <a:off x="2664" y="1090"/>
              <a:ext cx="426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encoder</a:t>
              </a:r>
            </a:p>
          </p:txBody>
        </p:sp>
        <p:sp>
          <p:nvSpPr>
            <p:cNvPr id="43036" name="Rectangle 49"/>
            <p:cNvSpPr>
              <a:spLocks noChangeArrowheads="1"/>
            </p:cNvSpPr>
            <p:nvPr/>
          </p:nvSpPr>
          <p:spPr bwMode="auto">
            <a:xfrm>
              <a:off x="2568" y="697"/>
              <a:ext cx="12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43037" name="Rectangle 50"/>
            <p:cNvSpPr>
              <a:spLocks noChangeArrowheads="1"/>
            </p:cNvSpPr>
            <p:nvPr/>
          </p:nvSpPr>
          <p:spPr bwMode="auto">
            <a:xfrm>
              <a:off x="2601" y="723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038" name="Rectangle 51"/>
            <p:cNvSpPr>
              <a:spLocks noChangeArrowheads="1"/>
            </p:cNvSpPr>
            <p:nvPr/>
          </p:nvSpPr>
          <p:spPr bwMode="auto">
            <a:xfrm>
              <a:off x="2568" y="912"/>
              <a:ext cx="12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43039" name="Rectangle 52"/>
            <p:cNvSpPr>
              <a:spLocks noChangeArrowheads="1"/>
            </p:cNvSpPr>
            <p:nvPr/>
          </p:nvSpPr>
          <p:spPr bwMode="auto">
            <a:xfrm>
              <a:off x="2601" y="938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3040" name="Rectangle 53"/>
            <p:cNvSpPr>
              <a:spLocks noChangeArrowheads="1"/>
            </p:cNvSpPr>
            <p:nvPr/>
          </p:nvSpPr>
          <p:spPr bwMode="auto">
            <a:xfrm>
              <a:off x="2568" y="1128"/>
              <a:ext cx="12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43041" name="Rectangle 54"/>
            <p:cNvSpPr>
              <a:spLocks noChangeArrowheads="1"/>
            </p:cNvSpPr>
            <p:nvPr/>
          </p:nvSpPr>
          <p:spPr bwMode="auto">
            <a:xfrm>
              <a:off x="2607" y="1153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3042" name="Rectangle 55"/>
            <p:cNvSpPr>
              <a:spLocks noChangeArrowheads="1"/>
            </p:cNvSpPr>
            <p:nvPr/>
          </p:nvSpPr>
          <p:spPr bwMode="auto">
            <a:xfrm>
              <a:off x="2568" y="1342"/>
              <a:ext cx="12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43043" name="Rectangle 56"/>
            <p:cNvSpPr>
              <a:spLocks noChangeArrowheads="1"/>
            </p:cNvSpPr>
            <p:nvPr/>
          </p:nvSpPr>
          <p:spPr bwMode="auto">
            <a:xfrm>
              <a:off x="2613" y="1367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3044" name="Freeform 57"/>
            <p:cNvSpPr>
              <a:spLocks/>
            </p:cNvSpPr>
            <p:nvPr/>
          </p:nvSpPr>
          <p:spPr bwMode="auto">
            <a:xfrm>
              <a:off x="1388" y="626"/>
              <a:ext cx="205" cy="866"/>
            </a:xfrm>
            <a:custGeom>
              <a:avLst/>
              <a:gdLst>
                <a:gd name="T0" fmla="*/ 0 w 203"/>
                <a:gd name="T1" fmla="*/ 0 h 987"/>
                <a:gd name="T2" fmla="*/ 272 w 203"/>
                <a:gd name="T3" fmla="*/ 0 h 987"/>
                <a:gd name="T4" fmla="*/ 272 w 203"/>
                <a:gd name="T5" fmla="*/ 15 h 987"/>
                <a:gd name="T6" fmla="*/ 0 60000 65536"/>
                <a:gd name="T7" fmla="*/ 0 60000 65536"/>
                <a:gd name="T8" fmla="*/ 0 60000 65536"/>
                <a:gd name="T9" fmla="*/ 0 w 203"/>
                <a:gd name="T10" fmla="*/ 0 h 987"/>
                <a:gd name="T11" fmla="*/ 203 w 203"/>
                <a:gd name="T12" fmla="*/ 987 h 9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" h="987">
                  <a:moveTo>
                    <a:pt x="0" y="0"/>
                  </a:moveTo>
                  <a:lnTo>
                    <a:pt x="202" y="0"/>
                  </a:lnTo>
                  <a:lnTo>
                    <a:pt x="202" y="98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45" name="Line 58"/>
            <p:cNvSpPr>
              <a:spLocks noChangeShapeType="1"/>
            </p:cNvSpPr>
            <p:nvPr/>
          </p:nvSpPr>
          <p:spPr bwMode="auto">
            <a:xfrm>
              <a:off x="1390" y="843"/>
              <a:ext cx="20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6" name="Line 59"/>
            <p:cNvSpPr>
              <a:spLocks noChangeShapeType="1"/>
            </p:cNvSpPr>
            <p:nvPr/>
          </p:nvSpPr>
          <p:spPr bwMode="auto">
            <a:xfrm>
              <a:off x="1390" y="1058"/>
              <a:ext cx="20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7" name="Line 60"/>
            <p:cNvSpPr>
              <a:spLocks noChangeShapeType="1"/>
            </p:cNvSpPr>
            <p:nvPr/>
          </p:nvSpPr>
          <p:spPr bwMode="auto">
            <a:xfrm>
              <a:off x="1390" y="1274"/>
              <a:ext cx="20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8" name="Line 61"/>
            <p:cNvSpPr>
              <a:spLocks noChangeShapeType="1"/>
            </p:cNvSpPr>
            <p:nvPr/>
          </p:nvSpPr>
          <p:spPr bwMode="auto">
            <a:xfrm>
              <a:off x="1378" y="1494"/>
              <a:ext cx="2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9" name="Line 62"/>
            <p:cNvSpPr>
              <a:spLocks noChangeShapeType="1"/>
            </p:cNvSpPr>
            <p:nvPr/>
          </p:nvSpPr>
          <p:spPr bwMode="auto">
            <a:xfrm>
              <a:off x="1386" y="632"/>
              <a:ext cx="0" cy="8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0" name="Rectangle 63"/>
            <p:cNvSpPr>
              <a:spLocks noChangeArrowheads="1"/>
            </p:cNvSpPr>
            <p:nvPr/>
          </p:nvSpPr>
          <p:spPr bwMode="auto">
            <a:xfrm>
              <a:off x="1419" y="660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051" name="Rectangle 64"/>
            <p:cNvSpPr>
              <a:spLocks noChangeArrowheads="1"/>
            </p:cNvSpPr>
            <p:nvPr/>
          </p:nvSpPr>
          <p:spPr bwMode="auto">
            <a:xfrm>
              <a:off x="1419" y="874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3052" name="Rectangle 65"/>
            <p:cNvSpPr>
              <a:spLocks noChangeArrowheads="1"/>
            </p:cNvSpPr>
            <p:nvPr/>
          </p:nvSpPr>
          <p:spPr bwMode="auto">
            <a:xfrm>
              <a:off x="1410" y="1090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3053" name="Rectangle 66"/>
            <p:cNvSpPr>
              <a:spLocks noChangeArrowheads="1"/>
            </p:cNvSpPr>
            <p:nvPr/>
          </p:nvSpPr>
          <p:spPr bwMode="auto">
            <a:xfrm>
              <a:off x="1419" y="1304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3054" name="Line 68"/>
            <p:cNvSpPr>
              <a:spLocks noChangeShapeType="1"/>
            </p:cNvSpPr>
            <p:nvPr/>
          </p:nvSpPr>
          <p:spPr bwMode="auto">
            <a:xfrm>
              <a:off x="2000" y="1245"/>
              <a:ext cx="0" cy="93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5" name="Line 69"/>
            <p:cNvSpPr>
              <a:spLocks noChangeShapeType="1"/>
            </p:cNvSpPr>
            <p:nvPr/>
          </p:nvSpPr>
          <p:spPr bwMode="auto">
            <a:xfrm>
              <a:off x="1912" y="1032"/>
              <a:ext cx="0" cy="93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6" name="Line 70"/>
            <p:cNvSpPr>
              <a:spLocks noChangeShapeType="1"/>
            </p:cNvSpPr>
            <p:nvPr/>
          </p:nvSpPr>
          <p:spPr bwMode="auto">
            <a:xfrm>
              <a:off x="1830" y="816"/>
              <a:ext cx="0" cy="9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7" name="Line 71"/>
            <p:cNvSpPr>
              <a:spLocks noChangeShapeType="1"/>
            </p:cNvSpPr>
            <p:nvPr/>
          </p:nvSpPr>
          <p:spPr bwMode="auto">
            <a:xfrm>
              <a:off x="1611" y="1742"/>
              <a:ext cx="21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8" name="Line 72"/>
            <p:cNvSpPr>
              <a:spLocks noChangeShapeType="1"/>
            </p:cNvSpPr>
            <p:nvPr/>
          </p:nvSpPr>
          <p:spPr bwMode="auto">
            <a:xfrm>
              <a:off x="1611" y="1956"/>
              <a:ext cx="2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9" name="Line 73"/>
            <p:cNvSpPr>
              <a:spLocks noChangeShapeType="1"/>
            </p:cNvSpPr>
            <p:nvPr/>
          </p:nvSpPr>
          <p:spPr bwMode="auto">
            <a:xfrm>
              <a:off x="1611" y="2170"/>
              <a:ext cx="38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0" name="Line 74"/>
            <p:cNvSpPr>
              <a:spLocks noChangeShapeType="1"/>
            </p:cNvSpPr>
            <p:nvPr/>
          </p:nvSpPr>
          <p:spPr bwMode="auto">
            <a:xfrm>
              <a:off x="1611" y="2386"/>
              <a:ext cx="4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1" name="Line 75"/>
            <p:cNvSpPr>
              <a:spLocks noChangeShapeType="1"/>
            </p:cNvSpPr>
            <p:nvPr/>
          </p:nvSpPr>
          <p:spPr bwMode="auto">
            <a:xfrm>
              <a:off x="3521" y="740"/>
              <a:ext cx="0" cy="11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2" name="Line 76"/>
            <p:cNvSpPr>
              <a:spLocks noChangeShapeType="1"/>
            </p:cNvSpPr>
            <p:nvPr/>
          </p:nvSpPr>
          <p:spPr bwMode="auto">
            <a:xfrm>
              <a:off x="3649" y="730"/>
              <a:ext cx="0" cy="11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3" name="Line 77"/>
            <p:cNvSpPr>
              <a:spLocks noChangeShapeType="1"/>
            </p:cNvSpPr>
            <p:nvPr/>
          </p:nvSpPr>
          <p:spPr bwMode="auto">
            <a:xfrm>
              <a:off x="3527" y="73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4" name="Line 78"/>
            <p:cNvSpPr>
              <a:spLocks noChangeShapeType="1"/>
            </p:cNvSpPr>
            <p:nvPr/>
          </p:nvSpPr>
          <p:spPr bwMode="auto">
            <a:xfrm>
              <a:off x="3527" y="882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5" name="Rectangle 79"/>
            <p:cNvSpPr>
              <a:spLocks noChangeArrowheads="1"/>
            </p:cNvSpPr>
            <p:nvPr/>
          </p:nvSpPr>
          <p:spPr bwMode="auto">
            <a:xfrm>
              <a:off x="3506" y="735"/>
              <a:ext cx="14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43066" name="Rectangle 80"/>
            <p:cNvSpPr>
              <a:spLocks noChangeArrowheads="1"/>
            </p:cNvSpPr>
            <p:nvPr/>
          </p:nvSpPr>
          <p:spPr bwMode="auto">
            <a:xfrm>
              <a:off x="3506" y="881"/>
              <a:ext cx="14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43067" name="Line 81"/>
            <p:cNvSpPr>
              <a:spLocks noChangeShapeType="1"/>
            </p:cNvSpPr>
            <p:nvPr/>
          </p:nvSpPr>
          <p:spPr bwMode="auto">
            <a:xfrm>
              <a:off x="3527" y="102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8" name="Line 82"/>
            <p:cNvSpPr>
              <a:spLocks noChangeShapeType="1"/>
            </p:cNvSpPr>
            <p:nvPr/>
          </p:nvSpPr>
          <p:spPr bwMode="auto">
            <a:xfrm>
              <a:off x="3527" y="116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9" name="Line 83"/>
            <p:cNvSpPr>
              <a:spLocks noChangeShapeType="1"/>
            </p:cNvSpPr>
            <p:nvPr/>
          </p:nvSpPr>
          <p:spPr bwMode="auto">
            <a:xfrm>
              <a:off x="3527" y="1310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0" name="Line 84"/>
            <p:cNvSpPr>
              <a:spLocks noChangeShapeType="1"/>
            </p:cNvSpPr>
            <p:nvPr/>
          </p:nvSpPr>
          <p:spPr bwMode="auto">
            <a:xfrm>
              <a:off x="3527" y="145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1" name="Line 85"/>
            <p:cNvSpPr>
              <a:spLocks noChangeShapeType="1"/>
            </p:cNvSpPr>
            <p:nvPr/>
          </p:nvSpPr>
          <p:spPr bwMode="auto">
            <a:xfrm>
              <a:off x="3527" y="1602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2" name="Line 86"/>
            <p:cNvSpPr>
              <a:spLocks noChangeShapeType="1"/>
            </p:cNvSpPr>
            <p:nvPr/>
          </p:nvSpPr>
          <p:spPr bwMode="auto">
            <a:xfrm>
              <a:off x="3527" y="1742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3" name="Line 87"/>
            <p:cNvSpPr>
              <a:spLocks noChangeShapeType="1"/>
            </p:cNvSpPr>
            <p:nvPr/>
          </p:nvSpPr>
          <p:spPr bwMode="auto">
            <a:xfrm>
              <a:off x="3527" y="1878"/>
              <a:ext cx="125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4" name="Arc 88"/>
            <p:cNvSpPr>
              <a:spLocks/>
            </p:cNvSpPr>
            <p:nvPr/>
          </p:nvSpPr>
          <p:spPr bwMode="auto">
            <a:xfrm>
              <a:off x="3802" y="787"/>
              <a:ext cx="76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75" name="Line 89"/>
            <p:cNvSpPr>
              <a:spLocks noChangeShapeType="1"/>
            </p:cNvSpPr>
            <p:nvPr/>
          </p:nvSpPr>
          <p:spPr bwMode="auto">
            <a:xfrm>
              <a:off x="3656" y="811"/>
              <a:ext cx="15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6" name="Rectangle 90"/>
            <p:cNvSpPr>
              <a:spLocks noChangeArrowheads="1"/>
            </p:cNvSpPr>
            <p:nvPr/>
          </p:nvSpPr>
          <p:spPr bwMode="auto">
            <a:xfrm>
              <a:off x="2979" y="1671"/>
              <a:ext cx="243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IST</a:t>
              </a:r>
            </a:p>
          </p:txBody>
        </p:sp>
        <p:sp>
          <p:nvSpPr>
            <p:cNvPr id="43077" name="Rectangle 91"/>
            <p:cNvSpPr>
              <a:spLocks noChangeArrowheads="1"/>
            </p:cNvSpPr>
            <p:nvPr/>
          </p:nvSpPr>
          <p:spPr bwMode="auto">
            <a:xfrm>
              <a:off x="2503" y="1665"/>
              <a:ext cx="253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IEN</a:t>
              </a:r>
            </a:p>
          </p:txBody>
        </p:sp>
        <p:sp>
          <p:nvSpPr>
            <p:cNvPr id="43078" name="Rectangle 92"/>
            <p:cNvSpPr>
              <a:spLocks noChangeArrowheads="1"/>
            </p:cNvSpPr>
            <p:nvPr/>
          </p:nvSpPr>
          <p:spPr bwMode="auto">
            <a:xfrm>
              <a:off x="2992" y="1677"/>
              <a:ext cx="203" cy="11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43079" name="Rectangle 93"/>
            <p:cNvSpPr>
              <a:spLocks noChangeArrowheads="1"/>
            </p:cNvSpPr>
            <p:nvPr/>
          </p:nvSpPr>
          <p:spPr bwMode="auto">
            <a:xfrm>
              <a:off x="2529" y="1677"/>
              <a:ext cx="208" cy="11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43080" name="Arc 94"/>
            <p:cNvSpPr>
              <a:spLocks/>
            </p:cNvSpPr>
            <p:nvPr/>
          </p:nvSpPr>
          <p:spPr bwMode="auto">
            <a:xfrm>
              <a:off x="3208" y="1710"/>
              <a:ext cx="75" cy="49"/>
            </a:xfrm>
            <a:custGeom>
              <a:avLst/>
              <a:gdLst>
                <a:gd name="T0" fmla="*/ 0 w 21600"/>
                <a:gd name="T1" fmla="*/ 0 h 17776"/>
                <a:gd name="T2" fmla="*/ 0 w 21600"/>
                <a:gd name="T3" fmla="*/ 0 h 17776"/>
                <a:gd name="T4" fmla="*/ 0 w 21600"/>
                <a:gd name="T5" fmla="*/ 0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lnTo>
                    <a:pt x="19565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81" name="Freeform 95"/>
            <p:cNvSpPr>
              <a:spLocks/>
            </p:cNvSpPr>
            <p:nvPr/>
          </p:nvSpPr>
          <p:spPr bwMode="auto">
            <a:xfrm>
              <a:off x="3117" y="1372"/>
              <a:ext cx="229" cy="361"/>
            </a:xfrm>
            <a:custGeom>
              <a:avLst/>
              <a:gdLst>
                <a:gd name="T0" fmla="*/ 2552 w 209"/>
                <a:gd name="T1" fmla="*/ 7 h 411"/>
                <a:gd name="T2" fmla="*/ 3872 w 209"/>
                <a:gd name="T3" fmla="*/ 7 h 411"/>
                <a:gd name="T4" fmla="*/ 3872 w 209"/>
                <a:gd name="T5" fmla="*/ 0 h 411"/>
                <a:gd name="T6" fmla="*/ 0 w 209"/>
                <a:gd name="T7" fmla="*/ 0 h 4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9"/>
                <a:gd name="T13" fmla="*/ 0 h 411"/>
                <a:gd name="T14" fmla="*/ 209 w 209"/>
                <a:gd name="T15" fmla="*/ 411 h 4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9" h="411">
                  <a:moveTo>
                    <a:pt x="136" y="410"/>
                  </a:moveTo>
                  <a:lnTo>
                    <a:pt x="208" y="410"/>
                  </a:lnTo>
                  <a:lnTo>
                    <a:pt x="208" y="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82" name="Line 102"/>
            <p:cNvSpPr>
              <a:spLocks noChangeShapeType="1"/>
            </p:cNvSpPr>
            <p:nvPr/>
          </p:nvSpPr>
          <p:spPr bwMode="auto">
            <a:xfrm flipH="1">
              <a:off x="2795" y="2032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3" name="Line 103"/>
            <p:cNvSpPr>
              <a:spLocks noChangeShapeType="1"/>
            </p:cNvSpPr>
            <p:nvPr/>
          </p:nvSpPr>
          <p:spPr bwMode="auto">
            <a:xfrm flipH="1">
              <a:off x="2621" y="2064"/>
              <a:ext cx="3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4" name="Line 104"/>
            <p:cNvSpPr>
              <a:spLocks noChangeShapeType="1"/>
            </p:cNvSpPr>
            <p:nvPr/>
          </p:nvSpPr>
          <p:spPr bwMode="auto">
            <a:xfrm flipH="1">
              <a:off x="2895" y="2100"/>
              <a:ext cx="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5" name="Arc 111"/>
            <p:cNvSpPr>
              <a:spLocks/>
            </p:cNvSpPr>
            <p:nvPr/>
          </p:nvSpPr>
          <p:spPr bwMode="auto">
            <a:xfrm>
              <a:off x="3809" y="2255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86" name="Line 112"/>
            <p:cNvSpPr>
              <a:spLocks noChangeShapeType="1"/>
            </p:cNvSpPr>
            <p:nvPr/>
          </p:nvSpPr>
          <p:spPr bwMode="auto">
            <a:xfrm>
              <a:off x="3199" y="2278"/>
              <a:ext cx="6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7" name="Line 113"/>
            <p:cNvSpPr>
              <a:spLocks noChangeShapeType="1"/>
            </p:cNvSpPr>
            <p:nvPr/>
          </p:nvSpPr>
          <p:spPr bwMode="auto">
            <a:xfrm flipH="1">
              <a:off x="2798" y="2246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8" name="Line 114"/>
            <p:cNvSpPr>
              <a:spLocks noChangeShapeType="1"/>
            </p:cNvSpPr>
            <p:nvPr/>
          </p:nvSpPr>
          <p:spPr bwMode="auto">
            <a:xfrm flipH="1" flipV="1">
              <a:off x="2635" y="2313"/>
              <a:ext cx="357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9" name="Freeform 115"/>
            <p:cNvSpPr>
              <a:spLocks/>
            </p:cNvSpPr>
            <p:nvPr/>
          </p:nvSpPr>
          <p:spPr bwMode="auto">
            <a:xfrm>
              <a:off x="2804" y="1738"/>
              <a:ext cx="181" cy="506"/>
            </a:xfrm>
            <a:custGeom>
              <a:avLst/>
              <a:gdLst>
                <a:gd name="T0" fmla="*/ 2619 w 166"/>
                <a:gd name="T1" fmla="*/ 0 h 577"/>
                <a:gd name="T2" fmla="*/ 0 w 166"/>
                <a:gd name="T3" fmla="*/ 0 h 577"/>
                <a:gd name="T4" fmla="*/ 0 w 166"/>
                <a:gd name="T5" fmla="*/ 9 h 577"/>
                <a:gd name="T6" fmla="*/ 0 60000 65536"/>
                <a:gd name="T7" fmla="*/ 0 60000 65536"/>
                <a:gd name="T8" fmla="*/ 0 60000 65536"/>
                <a:gd name="T9" fmla="*/ 0 w 166"/>
                <a:gd name="T10" fmla="*/ 0 h 577"/>
                <a:gd name="T11" fmla="*/ 166 w 166"/>
                <a:gd name="T12" fmla="*/ 577 h 5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" h="577">
                  <a:moveTo>
                    <a:pt x="165" y="0"/>
                  </a:moveTo>
                  <a:lnTo>
                    <a:pt x="0" y="0"/>
                  </a:lnTo>
                  <a:lnTo>
                    <a:pt x="0" y="57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90" name="Line 116"/>
            <p:cNvSpPr>
              <a:spLocks noChangeShapeType="1"/>
            </p:cNvSpPr>
            <p:nvPr/>
          </p:nvSpPr>
          <p:spPr bwMode="auto">
            <a:xfrm>
              <a:off x="2902" y="2105"/>
              <a:ext cx="0" cy="38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91" name="Arc 117"/>
            <p:cNvSpPr>
              <a:spLocks/>
            </p:cNvSpPr>
            <p:nvPr/>
          </p:nvSpPr>
          <p:spPr bwMode="auto">
            <a:xfrm>
              <a:off x="2902" y="2463"/>
              <a:ext cx="75" cy="48"/>
            </a:xfrm>
            <a:custGeom>
              <a:avLst/>
              <a:gdLst>
                <a:gd name="T0" fmla="*/ 0 w 21600"/>
                <a:gd name="T1" fmla="*/ 0 h 17776"/>
                <a:gd name="T2" fmla="*/ 0 w 21600"/>
                <a:gd name="T3" fmla="*/ 0 h 17776"/>
                <a:gd name="T4" fmla="*/ 0 w 21600"/>
                <a:gd name="T5" fmla="*/ 0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lnTo>
                    <a:pt x="19565" y="-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92" name="Line 118"/>
            <p:cNvSpPr>
              <a:spLocks noChangeShapeType="1"/>
            </p:cNvSpPr>
            <p:nvPr/>
          </p:nvSpPr>
          <p:spPr bwMode="auto">
            <a:xfrm>
              <a:off x="2969" y="2488"/>
              <a:ext cx="85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93" name="Line 119"/>
            <p:cNvSpPr>
              <a:spLocks noChangeShapeType="1"/>
            </p:cNvSpPr>
            <p:nvPr/>
          </p:nvSpPr>
          <p:spPr bwMode="auto">
            <a:xfrm>
              <a:off x="2635" y="1790"/>
              <a:ext cx="3" cy="5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94" name="Oval 120"/>
            <p:cNvSpPr>
              <a:spLocks noChangeArrowheads="1"/>
            </p:cNvSpPr>
            <p:nvPr/>
          </p:nvSpPr>
          <p:spPr bwMode="auto">
            <a:xfrm>
              <a:off x="2788" y="2017"/>
              <a:ext cx="30" cy="2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43095" name="Oval 121"/>
            <p:cNvSpPr>
              <a:spLocks noChangeArrowheads="1"/>
            </p:cNvSpPr>
            <p:nvPr/>
          </p:nvSpPr>
          <p:spPr bwMode="auto">
            <a:xfrm>
              <a:off x="2616" y="2055"/>
              <a:ext cx="30" cy="2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43096" name="Arc 122"/>
            <p:cNvSpPr>
              <a:spLocks/>
            </p:cNvSpPr>
            <p:nvPr/>
          </p:nvSpPr>
          <p:spPr bwMode="auto">
            <a:xfrm>
              <a:off x="3451" y="787"/>
              <a:ext cx="76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97" name="Line 123"/>
            <p:cNvSpPr>
              <a:spLocks noChangeShapeType="1"/>
            </p:cNvSpPr>
            <p:nvPr/>
          </p:nvSpPr>
          <p:spPr bwMode="auto">
            <a:xfrm>
              <a:off x="3110" y="811"/>
              <a:ext cx="34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98" name="Arc 124"/>
            <p:cNvSpPr>
              <a:spLocks/>
            </p:cNvSpPr>
            <p:nvPr/>
          </p:nvSpPr>
          <p:spPr bwMode="auto">
            <a:xfrm>
              <a:off x="3448" y="922"/>
              <a:ext cx="76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099" name="Line 125"/>
            <p:cNvSpPr>
              <a:spLocks noChangeShapeType="1"/>
            </p:cNvSpPr>
            <p:nvPr/>
          </p:nvSpPr>
          <p:spPr bwMode="auto">
            <a:xfrm>
              <a:off x="3113" y="952"/>
              <a:ext cx="34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00" name="Arc 126"/>
            <p:cNvSpPr>
              <a:spLocks/>
            </p:cNvSpPr>
            <p:nvPr/>
          </p:nvSpPr>
          <p:spPr bwMode="auto">
            <a:xfrm>
              <a:off x="3806" y="931"/>
              <a:ext cx="75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01" name="Line 127"/>
            <p:cNvSpPr>
              <a:spLocks noChangeShapeType="1"/>
            </p:cNvSpPr>
            <p:nvPr/>
          </p:nvSpPr>
          <p:spPr bwMode="auto">
            <a:xfrm flipV="1">
              <a:off x="3647" y="946"/>
              <a:ext cx="178" cy="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02" name="Arc 128"/>
            <p:cNvSpPr>
              <a:spLocks/>
            </p:cNvSpPr>
            <p:nvPr/>
          </p:nvSpPr>
          <p:spPr bwMode="auto">
            <a:xfrm>
              <a:off x="3802" y="1074"/>
              <a:ext cx="76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03" name="Line 129"/>
            <p:cNvSpPr>
              <a:spLocks noChangeShapeType="1"/>
            </p:cNvSpPr>
            <p:nvPr/>
          </p:nvSpPr>
          <p:spPr bwMode="auto">
            <a:xfrm>
              <a:off x="3650" y="1096"/>
              <a:ext cx="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04" name="Arc 130"/>
            <p:cNvSpPr>
              <a:spLocks/>
            </p:cNvSpPr>
            <p:nvPr/>
          </p:nvSpPr>
          <p:spPr bwMode="auto">
            <a:xfrm>
              <a:off x="3806" y="1217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05" name="Line 131"/>
            <p:cNvSpPr>
              <a:spLocks noChangeShapeType="1"/>
            </p:cNvSpPr>
            <p:nvPr/>
          </p:nvSpPr>
          <p:spPr bwMode="auto">
            <a:xfrm>
              <a:off x="3653" y="1242"/>
              <a:ext cx="1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06" name="Arc 132"/>
            <p:cNvSpPr>
              <a:spLocks/>
            </p:cNvSpPr>
            <p:nvPr/>
          </p:nvSpPr>
          <p:spPr bwMode="auto">
            <a:xfrm>
              <a:off x="3806" y="1356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07" name="Line 133"/>
            <p:cNvSpPr>
              <a:spLocks noChangeShapeType="1"/>
            </p:cNvSpPr>
            <p:nvPr/>
          </p:nvSpPr>
          <p:spPr bwMode="auto">
            <a:xfrm>
              <a:off x="3647" y="1380"/>
              <a:ext cx="17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08" name="Arc 134"/>
            <p:cNvSpPr>
              <a:spLocks/>
            </p:cNvSpPr>
            <p:nvPr/>
          </p:nvSpPr>
          <p:spPr bwMode="auto">
            <a:xfrm>
              <a:off x="3806" y="1503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09" name="Line 135"/>
            <p:cNvSpPr>
              <a:spLocks noChangeShapeType="1"/>
            </p:cNvSpPr>
            <p:nvPr/>
          </p:nvSpPr>
          <p:spPr bwMode="auto">
            <a:xfrm>
              <a:off x="3653" y="1526"/>
              <a:ext cx="17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0" name="Arc 136"/>
            <p:cNvSpPr>
              <a:spLocks/>
            </p:cNvSpPr>
            <p:nvPr/>
          </p:nvSpPr>
          <p:spPr bwMode="auto">
            <a:xfrm>
              <a:off x="3806" y="1652"/>
              <a:ext cx="75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11" name="Line 137"/>
            <p:cNvSpPr>
              <a:spLocks noChangeShapeType="1"/>
            </p:cNvSpPr>
            <p:nvPr/>
          </p:nvSpPr>
          <p:spPr bwMode="auto">
            <a:xfrm>
              <a:off x="3650" y="1672"/>
              <a:ext cx="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2" name="Line 139"/>
            <p:cNvSpPr>
              <a:spLocks noChangeShapeType="1"/>
            </p:cNvSpPr>
            <p:nvPr/>
          </p:nvSpPr>
          <p:spPr bwMode="auto">
            <a:xfrm>
              <a:off x="3650" y="1814"/>
              <a:ext cx="15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3" name="Freeform 140"/>
            <p:cNvSpPr>
              <a:spLocks/>
            </p:cNvSpPr>
            <p:nvPr/>
          </p:nvSpPr>
          <p:spPr bwMode="auto">
            <a:xfrm>
              <a:off x="1388" y="1630"/>
              <a:ext cx="215" cy="861"/>
            </a:xfrm>
            <a:custGeom>
              <a:avLst/>
              <a:gdLst>
                <a:gd name="T0" fmla="*/ 0 w 203"/>
                <a:gd name="T1" fmla="*/ 0 h 980"/>
                <a:gd name="T2" fmla="*/ 1270 w 203"/>
                <a:gd name="T3" fmla="*/ 0 h 980"/>
                <a:gd name="T4" fmla="*/ 1270 w 203"/>
                <a:gd name="T5" fmla="*/ 15 h 980"/>
                <a:gd name="T6" fmla="*/ 0 60000 65536"/>
                <a:gd name="T7" fmla="*/ 0 60000 65536"/>
                <a:gd name="T8" fmla="*/ 0 60000 65536"/>
                <a:gd name="T9" fmla="*/ 0 w 203"/>
                <a:gd name="T10" fmla="*/ 0 h 980"/>
                <a:gd name="T11" fmla="*/ 203 w 203"/>
                <a:gd name="T12" fmla="*/ 980 h 9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" h="980">
                  <a:moveTo>
                    <a:pt x="0" y="0"/>
                  </a:moveTo>
                  <a:lnTo>
                    <a:pt x="202" y="0"/>
                  </a:lnTo>
                  <a:lnTo>
                    <a:pt x="202" y="979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14" name="Line 141"/>
            <p:cNvSpPr>
              <a:spLocks noChangeShapeType="1"/>
            </p:cNvSpPr>
            <p:nvPr/>
          </p:nvSpPr>
          <p:spPr bwMode="auto">
            <a:xfrm>
              <a:off x="1390" y="1848"/>
              <a:ext cx="22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5" name="Line 142"/>
            <p:cNvSpPr>
              <a:spLocks noChangeShapeType="1"/>
            </p:cNvSpPr>
            <p:nvPr/>
          </p:nvSpPr>
          <p:spPr bwMode="auto">
            <a:xfrm>
              <a:off x="1390" y="2064"/>
              <a:ext cx="21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6" name="Line 143"/>
            <p:cNvSpPr>
              <a:spLocks noChangeShapeType="1"/>
            </p:cNvSpPr>
            <p:nvPr/>
          </p:nvSpPr>
          <p:spPr bwMode="auto">
            <a:xfrm>
              <a:off x="1390" y="2278"/>
              <a:ext cx="2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7" name="Line 144"/>
            <p:cNvSpPr>
              <a:spLocks noChangeShapeType="1"/>
            </p:cNvSpPr>
            <p:nvPr/>
          </p:nvSpPr>
          <p:spPr bwMode="auto">
            <a:xfrm>
              <a:off x="1390" y="2493"/>
              <a:ext cx="22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8" name="Line 145"/>
            <p:cNvSpPr>
              <a:spLocks noChangeShapeType="1"/>
            </p:cNvSpPr>
            <p:nvPr/>
          </p:nvSpPr>
          <p:spPr bwMode="auto">
            <a:xfrm>
              <a:off x="1386" y="1638"/>
              <a:ext cx="0" cy="86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19" name="Rectangle 146"/>
            <p:cNvSpPr>
              <a:spLocks noChangeArrowheads="1"/>
            </p:cNvSpPr>
            <p:nvPr/>
          </p:nvSpPr>
          <p:spPr bwMode="auto">
            <a:xfrm>
              <a:off x="1419" y="1664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0" name="Rectangle 147"/>
            <p:cNvSpPr>
              <a:spLocks noChangeArrowheads="1"/>
            </p:cNvSpPr>
            <p:nvPr/>
          </p:nvSpPr>
          <p:spPr bwMode="auto">
            <a:xfrm>
              <a:off x="1419" y="1880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3121" name="Rectangle 148"/>
            <p:cNvSpPr>
              <a:spLocks noChangeArrowheads="1"/>
            </p:cNvSpPr>
            <p:nvPr/>
          </p:nvSpPr>
          <p:spPr bwMode="auto">
            <a:xfrm>
              <a:off x="1410" y="2094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3122" name="Rectangle 149"/>
            <p:cNvSpPr>
              <a:spLocks noChangeArrowheads="1"/>
            </p:cNvSpPr>
            <p:nvPr/>
          </p:nvSpPr>
          <p:spPr bwMode="auto">
            <a:xfrm>
              <a:off x="1419" y="2310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3123" name="Rectangle 150"/>
            <p:cNvSpPr>
              <a:spLocks noChangeArrowheads="1"/>
            </p:cNvSpPr>
            <p:nvPr/>
          </p:nvSpPr>
          <p:spPr bwMode="auto">
            <a:xfrm>
              <a:off x="3498" y="1033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4" name="Rectangle 151"/>
            <p:cNvSpPr>
              <a:spLocks noChangeArrowheads="1"/>
            </p:cNvSpPr>
            <p:nvPr/>
          </p:nvSpPr>
          <p:spPr bwMode="auto">
            <a:xfrm>
              <a:off x="3498" y="1177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5" name="Rectangle 152"/>
            <p:cNvSpPr>
              <a:spLocks noChangeArrowheads="1"/>
            </p:cNvSpPr>
            <p:nvPr/>
          </p:nvSpPr>
          <p:spPr bwMode="auto">
            <a:xfrm>
              <a:off x="3498" y="1317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6" name="Rectangle 153"/>
            <p:cNvSpPr>
              <a:spLocks noChangeArrowheads="1"/>
            </p:cNvSpPr>
            <p:nvPr/>
          </p:nvSpPr>
          <p:spPr bwMode="auto">
            <a:xfrm>
              <a:off x="3498" y="1461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7" name="Rectangle 154"/>
            <p:cNvSpPr>
              <a:spLocks noChangeArrowheads="1"/>
            </p:cNvSpPr>
            <p:nvPr/>
          </p:nvSpPr>
          <p:spPr bwMode="auto">
            <a:xfrm>
              <a:off x="3498" y="1607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8" name="Rectangle 155"/>
            <p:cNvSpPr>
              <a:spLocks noChangeArrowheads="1"/>
            </p:cNvSpPr>
            <p:nvPr/>
          </p:nvSpPr>
          <p:spPr bwMode="auto">
            <a:xfrm>
              <a:off x="3498" y="1747"/>
              <a:ext cx="1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129" name="Line 156"/>
            <p:cNvSpPr>
              <a:spLocks noChangeShapeType="1"/>
            </p:cNvSpPr>
            <p:nvPr/>
          </p:nvSpPr>
          <p:spPr bwMode="auto">
            <a:xfrm>
              <a:off x="3196" y="2064"/>
              <a:ext cx="3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30" name="Arc 157"/>
            <p:cNvSpPr>
              <a:spLocks/>
            </p:cNvSpPr>
            <p:nvPr/>
          </p:nvSpPr>
          <p:spPr bwMode="auto">
            <a:xfrm>
              <a:off x="3562" y="1881"/>
              <a:ext cx="62" cy="60"/>
            </a:xfrm>
            <a:custGeom>
              <a:avLst/>
              <a:gdLst>
                <a:gd name="T0" fmla="*/ 0 w 17776"/>
                <a:gd name="T1" fmla="*/ 0 h 21600"/>
                <a:gd name="T2" fmla="*/ 0 w 17776"/>
                <a:gd name="T3" fmla="*/ 0 h 21600"/>
                <a:gd name="T4" fmla="*/ 0 w 17776"/>
                <a:gd name="T5" fmla="*/ 0 h 21600"/>
                <a:gd name="T6" fmla="*/ 0 60000 65536"/>
                <a:gd name="T7" fmla="*/ 0 60000 65536"/>
                <a:gd name="T8" fmla="*/ 0 60000 65536"/>
                <a:gd name="T9" fmla="*/ 0 w 17776"/>
                <a:gd name="T10" fmla="*/ 0 h 21600"/>
                <a:gd name="T11" fmla="*/ 17776 w 1777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76" h="21600" fill="none" extrusionOk="0">
                  <a:moveTo>
                    <a:pt x="17775" y="19803"/>
                  </a:moveTo>
                  <a:cubicBezTo>
                    <a:pt x="15055" y="20988"/>
                    <a:pt x="12119" y="21599"/>
                    <a:pt x="9152" y="21600"/>
                  </a:cubicBezTo>
                  <a:cubicBezTo>
                    <a:pt x="5989" y="21600"/>
                    <a:pt x="2864" y="20905"/>
                    <a:pt x="-1" y="19565"/>
                  </a:cubicBezTo>
                </a:path>
                <a:path w="17776" h="21600" stroke="0" extrusionOk="0">
                  <a:moveTo>
                    <a:pt x="17775" y="19803"/>
                  </a:moveTo>
                  <a:cubicBezTo>
                    <a:pt x="15055" y="20988"/>
                    <a:pt x="12119" y="21599"/>
                    <a:pt x="9152" y="21600"/>
                  </a:cubicBezTo>
                  <a:cubicBezTo>
                    <a:pt x="5989" y="21600"/>
                    <a:pt x="2864" y="20905"/>
                    <a:pt x="-1" y="19565"/>
                  </a:cubicBezTo>
                  <a:lnTo>
                    <a:pt x="9152" y="0"/>
                  </a:lnTo>
                  <a:lnTo>
                    <a:pt x="17775" y="198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131" name="Line 158"/>
            <p:cNvSpPr>
              <a:spLocks noChangeShapeType="1"/>
            </p:cNvSpPr>
            <p:nvPr/>
          </p:nvSpPr>
          <p:spPr bwMode="auto">
            <a:xfrm flipV="1">
              <a:off x="3592" y="1927"/>
              <a:ext cx="0" cy="13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32" name="Line 159"/>
            <p:cNvSpPr>
              <a:spLocks noChangeShapeType="1"/>
            </p:cNvSpPr>
            <p:nvPr/>
          </p:nvSpPr>
          <p:spPr bwMode="auto">
            <a:xfrm flipH="1">
              <a:off x="1193" y="736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33" name="Rectangle 160"/>
            <p:cNvSpPr>
              <a:spLocks noChangeArrowheads="1"/>
            </p:cNvSpPr>
            <p:nvPr/>
          </p:nvSpPr>
          <p:spPr bwMode="auto">
            <a:xfrm>
              <a:off x="907" y="660"/>
              <a:ext cx="27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Disk</a:t>
              </a:r>
            </a:p>
          </p:txBody>
        </p:sp>
        <p:sp>
          <p:nvSpPr>
            <p:cNvPr id="43134" name="Line 161"/>
            <p:cNvSpPr>
              <a:spLocks noChangeShapeType="1"/>
            </p:cNvSpPr>
            <p:nvPr/>
          </p:nvSpPr>
          <p:spPr bwMode="auto">
            <a:xfrm flipH="1">
              <a:off x="1193" y="952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35" name="Rectangle 162"/>
            <p:cNvSpPr>
              <a:spLocks noChangeArrowheads="1"/>
            </p:cNvSpPr>
            <p:nvPr/>
          </p:nvSpPr>
          <p:spPr bwMode="auto">
            <a:xfrm>
              <a:off x="814" y="874"/>
              <a:ext cx="367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Printer</a:t>
              </a:r>
            </a:p>
          </p:txBody>
        </p:sp>
        <p:sp>
          <p:nvSpPr>
            <p:cNvPr id="43136" name="Line 163"/>
            <p:cNvSpPr>
              <a:spLocks noChangeShapeType="1"/>
            </p:cNvSpPr>
            <p:nvPr/>
          </p:nvSpPr>
          <p:spPr bwMode="auto">
            <a:xfrm flipH="1">
              <a:off x="1193" y="1166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37" name="Rectangle 164"/>
            <p:cNvSpPr>
              <a:spLocks noChangeArrowheads="1"/>
            </p:cNvSpPr>
            <p:nvPr/>
          </p:nvSpPr>
          <p:spPr bwMode="auto">
            <a:xfrm>
              <a:off x="782" y="1090"/>
              <a:ext cx="397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Reader</a:t>
              </a:r>
            </a:p>
          </p:txBody>
        </p:sp>
        <p:sp>
          <p:nvSpPr>
            <p:cNvPr id="43138" name="Line 165"/>
            <p:cNvSpPr>
              <a:spLocks noChangeShapeType="1"/>
            </p:cNvSpPr>
            <p:nvPr/>
          </p:nvSpPr>
          <p:spPr bwMode="auto">
            <a:xfrm flipH="1">
              <a:off x="1193" y="1380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39" name="Rectangle 166"/>
            <p:cNvSpPr>
              <a:spLocks noChangeArrowheads="1"/>
            </p:cNvSpPr>
            <p:nvPr/>
          </p:nvSpPr>
          <p:spPr bwMode="auto">
            <a:xfrm>
              <a:off x="681" y="1304"/>
              <a:ext cx="486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Keyboard</a:t>
              </a:r>
            </a:p>
          </p:txBody>
        </p:sp>
        <p:sp>
          <p:nvSpPr>
            <p:cNvPr id="43140" name="Rectangle 167"/>
            <p:cNvSpPr>
              <a:spLocks noChangeArrowheads="1"/>
            </p:cNvSpPr>
            <p:nvPr/>
          </p:nvSpPr>
          <p:spPr bwMode="auto">
            <a:xfrm>
              <a:off x="1141" y="494"/>
              <a:ext cx="75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Interrupt register</a:t>
              </a:r>
            </a:p>
          </p:txBody>
        </p:sp>
        <p:sp>
          <p:nvSpPr>
            <p:cNvPr id="43141" name="Rectangle 169"/>
            <p:cNvSpPr>
              <a:spLocks noChangeArrowheads="1"/>
            </p:cNvSpPr>
            <p:nvPr/>
          </p:nvSpPr>
          <p:spPr bwMode="auto">
            <a:xfrm>
              <a:off x="3575" y="1912"/>
              <a:ext cx="383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Enable</a:t>
              </a:r>
            </a:p>
          </p:txBody>
        </p:sp>
        <p:sp>
          <p:nvSpPr>
            <p:cNvPr id="43142" name="Rectangle 170"/>
            <p:cNvSpPr>
              <a:spLocks noChangeArrowheads="1"/>
            </p:cNvSpPr>
            <p:nvPr/>
          </p:nvSpPr>
          <p:spPr bwMode="auto">
            <a:xfrm>
              <a:off x="3855" y="2168"/>
              <a:ext cx="43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Interrupt</a:t>
              </a:r>
            </a:p>
            <a:p>
              <a:pPr eaLnBrk="1" hangingPunct="1"/>
              <a:endParaRPr lang="en-US" altLang="ko-KR" sz="1100">
                <a:cs typeface="Arial" panose="020B0604020202020204" pitchFamily="34" charset="0"/>
              </a:endParaRPr>
            </a:p>
          </p:txBody>
        </p:sp>
        <p:sp>
          <p:nvSpPr>
            <p:cNvPr id="43143" name="Rectangle 171"/>
            <p:cNvSpPr>
              <a:spLocks noChangeArrowheads="1"/>
            </p:cNvSpPr>
            <p:nvPr/>
          </p:nvSpPr>
          <p:spPr bwMode="auto">
            <a:xfrm>
              <a:off x="3882" y="2256"/>
              <a:ext cx="392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to CPU</a:t>
              </a:r>
            </a:p>
          </p:txBody>
        </p:sp>
        <p:sp>
          <p:nvSpPr>
            <p:cNvPr id="43144" name="Rectangle 172"/>
            <p:cNvSpPr>
              <a:spLocks noChangeArrowheads="1"/>
            </p:cNvSpPr>
            <p:nvPr/>
          </p:nvSpPr>
          <p:spPr bwMode="auto">
            <a:xfrm>
              <a:off x="3916" y="1187"/>
              <a:ext cx="289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VAD</a:t>
              </a:r>
            </a:p>
            <a:p>
              <a:pPr eaLnBrk="1" hangingPunct="1"/>
              <a:endParaRPr lang="en-US" altLang="ko-KR" sz="1100">
                <a:cs typeface="Arial" panose="020B0604020202020204" pitchFamily="34" charset="0"/>
              </a:endParaRPr>
            </a:p>
          </p:txBody>
        </p:sp>
        <p:sp>
          <p:nvSpPr>
            <p:cNvPr id="43145" name="Rectangle 173"/>
            <p:cNvSpPr>
              <a:spLocks noChangeArrowheads="1"/>
            </p:cNvSpPr>
            <p:nvPr/>
          </p:nvSpPr>
          <p:spPr bwMode="auto">
            <a:xfrm>
              <a:off x="3895" y="1284"/>
              <a:ext cx="392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550" tIns="41275" rIns="82550" bIns="41275">
              <a:spAutoFit/>
            </a:bodyPr>
            <a:lstStyle>
              <a:lvl1pPr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175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1753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>
                  <a:cs typeface="Arial" panose="020B0604020202020204" pitchFamily="34" charset="0"/>
                </a:rPr>
                <a:t>to CPU</a:t>
              </a:r>
            </a:p>
          </p:txBody>
        </p:sp>
        <p:sp>
          <p:nvSpPr>
            <p:cNvPr id="43146" name="Rectangle 174"/>
            <p:cNvSpPr>
              <a:spLocks noChangeArrowheads="1"/>
            </p:cNvSpPr>
            <p:nvPr/>
          </p:nvSpPr>
          <p:spPr bwMode="auto">
            <a:xfrm>
              <a:off x="3390" y="489"/>
              <a:ext cx="351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>
                  <a:cs typeface="Arial" panose="020B0604020202020204" pitchFamily="34" charset="0"/>
                </a:rPr>
                <a:t>Bus</a:t>
              </a:r>
            </a:p>
            <a:p>
              <a:pPr algn="ctr" eaLnBrk="1" hangingPunct="1"/>
              <a:r>
                <a:rPr lang="en-US" altLang="ko-KR" sz="1100">
                  <a:cs typeface="Arial" panose="020B0604020202020204" pitchFamily="34" charset="0"/>
                </a:rPr>
                <a:t>Buffer</a:t>
              </a:r>
            </a:p>
          </p:txBody>
        </p:sp>
        <p:sp>
          <p:nvSpPr>
            <p:cNvPr id="43147" name="Line 177"/>
            <p:cNvSpPr>
              <a:spLocks noChangeShapeType="1"/>
            </p:cNvSpPr>
            <p:nvPr/>
          </p:nvSpPr>
          <p:spPr bwMode="auto">
            <a:xfrm>
              <a:off x="2090" y="1456"/>
              <a:ext cx="0" cy="9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3148" name="Group 179"/>
            <p:cNvGrpSpPr>
              <a:grpSpLocks/>
            </p:cNvGrpSpPr>
            <p:nvPr/>
          </p:nvGrpSpPr>
          <p:grpSpPr bwMode="auto">
            <a:xfrm>
              <a:off x="2219" y="1095"/>
              <a:ext cx="209" cy="165"/>
              <a:chOff x="1966" y="1414"/>
              <a:chExt cx="193" cy="165"/>
            </a:xfrm>
          </p:grpSpPr>
          <p:sp>
            <p:nvSpPr>
              <p:cNvPr id="43174" name="Line 180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75" name="Line 181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76" name="Arc 182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77" name="Arc 183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lnTo>
                      <a:pt x="2178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78" name="Line 184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3149" name="Group 185"/>
            <p:cNvGrpSpPr>
              <a:grpSpLocks/>
            </p:cNvGrpSpPr>
            <p:nvPr/>
          </p:nvGrpSpPr>
          <p:grpSpPr bwMode="auto">
            <a:xfrm>
              <a:off x="2235" y="1293"/>
              <a:ext cx="211" cy="165"/>
              <a:chOff x="1966" y="1414"/>
              <a:chExt cx="193" cy="165"/>
            </a:xfrm>
          </p:grpSpPr>
          <p:sp>
            <p:nvSpPr>
              <p:cNvPr id="43169" name="Line 186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70" name="Line 187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71" name="Arc 188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72" name="Arc 189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lnTo>
                      <a:pt x="2178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73" name="Line 190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3150" name="Group 191"/>
            <p:cNvGrpSpPr>
              <a:grpSpLocks/>
            </p:cNvGrpSpPr>
            <p:nvPr/>
          </p:nvGrpSpPr>
          <p:grpSpPr bwMode="auto">
            <a:xfrm>
              <a:off x="2222" y="686"/>
              <a:ext cx="209" cy="164"/>
              <a:chOff x="1966" y="582"/>
              <a:chExt cx="193" cy="164"/>
            </a:xfrm>
          </p:grpSpPr>
          <p:sp>
            <p:nvSpPr>
              <p:cNvPr id="43164" name="Line 192"/>
              <p:cNvSpPr>
                <a:spLocks noChangeShapeType="1"/>
              </p:cNvSpPr>
              <p:nvPr/>
            </p:nvSpPr>
            <p:spPr bwMode="auto">
              <a:xfrm flipV="1">
                <a:off x="1966" y="582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65" name="Line 193"/>
              <p:cNvSpPr>
                <a:spLocks noChangeShapeType="1"/>
              </p:cNvSpPr>
              <p:nvPr/>
            </p:nvSpPr>
            <p:spPr bwMode="auto">
              <a:xfrm>
                <a:off x="1969" y="743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66" name="Arc 194"/>
              <p:cNvSpPr>
                <a:spLocks/>
              </p:cNvSpPr>
              <p:nvPr/>
            </p:nvSpPr>
            <p:spPr bwMode="auto">
              <a:xfrm>
                <a:off x="2040" y="583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67" name="Arc 195"/>
              <p:cNvSpPr>
                <a:spLocks/>
              </p:cNvSpPr>
              <p:nvPr/>
            </p:nvSpPr>
            <p:spPr bwMode="auto">
              <a:xfrm>
                <a:off x="2039" y="659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lnTo>
                      <a:pt x="2178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68" name="Line 196"/>
              <p:cNvSpPr>
                <a:spLocks noChangeShapeType="1"/>
              </p:cNvSpPr>
              <p:nvPr/>
            </p:nvSpPr>
            <p:spPr bwMode="auto">
              <a:xfrm flipH="1">
                <a:off x="1967" y="582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3151" name="Group 197"/>
            <p:cNvGrpSpPr>
              <a:grpSpLocks/>
            </p:cNvGrpSpPr>
            <p:nvPr/>
          </p:nvGrpSpPr>
          <p:grpSpPr bwMode="auto">
            <a:xfrm>
              <a:off x="2978" y="2161"/>
              <a:ext cx="209" cy="165"/>
              <a:chOff x="1966" y="1414"/>
              <a:chExt cx="193" cy="165"/>
            </a:xfrm>
          </p:grpSpPr>
          <p:sp>
            <p:nvSpPr>
              <p:cNvPr id="43159" name="Line 198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60" name="Line 199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61" name="Arc 200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62" name="Arc 201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lnTo>
                      <a:pt x="2178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63" name="Line 202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3152" name="Group 203"/>
            <p:cNvGrpSpPr>
              <a:grpSpLocks/>
            </p:cNvGrpSpPr>
            <p:nvPr/>
          </p:nvGrpSpPr>
          <p:grpSpPr bwMode="auto">
            <a:xfrm>
              <a:off x="2991" y="1982"/>
              <a:ext cx="211" cy="192"/>
              <a:chOff x="1966" y="1017"/>
              <a:chExt cx="193" cy="192"/>
            </a:xfrm>
          </p:grpSpPr>
          <p:sp>
            <p:nvSpPr>
              <p:cNvPr id="43154" name="Line 204"/>
              <p:cNvSpPr>
                <a:spLocks noChangeShapeType="1"/>
              </p:cNvSpPr>
              <p:nvPr/>
            </p:nvSpPr>
            <p:spPr bwMode="auto">
              <a:xfrm flipV="1">
                <a:off x="1966" y="1017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55" name="Line 205"/>
              <p:cNvSpPr>
                <a:spLocks noChangeShapeType="1"/>
              </p:cNvSpPr>
              <p:nvPr/>
            </p:nvSpPr>
            <p:spPr bwMode="auto">
              <a:xfrm>
                <a:off x="1969" y="1178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56" name="Arc 206"/>
              <p:cNvSpPr>
                <a:spLocks/>
              </p:cNvSpPr>
              <p:nvPr/>
            </p:nvSpPr>
            <p:spPr bwMode="auto">
              <a:xfrm>
                <a:off x="2040" y="1019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57" name="Arc 207"/>
              <p:cNvSpPr>
                <a:spLocks/>
              </p:cNvSpPr>
              <p:nvPr/>
            </p:nvSpPr>
            <p:spPr bwMode="auto">
              <a:xfrm>
                <a:off x="2039" y="112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lnTo>
                      <a:pt x="21781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158" name="Line 208"/>
              <p:cNvSpPr>
                <a:spLocks noChangeShapeType="1"/>
              </p:cNvSpPr>
              <p:nvPr/>
            </p:nvSpPr>
            <p:spPr bwMode="auto">
              <a:xfrm flipH="1">
                <a:off x="1967" y="104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153" name="Arc 210"/>
            <p:cNvSpPr>
              <a:spLocks/>
            </p:cNvSpPr>
            <p:nvPr/>
          </p:nvSpPr>
          <p:spPr bwMode="auto">
            <a:xfrm>
              <a:off x="3800" y="1790"/>
              <a:ext cx="75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lnTo>
                    <a:pt x="1698" y="173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43014" name="Rectangle 4"/>
          <p:cNvSpPr>
            <a:spLocks noChangeArrowheads="1"/>
          </p:cNvSpPr>
          <p:nvPr/>
        </p:nvSpPr>
        <p:spPr bwMode="auto">
          <a:xfrm>
            <a:off x="1854200" y="4659314"/>
            <a:ext cx="8509000" cy="181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IEN:     Set or Clear by instructions ION or IOF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IST:     Represents an unmasked interrupt has occurred. INTACK enables tristate Bus Buffer to load VAD generated by the Priority Logic</a:t>
            </a:r>
          </a:p>
          <a:p>
            <a:pPr eaLnBrk="1" hangingPunct="1">
              <a:lnSpc>
                <a:spcPct val="80000"/>
              </a:lnSpc>
            </a:pPr>
            <a:endParaRPr lang="en-US" altLang="ko-KR" sz="1400" b="1">
              <a:latin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Interrupt Register: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     - Each bit is associated with an Interrupt Request from different Interrupt Source - different priority level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     - Each bit can be cleared by a program instruction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Mask Register:     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     - Mask Register is associated with Interrupt Register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400" b="1">
                <a:latin typeface="Calibri" panose="020F0502020204030204" pitchFamily="34" charset="0"/>
              </a:rPr>
              <a:t>     - Each bit can be set or cleared by an Instruction</a:t>
            </a:r>
          </a:p>
        </p:txBody>
      </p:sp>
    </p:spTree>
    <p:extLst>
      <p:ext uri="{BB962C8B-B14F-4D97-AF65-F5344CB8AC3E}">
        <p14:creationId xmlns:p14="http://schemas.microsoft.com/office/powerpoint/2010/main" val="18328425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Priority Encoder</a:t>
            </a:r>
          </a:p>
        </p:txBody>
      </p:sp>
      <p:sp>
        <p:nvSpPr>
          <p:cNvPr id="44037" name="Rectangle 3"/>
          <p:cNvSpPr>
            <a:spLocks noChangeArrowheads="1"/>
          </p:cNvSpPr>
          <p:nvPr/>
        </p:nvSpPr>
        <p:spPr bwMode="auto">
          <a:xfrm>
            <a:off x="2260601" y="1370013"/>
            <a:ext cx="7440613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2000" b="1">
                <a:latin typeface="Calibri" panose="020F0502020204030204" pitchFamily="34" charset="0"/>
              </a:rPr>
              <a:t>Determines the highest priority interrupt when more than one interrupts take place</a:t>
            </a:r>
          </a:p>
        </p:txBody>
      </p:sp>
      <p:sp>
        <p:nvSpPr>
          <p:cNvPr id="44038" name="Rectangle 4"/>
          <p:cNvSpPr>
            <a:spLocks noChangeArrowheads="1"/>
          </p:cNvSpPr>
          <p:nvPr/>
        </p:nvSpPr>
        <p:spPr bwMode="auto">
          <a:xfrm>
            <a:off x="2432050" y="2182814"/>
            <a:ext cx="312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2000" b="1" u="sng">
                <a:latin typeface="Calibri" panose="020F0502020204030204" pitchFamily="34" charset="0"/>
              </a:rPr>
              <a:t>Priority Encoder Truth table</a:t>
            </a:r>
          </a:p>
        </p:txBody>
      </p:sp>
      <p:sp>
        <p:nvSpPr>
          <p:cNvPr id="44039" name="Rectangle 5"/>
          <p:cNvSpPr>
            <a:spLocks noChangeArrowheads="1"/>
          </p:cNvSpPr>
          <p:nvPr/>
        </p:nvSpPr>
        <p:spPr bwMode="auto">
          <a:xfrm>
            <a:off x="3043239" y="3421063"/>
            <a:ext cx="1042987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1    d    d    d</a:t>
            </a:r>
          </a:p>
          <a:p>
            <a:pPr eaLnBrk="1" latinLnBrk="1" hangingPunct="1"/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0" name="Rectangle 6"/>
          <p:cNvSpPr>
            <a:spLocks noChangeArrowheads="1"/>
          </p:cNvSpPr>
          <p:nvPr/>
        </p:nvSpPr>
        <p:spPr bwMode="auto">
          <a:xfrm>
            <a:off x="3057526" y="3611563"/>
            <a:ext cx="10382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0    1    d    d</a:t>
            </a:r>
          </a:p>
          <a:p>
            <a:pPr eaLnBrk="1" latinLnBrk="1" hangingPunct="1"/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1" name="Rectangle 7"/>
          <p:cNvSpPr>
            <a:spLocks noChangeArrowheads="1"/>
          </p:cNvSpPr>
          <p:nvPr/>
        </p:nvSpPr>
        <p:spPr bwMode="auto">
          <a:xfrm>
            <a:off x="3057526" y="3816350"/>
            <a:ext cx="1033463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0    0    1    d</a:t>
            </a:r>
          </a:p>
          <a:p>
            <a:pPr eaLnBrk="1" hangingPunct="1"/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2" name="Rectangle 8"/>
          <p:cNvSpPr>
            <a:spLocks noChangeArrowheads="1"/>
          </p:cNvSpPr>
          <p:nvPr/>
        </p:nvSpPr>
        <p:spPr bwMode="auto">
          <a:xfrm>
            <a:off x="3057525" y="4010025"/>
            <a:ext cx="1028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0    0    0    1</a:t>
            </a:r>
          </a:p>
        </p:txBody>
      </p:sp>
      <p:sp>
        <p:nvSpPr>
          <p:cNvPr id="44043" name="Rectangle 9"/>
          <p:cNvSpPr>
            <a:spLocks noChangeArrowheads="1"/>
          </p:cNvSpPr>
          <p:nvPr/>
        </p:nvSpPr>
        <p:spPr bwMode="auto">
          <a:xfrm>
            <a:off x="3057525" y="4187825"/>
            <a:ext cx="1028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0    0    0    0</a:t>
            </a:r>
          </a:p>
        </p:txBody>
      </p:sp>
      <p:sp>
        <p:nvSpPr>
          <p:cNvPr id="44044" name="Rectangle 10"/>
          <p:cNvSpPr>
            <a:spLocks noChangeArrowheads="1"/>
          </p:cNvSpPr>
          <p:nvPr/>
        </p:nvSpPr>
        <p:spPr bwMode="auto">
          <a:xfrm>
            <a:off x="3079750" y="31623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I</a:t>
            </a:r>
            <a:r>
              <a:rPr lang="en-US" altLang="ko-KR" sz="1400" b="1" baseline="-25000">
                <a:latin typeface="Calibri" panose="020F0502020204030204" pitchFamily="34" charset="0"/>
              </a:rPr>
              <a:t>0</a:t>
            </a:r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5" name="Rectangle 12"/>
          <p:cNvSpPr>
            <a:spLocks noChangeArrowheads="1"/>
          </p:cNvSpPr>
          <p:nvPr/>
        </p:nvSpPr>
        <p:spPr bwMode="auto">
          <a:xfrm>
            <a:off x="3276600" y="31623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I</a:t>
            </a:r>
            <a:r>
              <a:rPr lang="en-US" altLang="ko-KR" sz="1400" b="1" baseline="-25000">
                <a:latin typeface="Calibri" panose="020F0502020204030204" pitchFamily="34" charset="0"/>
              </a:rPr>
              <a:t>1</a:t>
            </a:r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6" name="Rectangle 14"/>
          <p:cNvSpPr>
            <a:spLocks noChangeArrowheads="1"/>
          </p:cNvSpPr>
          <p:nvPr/>
        </p:nvSpPr>
        <p:spPr bwMode="auto">
          <a:xfrm>
            <a:off x="3505200" y="31623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I</a:t>
            </a:r>
            <a:r>
              <a:rPr lang="en-US" altLang="ko-KR" sz="1400" b="1" baseline="-25000">
                <a:latin typeface="Calibri" panose="020F0502020204030204" pitchFamily="34" charset="0"/>
              </a:rPr>
              <a:t>2</a:t>
            </a:r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7" name="Rectangle 16"/>
          <p:cNvSpPr>
            <a:spLocks noChangeArrowheads="1"/>
          </p:cNvSpPr>
          <p:nvPr/>
        </p:nvSpPr>
        <p:spPr bwMode="auto">
          <a:xfrm>
            <a:off x="3810000" y="31623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I</a:t>
            </a:r>
            <a:r>
              <a:rPr lang="en-US" altLang="ko-KR" sz="1400" b="1" baseline="-25000">
                <a:latin typeface="Calibri" panose="020F0502020204030204" pitchFamily="34" charset="0"/>
              </a:rPr>
              <a:t>3</a:t>
            </a:r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8" name="Rectangle 18"/>
          <p:cNvSpPr>
            <a:spLocks noChangeArrowheads="1"/>
          </p:cNvSpPr>
          <p:nvPr/>
        </p:nvSpPr>
        <p:spPr bwMode="auto">
          <a:xfrm>
            <a:off x="4705351" y="3421063"/>
            <a:ext cx="7778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0    0    1</a:t>
            </a:r>
          </a:p>
          <a:p>
            <a:pPr eaLnBrk="1" hangingPunct="1"/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49" name="Rectangle 19"/>
          <p:cNvSpPr>
            <a:spLocks noChangeArrowheads="1"/>
          </p:cNvSpPr>
          <p:nvPr/>
        </p:nvSpPr>
        <p:spPr bwMode="auto">
          <a:xfrm>
            <a:off x="4705351" y="3611563"/>
            <a:ext cx="7778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0    1    1</a:t>
            </a:r>
          </a:p>
          <a:p>
            <a:pPr eaLnBrk="1" hangingPunct="1"/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50" name="Rectangle 20"/>
          <p:cNvSpPr>
            <a:spLocks noChangeArrowheads="1"/>
          </p:cNvSpPr>
          <p:nvPr/>
        </p:nvSpPr>
        <p:spPr bwMode="auto">
          <a:xfrm>
            <a:off x="4705351" y="3803650"/>
            <a:ext cx="7778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1    0    1</a:t>
            </a:r>
          </a:p>
          <a:p>
            <a:pPr eaLnBrk="1" hangingPunct="1"/>
            <a:endParaRPr lang="en-US" altLang="ko-KR" sz="1400" b="1">
              <a:latin typeface="Calibri" panose="020F0502020204030204" pitchFamily="34" charset="0"/>
            </a:endParaRPr>
          </a:p>
        </p:txBody>
      </p:sp>
      <p:sp>
        <p:nvSpPr>
          <p:cNvPr id="44051" name="Rectangle 21"/>
          <p:cNvSpPr>
            <a:spLocks noChangeArrowheads="1"/>
          </p:cNvSpPr>
          <p:nvPr/>
        </p:nvSpPr>
        <p:spPr bwMode="auto">
          <a:xfrm>
            <a:off x="4705351" y="3994150"/>
            <a:ext cx="777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1    1    1</a:t>
            </a:r>
          </a:p>
        </p:txBody>
      </p:sp>
      <p:sp>
        <p:nvSpPr>
          <p:cNvPr id="44052" name="Rectangle 22"/>
          <p:cNvSpPr>
            <a:spLocks noChangeArrowheads="1"/>
          </p:cNvSpPr>
          <p:nvPr/>
        </p:nvSpPr>
        <p:spPr bwMode="auto">
          <a:xfrm>
            <a:off x="4724401" y="4187825"/>
            <a:ext cx="747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d   d    0</a:t>
            </a:r>
          </a:p>
        </p:txBody>
      </p:sp>
      <p:sp>
        <p:nvSpPr>
          <p:cNvPr id="44053" name="Rectangle 23"/>
          <p:cNvSpPr>
            <a:spLocks noChangeArrowheads="1"/>
          </p:cNvSpPr>
          <p:nvPr/>
        </p:nvSpPr>
        <p:spPr bwMode="auto">
          <a:xfrm>
            <a:off x="4695826" y="3144838"/>
            <a:ext cx="8493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x    y   IST</a:t>
            </a:r>
          </a:p>
        </p:txBody>
      </p:sp>
      <p:sp>
        <p:nvSpPr>
          <p:cNvPr id="44054" name="Rectangle 24"/>
          <p:cNvSpPr>
            <a:spLocks noChangeArrowheads="1"/>
          </p:cNvSpPr>
          <p:nvPr/>
        </p:nvSpPr>
        <p:spPr bwMode="auto">
          <a:xfrm>
            <a:off x="5994401" y="3776663"/>
            <a:ext cx="8159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x = I</a:t>
            </a:r>
            <a:r>
              <a:rPr lang="en-US" altLang="ko-KR" sz="1400" b="1" baseline="-25000">
                <a:latin typeface="Calibri" panose="020F0502020204030204" pitchFamily="34" charset="0"/>
              </a:rPr>
              <a:t>0</a:t>
            </a:r>
            <a:r>
              <a:rPr lang="en-US" altLang="ko-KR" sz="1400" b="1">
                <a:latin typeface="Calibri" panose="020F0502020204030204" pitchFamily="34" charset="0"/>
              </a:rPr>
              <a:t>'  I</a:t>
            </a:r>
            <a:r>
              <a:rPr lang="en-US" altLang="ko-KR" sz="1400" b="1" baseline="-25000">
                <a:latin typeface="Calibri" panose="020F0502020204030204" pitchFamily="34" charset="0"/>
              </a:rPr>
              <a:t>1</a:t>
            </a:r>
            <a:r>
              <a:rPr lang="en-US" altLang="ko-KR" sz="1400" b="1">
                <a:latin typeface="Calibri" panose="020F0502020204030204" pitchFamily="34" charset="0"/>
              </a:rPr>
              <a:t>'</a:t>
            </a:r>
          </a:p>
        </p:txBody>
      </p:sp>
      <p:sp>
        <p:nvSpPr>
          <p:cNvPr id="44055" name="Rectangle 25"/>
          <p:cNvSpPr>
            <a:spLocks noChangeArrowheads="1"/>
          </p:cNvSpPr>
          <p:nvPr/>
        </p:nvSpPr>
        <p:spPr bwMode="auto">
          <a:xfrm>
            <a:off x="5984875" y="3967163"/>
            <a:ext cx="1258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y = I</a:t>
            </a:r>
            <a:r>
              <a:rPr lang="en-US" altLang="ko-KR" sz="1400" b="1" baseline="-25000">
                <a:latin typeface="Calibri" panose="020F0502020204030204" pitchFamily="34" charset="0"/>
              </a:rPr>
              <a:t>0</a:t>
            </a:r>
            <a:r>
              <a:rPr lang="en-US" altLang="ko-KR" sz="1400" b="1">
                <a:latin typeface="Calibri" panose="020F0502020204030204" pitchFamily="34" charset="0"/>
              </a:rPr>
              <a:t>' I</a:t>
            </a:r>
            <a:r>
              <a:rPr lang="en-US" altLang="ko-KR" sz="1400" b="1" baseline="-25000">
                <a:latin typeface="Calibri" panose="020F0502020204030204" pitchFamily="34" charset="0"/>
              </a:rPr>
              <a:t>1</a:t>
            </a:r>
            <a:r>
              <a:rPr lang="en-US" altLang="ko-KR" sz="1400" b="1">
                <a:latin typeface="Calibri" panose="020F0502020204030204" pitchFamily="34" charset="0"/>
              </a:rPr>
              <a:t> + I</a:t>
            </a:r>
            <a:r>
              <a:rPr lang="en-US" altLang="ko-KR" sz="1400" b="1" baseline="-25000">
                <a:latin typeface="Calibri" panose="020F0502020204030204" pitchFamily="34" charset="0"/>
              </a:rPr>
              <a:t>0</a:t>
            </a:r>
            <a:r>
              <a:rPr lang="en-US" altLang="ko-KR" sz="1400" b="1">
                <a:latin typeface="Calibri" panose="020F0502020204030204" pitchFamily="34" charset="0"/>
              </a:rPr>
              <a:t>’ I</a:t>
            </a:r>
            <a:r>
              <a:rPr lang="en-US" altLang="ko-KR" sz="1400" b="1" baseline="-25000">
                <a:latin typeface="Calibri" panose="020F0502020204030204" pitchFamily="34" charset="0"/>
              </a:rPr>
              <a:t>2</a:t>
            </a:r>
            <a:r>
              <a:rPr lang="en-US" altLang="ko-KR" sz="1400" b="1">
                <a:latin typeface="Calibri" panose="020F0502020204030204" pitchFamily="34" charset="0"/>
              </a:rPr>
              <a:t>’</a:t>
            </a:r>
          </a:p>
        </p:txBody>
      </p:sp>
      <p:sp>
        <p:nvSpPr>
          <p:cNvPr id="44056" name="Rectangle 26"/>
          <p:cNvSpPr>
            <a:spLocks noChangeArrowheads="1"/>
          </p:cNvSpPr>
          <p:nvPr/>
        </p:nvSpPr>
        <p:spPr bwMode="auto">
          <a:xfrm>
            <a:off x="5937250" y="4179888"/>
            <a:ext cx="1709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(IST) = I</a:t>
            </a:r>
            <a:r>
              <a:rPr lang="en-US" altLang="ko-KR" sz="1400" b="1" baseline="-25000">
                <a:latin typeface="Calibri" panose="020F0502020204030204" pitchFamily="34" charset="0"/>
              </a:rPr>
              <a:t>0</a:t>
            </a:r>
            <a:r>
              <a:rPr lang="en-US" altLang="ko-KR" sz="1400" b="1">
                <a:latin typeface="Calibri" panose="020F0502020204030204" pitchFamily="34" charset="0"/>
              </a:rPr>
              <a:t> + I</a:t>
            </a:r>
            <a:r>
              <a:rPr lang="en-US" altLang="ko-KR" sz="1400" b="1" baseline="-25000">
                <a:latin typeface="Calibri" panose="020F0502020204030204" pitchFamily="34" charset="0"/>
              </a:rPr>
              <a:t>1</a:t>
            </a:r>
            <a:r>
              <a:rPr lang="en-US" altLang="ko-KR" sz="1400" b="1">
                <a:latin typeface="Calibri" panose="020F0502020204030204" pitchFamily="34" charset="0"/>
              </a:rPr>
              <a:t> + I</a:t>
            </a:r>
            <a:r>
              <a:rPr lang="en-US" altLang="ko-KR" sz="1400" b="1" baseline="-25000">
                <a:latin typeface="Calibri" panose="020F0502020204030204" pitchFamily="34" charset="0"/>
              </a:rPr>
              <a:t>2</a:t>
            </a:r>
            <a:r>
              <a:rPr lang="en-US" altLang="ko-KR" sz="1400" b="1">
                <a:latin typeface="Calibri" panose="020F0502020204030204" pitchFamily="34" charset="0"/>
              </a:rPr>
              <a:t> + I</a:t>
            </a:r>
            <a:r>
              <a:rPr lang="en-US" altLang="ko-KR" sz="1400" b="1" baseline="-25000">
                <a:latin typeface="Calibri" panose="020F0502020204030204" pitchFamily="34" charset="0"/>
              </a:rPr>
              <a:t>3</a:t>
            </a:r>
            <a:r>
              <a:rPr lang="en-US" altLang="ko-KR" sz="1400" b="1">
                <a:latin typeface="Calibri" panose="020F0502020204030204" pitchFamily="34" charset="0"/>
              </a:rPr>
              <a:t>  </a:t>
            </a:r>
          </a:p>
        </p:txBody>
      </p:sp>
      <p:sp>
        <p:nvSpPr>
          <p:cNvPr id="44057" name="Line 32"/>
          <p:cNvSpPr>
            <a:spLocks noChangeShapeType="1"/>
          </p:cNvSpPr>
          <p:nvPr/>
        </p:nvSpPr>
        <p:spPr bwMode="auto">
          <a:xfrm>
            <a:off x="3028950" y="4452938"/>
            <a:ext cx="508158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58" name="Line 33"/>
          <p:cNvSpPr>
            <a:spLocks noChangeShapeType="1"/>
          </p:cNvSpPr>
          <p:nvPr/>
        </p:nvSpPr>
        <p:spPr bwMode="auto">
          <a:xfrm>
            <a:off x="3019425" y="3432175"/>
            <a:ext cx="508158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59" name="Line 34"/>
          <p:cNvSpPr>
            <a:spLocks noChangeShapeType="1"/>
          </p:cNvSpPr>
          <p:nvPr/>
        </p:nvSpPr>
        <p:spPr bwMode="auto">
          <a:xfrm>
            <a:off x="3019425" y="2865438"/>
            <a:ext cx="508158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0" name="Rectangle 35"/>
          <p:cNvSpPr>
            <a:spLocks noChangeArrowheads="1"/>
          </p:cNvSpPr>
          <p:nvPr/>
        </p:nvSpPr>
        <p:spPr bwMode="auto">
          <a:xfrm>
            <a:off x="3263900" y="2876550"/>
            <a:ext cx="654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Inputs</a:t>
            </a:r>
          </a:p>
        </p:txBody>
      </p:sp>
      <p:sp>
        <p:nvSpPr>
          <p:cNvPr id="44061" name="Rectangle 36"/>
          <p:cNvSpPr>
            <a:spLocks noChangeArrowheads="1"/>
          </p:cNvSpPr>
          <p:nvPr/>
        </p:nvSpPr>
        <p:spPr bwMode="auto">
          <a:xfrm>
            <a:off x="4765676" y="2876550"/>
            <a:ext cx="790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Outputs</a:t>
            </a:r>
          </a:p>
        </p:txBody>
      </p:sp>
      <p:sp>
        <p:nvSpPr>
          <p:cNvPr id="44062" name="Rectangle 37"/>
          <p:cNvSpPr>
            <a:spLocks noChangeArrowheads="1"/>
          </p:cNvSpPr>
          <p:nvPr/>
        </p:nvSpPr>
        <p:spPr bwMode="auto">
          <a:xfrm>
            <a:off x="6088063" y="3148013"/>
            <a:ext cx="1530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latin typeface="Calibri" panose="020F0502020204030204" pitchFamily="34" charset="0"/>
              </a:rPr>
              <a:t>Boolean functions</a:t>
            </a:r>
          </a:p>
        </p:txBody>
      </p:sp>
      <p:sp>
        <p:nvSpPr>
          <p:cNvPr id="44063" name="Line 38"/>
          <p:cNvSpPr>
            <a:spLocks noChangeShapeType="1"/>
          </p:cNvSpPr>
          <p:nvPr/>
        </p:nvSpPr>
        <p:spPr bwMode="auto">
          <a:xfrm>
            <a:off x="3019426" y="3154363"/>
            <a:ext cx="129381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4" name="Line 39"/>
          <p:cNvSpPr>
            <a:spLocks noChangeShapeType="1"/>
          </p:cNvSpPr>
          <p:nvPr/>
        </p:nvSpPr>
        <p:spPr bwMode="auto">
          <a:xfrm>
            <a:off x="4538664" y="3154363"/>
            <a:ext cx="12350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309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6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Interrupt Cycle</a:t>
            </a:r>
          </a:p>
        </p:txBody>
      </p:sp>
      <p:sp>
        <p:nvSpPr>
          <p:cNvPr id="45061" name="Rectangle 2"/>
          <p:cNvSpPr>
            <a:spLocks noChangeArrowheads="1"/>
          </p:cNvSpPr>
          <p:nvPr/>
        </p:nvSpPr>
        <p:spPr bwMode="auto">
          <a:xfrm>
            <a:off x="2301875" y="1603376"/>
            <a:ext cx="7613650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127000" indent="-1270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4000"/>
              </a:lnSpc>
              <a:spcBef>
                <a:spcPct val="47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At the end of each Instruction cycle </a:t>
            </a:r>
          </a:p>
          <a:p>
            <a:pPr eaLnBrk="1" hangingPunct="1">
              <a:lnSpc>
                <a:spcPct val="94000"/>
              </a:lnSpc>
              <a:spcBef>
                <a:spcPct val="47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     - CPU checks IEN and IST</a:t>
            </a:r>
          </a:p>
          <a:p>
            <a:pPr eaLnBrk="1" hangingPunct="1">
              <a:lnSpc>
                <a:spcPct val="94000"/>
              </a:lnSpc>
              <a:spcBef>
                <a:spcPct val="47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     - If IEN </a:t>
            </a:r>
            <a:r>
              <a:rPr lang="en-US" altLang="ko-KR" b="1" dirty="0">
                <a:cs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n-US" altLang="ko-KR" b="1" dirty="0">
                <a:cs typeface="Arial" panose="020B0604020202020204" pitchFamily="34" charset="0"/>
              </a:rPr>
              <a:t> IST = 1, CPU -&gt; Interrupt Cycle</a:t>
            </a:r>
          </a:p>
          <a:p>
            <a:pPr eaLnBrk="1" hangingPunct="1">
              <a:lnSpc>
                <a:spcPct val="94000"/>
              </a:lnSpc>
              <a:spcBef>
                <a:spcPct val="47000"/>
              </a:spcBef>
            </a:pPr>
            <a:endParaRPr lang="en-US" altLang="ko-KR" b="1" dirty="0">
              <a:cs typeface="Arial" panose="020B0604020202020204" pitchFamily="34" charset="0"/>
            </a:endParaRPr>
          </a:p>
        </p:txBody>
      </p:sp>
      <p:sp>
        <p:nvSpPr>
          <p:cNvPr id="45062" name="Rectangle 3"/>
          <p:cNvSpPr>
            <a:spLocks noChangeArrowheads="1"/>
          </p:cNvSpPr>
          <p:nvPr/>
        </p:nvSpPr>
        <p:spPr bwMode="auto">
          <a:xfrm>
            <a:off x="3089276" y="4238626"/>
            <a:ext cx="3492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b="1">
              <a:cs typeface="Arial" panose="020B0604020202020204" pitchFamily="34" charset="0"/>
            </a:endParaRPr>
          </a:p>
        </p:txBody>
      </p:sp>
      <p:sp>
        <p:nvSpPr>
          <p:cNvPr id="45063" name="Rectangle 5"/>
          <p:cNvSpPr>
            <a:spLocks noChangeArrowheads="1"/>
          </p:cNvSpPr>
          <p:nvPr/>
        </p:nvSpPr>
        <p:spPr bwMode="auto">
          <a:xfrm>
            <a:off x="2519363" y="2822575"/>
            <a:ext cx="7081837" cy="2358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SP </a:t>
            </a:r>
            <a:r>
              <a:rPr lang="en-US" altLang="ko-KR" b="1" dirty="0"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b="1" dirty="0">
                <a:cs typeface="Arial" panose="020B0604020202020204" pitchFamily="34" charset="0"/>
              </a:rPr>
              <a:t>SP - 1	Decrement stack pointer</a:t>
            </a:r>
          </a:p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M[SP] </a:t>
            </a:r>
            <a:r>
              <a:rPr lang="en-US" altLang="ko-KR" b="1" dirty="0"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b="1" dirty="0">
                <a:cs typeface="Arial" panose="020B0604020202020204" pitchFamily="34" charset="0"/>
              </a:rPr>
              <a:t> PC	Push PC into stack</a:t>
            </a:r>
          </a:p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INTACK </a:t>
            </a:r>
            <a:r>
              <a:rPr lang="en-US" altLang="ko-KR" b="1" dirty="0"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b="1" dirty="0">
                <a:cs typeface="Arial" panose="020B0604020202020204" pitchFamily="34" charset="0"/>
              </a:rPr>
              <a:t> 1	Enable interrupt acknowledge</a:t>
            </a:r>
          </a:p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PC </a:t>
            </a:r>
            <a:r>
              <a:rPr lang="en-US" altLang="ko-KR" b="1" dirty="0"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b="1" dirty="0">
                <a:cs typeface="Arial" panose="020B0604020202020204" pitchFamily="34" charset="0"/>
              </a:rPr>
              <a:t> VAD	Transfer vector address to PC</a:t>
            </a:r>
          </a:p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IEN </a:t>
            </a:r>
            <a:r>
              <a:rPr lang="en-US" altLang="ko-KR" b="1" dirty="0"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b="1" dirty="0">
                <a:cs typeface="Arial" panose="020B0604020202020204" pitchFamily="34" charset="0"/>
              </a:rPr>
              <a:t> 0	            Disable further interrupts</a:t>
            </a:r>
          </a:p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Go To Fetch      to execute the first instruction</a:t>
            </a:r>
          </a:p>
          <a:p>
            <a:pPr lvl="1" eaLnBrk="1" hangingPunct="1">
              <a:lnSpc>
                <a:spcPct val="95000"/>
              </a:lnSpc>
              <a:spcBef>
                <a:spcPct val="9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                           in the interrupt service routine</a:t>
            </a:r>
          </a:p>
          <a:p>
            <a:pPr eaLnBrk="1" latinLnBrk="1" hangingPunct="1"/>
            <a:endParaRPr lang="en-US" altLang="ko-KR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680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8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Initial and Final Operations</a:t>
            </a:r>
          </a:p>
        </p:txBody>
      </p:sp>
      <p:sp>
        <p:nvSpPr>
          <p:cNvPr id="46085" name="Rectangle 3"/>
          <p:cNvSpPr>
            <a:spLocks noChangeArrowheads="1"/>
          </p:cNvSpPr>
          <p:nvPr/>
        </p:nvSpPr>
        <p:spPr bwMode="auto">
          <a:xfrm>
            <a:off x="3089276" y="4238626"/>
            <a:ext cx="3492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b="1">
              <a:cs typeface="Arial" panose="020B0604020202020204" pitchFamily="34" charset="0"/>
            </a:endParaRPr>
          </a:p>
        </p:txBody>
      </p:sp>
      <p:grpSp>
        <p:nvGrpSpPr>
          <p:cNvPr id="46086" name="Group 106"/>
          <p:cNvGrpSpPr>
            <a:grpSpLocks/>
          </p:cNvGrpSpPr>
          <p:nvPr/>
        </p:nvGrpSpPr>
        <p:grpSpPr bwMode="auto">
          <a:xfrm>
            <a:off x="2257426" y="1066801"/>
            <a:ext cx="6810375" cy="2974975"/>
            <a:chOff x="280988" y="971550"/>
            <a:chExt cx="6810375" cy="2975258"/>
          </a:xfrm>
        </p:grpSpPr>
        <p:sp>
          <p:nvSpPr>
            <p:cNvPr id="46093" name="Line 7"/>
            <p:cNvSpPr>
              <a:spLocks noChangeShapeType="1"/>
            </p:cNvSpPr>
            <p:nvPr/>
          </p:nvSpPr>
          <p:spPr bwMode="auto">
            <a:xfrm>
              <a:off x="2425700" y="1187450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4" name="Line 8"/>
            <p:cNvSpPr>
              <a:spLocks noChangeShapeType="1"/>
            </p:cNvSpPr>
            <p:nvPr/>
          </p:nvSpPr>
          <p:spPr bwMode="auto">
            <a:xfrm>
              <a:off x="2425700" y="1406525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5" name="Line 9"/>
            <p:cNvSpPr>
              <a:spLocks noChangeShapeType="1"/>
            </p:cNvSpPr>
            <p:nvPr/>
          </p:nvSpPr>
          <p:spPr bwMode="auto">
            <a:xfrm>
              <a:off x="2425700" y="1622425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6" name="Line 10"/>
            <p:cNvSpPr>
              <a:spLocks noChangeShapeType="1"/>
            </p:cNvSpPr>
            <p:nvPr/>
          </p:nvSpPr>
          <p:spPr bwMode="auto">
            <a:xfrm>
              <a:off x="2425700" y="1838325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7" name="Line 11"/>
            <p:cNvSpPr>
              <a:spLocks noChangeShapeType="1"/>
            </p:cNvSpPr>
            <p:nvPr/>
          </p:nvSpPr>
          <p:spPr bwMode="auto">
            <a:xfrm>
              <a:off x="2425700" y="2054225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8" name="Rectangle 12"/>
            <p:cNvSpPr>
              <a:spLocks noChangeArrowheads="1"/>
            </p:cNvSpPr>
            <p:nvPr/>
          </p:nvSpPr>
          <p:spPr bwMode="auto">
            <a:xfrm>
              <a:off x="2559050" y="1395413"/>
              <a:ext cx="82554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JMP  PTR</a:t>
              </a:r>
            </a:p>
          </p:txBody>
        </p:sp>
        <p:sp>
          <p:nvSpPr>
            <p:cNvPr id="46099" name="Rectangle 13"/>
            <p:cNvSpPr>
              <a:spLocks noChangeArrowheads="1"/>
            </p:cNvSpPr>
            <p:nvPr/>
          </p:nvSpPr>
          <p:spPr bwMode="auto">
            <a:xfrm>
              <a:off x="2573338" y="1612900"/>
              <a:ext cx="84959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JMP  RDR</a:t>
              </a:r>
            </a:p>
          </p:txBody>
        </p:sp>
        <p:sp>
          <p:nvSpPr>
            <p:cNvPr id="46100" name="Rectangle 14"/>
            <p:cNvSpPr>
              <a:spLocks noChangeArrowheads="1"/>
            </p:cNvSpPr>
            <p:nvPr/>
          </p:nvSpPr>
          <p:spPr bwMode="auto">
            <a:xfrm>
              <a:off x="2573338" y="1828800"/>
              <a:ext cx="85760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JMP  KBD</a:t>
              </a:r>
            </a:p>
          </p:txBody>
        </p:sp>
        <p:sp>
          <p:nvSpPr>
            <p:cNvPr id="46101" name="Rectangle 15"/>
            <p:cNvSpPr>
              <a:spLocks noChangeArrowheads="1"/>
            </p:cNvSpPr>
            <p:nvPr/>
          </p:nvSpPr>
          <p:spPr bwMode="auto">
            <a:xfrm>
              <a:off x="2559050" y="1177925"/>
              <a:ext cx="88806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JMP  DISK</a:t>
              </a:r>
            </a:p>
          </p:txBody>
        </p:sp>
        <p:sp>
          <p:nvSpPr>
            <p:cNvPr id="46102" name="Line 16"/>
            <p:cNvSpPr>
              <a:spLocks noChangeShapeType="1"/>
            </p:cNvSpPr>
            <p:nvPr/>
          </p:nvSpPr>
          <p:spPr bwMode="auto">
            <a:xfrm>
              <a:off x="2417763" y="1195388"/>
              <a:ext cx="0" cy="2305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3" name="Line 17"/>
            <p:cNvSpPr>
              <a:spLocks noChangeShapeType="1"/>
            </p:cNvSpPr>
            <p:nvPr/>
          </p:nvSpPr>
          <p:spPr bwMode="auto">
            <a:xfrm>
              <a:off x="3740150" y="1185863"/>
              <a:ext cx="0" cy="23098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4" name="Rectangle 18"/>
            <p:cNvSpPr>
              <a:spLocks noChangeArrowheads="1"/>
            </p:cNvSpPr>
            <p:nvPr/>
          </p:nvSpPr>
          <p:spPr bwMode="auto">
            <a:xfrm>
              <a:off x="2047875" y="1177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105" name="Rectangle 19"/>
            <p:cNvSpPr>
              <a:spLocks noChangeArrowheads="1"/>
            </p:cNvSpPr>
            <p:nvPr/>
          </p:nvSpPr>
          <p:spPr bwMode="auto">
            <a:xfrm>
              <a:off x="2047875" y="13954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6106" name="Rectangle 20"/>
            <p:cNvSpPr>
              <a:spLocks noChangeArrowheads="1"/>
            </p:cNvSpPr>
            <p:nvPr/>
          </p:nvSpPr>
          <p:spPr bwMode="auto">
            <a:xfrm>
              <a:off x="2047875" y="16129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6107" name="Rectangle 21"/>
            <p:cNvSpPr>
              <a:spLocks noChangeArrowheads="1"/>
            </p:cNvSpPr>
            <p:nvPr/>
          </p:nvSpPr>
          <p:spPr bwMode="auto">
            <a:xfrm>
              <a:off x="2047875" y="18288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6108" name="Line 22"/>
            <p:cNvSpPr>
              <a:spLocks noChangeShapeType="1"/>
            </p:cNvSpPr>
            <p:nvPr/>
          </p:nvSpPr>
          <p:spPr bwMode="auto">
            <a:xfrm>
              <a:off x="2005013" y="971550"/>
              <a:ext cx="2476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9" name="Arc 23"/>
            <p:cNvSpPr>
              <a:spLocks/>
            </p:cNvSpPr>
            <p:nvPr/>
          </p:nvSpPr>
          <p:spPr bwMode="auto">
            <a:xfrm>
              <a:off x="2197100" y="1057275"/>
              <a:ext cx="114300" cy="120650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10" name="Line 24"/>
            <p:cNvSpPr>
              <a:spLocks noChangeShapeType="1"/>
            </p:cNvSpPr>
            <p:nvPr/>
          </p:nvSpPr>
          <p:spPr bwMode="auto">
            <a:xfrm>
              <a:off x="2252663" y="977900"/>
              <a:ext cx="0" cy="90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11" name="Rectangle 26"/>
            <p:cNvSpPr>
              <a:spLocks noChangeArrowheads="1"/>
            </p:cNvSpPr>
            <p:nvPr/>
          </p:nvSpPr>
          <p:spPr bwMode="auto">
            <a:xfrm>
              <a:off x="5319713" y="1177925"/>
              <a:ext cx="1458734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Program to service</a:t>
              </a:r>
            </a:p>
            <a:p>
              <a:pPr eaLnBrk="1" hangingPunct="1"/>
              <a:endParaRPr lang="en-US" altLang="ko-KR" sz="1100" b="1">
                <a:cs typeface="Arial" panose="020B0604020202020204" pitchFamily="34" charset="0"/>
              </a:endParaRPr>
            </a:p>
          </p:txBody>
        </p:sp>
        <p:sp>
          <p:nvSpPr>
            <p:cNvPr id="46112" name="Rectangle 27"/>
            <p:cNvSpPr>
              <a:spLocks noChangeArrowheads="1"/>
            </p:cNvSpPr>
            <p:nvPr/>
          </p:nvSpPr>
          <p:spPr bwMode="auto">
            <a:xfrm>
              <a:off x="5572125" y="1357313"/>
              <a:ext cx="112210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magnetic disk</a:t>
              </a:r>
            </a:p>
          </p:txBody>
        </p:sp>
        <p:sp>
          <p:nvSpPr>
            <p:cNvPr id="46113" name="Rectangle 28"/>
            <p:cNvSpPr>
              <a:spLocks noChangeArrowheads="1"/>
            </p:cNvSpPr>
            <p:nvPr/>
          </p:nvSpPr>
          <p:spPr bwMode="auto">
            <a:xfrm>
              <a:off x="5303838" y="1663700"/>
              <a:ext cx="1458734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Program to service</a:t>
              </a:r>
            </a:p>
            <a:p>
              <a:pPr eaLnBrk="1" hangingPunct="1"/>
              <a:endParaRPr lang="en-US" altLang="ko-KR" sz="1100" b="1">
                <a:cs typeface="Arial" panose="020B0604020202020204" pitchFamily="34" charset="0"/>
              </a:endParaRPr>
            </a:p>
          </p:txBody>
        </p:sp>
        <p:sp>
          <p:nvSpPr>
            <p:cNvPr id="46114" name="Rectangle 29"/>
            <p:cNvSpPr>
              <a:spLocks noChangeArrowheads="1"/>
            </p:cNvSpPr>
            <p:nvPr/>
          </p:nvSpPr>
          <p:spPr bwMode="auto">
            <a:xfrm>
              <a:off x="5710238" y="1854200"/>
              <a:ext cx="90890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line printer</a:t>
              </a:r>
            </a:p>
          </p:txBody>
        </p:sp>
        <p:sp>
          <p:nvSpPr>
            <p:cNvPr id="46115" name="Rectangle 30"/>
            <p:cNvSpPr>
              <a:spLocks noChangeArrowheads="1"/>
            </p:cNvSpPr>
            <p:nvPr/>
          </p:nvSpPr>
          <p:spPr bwMode="auto">
            <a:xfrm>
              <a:off x="5287963" y="2185988"/>
              <a:ext cx="1458734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Program to service</a:t>
              </a:r>
            </a:p>
            <a:p>
              <a:pPr eaLnBrk="1" hangingPunct="1"/>
              <a:endParaRPr lang="en-US" altLang="ko-KR" sz="1100" b="1">
                <a:cs typeface="Arial" panose="020B0604020202020204" pitchFamily="34" charset="0"/>
              </a:endParaRPr>
            </a:p>
          </p:txBody>
        </p:sp>
        <p:sp>
          <p:nvSpPr>
            <p:cNvPr id="46116" name="Rectangle 31"/>
            <p:cNvSpPr>
              <a:spLocks noChangeArrowheads="1"/>
            </p:cNvSpPr>
            <p:nvPr/>
          </p:nvSpPr>
          <p:spPr bwMode="auto">
            <a:xfrm>
              <a:off x="5468938" y="2376488"/>
              <a:ext cx="128721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character reader</a:t>
              </a:r>
            </a:p>
          </p:txBody>
        </p:sp>
        <p:sp>
          <p:nvSpPr>
            <p:cNvPr id="46117" name="Rectangle 32"/>
            <p:cNvSpPr>
              <a:spLocks noChangeArrowheads="1"/>
            </p:cNvSpPr>
            <p:nvPr/>
          </p:nvSpPr>
          <p:spPr bwMode="auto">
            <a:xfrm>
              <a:off x="5287963" y="2693988"/>
              <a:ext cx="1458734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Program to service</a:t>
              </a:r>
            </a:p>
            <a:p>
              <a:pPr eaLnBrk="1" hangingPunct="1"/>
              <a:endParaRPr lang="en-US" altLang="ko-KR" sz="1100" b="1">
                <a:cs typeface="Arial" panose="020B0604020202020204" pitchFamily="34" charset="0"/>
              </a:endParaRPr>
            </a:p>
          </p:txBody>
        </p:sp>
        <p:sp>
          <p:nvSpPr>
            <p:cNvPr id="46118" name="Rectangle 33"/>
            <p:cNvSpPr>
              <a:spLocks noChangeArrowheads="1"/>
            </p:cNvSpPr>
            <p:nvPr/>
          </p:nvSpPr>
          <p:spPr bwMode="auto">
            <a:xfrm>
              <a:off x="5753100" y="2873375"/>
              <a:ext cx="8111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keyboard</a:t>
              </a:r>
            </a:p>
          </p:txBody>
        </p:sp>
        <p:sp>
          <p:nvSpPr>
            <p:cNvPr id="46119" name="Line 34"/>
            <p:cNvSpPr>
              <a:spLocks noChangeShapeType="1"/>
            </p:cNvSpPr>
            <p:nvPr/>
          </p:nvSpPr>
          <p:spPr bwMode="auto">
            <a:xfrm>
              <a:off x="5319713" y="1187450"/>
              <a:ext cx="17557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0" name="Line 35"/>
            <p:cNvSpPr>
              <a:spLocks noChangeShapeType="1"/>
            </p:cNvSpPr>
            <p:nvPr/>
          </p:nvSpPr>
          <p:spPr bwMode="auto">
            <a:xfrm>
              <a:off x="5313363" y="1195388"/>
              <a:ext cx="4762" cy="2389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1" name="Line 36"/>
            <p:cNvSpPr>
              <a:spLocks noChangeShapeType="1"/>
            </p:cNvSpPr>
            <p:nvPr/>
          </p:nvSpPr>
          <p:spPr bwMode="auto">
            <a:xfrm>
              <a:off x="7075488" y="1190625"/>
              <a:ext cx="0" cy="2376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2" name="Line 37"/>
            <p:cNvSpPr>
              <a:spLocks noChangeShapeType="1"/>
            </p:cNvSpPr>
            <p:nvPr/>
          </p:nvSpPr>
          <p:spPr bwMode="auto">
            <a:xfrm>
              <a:off x="5319713" y="1684338"/>
              <a:ext cx="17557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3" name="Line 38"/>
            <p:cNvSpPr>
              <a:spLocks noChangeShapeType="1"/>
            </p:cNvSpPr>
            <p:nvPr/>
          </p:nvSpPr>
          <p:spPr bwMode="auto">
            <a:xfrm>
              <a:off x="5319713" y="2195513"/>
              <a:ext cx="17557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4" name="Line 39"/>
            <p:cNvSpPr>
              <a:spLocks noChangeShapeType="1"/>
            </p:cNvSpPr>
            <p:nvPr/>
          </p:nvSpPr>
          <p:spPr bwMode="auto">
            <a:xfrm>
              <a:off x="5319713" y="2705100"/>
              <a:ext cx="17557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5" name="Line 40"/>
            <p:cNvSpPr>
              <a:spLocks noChangeShapeType="1"/>
            </p:cNvSpPr>
            <p:nvPr/>
          </p:nvSpPr>
          <p:spPr bwMode="auto">
            <a:xfrm>
              <a:off x="5337175" y="3570288"/>
              <a:ext cx="1754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26" name="Rectangle 41"/>
            <p:cNvSpPr>
              <a:spLocks noChangeArrowheads="1"/>
            </p:cNvSpPr>
            <p:nvPr/>
          </p:nvSpPr>
          <p:spPr bwMode="auto">
            <a:xfrm>
              <a:off x="4256088" y="1177925"/>
              <a:ext cx="52097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DISK</a:t>
              </a:r>
            </a:p>
          </p:txBody>
        </p:sp>
        <p:sp>
          <p:nvSpPr>
            <p:cNvPr id="46127" name="Rectangle 42"/>
            <p:cNvSpPr>
              <a:spLocks noChangeArrowheads="1"/>
            </p:cNvSpPr>
            <p:nvPr/>
          </p:nvSpPr>
          <p:spPr bwMode="auto">
            <a:xfrm>
              <a:off x="4256088" y="1612900"/>
              <a:ext cx="46647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PTR</a:t>
              </a:r>
            </a:p>
          </p:txBody>
        </p:sp>
        <p:sp>
          <p:nvSpPr>
            <p:cNvPr id="46128" name="Rectangle 43"/>
            <p:cNvSpPr>
              <a:spLocks noChangeArrowheads="1"/>
            </p:cNvSpPr>
            <p:nvPr/>
          </p:nvSpPr>
          <p:spPr bwMode="auto">
            <a:xfrm>
              <a:off x="4256088" y="2120900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RDR</a:t>
              </a:r>
            </a:p>
          </p:txBody>
        </p:sp>
        <p:sp>
          <p:nvSpPr>
            <p:cNvPr id="46129" name="Rectangle 44"/>
            <p:cNvSpPr>
              <a:spLocks noChangeArrowheads="1"/>
            </p:cNvSpPr>
            <p:nvPr/>
          </p:nvSpPr>
          <p:spPr bwMode="auto">
            <a:xfrm>
              <a:off x="4256088" y="2632075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KBD</a:t>
              </a:r>
            </a:p>
          </p:txBody>
        </p:sp>
        <p:sp>
          <p:nvSpPr>
            <p:cNvPr id="46130" name="Rectangle 45"/>
            <p:cNvSpPr>
              <a:spLocks noChangeArrowheads="1"/>
            </p:cNvSpPr>
            <p:nvPr/>
          </p:nvSpPr>
          <p:spPr bwMode="auto">
            <a:xfrm>
              <a:off x="4794250" y="3038475"/>
              <a:ext cx="418385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255</a:t>
              </a:r>
            </a:p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256</a:t>
              </a:r>
            </a:p>
          </p:txBody>
        </p:sp>
        <p:sp>
          <p:nvSpPr>
            <p:cNvPr id="46131" name="Rectangle 46"/>
            <p:cNvSpPr>
              <a:spLocks noChangeArrowheads="1"/>
            </p:cNvSpPr>
            <p:nvPr/>
          </p:nvSpPr>
          <p:spPr bwMode="auto">
            <a:xfrm>
              <a:off x="1946275" y="2427288"/>
              <a:ext cx="41838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750</a:t>
              </a:r>
            </a:p>
          </p:txBody>
        </p:sp>
        <p:sp>
          <p:nvSpPr>
            <p:cNvPr id="46132" name="Arc 47"/>
            <p:cNvSpPr>
              <a:spLocks/>
            </p:cNvSpPr>
            <p:nvPr/>
          </p:nvSpPr>
          <p:spPr bwMode="auto">
            <a:xfrm>
              <a:off x="5172075" y="1277938"/>
              <a:ext cx="142875" cy="96837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33" name="Line 48"/>
            <p:cNvSpPr>
              <a:spLocks noChangeShapeType="1"/>
            </p:cNvSpPr>
            <p:nvPr/>
          </p:nvSpPr>
          <p:spPr bwMode="auto">
            <a:xfrm>
              <a:off x="4894263" y="1319213"/>
              <a:ext cx="285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34" name="Arc 49"/>
            <p:cNvSpPr>
              <a:spLocks/>
            </p:cNvSpPr>
            <p:nvPr/>
          </p:nvSpPr>
          <p:spPr bwMode="auto">
            <a:xfrm>
              <a:off x="5172075" y="1711325"/>
              <a:ext cx="142875" cy="96838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35" name="Line 50"/>
            <p:cNvSpPr>
              <a:spLocks noChangeShapeType="1"/>
            </p:cNvSpPr>
            <p:nvPr/>
          </p:nvSpPr>
          <p:spPr bwMode="auto">
            <a:xfrm>
              <a:off x="4884738" y="1762125"/>
              <a:ext cx="285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36" name="Arc 51"/>
            <p:cNvSpPr>
              <a:spLocks/>
            </p:cNvSpPr>
            <p:nvPr/>
          </p:nvSpPr>
          <p:spPr bwMode="auto">
            <a:xfrm>
              <a:off x="5172075" y="2220913"/>
              <a:ext cx="142875" cy="9525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37" name="Line 52"/>
            <p:cNvSpPr>
              <a:spLocks noChangeShapeType="1"/>
            </p:cNvSpPr>
            <p:nvPr/>
          </p:nvSpPr>
          <p:spPr bwMode="auto">
            <a:xfrm>
              <a:off x="4884738" y="2270125"/>
              <a:ext cx="285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38" name="Arc 53"/>
            <p:cNvSpPr>
              <a:spLocks/>
            </p:cNvSpPr>
            <p:nvPr/>
          </p:nvSpPr>
          <p:spPr bwMode="auto">
            <a:xfrm>
              <a:off x="5172075" y="2725738"/>
              <a:ext cx="142875" cy="96837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39" name="Line 54"/>
            <p:cNvSpPr>
              <a:spLocks noChangeShapeType="1"/>
            </p:cNvSpPr>
            <p:nvPr/>
          </p:nvSpPr>
          <p:spPr bwMode="auto">
            <a:xfrm>
              <a:off x="4884738" y="2767013"/>
              <a:ext cx="285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0" name="Line 55"/>
            <p:cNvSpPr>
              <a:spLocks noChangeShapeType="1"/>
            </p:cNvSpPr>
            <p:nvPr/>
          </p:nvSpPr>
          <p:spPr bwMode="auto">
            <a:xfrm>
              <a:off x="2425700" y="2781300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1" name="Line 56"/>
            <p:cNvSpPr>
              <a:spLocks noChangeShapeType="1"/>
            </p:cNvSpPr>
            <p:nvPr/>
          </p:nvSpPr>
          <p:spPr bwMode="auto">
            <a:xfrm>
              <a:off x="2455863" y="3162300"/>
              <a:ext cx="1260475" cy="0"/>
            </a:xfrm>
            <a:prstGeom prst="line">
              <a:avLst/>
            </a:prstGeom>
            <a:noFill/>
            <a:ln w="25400"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2" name="Line 57"/>
            <p:cNvSpPr>
              <a:spLocks noChangeShapeType="1"/>
            </p:cNvSpPr>
            <p:nvPr/>
          </p:nvSpPr>
          <p:spPr bwMode="auto">
            <a:xfrm>
              <a:off x="2455863" y="3328988"/>
              <a:ext cx="1260475" cy="0"/>
            </a:xfrm>
            <a:prstGeom prst="line">
              <a:avLst/>
            </a:prstGeom>
            <a:noFill/>
            <a:ln w="25400"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3" name="Line 58"/>
            <p:cNvSpPr>
              <a:spLocks noChangeShapeType="1"/>
            </p:cNvSpPr>
            <p:nvPr/>
          </p:nvSpPr>
          <p:spPr bwMode="auto">
            <a:xfrm>
              <a:off x="2425700" y="3494088"/>
              <a:ext cx="1304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44" name="Rectangle 59"/>
            <p:cNvSpPr>
              <a:spLocks noChangeArrowheads="1"/>
            </p:cNvSpPr>
            <p:nvPr/>
          </p:nvSpPr>
          <p:spPr bwMode="auto">
            <a:xfrm>
              <a:off x="2828925" y="3128963"/>
              <a:ext cx="41838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256</a:t>
              </a:r>
            </a:p>
          </p:txBody>
        </p:sp>
        <p:sp>
          <p:nvSpPr>
            <p:cNvPr id="46145" name="Rectangle 60"/>
            <p:cNvSpPr>
              <a:spLocks noChangeArrowheads="1"/>
            </p:cNvSpPr>
            <p:nvPr/>
          </p:nvSpPr>
          <p:spPr bwMode="auto">
            <a:xfrm>
              <a:off x="2813050" y="3279775"/>
              <a:ext cx="41838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750</a:t>
              </a:r>
            </a:p>
          </p:txBody>
        </p:sp>
        <p:sp>
          <p:nvSpPr>
            <p:cNvPr id="46146" name="Rectangle 61"/>
            <p:cNvSpPr>
              <a:spLocks noChangeArrowheads="1"/>
            </p:cNvSpPr>
            <p:nvPr/>
          </p:nvSpPr>
          <p:spPr bwMode="auto">
            <a:xfrm>
              <a:off x="2724150" y="2733675"/>
              <a:ext cx="55945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Stack</a:t>
              </a:r>
            </a:p>
          </p:txBody>
        </p:sp>
        <p:sp>
          <p:nvSpPr>
            <p:cNvPr id="46147" name="Rectangle 62"/>
            <p:cNvSpPr>
              <a:spLocks noChangeArrowheads="1"/>
            </p:cNvSpPr>
            <p:nvPr/>
          </p:nvSpPr>
          <p:spPr bwMode="auto">
            <a:xfrm>
              <a:off x="2408238" y="2046288"/>
              <a:ext cx="111408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Main program</a:t>
              </a:r>
            </a:p>
          </p:txBody>
        </p:sp>
        <p:sp>
          <p:nvSpPr>
            <p:cNvPr id="46148" name="Rectangle 68"/>
            <p:cNvSpPr>
              <a:spLocks noChangeArrowheads="1"/>
            </p:cNvSpPr>
            <p:nvPr/>
          </p:nvSpPr>
          <p:spPr bwMode="auto">
            <a:xfrm>
              <a:off x="2462213" y="2335213"/>
              <a:ext cx="1200150" cy="177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49" name="Rectangle 69"/>
            <p:cNvSpPr>
              <a:spLocks noChangeArrowheads="1"/>
            </p:cNvSpPr>
            <p:nvPr/>
          </p:nvSpPr>
          <p:spPr bwMode="auto">
            <a:xfrm>
              <a:off x="2408238" y="2300288"/>
              <a:ext cx="104996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current instr.</a:t>
              </a:r>
            </a:p>
          </p:txBody>
        </p:sp>
        <p:sp>
          <p:nvSpPr>
            <p:cNvPr id="46150" name="Rectangle 70"/>
            <p:cNvSpPr>
              <a:spLocks noChangeArrowheads="1"/>
            </p:cNvSpPr>
            <p:nvPr/>
          </p:nvSpPr>
          <p:spPr bwMode="auto">
            <a:xfrm>
              <a:off x="1946275" y="2274888"/>
              <a:ext cx="41838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749</a:t>
              </a:r>
            </a:p>
          </p:txBody>
        </p:sp>
        <p:sp>
          <p:nvSpPr>
            <p:cNvPr id="46151" name="Line 71"/>
            <p:cNvSpPr>
              <a:spLocks noChangeShapeType="1"/>
            </p:cNvSpPr>
            <p:nvPr/>
          </p:nvSpPr>
          <p:spPr bwMode="auto">
            <a:xfrm>
              <a:off x="1466850" y="2392363"/>
              <a:ext cx="5270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52" name="Rectangle 72"/>
            <p:cNvSpPr>
              <a:spLocks noChangeArrowheads="1"/>
            </p:cNvSpPr>
            <p:nvPr/>
          </p:nvSpPr>
          <p:spPr bwMode="auto">
            <a:xfrm>
              <a:off x="280988" y="2151063"/>
              <a:ext cx="710132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000" b="1">
                  <a:cs typeface="Arial" panose="020B0604020202020204" pitchFamily="34" charset="0"/>
                </a:rPr>
                <a:t>KBD</a:t>
              </a:r>
            </a:p>
            <a:p>
              <a:pPr eaLnBrk="1" hangingPunct="1"/>
              <a:r>
                <a:rPr lang="en-US" altLang="ko-KR" sz="1000" b="1">
                  <a:cs typeface="Arial" panose="020B0604020202020204" pitchFamily="34" charset="0"/>
                </a:rPr>
                <a:t>interrupt</a:t>
              </a:r>
            </a:p>
          </p:txBody>
        </p:sp>
        <p:sp>
          <p:nvSpPr>
            <p:cNvPr id="46153" name="Oval 73"/>
            <p:cNvSpPr>
              <a:spLocks noChangeArrowheads="1"/>
            </p:cNvSpPr>
            <p:nvPr/>
          </p:nvSpPr>
          <p:spPr bwMode="auto">
            <a:xfrm>
              <a:off x="1454150" y="2144713"/>
              <a:ext cx="209550" cy="17938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54" name="Rectangle 75"/>
            <p:cNvSpPr>
              <a:spLocks noChangeArrowheads="1"/>
            </p:cNvSpPr>
            <p:nvPr/>
          </p:nvSpPr>
          <p:spPr bwMode="auto">
            <a:xfrm>
              <a:off x="1584325" y="302736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6155" name="Oval 76"/>
            <p:cNvSpPr>
              <a:spLocks noChangeArrowheads="1"/>
            </p:cNvSpPr>
            <p:nvPr/>
          </p:nvSpPr>
          <p:spPr bwMode="auto">
            <a:xfrm>
              <a:off x="1616075" y="3063875"/>
              <a:ext cx="211138" cy="1793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56" name="Line 77"/>
            <p:cNvSpPr>
              <a:spLocks noChangeShapeType="1"/>
            </p:cNvSpPr>
            <p:nvPr/>
          </p:nvSpPr>
          <p:spPr bwMode="auto">
            <a:xfrm flipV="1">
              <a:off x="763588" y="1751013"/>
              <a:ext cx="0" cy="4349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57" name="Rectangle 78"/>
            <p:cNvSpPr>
              <a:spLocks noChangeArrowheads="1"/>
            </p:cNvSpPr>
            <p:nvPr/>
          </p:nvSpPr>
          <p:spPr bwMode="auto">
            <a:xfrm>
              <a:off x="293688" y="1560513"/>
              <a:ext cx="118462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VAD=00000011</a:t>
              </a:r>
            </a:p>
          </p:txBody>
        </p:sp>
        <p:sp>
          <p:nvSpPr>
            <p:cNvPr id="46158" name="Line 79"/>
            <p:cNvSpPr>
              <a:spLocks noChangeShapeType="1"/>
            </p:cNvSpPr>
            <p:nvPr/>
          </p:nvSpPr>
          <p:spPr bwMode="auto">
            <a:xfrm>
              <a:off x="1773238" y="1711325"/>
              <a:ext cx="376237" cy="217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59" name="Rectangle 80"/>
            <p:cNvSpPr>
              <a:spLocks noChangeArrowheads="1"/>
            </p:cNvSpPr>
            <p:nvPr/>
          </p:nvSpPr>
          <p:spPr bwMode="auto">
            <a:xfrm>
              <a:off x="1779588" y="15097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6160" name="Oval 81"/>
            <p:cNvSpPr>
              <a:spLocks noChangeArrowheads="1"/>
            </p:cNvSpPr>
            <p:nvPr/>
          </p:nvSpPr>
          <p:spPr bwMode="auto">
            <a:xfrm>
              <a:off x="1795463" y="1525588"/>
              <a:ext cx="209550" cy="17938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61" name="Rectangle 82"/>
            <p:cNvSpPr>
              <a:spLocks noChangeArrowheads="1"/>
            </p:cNvSpPr>
            <p:nvPr/>
          </p:nvSpPr>
          <p:spPr bwMode="auto">
            <a:xfrm>
              <a:off x="5357813" y="3098800"/>
              <a:ext cx="1651000" cy="1539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62" name="Rectangle 83"/>
            <p:cNvSpPr>
              <a:spLocks noChangeArrowheads="1"/>
            </p:cNvSpPr>
            <p:nvPr/>
          </p:nvSpPr>
          <p:spPr bwMode="auto">
            <a:xfrm>
              <a:off x="4822825" y="25288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6163" name="Oval 84"/>
            <p:cNvSpPr>
              <a:spLocks noChangeArrowheads="1"/>
            </p:cNvSpPr>
            <p:nvPr/>
          </p:nvSpPr>
          <p:spPr bwMode="auto">
            <a:xfrm>
              <a:off x="4856163" y="2559050"/>
              <a:ext cx="223837" cy="1651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64" name="Line 85"/>
            <p:cNvSpPr>
              <a:spLocks noChangeShapeType="1"/>
            </p:cNvSpPr>
            <p:nvPr/>
          </p:nvSpPr>
          <p:spPr bwMode="auto">
            <a:xfrm>
              <a:off x="4135438" y="3170238"/>
              <a:ext cx="7350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65" name="Rectangle 86"/>
            <p:cNvSpPr>
              <a:spLocks noChangeArrowheads="1"/>
            </p:cNvSpPr>
            <p:nvPr/>
          </p:nvSpPr>
          <p:spPr bwMode="auto">
            <a:xfrm>
              <a:off x="3879850" y="3119438"/>
              <a:ext cx="710132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000" b="1">
                  <a:cs typeface="Arial" panose="020B0604020202020204" pitchFamily="34" charset="0"/>
                </a:rPr>
                <a:t>Disk</a:t>
              </a:r>
            </a:p>
            <a:p>
              <a:pPr eaLnBrk="1" hangingPunct="1"/>
              <a:r>
                <a:rPr lang="en-US" altLang="ko-KR" sz="1000" b="1">
                  <a:cs typeface="Arial" panose="020B0604020202020204" pitchFamily="34" charset="0"/>
                </a:rPr>
                <a:t>interrupt</a:t>
              </a:r>
            </a:p>
          </p:txBody>
        </p:sp>
        <p:sp>
          <p:nvSpPr>
            <p:cNvPr id="46166" name="Rectangle 87"/>
            <p:cNvSpPr>
              <a:spLocks noChangeArrowheads="1"/>
            </p:cNvSpPr>
            <p:nvPr/>
          </p:nvSpPr>
          <p:spPr bwMode="auto">
            <a:xfrm>
              <a:off x="4206875" y="293846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6167" name="Oval 88"/>
            <p:cNvSpPr>
              <a:spLocks noChangeArrowheads="1"/>
            </p:cNvSpPr>
            <p:nvPr/>
          </p:nvSpPr>
          <p:spPr bwMode="auto">
            <a:xfrm>
              <a:off x="4240213" y="2965450"/>
              <a:ext cx="211137" cy="1651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68" name="Rectangle 90"/>
            <p:cNvSpPr>
              <a:spLocks noChangeArrowheads="1"/>
            </p:cNvSpPr>
            <p:nvPr/>
          </p:nvSpPr>
          <p:spPr bwMode="auto">
            <a:xfrm>
              <a:off x="4729163" y="363696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6169" name="Oval 91"/>
            <p:cNvSpPr>
              <a:spLocks noChangeArrowheads="1"/>
            </p:cNvSpPr>
            <p:nvPr/>
          </p:nvSpPr>
          <p:spPr bwMode="auto">
            <a:xfrm>
              <a:off x="4751388" y="3667125"/>
              <a:ext cx="239712" cy="1762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70" name="Rectangle 92"/>
            <p:cNvSpPr>
              <a:spLocks noChangeArrowheads="1"/>
            </p:cNvSpPr>
            <p:nvPr/>
          </p:nvSpPr>
          <p:spPr bwMode="auto">
            <a:xfrm>
              <a:off x="4892675" y="10429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6171" name="Oval 93"/>
            <p:cNvSpPr>
              <a:spLocks noChangeArrowheads="1"/>
            </p:cNvSpPr>
            <p:nvPr/>
          </p:nvSpPr>
          <p:spPr bwMode="auto">
            <a:xfrm>
              <a:off x="4914900" y="1068388"/>
              <a:ext cx="209550" cy="17621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72" name="Rectangle 94"/>
            <p:cNvSpPr>
              <a:spLocks noChangeArrowheads="1"/>
            </p:cNvSpPr>
            <p:nvPr/>
          </p:nvSpPr>
          <p:spPr bwMode="auto">
            <a:xfrm>
              <a:off x="5375275" y="1571625"/>
              <a:ext cx="1643063" cy="7302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73" name="Rectangle 96"/>
            <p:cNvSpPr>
              <a:spLocks noChangeArrowheads="1"/>
            </p:cNvSpPr>
            <p:nvPr/>
          </p:nvSpPr>
          <p:spPr bwMode="auto">
            <a:xfrm>
              <a:off x="3929063" y="19192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46174" name="Oval 97"/>
            <p:cNvSpPr>
              <a:spLocks noChangeArrowheads="1"/>
            </p:cNvSpPr>
            <p:nvPr/>
          </p:nvSpPr>
          <p:spPr bwMode="auto">
            <a:xfrm>
              <a:off x="3971925" y="1946275"/>
              <a:ext cx="209550" cy="1793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75" name="Rectangle 99"/>
            <p:cNvSpPr>
              <a:spLocks noChangeArrowheads="1"/>
            </p:cNvSpPr>
            <p:nvPr/>
          </p:nvSpPr>
          <p:spPr bwMode="auto">
            <a:xfrm>
              <a:off x="5187950" y="368776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46176" name="Oval 100"/>
            <p:cNvSpPr>
              <a:spLocks noChangeArrowheads="1"/>
            </p:cNvSpPr>
            <p:nvPr/>
          </p:nvSpPr>
          <p:spPr bwMode="auto">
            <a:xfrm>
              <a:off x="5216525" y="3703638"/>
              <a:ext cx="223838" cy="20478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77" name="Rectangle 101"/>
            <p:cNvSpPr>
              <a:spLocks noChangeArrowheads="1"/>
            </p:cNvSpPr>
            <p:nvPr/>
          </p:nvSpPr>
          <p:spPr bwMode="auto">
            <a:xfrm>
              <a:off x="5359400" y="3409950"/>
              <a:ext cx="1663700" cy="1301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78" name="Rectangle 103"/>
            <p:cNvSpPr>
              <a:spLocks noChangeArrowheads="1"/>
            </p:cNvSpPr>
            <p:nvPr/>
          </p:nvSpPr>
          <p:spPr bwMode="auto">
            <a:xfrm>
              <a:off x="5688013" y="3675063"/>
              <a:ext cx="33983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46179" name="Oval 104"/>
            <p:cNvSpPr>
              <a:spLocks noChangeArrowheads="1"/>
            </p:cNvSpPr>
            <p:nvPr/>
          </p:nvSpPr>
          <p:spPr bwMode="auto">
            <a:xfrm>
              <a:off x="5741988" y="3678238"/>
              <a:ext cx="284162" cy="23018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80" name="Rectangle 106"/>
            <p:cNvSpPr>
              <a:spLocks noChangeArrowheads="1"/>
            </p:cNvSpPr>
            <p:nvPr/>
          </p:nvSpPr>
          <p:spPr bwMode="auto">
            <a:xfrm>
              <a:off x="2065338" y="2843213"/>
              <a:ext cx="33983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46181" name="Oval 107"/>
            <p:cNvSpPr>
              <a:spLocks noChangeArrowheads="1"/>
            </p:cNvSpPr>
            <p:nvPr/>
          </p:nvSpPr>
          <p:spPr bwMode="auto">
            <a:xfrm>
              <a:off x="2119313" y="2846388"/>
              <a:ext cx="239712" cy="203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46182" name="Freeform 112"/>
            <p:cNvSpPr>
              <a:spLocks/>
            </p:cNvSpPr>
            <p:nvPr/>
          </p:nvSpPr>
          <p:spPr bwMode="auto">
            <a:xfrm>
              <a:off x="1822450" y="2574925"/>
              <a:ext cx="712788" cy="838200"/>
            </a:xfrm>
            <a:custGeom>
              <a:avLst/>
              <a:gdLst>
                <a:gd name="T0" fmla="*/ 2147483647 w 365"/>
                <a:gd name="T1" fmla="*/ 0 h 528"/>
                <a:gd name="T2" fmla="*/ 2147483647 w 365"/>
                <a:gd name="T3" fmla="*/ 2147483647 h 528"/>
                <a:gd name="T4" fmla="*/ 2147483647 w 365"/>
                <a:gd name="T5" fmla="*/ 2147483647 h 528"/>
                <a:gd name="T6" fmla="*/ 2147483647 w 365"/>
                <a:gd name="T7" fmla="*/ 2147483647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5"/>
                <a:gd name="T13" fmla="*/ 0 h 528"/>
                <a:gd name="T14" fmla="*/ 365 w 365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5" h="528">
                  <a:moveTo>
                    <a:pt x="110" y="0"/>
                  </a:moveTo>
                  <a:cubicBezTo>
                    <a:pt x="60" y="45"/>
                    <a:pt x="10" y="91"/>
                    <a:pt x="5" y="165"/>
                  </a:cubicBezTo>
                  <a:cubicBezTo>
                    <a:pt x="0" y="239"/>
                    <a:pt x="17" y="383"/>
                    <a:pt x="77" y="444"/>
                  </a:cubicBezTo>
                  <a:cubicBezTo>
                    <a:pt x="137" y="505"/>
                    <a:pt x="251" y="516"/>
                    <a:pt x="365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83" name="Freeform 113"/>
            <p:cNvSpPr>
              <a:spLocks/>
            </p:cNvSpPr>
            <p:nvPr/>
          </p:nvSpPr>
          <p:spPr bwMode="auto">
            <a:xfrm>
              <a:off x="3552825" y="3227388"/>
              <a:ext cx="1501775" cy="473075"/>
            </a:xfrm>
            <a:custGeom>
              <a:avLst/>
              <a:gdLst>
                <a:gd name="T0" fmla="*/ 2147483647 w 774"/>
                <a:gd name="T1" fmla="*/ 2147483647 h 294"/>
                <a:gd name="T2" fmla="*/ 2147483647 w 774"/>
                <a:gd name="T3" fmla="*/ 2147483647 h 294"/>
                <a:gd name="T4" fmla="*/ 2147483647 w 774"/>
                <a:gd name="T5" fmla="*/ 2147483647 h 294"/>
                <a:gd name="T6" fmla="*/ 2147483647 w 774"/>
                <a:gd name="T7" fmla="*/ 2147483647 h 294"/>
                <a:gd name="T8" fmla="*/ 2147483647 w 774"/>
                <a:gd name="T9" fmla="*/ 2147483647 h 294"/>
                <a:gd name="T10" fmla="*/ 2147483647 w 774"/>
                <a:gd name="T11" fmla="*/ 2147483647 h 294"/>
                <a:gd name="T12" fmla="*/ 0 w 774"/>
                <a:gd name="T13" fmla="*/ 0 h 2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74"/>
                <a:gd name="T22" fmla="*/ 0 h 294"/>
                <a:gd name="T23" fmla="*/ 774 w 774"/>
                <a:gd name="T24" fmla="*/ 294 h 2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74" h="294">
                  <a:moveTo>
                    <a:pt x="774" y="108"/>
                  </a:moveTo>
                  <a:cubicBezTo>
                    <a:pt x="752" y="163"/>
                    <a:pt x="731" y="219"/>
                    <a:pt x="684" y="249"/>
                  </a:cubicBezTo>
                  <a:cubicBezTo>
                    <a:pt x="637" y="279"/>
                    <a:pt x="563" y="294"/>
                    <a:pt x="489" y="288"/>
                  </a:cubicBezTo>
                  <a:cubicBezTo>
                    <a:pt x="415" y="282"/>
                    <a:pt x="292" y="248"/>
                    <a:pt x="237" y="213"/>
                  </a:cubicBezTo>
                  <a:cubicBezTo>
                    <a:pt x="182" y="178"/>
                    <a:pt x="174" y="109"/>
                    <a:pt x="156" y="78"/>
                  </a:cubicBezTo>
                  <a:cubicBezTo>
                    <a:pt x="138" y="47"/>
                    <a:pt x="155" y="37"/>
                    <a:pt x="129" y="24"/>
                  </a:cubicBezTo>
                  <a:cubicBezTo>
                    <a:pt x="103" y="11"/>
                    <a:pt x="51" y="5"/>
                    <a:pt x="0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84" name="Freeform 114"/>
            <p:cNvSpPr>
              <a:spLocks/>
            </p:cNvSpPr>
            <p:nvPr/>
          </p:nvSpPr>
          <p:spPr bwMode="auto">
            <a:xfrm>
              <a:off x="3373438" y="1477963"/>
              <a:ext cx="2057400" cy="1735137"/>
            </a:xfrm>
            <a:custGeom>
              <a:avLst/>
              <a:gdLst>
                <a:gd name="T0" fmla="*/ 2147483647 w 1098"/>
                <a:gd name="T1" fmla="*/ 2147483647 h 1091"/>
                <a:gd name="T2" fmla="*/ 2147483647 w 1098"/>
                <a:gd name="T3" fmla="*/ 2147483647 h 1091"/>
                <a:gd name="T4" fmla="*/ 2147483647 w 1098"/>
                <a:gd name="T5" fmla="*/ 2147483647 h 1091"/>
                <a:gd name="T6" fmla="*/ 2147483647 w 1098"/>
                <a:gd name="T7" fmla="*/ 2147483647 h 1091"/>
                <a:gd name="T8" fmla="*/ 2147483647 w 1098"/>
                <a:gd name="T9" fmla="*/ 2147483647 h 1091"/>
                <a:gd name="T10" fmla="*/ 2147483647 w 1098"/>
                <a:gd name="T11" fmla="*/ 2147483647 h 1091"/>
                <a:gd name="T12" fmla="*/ 2147483647 w 1098"/>
                <a:gd name="T13" fmla="*/ 2147483647 h 1091"/>
                <a:gd name="T14" fmla="*/ 0 w 1098"/>
                <a:gd name="T15" fmla="*/ 2147483647 h 10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98"/>
                <a:gd name="T25" fmla="*/ 0 h 1091"/>
                <a:gd name="T26" fmla="*/ 1098 w 1098"/>
                <a:gd name="T27" fmla="*/ 1091 h 109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98" h="1091">
                  <a:moveTo>
                    <a:pt x="1098" y="59"/>
                  </a:moveTo>
                  <a:cubicBezTo>
                    <a:pt x="1084" y="35"/>
                    <a:pt x="1070" y="11"/>
                    <a:pt x="987" y="8"/>
                  </a:cubicBezTo>
                  <a:cubicBezTo>
                    <a:pt x="904" y="5"/>
                    <a:pt x="687" y="0"/>
                    <a:pt x="600" y="38"/>
                  </a:cubicBezTo>
                  <a:cubicBezTo>
                    <a:pt x="513" y="76"/>
                    <a:pt x="489" y="177"/>
                    <a:pt x="465" y="239"/>
                  </a:cubicBezTo>
                  <a:cubicBezTo>
                    <a:pt x="441" y="301"/>
                    <a:pt x="464" y="345"/>
                    <a:pt x="456" y="407"/>
                  </a:cubicBezTo>
                  <a:cubicBezTo>
                    <a:pt x="448" y="469"/>
                    <a:pt x="444" y="522"/>
                    <a:pt x="417" y="611"/>
                  </a:cubicBezTo>
                  <a:cubicBezTo>
                    <a:pt x="390" y="700"/>
                    <a:pt x="363" y="861"/>
                    <a:pt x="294" y="941"/>
                  </a:cubicBezTo>
                  <a:cubicBezTo>
                    <a:pt x="225" y="1021"/>
                    <a:pt x="49" y="1066"/>
                    <a:pt x="0" y="109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85" name="Freeform 116"/>
            <p:cNvSpPr>
              <a:spLocks/>
            </p:cNvSpPr>
            <p:nvPr/>
          </p:nvSpPr>
          <p:spPr bwMode="auto">
            <a:xfrm>
              <a:off x="3338513" y="3243263"/>
              <a:ext cx="2233612" cy="698500"/>
            </a:xfrm>
            <a:custGeom>
              <a:avLst/>
              <a:gdLst>
                <a:gd name="T0" fmla="*/ 0 w 1173"/>
                <a:gd name="T1" fmla="*/ 0 h 440"/>
                <a:gd name="T2" fmla="*/ 2147483647 w 1173"/>
                <a:gd name="T3" fmla="*/ 2147483647 h 440"/>
                <a:gd name="T4" fmla="*/ 2147483647 w 1173"/>
                <a:gd name="T5" fmla="*/ 2147483647 h 440"/>
                <a:gd name="T6" fmla="*/ 2147483647 w 1173"/>
                <a:gd name="T7" fmla="*/ 2147483647 h 440"/>
                <a:gd name="T8" fmla="*/ 2147483647 w 1173"/>
                <a:gd name="T9" fmla="*/ 2147483647 h 440"/>
                <a:gd name="T10" fmla="*/ 2147483647 w 1173"/>
                <a:gd name="T11" fmla="*/ 2147483647 h 440"/>
                <a:gd name="T12" fmla="*/ 2147483647 w 1173"/>
                <a:gd name="T13" fmla="*/ 2147483647 h 440"/>
                <a:gd name="T14" fmla="*/ 2147483647 w 1173"/>
                <a:gd name="T15" fmla="*/ 2147483647 h 440"/>
                <a:gd name="T16" fmla="*/ 2147483647 w 1173"/>
                <a:gd name="T17" fmla="*/ 2147483647 h 440"/>
                <a:gd name="T18" fmla="*/ 2147483647 w 1173"/>
                <a:gd name="T19" fmla="*/ 2147483647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73"/>
                <a:gd name="T31" fmla="*/ 0 h 440"/>
                <a:gd name="T32" fmla="*/ 1173 w 1173"/>
                <a:gd name="T33" fmla="*/ 440 h 44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73" h="440">
                  <a:moveTo>
                    <a:pt x="0" y="0"/>
                  </a:moveTo>
                  <a:cubicBezTo>
                    <a:pt x="7" y="15"/>
                    <a:pt x="15" y="30"/>
                    <a:pt x="99" y="84"/>
                  </a:cubicBezTo>
                  <a:cubicBezTo>
                    <a:pt x="183" y="138"/>
                    <a:pt x="386" y="270"/>
                    <a:pt x="507" y="327"/>
                  </a:cubicBezTo>
                  <a:cubicBezTo>
                    <a:pt x="628" y="384"/>
                    <a:pt x="755" y="412"/>
                    <a:pt x="825" y="426"/>
                  </a:cubicBezTo>
                  <a:cubicBezTo>
                    <a:pt x="895" y="440"/>
                    <a:pt x="903" y="423"/>
                    <a:pt x="930" y="411"/>
                  </a:cubicBezTo>
                  <a:cubicBezTo>
                    <a:pt x="957" y="399"/>
                    <a:pt x="969" y="378"/>
                    <a:pt x="984" y="354"/>
                  </a:cubicBezTo>
                  <a:cubicBezTo>
                    <a:pt x="999" y="330"/>
                    <a:pt x="1015" y="301"/>
                    <a:pt x="1023" y="264"/>
                  </a:cubicBezTo>
                  <a:cubicBezTo>
                    <a:pt x="1031" y="227"/>
                    <a:pt x="1026" y="164"/>
                    <a:pt x="1032" y="132"/>
                  </a:cubicBezTo>
                  <a:cubicBezTo>
                    <a:pt x="1038" y="100"/>
                    <a:pt x="1035" y="87"/>
                    <a:pt x="1059" y="72"/>
                  </a:cubicBezTo>
                  <a:cubicBezTo>
                    <a:pt x="1083" y="57"/>
                    <a:pt x="1128" y="49"/>
                    <a:pt x="1173" y="4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86" name="Freeform 118"/>
            <p:cNvSpPr>
              <a:spLocks/>
            </p:cNvSpPr>
            <p:nvPr/>
          </p:nvSpPr>
          <p:spPr bwMode="auto">
            <a:xfrm>
              <a:off x="2057400" y="2597150"/>
              <a:ext cx="803275" cy="815975"/>
            </a:xfrm>
            <a:custGeom>
              <a:avLst/>
              <a:gdLst>
                <a:gd name="T0" fmla="*/ 2147483647 w 395"/>
                <a:gd name="T1" fmla="*/ 2147483647 h 528"/>
                <a:gd name="T2" fmla="*/ 2147483647 w 395"/>
                <a:gd name="T3" fmla="*/ 2147483647 h 528"/>
                <a:gd name="T4" fmla="*/ 2147483647 w 395"/>
                <a:gd name="T5" fmla="*/ 2147483647 h 528"/>
                <a:gd name="T6" fmla="*/ 2147483647 w 395"/>
                <a:gd name="T7" fmla="*/ 2147483647 h 528"/>
                <a:gd name="T8" fmla="*/ 2147483647 w 395"/>
                <a:gd name="T9" fmla="*/ 2147483647 h 528"/>
                <a:gd name="T10" fmla="*/ 2147483647 w 395"/>
                <a:gd name="T11" fmla="*/ 0 h 5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5"/>
                <a:gd name="T19" fmla="*/ 0 h 528"/>
                <a:gd name="T20" fmla="*/ 395 w 395"/>
                <a:gd name="T21" fmla="*/ 528 h 5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5" h="528">
                  <a:moveTo>
                    <a:pt x="395" y="528"/>
                  </a:moveTo>
                  <a:cubicBezTo>
                    <a:pt x="287" y="508"/>
                    <a:pt x="179" y="489"/>
                    <a:pt x="116" y="453"/>
                  </a:cubicBezTo>
                  <a:cubicBezTo>
                    <a:pt x="53" y="417"/>
                    <a:pt x="34" y="359"/>
                    <a:pt x="17" y="312"/>
                  </a:cubicBezTo>
                  <a:cubicBezTo>
                    <a:pt x="0" y="265"/>
                    <a:pt x="0" y="217"/>
                    <a:pt x="17" y="171"/>
                  </a:cubicBezTo>
                  <a:cubicBezTo>
                    <a:pt x="34" y="125"/>
                    <a:pt x="82" y="65"/>
                    <a:pt x="119" y="36"/>
                  </a:cubicBezTo>
                  <a:cubicBezTo>
                    <a:pt x="156" y="7"/>
                    <a:pt x="197" y="3"/>
                    <a:pt x="239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87" name="Rectangle 120"/>
            <p:cNvSpPr>
              <a:spLocks noChangeArrowheads="1"/>
            </p:cNvSpPr>
            <p:nvPr/>
          </p:nvSpPr>
          <p:spPr bwMode="auto">
            <a:xfrm>
              <a:off x="1438275" y="2111375"/>
              <a:ext cx="26321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46087" name="Rectangle 3"/>
          <p:cNvSpPr>
            <a:spLocks noChangeArrowheads="1"/>
          </p:cNvSpPr>
          <p:nvPr/>
        </p:nvSpPr>
        <p:spPr bwMode="auto">
          <a:xfrm>
            <a:off x="1828800" y="3830639"/>
            <a:ext cx="2425344" cy="302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r>
              <a:rPr lang="en-US" altLang="ko-KR" sz="1600" b="1" u="sng">
                <a:latin typeface="Calibri" panose="020F0502020204030204" pitchFamily="34" charset="0"/>
              </a:rPr>
              <a:t>Initial and Final Operations</a:t>
            </a:r>
          </a:p>
        </p:txBody>
      </p:sp>
      <p:sp>
        <p:nvSpPr>
          <p:cNvPr id="46088" name="Rectangle 4"/>
          <p:cNvSpPr>
            <a:spLocks noChangeArrowheads="1"/>
          </p:cNvSpPr>
          <p:nvPr/>
        </p:nvSpPr>
        <p:spPr bwMode="auto">
          <a:xfrm>
            <a:off x="2246313" y="4129089"/>
            <a:ext cx="62531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1000"/>
              </a:lnSpc>
            </a:pPr>
            <a:r>
              <a:rPr lang="en-US" altLang="ko-KR" sz="1600" b="1">
                <a:latin typeface="Calibri" panose="020F0502020204030204" pitchFamily="34" charset="0"/>
              </a:rPr>
              <a:t>Each interrupt service routine must have an initial and final set of </a:t>
            </a:r>
          </a:p>
          <a:p>
            <a:pPr eaLnBrk="1" hangingPunct="1">
              <a:lnSpc>
                <a:spcPct val="81000"/>
              </a:lnSpc>
            </a:pPr>
            <a:r>
              <a:rPr lang="en-US" altLang="ko-KR" sz="1600" b="1">
                <a:latin typeface="Calibri" panose="020F0502020204030204" pitchFamily="34" charset="0"/>
              </a:rPr>
              <a:t>operations for controlling the registers in the hardware interrupt system</a:t>
            </a:r>
          </a:p>
        </p:txBody>
      </p:sp>
      <p:sp>
        <p:nvSpPr>
          <p:cNvPr id="46089" name="Rectangle 63"/>
          <p:cNvSpPr>
            <a:spLocks noChangeArrowheads="1"/>
          </p:cNvSpPr>
          <p:nvPr/>
        </p:nvSpPr>
        <p:spPr bwMode="auto">
          <a:xfrm>
            <a:off x="1943100" y="4899026"/>
            <a:ext cx="3219450" cy="156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Initial Sequence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[1] Clear lower level Mask reg. bits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[2] IST &lt;- 0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[3] Save contents of CPU registers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[4] IEN &lt;- 1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[5] Go to Interrupt Service Routine</a:t>
            </a:r>
          </a:p>
        </p:txBody>
      </p:sp>
      <p:sp>
        <p:nvSpPr>
          <p:cNvPr id="46090" name="Rectangle 64"/>
          <p:cNvSpPr>
            <a:spLocks noChangeArrowheads="1"/>
          </p:cNvSpPr>
          <p:nvPr/>
        </p:nvSpPr>
        <p:spPr bwMode="auto">
          <a:xfrm>
            <a:off x="6230938" y="4899026"/>
            <a:ext cx="3319462" cy="156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Final Sequence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[1] IEN &lt;- 0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[2] Restore CPU registers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[3] Clear the bit in the Interrupt Reg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[4] Set lower level Mask reg. bits</a:t>
            </a:r>
          </a:p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  [5] Restore return address, IEN &lt;- 1</a:t>
            </a:r>
          </a:p>
        </p:txBody>
      </p:sp>
      <p:sp>
        <p:nvSpPr>
          <p:cNvPr id="46091" name="Rectangle 65"/>
          <p:cNvSpPr>
            <a:spLocks noChangeArrowheads="1"/>
          </p:cNvSpPr>
          <p:nvPr/>
        </p:nvSpPr>
        <p:spPr bwMode="auto">
          <a:xfrm>
            <a:off x="1878013" y="4891088"/>
            <a:ext cx="4083050" cy="15859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46092" name="Rectangle 66"/>
          <p:cNvSpPr>
            <a:spLocks noChangeArrowheads="1"/>
          </p:cNvSpPr>
          <p:nvPr/>
        </p:nvSpPr>
        <p:spPr bwMode="auto">
          <a:xfrm>
            <a:off x="6196014" y="4862513"/>
            <a:ext cx="4122737" cy="16049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 b="1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3882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ChangeArrowheads="1"/>
          </p:cNvSpPr>
          <p:nvPr/>
        </p:nvSpPr>
        <p:spPr bwMode="auto">
          <a:xfrm>
            <a:off x="1752600" y="671513"/>
            <a:ext cx="8610600" cy="403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/>
              <a:t>In Daisy Chaining Priority if the device does not have any pending interrupt requests then the value of PI and PO will be        </a:t>
            </a:r>
          </a:p>
          <a:p>
            <a:endParaRPr lang="en-US" altLang="en-US" sz="3200"/>
          </a:p>
          <a:p>
            <a:r>
              <a:rPr lang="en-US" altLang="en-US" sz="3200"/>
              <a:t>a. PI=0, PO=0</a:t>
            </a:r>
          </a:p>
          <a:p>
            <a:r>
              <a:rPr lang="en-US" altLang="en-US" sz="3200"/>
              <a:t>b. PI=0, PO=1</a:t>
            </a:r>
          </a:p>
          <a:p>
            <a:r>
              <a:rPr lang="en-US" altLang="en-US" sz="3200"/>
              <a:t>c. PI=1, PO=0</a:t>
            </a:r>
          </a:p>
          <a:p>
            <a:r>
              <a:rPr lang="en-US" altLang="en-US" sz="3200"/>
              <a:t>d. PI=1, PO=1</a:t>
            </a:r>
          </a:p>
        </p:txBody>
      </p:sp>
    </p:spTree>
    <p:extLst>
      <p:ext uri="{BB962C8B-B14F-4D97-AF65-F5344CB8AC3E}">
        <p14:creationId xmlns:p14="http://schemas.microsoft.com/office/powerpoint/2010/main" val="36237768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3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15135717-A420-415C-9098-A2246DBA7E8D}" type="slidenum">
              <a:rPr lang="en-US" altLang="en-US">
                <a:latin typeface="Calibri" panose="020F0502020204030204" pitchFamily="34" charset="0"/>
              </a:rPr>
              <a:pPr eaLnBrk="1" hangingPunct="1"/>
              <a:t>63</a:t>
            </a:fld>
            <a:r>
              <a:rPr lang="en-US" altLang="en-US">
                <a:latin typeface="Calibri" panose="020F0502020204030204" pitchFamily="34" charset="0"/>
              </a:rPr>
              <a:t>				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3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Overview</a:t>
            </a:r>
          </a:p>
        </p:txBody>
      </p:sp>
      <p:sp>
        <p:nvSpPr>
          <p:cNvPr id="48134" name="Rectangle 2"/>
          <p:cNvSpPr>
            <a:spLocks noChangeArrowheads="1"/>
          </p:cNvSpPr>
          <p:nvPr/>
        </p:nvSpPr>
        <p:spPr bwMode="auto">
          <a:xfrm>
            <a:off x="4135438" y="1739900"/>
            <a:ext cx="3636962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 </a:t>
            </a:r>
            <a:r>
              <a:rPr lang="en-US" altLang="ko-KR" sz="2000">
                <a:cs typeface="Arial" panose="020B0604020202020204" pitchFamily="34" charset="0"/>
              </a:rPr>
              <a:t>Peripheral Devices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Input-Output Interface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Asynchronous Data Transfer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Modes of Transfer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Priority Interrupt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>
                <a:cs typeface="Arial" panose="020B0604020202020204" pitchFamily="34" charset="0"/>
              </a:rPr>
              <a:t> </a:t>
            </a:r>
            <a:r>
              <a:rPr lang="en-US" altLang="ko-KR" sz="2000" b="1">
                <a:cs typeface="Arial" panose="020B0604020202020204" pitchFamily="34" charset="0"/>
              </a:rPr>
              <a:t>Direct Memory Access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 Input-Output Processor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000"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</a:pPr>
            <a:endParaRPr lang="en-US" altLang="ko-KR" sz="20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4582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15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4A25C5A2-5C1B-4FD4-96A0-608743A9C319}" type="slidenum">
              <a:rPr lang="en-US" altLang="en-US">
                <a:latin typeface="Calibri" panose="020F0502020204030204" pitchFamily="34" charset="0"/>
              </a:rPr>
              <a:pPr eaLnBrk="1" hangingPunct="1"/>
              <a:t>64</a:t>
            </a:fld>
            <a:r>
              <a:rPr lang="en-US" altLang="en-US">
                <a:latin typeface="Calibri" panose="020F0502020204030204" pitchFamily="34" charset="0"/>
              </a:rPr>
              <a:t>				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5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Direct Memory Access</a:t>
            </a:r>
          </a:p>
        </p:txBody>
      </p:sp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1831132" y="2098451"/>
            <a:ext cx="8453535" cy="230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ko-KR" b="1" dirty="0">
                <a:cs typeface="Arial" panose="020B0604020202020204" pitchFamily="34" charset="0"/>
              </a:rPr>
              <a:t>Block of data transfer between high speed devices like Disk and Memory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b="1" dirty="0">
                <a:cs typeface="Arial" panose="020B0604020202020204" pitchFamily="34" charset="0"/>
              </a:rPr>
              <a:t>*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DMA controller </a:t>
            </a:r>
            <a:r>
              <a:rPr lang="en-US" altLang="ko-KR" b="1" dirty="0">
                <a:cs typeface="Arial" panose="020B0604020202020204" pitchFamily="34" charset="0"/>
              </a:rPr>
              <a:t>- Interface which takes over the buses to manage the transfer directly between  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 altLang="ko-KR" b="1" dirty="0">
                <a:cs typeface="Arial" panose="020B0604020202020204" pitchFamily="34" charset="0"/>
              </a:rPr>
              <a:t>Memory and I/O Device, freeing CPU for other tasks</a:t>
            </a:r>
          </a:p>
          <a:p>
            <a:pPr eaLnBrk="1" hangingPunct="1"/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b="1" dirty="0">
                <a:cs typeface="Arial" panose="020B0604020202020204" pitchFamily="34" charset="0"/>
              </a:rPr>
              <a:t>* CPU initializes DMA Controller by sending memory address and the block size (number of words) </a:t>
            </a:r>
          </a:p>
        </p:txBody>
      </p:sp>
    </p:spTree>
    <p:extLst>
      <p:ext uri="{BB962C8B-B14F-4D97-AF65-F5344CB8AC3E}">
        <p14:creationId xmlns:p14="http://schemas.microsoft.com/office/powerpoint/2010/main" val="8120005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15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4A25C5A2-5C1B-4FD4-96A0-608743A9C319}" type="slidenum">
              <a:rPr lang="en-US" altLang="en-US">
                <a:latin typeface="Calibri" panose="020F0502020204030204" pitchFamily="34" charset="0"/>
              </a:rPr>
              <a:pPr eaLnBrk="1" hangingPunct="1"/>
              <a:t>65</a:t>
            </a:fld>
            <a:r>
              <a:rPr lang="en-US" altLang="en-US">
                <a:latin typeface="Calibri" panose="020F0502020204030204" pitchFamily="34" charset="0"/>
              </a:rPr>
              <a:t>				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5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Direct Memory Access</a:t>
            </a:r>
          </a:p>
        </p:txBody>
      </p:sp>
      <p:grpSp>
        <p:nvGrpSpPr>
          <p:cNvPr id="49158" name="Group 101"/>
          <p:cNvGrpSpPr>
            <a:grpSpLocks/>
          </p:cNvGrpSpPr>
          <p:nvPr/>
        </p:nvGrpSpPr>
        <p:grpSpPr bwMode="auto">
          <a:xfrm>
            <a:off x="1773238" y="2514601"/>
            <a:ext cx="8437562" cy="4003675"/>
            <a:chOff x="-1697825" y="2514600"/>
            <a:chExt cx="8437958" cy="4003675"/>
          </a:xfrm>
        </p:grpSpPr>
        <p:sp>
          <p:nvSpPr>
            <p:cNvPr id="49165" name="Line 11"/>
            <p:cNvSpPr>
              <a:spLocks noChangeShapeType="1"/>
            </p:cNvSpPr>
            <p:nvPr/>
          </p:nvSpPr>
          <p:spPr bwMode="auto">
            <a:xfrm>
              <a:off x="1142213" y="2609850"/>
              <a:ext cx="3762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6" name="Line 15"/>
            <p:cNvSpPr>
              <a:spLocks noChangeShapeType="1"/>
            </p:cNvSpPr>
            <p:nvPr/>
          </p:nvSpPr>
          <p:spPr bwMode="auto">
            <a:xfrm>
              <a:off x="1148563" y="2809875"/>
              <a:ext cx="3857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7" name="Rectangle 16"/>
            <p:cNvSpPr>
              <a:spLocks noChangeArrowheads="1"/>
            </p:cNvSpPr>
            <p:nvPr/>
          </p:nvSpPr>
          <p:spPr bwMode="auto">
            <a:xfrm>
              <a:off x="1547025" y="2719388"/>
              <a:ext cx="69730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Data bus</a:t>
              </a:r>
            </a:p>
          </p:txBody>
        </p:sp>
        <p:sp>
          <p:nvSpPr>
            <p:cNvPr id="49168" name="Line 18"/>
            <p:cNvSpPr>
              <a:spLocks noChangeShapeType="1"/>
            </p:cNvSpPr>
            <p:nvPr/>
          </p:nvSpPr>
          <p:spPr bwMode="auto">
            <a:xfrm>
              <a:off x="1142213" y="3019425"/>
              <a:ext cx="3762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9" name="Rectangle 19"/>
            <p:cNvSpPr>
              <a:spLocks noChangeArrowheads="1"/>
            </p:cNvSpPr>
            <p:nvPr/>
          </p:nvSpPr>
          <p:spPr bwMode="auto">
            <a:xfrm>
              <a:off x="1547025" y="2928938"/>
              <a:ext cx="47769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Read</a:t>
              </a:r>
            </a:p>
          </p:txBody>
        </p:sp>
        <p:sp>
          <p:nvSpPr>
            <p:cNvPr id="49170" name="Line 21"/>
            <p:cNvSpPr>
              <a:spLocks noChangeShapeType="1"/>
            </p:cNvSpPr>
            <p:nvPr/>
          </p:nvSpPr>
          <p:spPr bwMode="auto">
            <a:xfrm>
              <a:off x="1142213" y="3228975"/>
              <a:ext cx="3762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1" name="Rectangle 22"/>
            <p:cNvSpPr>
              <a:spLocks noChangeArrowheads="1"/>
            </p:cNvSpPr>
            <p:nvPr/>
          </p:nvSpPr>
          <p:spPr bwMode="auto">
            <a:xfrm>
              <a:off x="1547025" y="3128963"/>
              <a:ext cx="51616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Write</a:t>
              </a:r>
            </a:p>
          </p:txBody>
        </p:sp>
        <p:sp>
          <p:nvSpPr>
            <p:cNvPr id="49172" name="Rectangle 23"/>
            <p:cNvSpPr>
              <a:spLocks noChangeArrowheads="1"/>
            </p:cNvSpPr>
            <p:nvPr/>
          </p:nvSpPr>
          <p:spPr bwMode="auto">
            <a:xfrm>
              <a:off x="580238" y="2514600"/>
              <a:ext cx="50494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ABUS</a:t>
              </a:r>
            </a:p>
          </p:txBody>
        </p:sp>
        <p:sp>
          <p:nvSpPr>
            <p:cNvPr id="49173" name="Rectangle 24"/>
            <p:cNvSpPr>
              <a:spLocks noChangeArrowheads="1"/>
            </p:cNvSpPr>
            <p:nvPr/>
          </p:nvSpPr>
          <p:spPr bwMode="auto">
            <a:xfrm>
              <a:off x="575475" y="2706688"/>
              <a:ext cx="50815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 dirty="0">
                  <a:latin typeface="Calibri" panose="020F0502020204030204" pitchFamily="34" charset="0"/>
                </a:rPr>
                <a:t>DBUS</a:t>
              </a:r>
            </a:p>
          </p:txBody>
        </p:sp>
        <p:sp>
          <p:nvSpPr>
            <p:cNvPr id="49174" name="Rectangle 25"/>
            <p:cNvSpPr>
              <a:spLocks noChangeArrowheads="1"/>
            </p:cNvSpPr>
            <p:nvPr/>
          </p:nvSpPr>
          <p:spPr bwMode="auto">
            <a:xfrm>
              <a:off x="764388" y="2914650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RD</a:t>
              </a:r>
            </a:p>
          </p:txBody>
        </p:sp>
        <p:sp>
          <p:nvSpPr>
            <p:cNvPr id="49175" name="Rectangle 26"/>
            <p:cNvSpPr>
              <a:spLocks noChangeArrowheads="1"/>
            </p:cNvSpPr>
            <p:nvPr/>
          </p:nvSpPr>
          <p:spPr bwMode="auto">
            <a:xfrm>
              <a:off x="737400" y="3087688"/>
              <a:ext cx="3911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</a:t>
              </a:r>
            </a:p>
          </p:txBody>
        </p:sp>
        <p:sp>
          <p:nvSpPr>
            <p:cNvPr id="49176" name="Line 28"/>
            <p:cNvSpPr>
              <a:spLocks noChangeShapeType="1"/>
            </p:cNvSpPr>
            <p:nvPr/>
          </p:nvSpPr>
          <p:spPr bwMode="auto">
            <a:xfrm>
              <a:off x="-631025" y="2809875"/>
              <a:ext cx="3349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7" name="Line 30"/>
            <p:cNvSpPr>
              <a:spLocks noChangeShapeType="1"/>
            </p:cNvSpPr>
            <p:nvPr/>
          </p:nvSpPr>
          <p:spPr bwMode="auto">
            <a:xfrm>
              <a:off x="-662775" y="3074988"/>
              <a:ext cx="3889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8" name="Rectangle 31"/>
            <p:cNvSpPr>
              <a:spLocks noChangeArrowheads="1"/>
            </p:cNvSpPr>
            <p:nvPr/>
          </p:nvSpPr>
          <p:spPr bwMode="auto">
            <a:xfrm>
              <a:off x="-1697825" y="2703513"/>
              <a:ext cx="87203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Bus request</a:t>
              </a:r>
            </a:p>
          </p:txBody>
        </p:sp>
        <p:sp>
          <p:nvSpPr>
            <p:cNvPr id="49179" name="Rectangle 32"/>
            <p:cNvSpPr>
              <a:spLocks noChangeArrowheads="1"/>
            </p:cNvSpPr>
            <p:nvPr/>
          </p:nvSpPr>
          <p:spPr bwMode="auto">
            <a:xfrm>
              <a:off x="-1697825" y="2965450"/>
              <a:ext cx="88165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Bus granted</a:t>
              </a:r>
            </a:p>
          </p:txBody>
        </p:sp>
        <p:sp>
          <p:nvSpPr>
            <p:cNvPr id="49180" name="Rectangle 33"/>
            <p:cNvSpPr>
              <a:spLocks noChangeArrowheads="1"/>
            </p:cNvSpPr>
            <p:nvPr/>
          </p:nvSpPr>
          <p:spPr bwMode="auto">
            <a:xfrm>
              <a:off x="-316700" y="2686050"/>
              <a:ext cx="34144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BR</a:t>
              </a:r>
            </a:p>
          </p:txBody>
        </p:sp>
        <p:sp>
          <p:nvSpPr>
            <p:cNvPr id="49181" name="Rectangle 34"/>
            <p:cNvSpPr>
              <a:spLocks noChangeArrowheads="1"/>
            </p:cNvSpPr>
            <p:nvPr/>
          </p:nvSpPr>
          <p:spPr bwMode="auto">
            <a:xfrm>
              <a:off x="-316700" y="2970213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BG</a:t>
              </a:r>
            </a:p>
          </p:txBody>
        </p:sp>
        <p:sp>
          <p:nvSpPr>
            <p:cNvPr id="49182" name="Rectangle 35"/>
            <p:cNvSpPr>
              <a:spLocks noChangeArrowheads="1"/>
            </p:cNvSpPr>
            <p:nvPr/>
          </p:nvSpPr>
          <p:spPr bwMode="auto">
            <a:xfrm>
              <a:off x="65888" y="2833688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CPU</a:t>
              </a:r>
            </a:p>
          </p:txBody>
        </p:sp>
        <p:sp>
          <p:nvSpPr>
            <p:cNvPr id="49183" name="Rectangle 37"/>
            <p:cNvSpPr>
              <a:spLocks noChangeArrowheads="1"/>
            </p:cNvSpPr>
            <p:nvPr/>
          </p:nvSpPr>
          <p:spPr bwMode="auto">
            <a:xfrm>
              <a:off x="1230313" y="3940175"/>
              <a:ext cx="69730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Data bus</a:t>
              </a:r>
            </a:p>
          </p:txBody>
        </p:sp>
        <p:sp>
          <p:nvSpPr>
            <p:cNvPr id="49184" name="Rectangle 38"/>
            <p:cNvSpPr>
              <a:spLocks noChangeArrowheads="1"/>
            </p:cNvSpPr>
            <p:nvPr/>
          </p:nvSpPr>
          <p:spPr bwMode="auto">
            <a:xfrm>
              <a:off x="1308100" y="4557713"/>
              <a:ext cx="85279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DMA select</a:t>
              </a:r>
            </a:p>
          </p:txBody>
        </p:sp>
        <p:sp>
          <p:nvSpPr>
            <p:cNvPr id="49185" name="Rectangle 40"/>
            <p:cNvSpPr>
              <a:spLocks noChangeArrowheads="1"/>
            </p:cNvSpPr>
            <p:nvPr/>
          </p:nvSpPr>
          <p:spPr bwMode="auto">
            <a:xfrm>
              <a:off x="1611313" y="5002213"/>
              <a:ext cx="47769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Read</a:t>
              </a:r>
            </a:p>
          </p:txBody>
        </p:sp>
        <p:sp>
          <p:nvSpPr>
            <p:cNvPr id="49186" name="Rectangle 41"/>
            <p:cNvSpPr>
              <a:spLocks noChangeArrowheads="1"/>
            </p:cNvSpPr>
            <p:nvPr/>
          </p:nvSpPr>
          <p:spPr bwMode="auto">
            <a:xfrm>
              <a:off x="1597025" y="5229225"/>
              <a:ext cx="51616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Write</a:t>
              </a:r>
            </a:p>
          </p:txBody>
        </p:sp>
        <p:sp>
          <p:nvSpPr>
            <p:cNvPr id="49187" name="Rectangle 42"/>
            <p:cNvSpPr>
              <a:spLocks noChangeArrowheads="1"/>
            </p:cNvSpPr>
            <p:nvPr/>
          </p:nvSpPr>
          <p:spPr bwMode="auto">
            <a:xfrm>
              <a:off x="1308100" y="5459413"/>
              <a:ext cx="87203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Bus request</a:t>
              </a:r>
            </a:p>
          </p:txBody>
        </p:sp>
        <p:sp>
          <p:nvSpPr>
            <p:cNvPr id="49188" name="Rectangle 43"/>
            <p:cNvSpPr>
              <a:spLocks noChangeArrowheads="1"/>
            </p:cNvSpPr>
            <p:nvPr/>
          </p:nvSpPr>
          <p:spPr bwMode="auto">
            <a:xfrm>
              <a:off x="1454150" y="5737225"/>
              <a:ext cx="73578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Bus grant</a:t>
              </a:r>
            </a:p>
          </p:txBody>
        </p:sp>
        <p:sp>
          <p:nvSpPr>
            <p:cNvPr id="49189" name="Rectangle 44"/>
            <p:cNvSpPr>
              <a:spLocks noChangeArrowheads="1"/>
            </p:cNvSpPr>
            <p:nvPr/>
          </p:nvSpPr>
          <p:spPr bwMode="auto">
            <a:xfrm>
              <a:off x="1533525" y="5964238"/>
              <a:ext cx="71494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Interrupt</a:t>
              </a:r>
            </a:p>
          </p:txBody>
        </p:sp>
        <p:sp>
          <p:nvSpPr>
            <p:cNvPr id="49190" name="Rectangle 45"/>
            <p:cNvSpPr>
              <a:spLocks noChangeArrowheads="1"/>
            </p:cNvSpPr>
            <p:nvPr/>
          </p:nvSpPr>
          <p:spPr bwMode="auto">
            <a:xfrm>
              <a:off x="2652713" y="4557713"/>
              <a:ext cx="33823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DS</a:t>
              </a:r>
            </a:p>
          </p:txBody>
        </p:sp>
        <p:sp>
          <p:nvSpPr>
            <p:cNvPr id="49191" name="Rectangle 46"/>
            <p:cNvSpPr>
              <a:spLocks noChangeArrowheads="1"/>
            </p:cNvSpPr>
            <p:nvPr/>
          </p:nvSpPr>
          <p:spPr bwMode="auto">
            <a:xfrm>
              <a:off x="2652713" y="4784725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RS</a:t>
              </a:r>
            </a:p>
          </p:txBody>
        </p:sp>
        <p:sp>
          <p:nvSpPr>
            <p:cNvPr id="49192" name="Rectangle 47"/>
            <p:cNvSpPr>
              <a:spLocks noChangeArrowheads="1"/>
            </p:cNvSpPr>
            <p:nvPr/>
          </p:nvSpPr>
          <p:spPr bwMode="auto">
            <a:xfrm>
              <a:off x="2652713" y="5002213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RD</a:t>
              </a:r>
            </a:p>
          </p:txBody>
        </p:sp>
        <p:sp>
          <p:nvSpPr>
            <p:cNvPr id="49193" name="Rectangle 48"/>
            <p:cNvSpPr>
              <a:spLocks noChangeArrowheads="1"/>
            </p:cNvSpPr>
            <p:nvPr/>
          </p:nvSpPr>
          <p:spPr bwMode="auto">
            <a:xfrm>
              <a:off x="2652713" y="5229225"/>
              <a:ext cx="3911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</a:t>
              </a:r>
            </a:p>
          </p:txBody>
        </p:sp>
        <p:sp>
          <p:nvSpPr>
            <p:cNvPr id="49194" name="Rectangle 49"/>
            <p:cNvSpPr>
              <a:spLocks noChangeArrowheads="1"/>
            </p:cNvSpPr>
            <p:nvPr/>
          </p:nvSpPr>
          <p:spPr bwMode="auto">
            <a:xfrm>
              <a:off x="2652713" y="5459413"/>
              <a:ext cx="34144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BR</a:t>
              </a:r>
            </a:p>
          </p:txBody>
        </p:sp>
        <p:sp>
          <p:nvSpPr>
            <p:cNvPr id="49195" name="Rectangle 50"/>
            <p:cNvSpPr>
              <a:spLocks noChangeArrowheads="1"/>
            </p:cNvSpPr>
            <p:nvPr/>
          </p:nvSpPr>
          <p:spPr bwMode="auto">
            <a:xfrm>
              <a:off x="2652713" y="5737225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BG</a:t>
              </a:r>
            </a:p>
          </p:txBody>
        </p:sp>
        <p:sp>
          <p:nvSpPr>
            <p:cNvPr id="49196" name="Rectangle 51"/>
            <p:cNvSpPr>
              <a:spLocks noChangeArrowheads="1"/>
            </p:cNvSpPr>
            <p:nvPr/>
          </p:nvSpPr>
          <p:spPr bwMode="auto">
            <a:xfrm>
              <a:off x="2652713" y="5964238"/>
              <a:ext cx="71494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Interrupt</a:t>
              </a:r>
            </a:p>
          </p:txBody>
        </p:sp>
        <p:sp>
          <p:nvSpPr>
            <p:cNvPr id="49197" name="Rectangle 52"/>
            <p:cNvSpPr>
              <a:spLocks noChangeArrowheads="1"/>
            </p:cNvSpPr>
            <p:nvPr/>
          </p:nvSpPr>
          <p:spPr bwMode="auto">
            <a:xfrm>
              <a:off x="2741613" y="3881438"/>
              <a:ext cx="69730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 dirty="0">
                  <a:latin typeface="Calibri" panose="020F0502020204030204" pitchFamily="34" charset="0"/>
                </a:rPr>
                <a:t>Data bus</a:t>
              </a:r>
            </a:p>
            <a:p>
              <a:pPr eaLnBrk="1" hangingPunct="1"/>
              <a:endParaRPr lang="en-US" altLang="ko-KR" sz="1100" b="1" dirty="0">
                <a:latin typeface="Calibri" panose="020F0502020204030204" pitchFamily="34" charset="0"/>
              </a:endParaRPr>
            </a:p>
          </p:txBody>
        </p:sp>
        <p:sp>
          <p:nvSpPr>
            <p:cNvPr id="49198" name="Rectangle 53"/>
            <p:cNvSpPr>
              <a:spLocks noChangeArrowheads="1"/>
            </p:cNvSpPr>
            <p:nvPr/>
          </p:nvSpPr>
          <p:spPr bwMode="auto">
            <a:xfrm>
              <a:off x="2824163" y="4021138"/>
              <a:ext cx="59952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buffers</a:t>
              </a:r>
            </a:p>
          </p:txBody>
        </p:sp>
        <p:sp>
          <p:nvSpPr>
            <p:cNvPr id="49199" name="Rectangle 54"/>
            <p:cNvSpPr>
              <a:spLocks noChangeArrowheads="1"/>
            </p:cNvSpPr>
            <p:nvPr/>
          </p:nvSpPr>
          <p:spPr bwMode="auto">
            <a:xfrm>
              <a:off x="5203825" y="3932238"/>
              <a:ext cx="88966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Address bus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49200" name="Rectangle 55"/>
            <p:cNvSpPr>
              <a:spLocks noChangeArrowheads="1"/>
            </p:cNvSpPr>
            <p:nvPr/>
          </p:nvSpPr>
          <p:spPr bwMode="auto">
            <a:xfrm>
              <a:off x="5413375" y="4070350"/>
              <a:ext cx="59952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buffers</a:t>
              </a:r>
            </a:p>
          </p:txBody>
        </p:sp>
        <p:sp>
          <p:nvSpPr>
            <p:cNvPr id="49201" name="Rectangle 56"/>
            <p:cNvSpPr>
              <a:spLocks noChangeArrowheads="1"/>
            </p:cNvSpPr>
            <p:nvPr/>
          </p:nvSpPr>
          <p:spPr bwMode="auto">
            <a:xfrm>
              <a:off x="5021263" y="4616450"/>
              <a:ext cx="113172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Address register</a:t>
              </a:r>
            </a:p>
          </p:txBody>
        </p:sp>
        <p:sp>
          <p:nvSpPr>
            <p:cNvPr id="49202" name="Rectangle 57"/>
            <p:cNvSpPr>
              <a:spLocks noChangeArrowheads="1"/>
            </p:cNvSpPr>
            <p:nvPr/>
          </p:nvSpPr>
          <p:spPr bwMode="auto">
            <a:xfrm>
              <a:off x="4986338" y="5002213"/>
              <a:ext cx="135934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Word count register</a:t>
              </a:r>
            </a:p>
          </p:txBody>
        </p:sp>
        <p:sp>
          <p:nvSpPr>
            <p:cNvPr id="49203" name="Rectangle 58"/>
            <p:cNvSpPr>
              <a:spLocks noChangeArrowheads="1"/>
            </p:cNvSpPr>
            <p:nvPr/>
          </p:nvSpPr>
          <p:spPr bwMode="auto">
            <a:xfrm>
              <a:off x="5111750" y="5419725"/>
              <a:ext cx="109966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Control register</a:t>
              </a:r>
            </a:p>
          </p:txBody>
        </p:sp>
        <p:sp>
          <p:nvSpPr>
            <p:cNvPr id="49204" name="Rectangle 59"/>
            <p:cNvSpPr>
              <a:spLocks noChangeArrowheads="1"/>
            </p:cNvSpPr>
            <p:nvPr/>
          </p:nvSpPr>
          <p:spPr bwMode="auto">
            <a:xfrm>
              <a:off x="4138613" y="5964238"/>
              <a:ext cx="9585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DMA request</a:t>
              </a:r>
            </a:p>
          </p:txBody>
        </p:sp>
        <p:sp>
          <p:nvSpPr>
            <p:cNvPr id="49205" name="Rectangle 60"/>
            <p:cNvSpPr>
              <a:spLocks noChangeArrowheads="1"/>
            </p:cNvSpPr>
            <p:nvPr/>
          </p:nvSpPr>
          <p:spPr bwMode="auto">
            <a:xfrm>
              <a:off x="4138613" y="6184900"/>
              <a:ext cx="128240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DMA acknowledge</a:t>
              </a:r>
            </a:p>
          </p:txBody>
        </p:sp>
        <p:sp>
          <p:nvSpPr>
            <p:cNvPr id="49206" name="Rectangle 61"/>
            <p:cNvSpPr>
              <a:spLocks noChangeArrowheads="1"/>
            </p:cNvSpPr>
            <p:nvPr/>
          </p:nvSpPr>
          <p:spPr bwMode="auto">
            <a:xfrm>
              <a:off x="5795963" y="6134100"/>
              <a:ext cx="94417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to I/O device</a:t>
              </a:r>
            </a:p>
          </p:txBody>
        </p:sp>
        <p:sp>
          <p:nvSpPr>
            <p:cNvPr id="49207" name="Arc 62"/>
            <p:cNvSpPr>
              <a:spLocks/>
            </p:cNvSpPr>
            <p:nvPr/>
          </p:nvSpPr>
          <p:spPr bwMode="auto">
            <a:xfrm>
              <a:off x="2097088" y="3678238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08" name="Line 63"/>
            <p:cNvSpPr>
              <a:spLocks noChangeShapeType="1"/>
            </p:cNvSpPr>
            <p:nvPr/>
          </p:nvSpPr>
          <p:spPr bwMode="auto">
            <a:xfrm>
              <a:off x="2222500" y="3717925"/>
              <a:ext cx="35226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9" name="Rectangle 64"/>
            <p:cNvSpPr>
              <a:spLocks noChangeArrowheads="1"/>
            </p:cNvSpPr>
            <p:nvPr/>
          </p:nvSpPr>
          <p:spPr bwMode="auto">
            <a:xfrm>
              <a:off x="3032125" y="5162550"/>
              <a:ext cx="61876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Control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49210" name="Rectangle 65"/>
            <p:cNvSpPr>
              <a:spLocks noChangeArrowheads="1"/>
            </p:cNvSpPr>
            <p:nvPr/>
          </p:nvSpPr>
          <p:spPr bwMode="auto">
            <a:xfrm>
              <a:off x="3125788" y="5302250"/>
              <a:ext cx="45525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logic</a:t>
              </a:r>
            </a:p>
          </p:txBody>
        </p:sp>
        <p:sp>
          <p:nvSpPr>
            <p:cNvPr id="49211" name="Rectangle 66"/>
            <p:cNvSpPr>
              <a:spLocks noChangeArrowheads="1"/>
            </p:cNvSpPr>
            <p:nvPr/>
          </p:nvSpPr>
          <p:spPr bwMode="auto">
            <a:xfrm>
              <a:off x="2692400" y="3900488"/>
              <a:ext cx="1087438" cy="3143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49212" name="Arc 67"/>
            <p:cNvSpPr>
              <a:spLocks/>
            </p:cNvSpPr>
            <p:nvPr/>
          </p:nvSpPr>
          <p:spPr bwMode="auto">
            <a:xfrm>
              <a:off x="2555875" y="4022725"/>
              <a:ext cx="123825" cy="74613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13" name="Arc 68"/>
            <p:cNvSpPr>
              <a:spLocks/>
            </p:cNvSpPr>
            <p:nvPr/>
          </p:nvSpPr>
          <p:spPr bwMode="auto">
            <a:xfrm>
              <a:off x="2090738" y="4021138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14" name="Line 69"/>
            <p:cNvSpPr>
              <a:spLocks noChangeShapeType="1"/>
            </p:cNvSpPr>
            <p:nvPr/>
          </p:nvSpPr>
          <p:spPr bwMode="auto">
            <a:xfrm>
              <a:off x="2178050" y="4056063"/>
              <a:ext cx="3889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5" name="Arc 70"/>
            <p:cNvSpPr>
              <a:spLocks/>
            </p:cNvSpPr>
            <p:nvPr/>
          </p:nvSpPr>
          <p:spPr bwMode="auto">
            <a:xfrm>
              <a:off x="4278313" y="4022725"/>
              <a:ext cx="123825" cy="74613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16" name="Arc 71"/>
            <p:cNvSpPr>
              <a:spLocks/>
            </p:cNvSpPr>
            <p:nvPr/>
          </p:nvSpPr>
          <p:spPr bwMode="auto">
            <a:xfrm>
              <a:off x="3802063" y="4021138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17" name="Line 72"/>
            <p:cNvSpPr>
              <a:spLocks noChangeShapeType="1"/>
            </p:cNvSpPr>
            <p:nvPr/>
          </p:nvSpPr>
          <p:spPr bwMode="auto">
            <a:xfrm>
              <a:off x="3925888" y="4056063"/>
              <a:ext cx="36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8" name="Rectangle 73"/>
            <p:cNvSpPr>
              <a:spLocks noChangeArrowheads="1"/>
            </p:cNvSpPr>
            <p:nvPr/>
          </p:nvSpPr>
          <p:spPr bwMode="auto">
            <a:xfrm>
              <a:off x="2692400" y="4516438"/>
              <a:ext cx="1087438" cy="20018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49219" name="Arc 74"/>
            <p:cNvSpPr>
              <a:spLocks/>
            </p:cNvSpPr>
            <p:nvPr/>
          </p:nvSpPr>
          <p:spPr bwMode="auto">
            <a:xfrm>
              <a:off x="2549525" y="4638675"/>
              <a:ext cx="125413" cy="73025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20" name="Line 75"/>
            <p:cNvSpPr>
              <a:spLocks noChangeShapeType="1"/>
            </p:cNvSpPr>
            <p:nvPr/>
          </p:nvSpPr>
          <p:spPr bwMode="auto">
            <a:xfrm>
              <a:off x="2403475" y="4679950"/>
              <a:ext cx="1539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21" name="Arc 76"/>
            <p:cNvSpPr>
              <a:spLocks/>
            </p:cNvSpPr>
            <p:nvPr/>
          </p:nvSpPr>
          <p:spPr bwMode="auto">
            <a:xfrm>
              <a:off x="2549525" y="4872038"/>
              <a:ext cx="125413" cy="73025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22" name="Line 77"/>
            <p:cNvSpPr>
              <a:spLocks noChangeShapeType="1"/>
            </p:cNvSpPr>
            <p:nvPr/>
          </p:nvSpPr>
          <p:spPr bwMode="auto">
            <a:xfrm>
              <a:off x="2403475" y="4906963"/>
              <a:ext cx="1539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23" name="Arc 78"/>
            <p:cNvSpPr>
              <a:spLocks/>
            </p:cNvSpPr>
            <p:nvPr/>
          </p:nvSpPr>
          <p:spPr bwMode="auto">
            <a:xfrm>
              <a:off x="2555875" y="5075238"/>
              <a:ext cx="123825" cy="73025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24" name="Arc 79"/>
            <p:cNvSpPr>
              <a:spLocks/>
            </p:cNvSpPr>
            <p:nvPr/>
          </p:nvSpPr>
          <p:spPr bwMode="auto">
            <a:xfrm>
              <a:off x="2171700" y="5083175"/>
              <a:ext cx="123825" cy="74613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25" name="Line 80"/>
            <p:cNvSpPr>
              <a:spLocks noChangeShapeType="1"/>
            </p:cNvSpPr>
            <p:nvPr/>
          </p:nvSpPr>
          <p:spPr bwMode="auto">
            <a:xfrm>
              <a:off x="2293938" y="5116513"/>
              <a:ext cx="273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26" name="Arc 81"/>
            <p:cNvSpPr>
              <a:spLocks/>
            </p:cNvSpPr>
            <p:nvPr/>
          </p:nvSpPr>
          <p:spPr bwMode="auto">
            <a:xfrm>
              <a:off x="2549525" y="5313363"/>
              <a:ext cx="125413" cy="74612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27" name="Arc 82"/>
            <p:cNvSpPr>
              <a:spLocks/>
            </p:cNvSpPr>
            <p:nvPr/>
          </p:nvSpPr>
          <p:spPr bwMode="auto">
            <a:xfrm>
              <a:off x="2171700" y="5311775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28" name="Line 83"/>
            <p:cNvSpPr>
              <a:spLocks noChangeShapeType="1"/>
            </p:cNvSpPr>
            <p:nvPr/>
          </p:nvSpPr>
          <p:spPr bwMode="auto">
            <a:xfrm>
              <a:off x="2284413" y="5356225"/>
              <a:ext cx="273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29" name="Line 84"/>
            <p:cNvSpPr>
              <a:spLocks noChangeShapeType="1"/>
            </p:cNvSpPr>
            <p:nvPr/>
          </p:nvSpPr>
          <p:spPr bwMode="auto">
            <a:xfrm>
              <a:off x="4410075" y="3900488"/>
              <a:ext cx="0" cy="18335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30" name="Rectangle 86"/>
            <p:cNvSpPr>
              <a:spLocks noChangeArrowheads="1"/>
            </p:cNvSpPr>
            <p:nvPr/>
          </p:nvSpPr>
          <p:spPr bwMode="auto">
            <a:xfrm>
              <a:off x="5008563" y="3949700"/>
              <a:ext cx="1470025" cy="3143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49231" name="Rectangle 87"/>
            <p:cNvSpPr>
              <a:spLocks noChangeArrowheads="1"/>
            </p:cNvSpPr>
            <p:nvPr/>
          </p:nvSpPr>
          <p:spPr bwMode="auto">
            <a:xfrm>
              <a:off x="5008563" y="4625975"/>
              <a:ext cx="1470025" cy="2063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49232" name="Rectangle 88"/>
            <p:cNvSpPr>
              <a:spLocks noChangeArrowheads="1"/>
            </p:cNvSpPr>
            <p:nvPr/>
          </p:nvSpPr>
          <p:spPr bwMode="auto">
            <a:xfrm>
              <a:off x="5008563" y="5022850"/>
              <a:ext cx="1573212" cy="1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49233" name="Rectangle 89"/>
            <p:cNvSpPr>
              <a:spLocks noChangeArrowheads="1"/>
            </p:cNvSpPr>
            <p:nvPr/>
          </p:nvSpPr>
          <p:spPr bwMode="auto">
            <a:xfrm>
              <a:off x="5008563" y="5419725"/>
              <a:ext cx="1470025" cy="204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49234" name="Arc 90"/>
            <p:cNvSpPr>
              <a:spLocks/>
            </p:cNvSpPr>
            <p:nvPr/>
          </p:nvSpPr>
          <p:spPr bwMode="auto">
            <a:xfrm>
              <a:off x="4881563" y="4692650"/>
              <a:ext cx="123825" cy="74613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35" name="Arc 91"/>
            <p:cNvSpPr>
              <a:spLocks/>
            </p:cNvSpPr>
            <p:nvPr/>
          </p:nvSpPr>
          <p:spPr bwMode="auto">
            <a:xfrm>
              <a:off x="4406900" y="4694238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36" name="Line 92"/>
            <p:cNvSpPr>
              <a:spLocks noChangeShapeType="1"/>
            </p:cNvSpPr>
            <p:nvPr/>
          </p:nvSpPr>
          <p:spPr bwMode="auto">
            <a:xfrm>
              <a:off x="4521200" y="4729163"/>
              <a:ext cx="3794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37" name="Arc 93"/>
            <p:cNvSpPr>
              <a:spLocks/>
            </p:cNvSpPr>
            <p:nvPr/>
          </p:nvSpPr>
          <p:spPr bwMode="auto">
            <a:xfrm>
              <a:off x="4872038" y="5083175"/>
              <a:ext cx="123825" cy="76200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38" name="Arc 94"/>
            <p:cNvSpPr>
              <a:spLocks/>
            </p:cNvSpPr>
            <p:nvPr/>
          </p:nvSpPr>
          <p:spPr bwMode="auto">
            <a:xfrm>
              <a:off x="4406900" y="5086350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39" name="Line 95"/>
            <p:cNvSpPr>
              <a:spLocks noChangeShapeType="1"/>
            </p:cNvSpPr>
            <p:nvPr/>
          </p:nvSpPr>
          <p:spPr bwMode="auto">
            <a:xfrm>
              <a:off x="4521200" y="5126038"/>
              <a:ext cx="3984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0" name="Arc 96"/>
            <p:cNvSpPr>
              <a:spLocks/>
            </p:cNvSpPr>
            <p:nvPr/>
          </p:nvSpPr>
          <p:spPr bwMode="auto">
            <a:xfrm>
              <a:off x="4865688" y="5481638"/>
              <a:ext cx="123825" cy="73025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41" name="Arc 97"/>
            <p:cNvSpPr>
              <a:spLocks/>
            </p:cNvSpPr>
            <p:nvPr/>
          </p:nvSpPr>
          <p:spPr bwMode="auto">
            <a:xfrm>
              <a:off x="4406900" y="5478463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42" name="Line 98"/>
            <p:cNvSpPr>
              <a:spLocks noChangeShapeType="1"/>
            </p:cNvSpPr>
            <p:nvPr/>
          </p:nvSpPr>
          <p:spPr bwMode="auto">
            <a:xfrm>
              <a:off x="4530725" y="5513388"/>
              <a:ext cx="3508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3" name="Arc 99"/>
            <p:cNvSpPr>
              <a:spLocks/>
            </p:cNvSpPr>
            <p:nvPr/>
          </p:nvSpPr>
          <p:spPr bwMode="auto">
            <a:xfrm>
              <a:off x="2395538" y="5538788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44" name="Line 100"/>
            <p:cNvSpPr>
              <a:spLocks noChangeShapeType="1"/>
            </p:cNvSpPr>
            <p:nvPr/>
          </p:nvSpPr>
          <p:spPr bwMode="auto">
            <a:xfrm>
              <a:off x="2508250" y="5572125"/>
              <a:ext cx="1920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5" name="Arc 101"/>
            <p:cNvSpPr>
              <a:spLocks/>
            </p:cNvSpPr>
            <p:nvPr/>
          </p:nvSpPr>
          <p:spPr bwMode="auto">
            <a:xfrm>
              <a:off x="2549525" y="5819775"/>
              <a:ext cx="125413" cy="73025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46" name="Line 102"/>
            <p:cNvSpPr>
              <a:spLocks noChangeShapeType="1"/>
            </p:cNvSpPr>
            <p:nvPr/>
          </p:nvSpPr>
          <p:spPr bwMode="auto">
            <a:xfrm>
              <a:off x="2403475" y="5861050"/>
              <a:ext cx="1539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7" name="Arc 103"/>
            <p:cNvSpPr>
              <a:spLocks/>
            </p:cNvSpPr>
            <p:nvPr/>
          </p:nvSpPr>
          <p:spPr bwMode="auto">
            <a:xfrm>
              <a:off x="2395538" y="6056313"/>
              <a:ext cx="123825" cy="76200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48" name="Line 104"/>
            <p:cNvSpPr>
              <a:spLocks noChangeShapeType="1"/>
            </p:cNvSpPr>
            <p:nvPr/>
          </p:nvSpPr>
          <p:spPr bwMode="auto">
            <a:xfrm>
              <a:off x="2498725" y="6097588"/>
              <a:ext cx="2190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49" name="Line 105"/>
            <p:cNvSpPr>
              <a:spLocks noChangeShapeType="1"/>
            </p:cNvSpPr>
            <p:nvPr/>
          </p:nvSpPr>
          <p:spPr bwMode="auto">
            <a:xfrm flipV="1">
              <a:off x="5751513" y="3709988"/>
              <a:ext cx="0" cy="239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50" name="Arc 106"/>
            <p:cNvSpPr>
              <a:spLocks/>
            </p:cNvSpPr>
            <p:nvPr/>
          </p:nvSpPr>
          <p:spPr bwMode="auto">
            <a:xfrm>
              <a:off x="3802063" y="6108700"/>
              <a:ext cx="123825" cy="77788"/>
            </a:xfrm>
            <a:custGeom>
              <a:avLst/>
              <a:gdLst>
                <a:gd name="T0" fmla="*/ 2147483647 w 21600"/>
                <a:gd name="T1" fmla="*/ 0 h 17514"/>
                <a:gd name="T2" fmla="*/ 2147483647 w 21600"/>
                <a:gd name="T3" fmla="*/ 2147483647 h 17514"/>
                <a:gd name="T4" fmla="*/ 0 w 21600"/>
                <a:gd name="T5" fmla="*/ 2147483647 h 175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514"/>
                <a:gd name="T11" fmla="*/ 21600 w 21600"/>
                <a:gd name="T12" fmla="*/ 17514 h 17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51" name="Line 107"/>
            <p:cNvSpPr>
              <a:spLocks noChangeShapeType="1"/>
            </p:cNvSpPr>
            <p:nvPr/>
          </p:nvSpPr>
          <p:spPr bwMode="auto">
            <a:xfrm>
              <a:off x="3916363" y="6149975"/>
              <a:ext cx="18907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52" name="Arc 108"/>
            <p:cNvSpPr>
              <a:spLocks/>
            </p:cNvSpPr>
            <p:nvPr/>
          </p:nvSpPr>
          <p:spPr bwMode="auto">
            <a:xfrm>
              <a:off x="5694363" y="6329363"/>
              <a:ext cx="125412" cy="76200"/>
            </a:xfrm>
            <a:custGeom>
              <a:avLst/>
              <a:gdLst>
                <a:gd name="T0" fmla="*/ 2147483647 w 21600"/>
                <a:gd name="T1" fmla="*/ 2147483647 h 17282"/>
                <a:gd name="T2" fmla="*/ 2147483647 w 21600"/>
                <a:gd name="T3" fmla="*/ 0 h 17282"/>
                <a:gd name="T4" fmla="*/ 2147483647 w 21600"/>
                <a:gd name="T5" fmla="*/ 2147483647 h 17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82"/>
                <a:gd name="T11" fmla="*/ 21600 w 21600"/>
                <a:gd name="T12" fmla="*/ 17282 h 17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lnTo>
                    <a:pt x="1746" y="17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253" name="Line 109"/>
            <p:cNvSpPr>
              <a:spLocks noChangeShapeType="1"/>
            </p:cNvSpPr>
            <p:nvPr/>
          </p:nvSpPr>
          <p:spPr bwMode="auto">
            <a:xfrm flipV="1">
              <a:off x="3783013" y="6367463"/>
              <a:ext cx="1917700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54" name="Rectangle 113"/>
            <p:cNvSpPr>
              <a:spLocks noChangeArrowheads="1"/>
            </p:cNvSpPr>
            <p:nvPr/>
          </p:nvSpPr>
          <p:spPr bwMode="auto">
            <a:xfrm rot="-5400000">
              <a:off x="3834287" y="4786966"/>
              <a:ext cx="88646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Internal Bus</a:t>
              </a:r>
            </a:p>
          </p:txBody>
        </p:sp>
      </p:grpSp>
      <p:sp>
        <p:nvSpPr>
          <p:cNvPr id="49159" name="Rectangle 7"/>
          <p:cNvSpPr>
            <a:spLocks noChangeArrowheads="1"/>
          </p:cNvSpPr>
          <p:nvPr/>
        </p:nvSpPr>
        <p:spPr bwMode="auto">
          <a:xfrm>
            <a:off x="6248401" y="3124201"/>
            <a:ext cx="3548063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u="sng">
                <a:latin typeface="Calibri" panose="020F0502020204030204" pitchFamily="34" charset="0"/>
              </a:rPr>
              <a:t>   </a:t>
            </a:r>
            <a:r>
              <a:rPr lang="en-US" altLang="ko-KR" sz="1600" b="1" u="sng">
                <a:solidFill>
                  <a:srgbClr val="FF0000"/>
                </a:solidFill>
                <a:latin typeface="Calibri" panose="020F0502020204030204" pitchFamily="34" charset="0"/>
              </a:rPr>
              <a:t>Fig 2: Block diagram of DMA controller</a:t>
            </a:r>
          </a:p>
        </p:txBody>
      </p:sp>
      <p:sp>
        <p:nvSpPr>
          <p:cNvPr id="49161" name="Rectangle 9"/>
          <p:cNvSpPr>
            <a:spLocks noChangeArrowheads="1"/>
          </p:cNvSpPr>
          <p:nvPr/>
        </p:nvSpPr>
        <p:spPr bwMode="auto">
          <a:xfrm>
            <a:off x="3200401" y="2514601"/>
            <a:ext cx="1406525" cy="8096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9162" name="Rectangle 6"/>
          <p:cNvSpPr>
            <a:spLocks noChangeArrowheads="1"/>
          </p:cNvSpPr>
          <p:nvPr/>
        </p:nvSpPr>
        <p:spPr bwMode="auto">
          <a:xfrm>
            <a:off x="3443287" y="1663702"/>
            <a:ext cx="5305425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u="sng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Fig 1: CPU bus signals for DMA transfer (Bus control by DMA)</a:t>
            </a:r>
          </a:p>
        </p:txBody>
      </p:sp>
      <p:sp>
        <p:nvSpPr>
          <p:cNvPr id="49163" name="Rectangle 16"/>
          <p:cNvSpPr>
            <a:spLocks noChangeArrowheads="1"/>
          </p:cNvSpPr>
          <p:nvPr/>
        </p:nvSpPr>
        <p:spPr bwMode="auto">
          <a:xfrm>
            <a:off x="5029200" y="2438401"/>
            <a:ext cx="8890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100" b="1">
                <a:latin typeface="Calibri" panose="020F0502020204030204" pitchFamily="34" charset="0"/>
              </a:rPr>
              <a:t>Address bus</a:t>
            </a:r>
          </a:p>
        </p:txBody>
      </p:sp>
      <p:sp>
        <p:nvSpPr>
          <p:cNvPr id="49164" name="Rectangle 7"/>
          <p:cNvSpPr>
            <a:spLocks noChangeArrowheads="1"/>
          </p:cNvSpPr>
          <p:nvPr/>
        </p:nvSpPr>
        <p:spPr bwMode="auto">
          <a:xfrm>
            <a:off x="1828801" y="4114801"/>
            <a:ext cx="3146425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u="sng">
                <a:latin typeface="Calibri" panose="020F0502020204030204" pitchFamily="34" charset="0"/>
              </a:rPr>
              <a:t>  </a:t>
            </a:r>
            <a:r>
              <a:rPr lang="en-US" altLang="ko-KR" sz="1600" b="1" u="sng">
                <a:solidFill>
                  <a:srgbClr val="FF0000"/>
                </a:solidFill>
                <a:latin typeface="Calibri" panose="020F0502020204030204" pitchFamily="34" charset="0"/>
              </a:rPr>
              <a:t>Address register:</a:t>
            </a:r>
          </a:p>
          <a:p>
            <a:pPr eaLnBrk="1" hangingPunct="1"/>
            <a:r>
              <a:rPr lang="en-US" altLang="ko-KR" sz="1600">
                <a:latin typeface="Calibri" panose="020F0502020204030204" pitchFamily="34" charset="0"/>
              </a:rPr>
              <a:t>Contains an address to specify</a:t>
            </a:r>
          </a:p>
          <a:p>
            <a:pPr eaLnBrk="1" hangingPunct="1"/>
            <a:r>
              <a:rPr lang="en-US" altLang="ko-KR" sz="1600">
                <a:latin typeface="Calibri" panose="020F0502020204030204" pitchFamily="34" charset="0"/>
              </a:rPr>
              <a:t>Desired location in memory</a:t>
            </a:r>
            <a:endParaRPr lang="en-US" altLang="ko-KR" sz="1600" b="1" u="sng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eaLnBrk="1" hangingPunct="1"/>
            <a:r>
              <a:rPr lang="en-US" altLang="ko-KR" sz="1600" b="1" u="sng">
                <a:solidFill>
                  <a:srgbClr val="FF0000"/>
                </a:solidFill>
                <a:latin typeface="Calibri" panose="020F0502020204030204" pitchFamily="34" charset="0"/>
              </a:rPr>
              <a:t>Word count register</a:t>
            </a:r>
          </a:p>
          <a:p>
            <a:pPr eaLnBrk="1" hangingPunct="1"/>
            <a:r>
              <a:rPr lang="en-US" altLang="ko-KR" sz="1600">
                <a:latin typeface="Calibri" panose="020F0502020204030204" pitchFamily="34" charset="0"/>
              </a:rPr>
              <a:t>Holds no. of words to be transferred</a:t>
            </a:r>
            <a:endParaRPr lang="en-US" altLang="ko-KR" sz="1600" b="1" u="sng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eaLnBrk="1" hangingPunct="1"/>
            <a:r>
              <a:rPr lang="en-US" altLang="ko-KR" sz="1600" b="1" u="sng">
                <a:solidFill>
                  <a:srgbClr val="FF0000"/>
                </a:solidFill>
                <a:latin typeface="Calibri" panose="020F0502020204030204" pitchFamily="34" charset="0"/>
              </a:rPr>
              <a:t>Control register</a:t>
            </a:r>
          </a:p>
          <a:p>
            <a:pPr eaLnBrk="1" hangingPunct="1"/>
            <a:r>
              <a:rPr lang="en-US" altLang="ko-KR" sz="1600">
                <a:latin typeface="Calibri" panose="020F0502020204030204" pitchFamily="34" charset="0"/>
              </a:rPr>
              <a:t>Specifies the mode of transfer</a:t>
            </a:r>
          </a:p>
        </p:txBody>
      </p:sp>
    </p:spTree>
    <p:extLst>
      <p:ext uri="{BB962C8B-B14F-4D97-AF65-F5344CB8AC3E}">
        <p14:creationId xmlns:p14="http://schemas.microsoft.com/office/powerpoint/2010/main" val="31513122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F232F813-BF7D-43E8-89E1-E22E0150D269}" type="slidenum">
              <a:rPr lang="en-US" altLang="en-US">
                <a:latin typeface="Calibri" panose="020F0502020204030204" pitchFamily="34" charset="0"/>
              </a:rPr>
              <a:pPr eaLnBrk="1" hangingPunct="1"/>
              <a:t>66</a:t>
            </a:fld>
            <a:r>
              <a:rPr lang="en-US" altLang="en-US">
                <a:latin typeface="Calibri" panose="020F0502020204030204" pitchFamily="34" charset="0"/>
              </a:rPr>
              <a:t>				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905069" y="965200"/>
            <a:ext cx="10524931" cy="0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3" name="Rectangle 3"/>
          <p:cNvSpPr>
            <a:spLocks noChangeArrowheads="1"/>
          </p:cNvSpPr>
          <p:nvPr/>
        </p:nvSpPr>
        <p:spPr bwMode="auto">
          <a:xfrm>
            <a:off x="765110" y="3401080"/>
            <a:ext cx="9984079" cy="244425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85000"/>
              </a:lnSpc>
              <a:defRPr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 Transfer can be made in several ways </a:t>
            </a:r>
          </a:p>
          <a:p>
            <a:pPr defTabSz="762000">
              <a:lnSpc>
                <a:spcPct val="85000"/>
              </a:lnSpc>
              <a:defRPr/>
            </a:pPr>
            <a:endParaRPr lang="en-US" altLang="ko-K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Burst Transfer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 defTabSz="76200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 sequence consisting of memory words is transferred in continuous burst while the DMA controller is master of memory bus</a:t>
            </a:r>
          </a:p>
          <a:p>
            <a:pPr marL="285750" indent="-285750" defTabSz="76200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76200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 of transfer is needed for fast devices such as magnetic disk where data transmission cannot be stopped or slowed down until an entire block is transferred                   </a:t>
            </a:r>
          </a:p>
          <a:p>
            <a:pPr marL="342900" indent="-342900" defTabSz="762000">
              <a:lnSpc>
                <a:spcPct val="85000"/>
              </a:lnSpc>
              <a:defRPr/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Direct Memory Access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905069" y="1755485"/>
            <a:ext cx="9534331" cy="13454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 and WR is bidirectional</a:t>
            </a: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BG=0 CPU can communicate with DMA Register (RW info.)</a:t>
            </a:r>
          </a:p>
          <a:p>
            <a:pPr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BG=1 CPU left the buses and DMA can communicate directly with memory</a:t>
            </a: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7645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F232F813-BF7D-43E8-89E1-E22E0150D269}" type="slidenum">
              <a:rPr lang="en-US" altLang="en-US">
                <a:latin typeface="Calibri" panose="020F0502020204030204" pitchFamily="34" charset="0"/>
              </a:rPr>
              <a:pPr eaLnBrk="1" hangingPunct="1"/>
              <a:t>67</a:t>
            </a:fld>
            <a:r>
              <a:rPr lang="en-US" altLang="en-US">
                <a:latin typeface="Calibri" panose="020F0502020204030204" pitchFamily="34" charset="0"/>
              </a:rPr>
              <a:t>				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3" name="Rectangle 3"/>
          <p:cNvSpPr>
            <a:spLocks noChangeArrowheads="1"/>
          </p:cNvSpPr>
          <p:nvPr/>
        </p:nvSpPr>
        <p:spPr bwMode="auto">
          <a:xfrm>
            <a:off x="891851" y="2165303"/>
            <a:ext cx="10332098" cy="296747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marL="342900" indent="-342900" defTabSz="762000">
              <a:lnSpc>
                <a:spcPct val="85000"/>
              </a:lnSpc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defRPr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stealing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indent="-342900" defTabSz="762000">
              <a:lnSpc>
                <a:spcPct val="85000"/>
              </a:lnSpc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technique called cycle stealing allows DMA controller to transfer one data word at time after which it must return control of the buses to the CPU.</a:t>
            </a:r>
          </a:p>
          <a:p>
            <a:pPr marL="342900" indent="-342900" defTabSz="76200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merely delays its operation for one memory cycle to allow the direct memory I/O transfer to “steal” one memory cycle</a:t>
            </a: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Direct Memory Access</a:t>
            </a:r>
          </a:p>
        </p:txBody>
      </p:sp>
    </p:spTree>
    <p:extLst>
      <p:ext uri="{BB962C8B-B14F-4D97-AF65-F5344CB8AC3E}">
        <p14:creationId xmlns:p14="http://schemas.microsoft.com/office/powerpoint/2010/main" val="11936175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4572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03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DC43D492-2EE8-42C0-91E4-331A2E5649D0}" type="slidenum">
              <a:rPr lang="en-US" altLang="en-US">
                <a:latin typeface="Calibri" panose="020F0502020204030204" pitchFamily="34" charset="0"/>
              </a:rPr>
              <a:pPr eaLnBrk="1" hangingPunct="1"/>
              <a:t>68</a:t>
            </a:fld>
            <a:r>
              <a:rPr lang="en-US" altLang="en-US">
                <a:latin typeface="Calibri" panose="020F0502020204030204" pitchFamily="34" charset="0"/>
              </a:rPr>
              <a:t>				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05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DMA I/O Operation</a:t>
            </a:r>
          </a:p>
        </p:txBody>
      </p:sp>
      <p:sp>
        <p:nvSpPr>
          <p:cNvPr id="5126" name="Rectangle 3"/>
          <p:cNvSpPr>
            <a:spLocks noChangeArrowheads="1"/>
          </p:cNvSpPr>
          <p:nvPr/>
        </p:nvSpPr>
        <p:spPr bwMode="auto">
          <a:xfrm>
            <a:off x="1958976" y="1287464"/>
            <a:ext cx="8328025" cy="34385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DMA is first initialized by CPU. After that DMA starts and continues to transfer data between memory and peripheral unit until an entire block is transferred.</a:t>
            </a: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defTabSz="762000">
              <a:lnSpc>
                <a:spcPct val="85000"/>
              </a:lnSpc>
              <a:defRPr/>
            </a:pPr>
            <a:r>
              <a:rPr lang="en-US" altLang="ko-KR" sz="1600" b="1" dirty="0">
                <a:solidFill>
                  <a:srgbClr val="FF0000"/>
                </a:solidFill>
                <a:latin typeface="Arial" charset="0"/>
                <a:cs typeface="Arial" charset="0"/>
              </a:rPr>
              <a:t>CPU initializes the DMA by sending following information through data bus:</a:t>
            </a: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1257300" lvl="2" indent="-342900"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(1)</a:t>
            </a:r>
            <a:r>
              <a:rPr lang="en-US" altLang="ko-KR" sz="1600" b="1" dirty="0">
                <a:solidFill>
                  <a:srgbClr val="FF0000"/>
                </a:solidFill>
                <a:latin typeface="Arial" charset="0"/>
                <a:cs typeface="Arial" charset="0"/>
              </a:rPr>
              <a:t> Starting address of the memory block </a:t>
            </a:r>
            <a:r>
              <a:rPr lang="en-US" altLang="ko-KR" sz="1600" b="1" dirty="0">
                <a:latin typeface="Arial" charset="0"/>
                <a:cs typeface="Arial" charset="0"/>
              </a:rPr>
              <a:t>(for read/write)</a:t>
            </a: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1257300" lvl="2" indent="-342900"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(2)  </a:t>
            </a:r>
            <a:r>
              <a:rPr lang="en-US" altLang="ko-KR" sz="1600" b="1" dirty="0">
                <a:solidFill>
                  <a:srgbClr val="FF0000"/>
                </a:solidFill>
                <a:latin typeface="Arial" charset="0"/>
                <a:cs typeface="Arial" charset="0"/>
              </a:rPr>
              <a:t>Word Count</a:t>
            </a:r>
            <a:r>
              <a:rPr lang="en-US" altLang="ko-KR" sz="1600" b="1" dirty="0">
                <a:latin typeface="Arial" charset="0"/>
                <a:cs typeface="Arial" charset="0"/>
              </a:rPr>
              <a:t> (no. of words in memory block)</a:t>
            </a: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1257300" lvl="2" indent="-342900"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(3)  </a:t>
            </a:r>
            <a:r>
              <a:rPr lang="en-US" altLang="ko-KR" sz="1600" b="1" dirty="0">
                <a:solidFill>
                  <a:srgbClr val="FF0000"/>
                </a:solidFill>
                <a:latin typeface="Arial" charset="0"/>
                <a:cs typeface="Arial" charset="0"/>
              </a:rPr>
              <a:t>Control to specify mode of transfer </a:t>
            </a:r>
            <a:r>
              <a:rPr lang="en-US" altLang="ko-KR" sz="1600" b="1" dirty="0">
                <a:latin typeface="Arial" charset="0"/>
                <a:cs typeface="Arial" charset="0"/>
              </a:rPr>
              <a:t>(E.g. read/write)</a:t>
            </a:r>
          </a:p>
          <a:p>
            <a:pPr marL="342900" indent="-342900" defTabSz="762000">
              <a:lnSpc>
                <a:spcPct val="85000"/>
              </a:lnSpc>
              <a:buFontTx/>
              <a:buAutoNum type="arabicParenBoth"/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  <a:p>
            <a:pPr marL="1257300" lvl="2" indent="-342900" defTabSz="762000">
              <a:lnSpc>
                <a:spcPct val="85000"/>
              </a:lnSpc>
              <a:defRPr/>
            </a:pPr>
            <a:r>
              <a:rPr lang="en-US" altLang="ko-KR" sz="1600" b="1" dirty="0">
                <a:latin typeface="Arial" charset="0"/>
                <a:cs typeface="Arial" charset="0"/>
              </a:rPr>
              <a:t>(4)   </a:t>
            </a:r>
            <a:r>
              <a:rPr lang="en-US" altLang="ko-KR" sz="1600" b="1" dirty="0">
                <a:solidFill>
                  <a:srgbClr val="FF0000"/>
                </a:solidFill>
                <a:latin typeface="Arial" charset="0"/>
                <a:cs typeface="Arial" charset="0"/>
              </a:rPr>
              <a:t>A control to start DMA Transfer</a:t>
            </a:r>
          </a:p>
          <a:p>
            <a:pPr defTabSz="762000">
              <a:lnSpc>
                <a:spcPct val="85000"/>
              </a:lnSpc>
              <a:defRPr/>
            </a:pPr>
            <a:endParaRPr lang="en-US" altLang="ko-KR" sz="1600" b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3330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227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507C2C36-FCB5-4C09-8C3D-BA4F78DBEF6E}" type="slidenum">
              <a:rPr lang="en-US" altLang="en-US">
                <a:latin typeface="Calibri" panose="020F0502020204030204" pitchFamily="34" charset="0"/>
              </a:rPr>
              <a:pPr eaLnBrk="1" hangingPunct="1"/>
              <a:t>69</a:t>
            </a:fld>
            <a:r>
              <a:rPr lang="en-US" altLang="en-US">
                <a:latin typeface="Calibri" panose="020F0502020204030204" pitchFamily="34" charset="0"/>
              </a:rPr>
              <a:t>				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29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Cycle Stealing</a:t>
            </a:r>
          </a:p>
        </p:txBody>
      </p:sp>
      <p:sp>
        <p:nvSpPr>
          <p:cNvPr id="52230" name="Rectangle 3"/>
          <p:cNvSpPr>
            <a:spLocks noChangeArrowheads="1"/>
          </p:cNvSpPr>
          <p:nvPr/>
        </p:nvSpPr>
        <p:spPr bwMode="auto">
          <a:xfrm>
            <a:off x="2085781" y="2062443"/>
            <a:ext cx="7820219" cy="2798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While DMA I/O takes place, CPU is also executing instructions</a:t>
            </a:r>
          </a:p>
          <a:p>
            <a:pPr eaLnBrk="1" hangingPunct="1"/>
            <a:endParaRPr lang="en-US" altLang="ko-KR" sz="16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       DMA Controller and CPU both access Memory -&gt; Memory Access Conflict </a:t>
            </a:r>
          </a:p>
          <a:p>
            <a:pPr eaLnBrk="1" hangingPunct="1"/>
            <a:endParaRPr lang="en-US" altLang="ko-KR" sz="16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Memory Bus Controller</a:t>
            </a:r>
          </a:p>
          <a:p>
            <a:pPr eaLnBrk="1" hangingPunct="1"/>
            <a:endParaRPr lang="en-US" altLang="ko-KR" sz="16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     - Coordinating the activities of all devices requesting memory access</a:t>
            </a: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     - Priority System</a:t>
            </a:r>
          </a:p>
          <a:p>
            <a:pPr eaLnBrk="1" hangingPunct="1"/>
            <a:endParaRPr lang="en-US" altLang="ko-KR" sz="16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       Memory accesses by CPU and DMA Controller are interwoven, </a:t>
            </a: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	with the top priority given to DMA Controller</a:t>
            </a:r>
          </a:p>
        </p:txBody>
      </p:sp>
    </p:spTree>
    <p:extLst>
      <p:ext uri="{BB962C8B-B14F-4D97-AF65-F5344CB8AC3E}">
        <p14:creationId xmlns:p14="http://schemas.microsoft.com/office/powerpoint/2010/main" val="2383475796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507C2C36-FCB5-4C09-8C3D-BA4F78DBEF6E}" type="slidenum">
              <a:rPr lang="en-US" altLang="en-US">
                <a:latin typeface="Calibri" panose="020F0502020204030204" pitchFamily="34" charset="0"/>
              </a:rPr>
              <a:pPr eaLnBrk="1" hangingPunct="1"/>
              <a:t>70</a:t>
            </a:fld>
            <a:r>
              <a:rPr lang="en-US" altLang="en-US">
                <a:latin typeface="Calibri" panose="020F0502020204030204" pitchFamily="34" charset="0"/>
              </a:rPr>
              <a:t>				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29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Cycle Stealing</a:t>
            </a:r>
          </a:p>
        </p:txBody>
      </p:sp>
      <p:sp>
        <p:nvSpPr>
          <p:cNvPr id="52230" name="Rectangle 3"/>
          <p:cNvSpPr>
            <a:spLocks noChangeArrowheads="1"/>
          </p:cNvSpPr>
          <p:nvPr/>
        </p:nvSpPr>
        <p:spPr bwMode="auto">
          <a:xfrm>
            <a:off x="413657" y="1699663"/>
            <a:ext cx="11364685" cy="4152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2400" b="1" dirty="0">
                <a:cs typeface="Arial" panose="020B0604020202020204" pitchFamily="34" charset="0"/>
              </a:rPr>
              <a:t>Cycle Steal</a:t>
            </a:r>
          </a:p>
          <a:p>
            <a:pPr eaLnBrk="1" hangingPunct="1"/>
            <a:endParaRPr lang="en-US" altLang="ko-KR" sz="24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2400" b="1" dirty="0">
                <a:cs typeface="Arial" panose="020B0604020202020204" pitchFamily="34" charset="0"/>
              </a:rPr>
              <a:t>       - CPU is usually much faster than I/O(DMA), thus CPU uses the most of 	the memory cycles</a:t>
            </a:r>
          </a:p>
          <a:p>
            <a:pPr eaLnBrk="1" hangingPunct="1"/>
            <a:endParaRPr lang="en-US" altLang="ko-KR" sz="24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2400" b="1" dirty="0">
                <a:cs typeface="Arial" panose="020B0604020202020204" pitchFamily="34" charset="0"/>
              </a:rPr>
              <a:t>       - DMA Controller steals the memory cycles from CPU</a:t>
            </a:r>
          </a:p>
          <a:p>
            <a:pPr eaLnBrk="1" hangingPunct="1"/>
            <a:endParaRPr lang="en-US" altLang="ko-KR" sz="24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2400" b="1" dirty="0">
                <a:cs typeface="Arial" panose="020B0604020202020204" pitchFamily="34" charset="0"/>
              </a:rPr>
              <a:t>       - For those stolen cycles, CPU remains idle</a:t>
            </a:r>
          </a:p>
          <a:p>
            <a:pPr eaLnBrk="1" hangingPunct="1"/>
            <a:endParaRPr lang="en-US" altLang="ko-KR" sz="24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2400" b="1" dirty="0">
                <a:cs typeface="Arial" panose="020B0604020202020204" pitchFamily="34" charset="0"/>
              </a:rPr>
              <a:t>       - For those slow CPU, DMA Controller may steal most of the memory </a:t>
            </a:r>
          </a:p>
          <a:p>
            <a:pPr eaLnBrk="1" hangingPunct="1"/>
            <a:r>
              <a:rPr lang="en-US" altLang="ko-KR" sz="2400" b="1" dirty="0">
                <a:cs typeface="Arial" panose="020B0604020202020204" pitchFamily="34" charset="0"/>
              </a:rPr>
              <a:t>	cycles which may cause CPU remain idle long time     </a:t>
            </a:r>
          </a:p>
        </p:txBody>
      </p:sp>
    </p:spTree>
    <p:extLst>
      <p:ext uri="{BB962C8B-B14F-4D97-AF65-F5344CB8AC3E}">
        <p14:creationId xmlns:p14="http://schemas.microsoft.com/office/powerpoint/2010/main" val="2194740559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325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2A7F1E80-93B3-47A0-8E43-31CE1A2C2228}" type="slidenum">
              <a:rPr lang="en-US" altLang="en-US">
                <a:latin typeface="Calibri" panose="020F0502020204030204" pitchFamily="34" charset="0"/>
              </a:rPr>
              <a:pPr eaLnBrk="1" hangingPunct="1"/>
              <a:t>71</a:t>
            </a:fld>
            <a:r>
              <a:rPr lang="en-US" altLang="en-US">
                <a:latin typeface="Calibri" panose="020F0502020204030204" pitchFamily="34" charset="0"/>
              </a:rPr>
              <a:t>				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53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DMA Transfer</a:t>
            </a:r>
          </a:p>
        </p:txBody>
      </p:sp>
      <p:grpSp>
        <p:nvGrpSpPr>
          <p:cNvPr id="53254" name="Group 111"/>
          <p:cNvGrpSpPr>
            <a:grpSpLocks/>
          </p:cNvGrpSpPr>
          <p:nvPr/>
        </p:nvGrpSpPr>
        <p:grpSpPr bwMode="auto">
          <a:xfrm>
            <a:off x="2684464" y="1384300"/>
            <a:ext cx="6535737" cy="4787900"/>
            <a:chOff x="1114425" y="1025525"/>
            <a:chExt cx="6535738" cy="4788183"/>
          </a:xfrm>
        </p:grpSpPr>
        <p:sp>
          <p:nvSpPr>
            <p:cNvPr id="53255" name="Rectangle 3"/>
            <p:cNvSpPr>
              <a:spLocks noChangeArrowheads="1"/>
            </p:cNvSpPr>
            <p:nvPr/>
          </p:nvSpPr>
          <p:spPr bwMode="auto">
            <a:xfrm>
              <a:off x="2790825" y="1025525"/>
              <a:ext cx="2084388" cy="1220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53256" name="Rectangle 4"/>
            <p:cNvSpPr>
              <a:spLocks noChangeArrowheads="1"/>
            </p:cNvSpPr>
            <p:nvPr/>
          </p:nvSpPr>
          <p:spPr bwMode="auto">
            <a:xfrm>
              <a:off x="2741613" y="1500188"/>
              <a:ext cx="34945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BG</a:t>
              </a:r>
            </a:p>
          </p:txBody>
        </p:sp>
        <p:sp>
          <p:nvSpPr>
            <p:cNvPr id="53257" name="Rectangle 5"/>
            <p:cNvSpPr>
              <a:spLocks noChangeArrowheads="1"/>
            </p:cNvSpPr>
            <p:nvPr/>
          </p:nvSpPr>
          <p:spPr bwMode="auto">
            <a:xfrm>
              <a:off x="2741613" y="1778000"/>
              <a:ext cx="34144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BR</a:t>
              </a:r>
            </a:p>
          </p:txBody>
        </p:sp>
        <p:sp>
          <p:nvSpPr>
            <p:cNvPr id="53258" name="Rectangle 6"/>
            <p:cNvSpPr>
              <a:spLocks noChangeArrowheads="1"/>
            </p:cNvSpPr>
            <p:nvPr/>
          </p:nvSpPr>
          <p:spPr bwMode="auto">
            <a:xfrm>
              <a:off x="3578225" y="1589088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CPU</a:t>
              </a:r>
            </a:p>
          </p:txBody>
        </p:sp>
        <p:sp>
          <p:nvSpPr>
            <p:cNvPr id="53259" name="Arc 7"/>
            <p:cNvSpPr>
              <a:spLocks/>
            </p:cNvSpPr>
            <p:nvPr/>
          </p:nvSpPr>
          <p:spPr bwMode="auto">
            <a:xfrm>
              <a:off x="2620963" y="1284288"/>
              <a:ext cx="147637" cy="9525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60" name="Line 8"/>
            <p:cNvSpPr>
              <a:spLocks noChangeShapeType="1"/>
            </p:cNvSpPr>
            <p:nvPr/>
          </p:nvSpPr>
          <p:spPr bwMode="auto">
            <a:xfrm>
              <a:off x="1125538" y="1335088"/>
              <a:ext cx="1511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1" name="Line 9"/>
            <p:cNvSpPr>
              <a:spLocks noChangeShapeType="1"/>
            </p:cNvSpPr>
            <p:nvPr/>
          </p:nvSpPr>
          <p:spPr bwMode="auto">
            <a:xfrm>
              <a:off x="1481138" y="1622425"/>
              <a:ext cx="13192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2" name="Arc 10"/>
            <p:cNvSpPr>
              <a:spLocks/>
            </p:cNvSpPr>
            <p:nvPr/>
          </p:nvSpPr>
          <p:spPr bwMode="auto">
            <a:xfrm>
              <a:off x="2627313" y="1851025"/>
              <a:ext cx="147637" cy="9525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63" name="Line 11"/>
            <p:cNvSpPr>
              <a:spLocks noChangeShapeType="1"/>
            </p:cNvSpPr>
            <p:nvPr/>
          </p:nvSpPr>
          <p:spPr bwMode="auto">
            <a:xfrm>
              <a:off x="1819275" y="1900238"/>
              <a:ext cx="8175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4" name="Rectangle 12"/>
            <p:cNvSpPr>
              <a:spLocks noChangeArrowheads="1"/>
            </p:cNvSpPr>
            <p:nvPr/>
          </p:nvSpPr>
          <p:spPr bwMode="auto">
            <a:xfrm>
              <a:off x="2851150" y="2041525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RD</a:t>
              </a:r>
            </a:p>
          </p:txBody>
        </p:sp>
        <p:sp>
          <p:nvSpPr>
            <p:cNvPr id="53265" name="Rectangle 13"/>
            <p:cNvSpPr>
              <a:spLocks noChangeArrowheads="1"/>
            </p:cNvSpPr>
            <p:nvPr/>
          </p:nvSpPr>
          <p:spPr bwMode="auto">
            <a:xfrm>
              <a:off x="3281363" y="2041525"/>
              <a:ext cx="3911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</a:t>
              </a:r>
            </a:p>
          </p:txBody>
        </p:sp>
        <p:sp>
          <p:nvSpPr>
            <p:cNvPr id="53266" name="Rectangle 14"/>
            <p:cNvSpPr>
              <a:spLocks noChangeArrowheads="1"/>
            </p:cNvSpPr>
            <p:nvPr/>
          </p:nvSpPr>
          <p:spPr bwMode="auto">
            <a:xfrm>
              <a:off x="3792538" y="2041525"/>
              <a:ext cx="46807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</a:t>
              </a:r>
            </a:p>
          </p:txBody>
        </p:sp>
        <p:sp>
          <p:nvSpPr>
            <p:cNvPr id="53267" name="Rectangle 15"/>
            <p:cNvSpPr>
              <a:spLocks noChangeArrowheads="1"/>
            </p:cNvSpPr>
            <p:nvPr/>
          </p:nvSpPr>
          <p:spPr bwMode="auto">
            <a:xfrm>
              <a:off x="4330700" y="2041525"/>
              <a:ext cx="45846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Data</a:t>
              </a:r>
            </a:p>
          </p:txBody>
        </p:sp>
        <p:sp>
          <p:nvSpPr>
            <p:cNvPr id="53268" name="Arc 16"/>
            <p:cNvSpPr>
              <a:spLocks/>
            </p:cNvSpPr>
            <p:nvPr/>
          </p:nvSpPr>
          <p:spPr bwMode="auto">
            <a:xfrm>
              <a:off x="2987675" y="2411413"/>
              <a:ext cx="117475" cy="120650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69" name="Line 17"/>
            <p:cNvSpPr>
              <a:spLocks noChangeShapeType="1"/>
            </p:cNvSpPr>
            <p:nvPr/>
          </p:nvSpPr>
          <p:spPr bwMode="auto">
            <a:xfrm>
              <a:off x="3046413" y="2252663"/>
              <a:ext cx="0" cy="1698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0" name="Arc 18"/>
            <p:cNvSpPr>
              <a:spLocks/>
            </p:cNvSpPr>
            <p:nvPr/>
          </p:nvSpPr>
          <p:spPr bwMode="auto">
            <a:xfrm>
              <a:off x="3513138" y="2700338"/>
              <a:ext cx="115887" cy="120650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71" name="Line 19"/>
            <p:cNvSpPr>
              <a:spLocks noChangeShapeType="1"/>
            </p:cNvSpPr>
            <p:nvPr/>
          </p:nvSpPr>
          <p:spPr bwMode="auto">
            <a:xfrm>
              <a:off x="3570288" y="2252663"/>
              <a:ext cx="0" cy="4587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2" name="Arc 20"/>
            <p:cNvSpPr>
              <a:spLocks/>
            </p:cNvSpPr>
            <p:nvPr/>
          </p:nvSpPr>
          <p:spPr bwMode="auto">
            <a:xfrm>
              <a:off x="4037013" y="3268663"/>
              <a:ext cx="117475" cy="11747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73" name="Line 21"/>
            <p:cNvSpPr>
              <a:spLocks noChangeShapeType="1"/>
            </p:cNvSpPr>
            <p:nvPr/>
          </p:nvSpPr>
          <p:spPr bwMode="auto">
            <a:xfrm>
              <a:off x="4094163" y="2247900"/>
              <a:ext cx="0" cy="10318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4" name="Arc 22"/>
            <p:cNvSpPr>
              <a:spLocks/>
            </p:cNvSpPr>
            <p:nvPr/>
          </p:nvSpPr>
          <p:spPr bwMode="auto">
            <a:xfrm>
              <a:off x="4560888" y="2990850"/>
              <a:ext cx="119062" cy="11906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75" name="Arc 23"/>
            <p:cNvSpPr>
              <a:spLocks/>
            </p:cNvSpPr>
            <p:nvPr/>
          </p:nvSpPr>
          <p:spPr bwMode="auto">
            <a:xfrm>
              <a:off x="4560888" y="2252663"/>
              <a:ext cx="119062" cy="120650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76" name="Line 24"/>
            <p:cNvSpPr>
              <a:spLocks noChangeShapeType="1"/>
            </p:cNvSpPr>
            <p:nvPr/>
          </p:nvSpPr>
          <p:spPr bwMode="auto">
            <a:xfrm>
              <a:off x="4619625" y="2373313"/>
              <a:ext cx="0" cy="628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7" name="Rectangle 25"/>
            <p:cNvSpPr>
              <a:spLocks noChangeArrowheads="1"/>
            </p:cNvSpPr>
            <p:nvPr/>
          </p:nvSpPr>
          <p:spPr bwMode="auto">
            <a:xfrm>
              <a:off x="2757488" y="1198563"/>
              <a:ext cx="71494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Interrupt</a:t>
              </a:r>
            </a:p>
          </p:txBody>
        </p:sp>
        <p:sp>
          <p:nvSpPr>
            <p:cNvPr id="53278" name="Rectangle 26"/>
            <p:cNvSpPr>
              <a:spLocks noChangeArrowheads="1"/>
            </p:cNvSpPr>
            <p:nvPr/>
          </p:nvSpPr>
          <p:spPr bwMode="auto">
            <a:xfrm>
              <a:off x="5522913" y="1025525"/>
              <a:ext cx="2127250" cy="1220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53279" name="Rectangle 27"/>
            <p:cNvSpPr>
              <a:spLocks noChangeArrowheads="1"/>
            </p:cNvSpPr>
            <p:nvPr/>
          </p:nvSpPr>
          <p:spPr bwMode="auto">
            <a:xfrm>
              <a:off x="5749925" y="1411288"/>
              <a:ext cx="1086837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Random-access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53280" name="Rectangle 28"/>
            <p:cNvSpPr>
              <a:spLocks noChangeArrowheads="1"/>
            </p:cNvSpPr>
            <p:nvPr/>
          </p:nvSpPr>
          <p:spPr bwMode="auto">
            <a:xfrm>
              <a:off x="5749925" y="1589088"/>
              <a:ext cx="135133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memory unit (RAM)</a:t>
              </a:r>
            </a:p>
          </p:txBody>
        </p:sp>
        <p:sp>
          <p:nvSpPr>
            <p:cNvPr id="53281" name="Rectangle 29"/>
            <p:cNvSpPr>
              <a:spLocks noChangeArrowheads="1"/>
            </p:cNvSpPr>
            <p:nvPr/>
          </p:nvSpPr>
          <p:spPr bwMode="auto">
            <a:xfrm>
              <a:off x="5643563" y="2041525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RD</a:t>
              </a:r>
            </a:p>
          </p:txBody>
        </p:sp>
        <p:sp>
          <p:nvSpPr>
            <p:cNvPr id="53282" name="Rectangle 30"/>
            <p:cNvSpPr>
              <a:spLocks noChangeArrowheads="1"/>
            </p:cNvSpPr>
            <p:nvPr/>
          </p:nvSpPr>
          <p:spPr bwMode="auto">
            <a:xfrm>
              <a:off x="6075363" y="2041525"/>
              <a:ext cx="3911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</a:t>
              </a:r>
            </a:p>
          </p:txBody>
        </p:sp>
        <p:sp>
          <p:nvSpPr>
            <p:cNvPr id="53283" name="Rectangle 31"/>
            <p:cNvSpPr>
              <a:spLocks noChangeArrowheads="1"/>
            </p:cNvSpPr>
            <p:nvPr/>
          </p:nvSpPr>
          <p:spPr bwMode="auto">
            <a:xfrm>
              <a:off x="6583363" y="2041525"/>
              <a:ext cx="46807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</a:t>
              </a:r>
            </a:p>
          </p:txBody>
        </p:sp>
        <p:sp>
          <p:nvSpPr>
            <p:cNvPr id="53284" name="Rectangle 32"/>
            <p:cNvSpPr>
              <a:spLocks noChangeArrowheads="1"/>
            </p:cNvSpPr>
            <p:nvPr/>
          </p:nvSpPr>
          <p:spPr bwMode="auto">
            <a:xfrm>
              <a:off x="7121525" y="2041525"/>
              <a:ext cx="45846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Data</a:t>
              </a:r>
            </a:p>
          </p:txBody>
        </p:sp>
        <p:sp>
          <p:nvSpPr>
            <p:cNvPr id="53285" name="Arc 33"/>
            <p:cNvSpPr>
              <a:spLocks/>
            </p:cNvSpPr>
            <p:nvPr/>
          </p:nvSpPr>
          <p:spPr bwMode="auto">
            <a:xfrm>
              <a:off x="5780088" y="2252663"/>
              <a:ext cx="117475" cy="120650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86" name="Line 34"/>
            <p:cNvSpPr>
              <a:spLocks noChangeShapeType="1"/>
            </p:cNvSpPr>
            <p:nvPr/>
          </p:nvSpPr>
          <p:spPr bwMode="auto">
            <a:xfrm flipH="1">
              <a:off x="5838825" y="2373313"/>
              <a:ext cx="0" cy="1698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7" name="Arc 35"/>
            <p:cNvSpPr>
              <a:spLocks/>
            </p:cNvSpPr>
            <p:nvPr/>
          </p:nvSpPr>
          <p:spPr bwMode="auto">
            <a:xfrm>
              <a:off x="6305550" y="2252663"/>
              <a:ext cx="115888" cy="120650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88" name="Line 36"/>
            <p:cNvSpPr>
              <a:spLocks noChangeShapeType="1"/>
            </p:cNvSpPr>
            <p:nvPr/>
          </p:nvSpPr>
          <p:spPr bwMode="auto">
            <a:xfrm>
              <a:off x="6362700" y="2373313"/>
              <a:ext cx="0" cy="454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9" name="Arc 37"/>
            <p:cNvSpPr>
              <a:spLocks/>
            </p:cNvSpPr>
            <p:nvPr/>
          </p:nvSpPr>
          <p:spPr bwMode="auto">
            <a:xfrm>
              <a:off x="6829425" y="2252663"/>
              <a:ext cx="117475" cy="120650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90" name="Line 38"/>
            <p:cNvSpPr>
              <a:spLocks noChangeShapeType="1"/>
            </p:cNvSpPr>
            <p:nvPr/>
          </p:nvSpPr>
          <p:spPr bwMode="auto">
            <a:xfrm>
              <a:off x="6886575" y="2373313"/>
              <a:ext cx="0" cy="10239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91" name="Arc 39"/>
            <p:cNvSpPr>
              <a:spLocks/>
            </p:cNvSpPr>
            <p:nvPr/>
          </p:nvSpPr>
          <p:spPr bwMode="auto">
            <a:xfrm>
              <a:off x="7353300" y="2990850"/>
              <a:ext cx="119063" cy="11906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92" name="Arc 40"/>
            <p:cNvSpPr>
              <a:spLocks/>
            </p:cNvSpPr>
            <p:nvPr/>
          </p:nvSpPr>
          <p:spPr bwMode="auto">
            <a:xfrm>
              <a:off x="7353300" y="2252663"/>
              <a:ext cx="119063" cy="120650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293" name="Line 41"/>
            <p:cNvSpPr>
              <a:spLocks noChangeShapeType="1"/>
            </p:cNvSpPr>
            <p:nvPr/>
          </p:nvSpPr>
          <p:spPr bwMode="auto">
            <a:xfrm>
              <a:off x="7412038" y="2373313"/>
              <a:ext cx="0" cy="628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94" name="Rectangle 42"/>
            <p:cNvSpPr>
              <a:spLocks noChangeArrowheads="1"/>
            </p:cNvSpPr>
            <p:nvPr/>
          </p:nvSpPr>
          <p:spPr bwMode="auto">
            <a:xfrm>
              <a:off x="2790825" y="4197350"/>
              <a:ext cx="2066925" cy="16113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53295" name="Rectangle 43"/>
            <p:cNvSpPr>
              <a:spLocks noChangeArrowheads="1"/>
            </p:cNvSpPr>
            <p:nvPr/>
          </p:nvSpPr>
          <p:spPr bwMode="auto">
            <a:xfrm>
              <a:off x="2741613" y="4992688"/>
              <a:ext cx="34144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BR</a:t>
              </a:r>
            </a:p>
          </p:txBody>
        </p:sp>
        <p:sp>
          <p:nvSpPr>
            <p:cNvPr id="53296" name="Rectangle 44"/>
            <p:cNvSpPr>
              <a:spLocks noChangeArrowheads="1"/>
            </p:cNvSpPr>
            <p:nvPr/>
          </p:nvSpPr>
          <p:spPr bwMode="auto">
            <a:xfrm>
              <a:off x="2741613" y="5262563"/>
              <a:ext cx="34945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BG</a:t>
              </a:r>
            </a:p>
          </p:txBody>
        </p:sp>
        <p:sp>
          <p:nvSpPr>
            <p:cNvPr id="53297" name="Rectangle 45"/>
            <p:cNvSpPr>
              <a:spLocks noChangeArrowheads="1"/>
            </p:cNvSpPr>
            <p:nvPr/>
          </p:nvSpPr>
          <p:spPr bwMode="auto">
            <a:xfrm>
              <a:off x="2773363" y="4181475"/>
              <a:ext cx="35105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RD</a:t>
              </a:r>
            </a:p>
          </p:txBody>
        </p:sp>
        <p:sp>
          <p:nvSpPr>
            <p:cNvPr id="53298" name="Rectangle 46"/>
            <p:cNvSpPr>
              <a:spLocks noChangeArrowheads="1"/>
            </p:cNvSpPr>
            <p:nvPr/>
          </p:nvSpPr>
          <p:spPr bwMode="auto">
            <a:xfrm>
              <a:off x="3208338" y="4181475"/>
              <a:ext cx="3911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</a:t>
              </a:r>
            </a:p>
          </p:txBody>
        </p:sp>
        <p:sp>
          <p:nvSpPr>
            <p:cNvPr id="53299" name="Rectangle 47"/>
            <p:cNvSpPr>
              <a:spLocks noChangeArrowheads="1"/>
            </p:cNvSpPr>
            <p:nvPr/>
          </p:nvSpPr>
          <p:spPr bwMode="auto">
            <a:xfrm>
              <a:off x="3802063" y="4181475"/>
              <a:ext cx="46807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</a:t>
              </a:r>
            </a:p>
          </p:txBody>
        </p:sp>
        <p:sp>
          <p:nvSpPr>
            <p:cNvPr id="53300" name="Rectangle 48"/>
            <p:cNvSpPr>
              <a:spLocks noChangeArrowheads="1"/>
            </p:cNvSpPr>
            <p:nvPr/>
          </p:nvSpPr>
          <p:spPr bwMode="auto">
            <a:xfrm>
              <a:off x="4346575" y="4171950"/>
              <a:ext cx="45846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Data</a:t>
              </a:r>
            </a:p>
          </p:txBody>
        </p:sp>
        <p:sp>
          <p:nvSpPr>
            <p:cNvPr id="53301" name="Arc 49"/>
            <p:cNvSpPr>
              <a:spLocks/>
            </p:cNvSpPr>
            <p:nvPr/>
          </p:nvSpPr>
          <p:spPr bwMode="auto">
            <a:xfrm>
              <a:off x="2987675" y="4060825"/>
              <a:ext cx="117475" cy="11906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02" name="Arc 50"/>
            <p:cNvSpPr>
              <a:spLocks/>
            </p:cNvSpPr>
            <p:nvPr/>
          </p:nvSpPr>
          <p:spPr bwMode="auto">
            <a:xfrm>
              <a:off x="2987675" y="2530475"/>
              <a:ext cx="117475" cy="119063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03" name="Line 51"/>
            <p:cNvSpPr>
              <a:spLocks noChangeShapeType="1"/>
            </p:cNvSpPr>
            <p:nvPr/>
          </p:nvSpPr>
          <p:spPr bwMode="auto">
            <a:xfrm>
              <a:off x="3046413" y="2649538"/>
              <a:ext cx="0" cy="14208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04" name="Arc 52"/>
            <p:cNvSpPr>
              <a:spLocks/>
            </p:cNvSpPr>
            <p:nvPr/>
          </p:nvSpPr>
          <p:spPr bwMode="auto">
            <a:xfrm>
              <a:off x="3517900" y="4060825"/>
              <a:ext cx="119063" cy="11906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05" name="Arc 53"/>
            <p:cNvSpPr>
              <a:spLocks/>
            </p:cNvSpPr>
            <p:nvPr/>
          </p:nvSpPr>
          <p:spPr bwMode="auto">
            <a:xfrm>
              <a:off x="3513138" y="2817813"/>
              <a:ext cx="115887" cy="120650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06" name="Line 54"/>
            <p:cNvSpPr>
              <a:spLocks noChangeShapeType="1"/>
            </p:cNvSpPr>
            <p:nvPr/>
          </p:nvSpPr>
          <p:spPr bwMode="auto">
            <a:xfrm>
              <a:off x="3570288" y="2938463"/>
              <a:ext cx="0" cy="11318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07" name="Arc 55"/>
            <p:cNvSpPr>
              <a:spLocks/>
            </p:cNvSpPr>
            <p:nvPr/>
          </p:nvSpPr>
          <p:spPr bwMode="auto">
            <a:xfrm>
              <a:off x="4037013" y="3386138"/>
              <a:ext cx="117475" cy="119062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08" name="Line 56"/>
            <p:cNvSpPr>
              <a:spLocks noChangeShapeType="1"/>
            </p:cNvSpPr>
            <p:nvPr/>
          </p:nvSpPr>
          <p:spPr bwMode="auto">
            <a:xfrm>
              <a:off x="4094163" y="3505200"/>
              <a:ext cx="0" cy="6905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09" name="Arc 57"/>
            <p:cNvSpPr>
              <a:spLocks/>
            </p:cNvSpPr>
            <p:nvPr/>
          </p:nvSpPr>
          <p:spPr bwMode="auto">
            <a:xfrm>
              <a:off x="4560888" y="4060825"/>
              <a:ext cx="119062" cy="11906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10" name="Arc 58"/>
            <p:cNvSpPr>
              <a:spLocks/>
            </p:cNvSpPr>
            <p:nvPr/>
          </p:nvSpPr>
          <p:spPr bwMode="auto">
            <a:xfrm>
              <a:off x="4560888" y="3109913"/>
              <a:ext cx="119062" cy="11747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11" name="Line 59"/>
            <p:cNvSpPr>
              <a:spLocks noChangeShapeType="1"/>
            </p:cNvSpPr>
            <p:nvPr/>
          </p:nvSpPr>
          <p:spPr bwMode="auto">
            <a:xfrm>
              <a:off x="4619625" y="3227388"/>
              <a:ext cx="0" cy="8429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12" name="Rectangle 60"/>
            <p:cNvSpPr>
              <a:spLocks noChangeArrowheads="1"/>
            </p:cNvSpPr>
            <p:nvPr/>
          </p:nvSpPr>
          <p:spPr bwMode="auto">
            <a:xfrm>
              <a:off x="2757488" y="5554663"/>
              <a:ext cx="71494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Interrupt</a:t>
              </a:r>
            </a:p>
          </p:txBody>
        </p:sp>
        <p:sp>
          <p:nvSpPr>
            <p:cNvPr id="53313" name="Arc 61"/>
            <p:cNvSpPr>
              <a:spLocks/>
            </p:cNvSpPr>
            <p:nvPr/>
          </p:nvSpPr>
          <p:spPr bwMode="auto">
            <a:xfrm>
              <a:off x="2640013" y="4484688"/>
              <a:ext cx="146050" cy="9525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14" name="Line 62"/>
            <p:cNvSpPr>
              <a:spLocks noChangeShapeType="1"/>
            </p:cNvSpPr>
            <p:nvPr/>
          </p:nvSpPr>
          <p:spPr bwMode="auto">
            <a:xfrm>
              <a:off x="2511425" y="4533900"/>
              <a:ext cx="1381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15" name="Arc 63"/>
            <p:cNvSpPr>
              <a:spLocks/>
            </p:cNvSpPr>
            <p:nvPr/>
          </p:nvSpPr>
          <p:spPr bwMode="auto">
            <a:xfrm>
              <a:off x="2640013" y="4772025"/>
              <a:ext cx="146050" cy="9525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16" name="Line 64"/>
            <p:cNvSpPr>
              <a:spLocks noChangeShapeType="1"/>
            </p:cNvSpPr>
            <p:nvPr/>
          </p:nvSpPr>
          <p:spPr bwMode="auto">
            <a:xfrm>
              <a:off x="2249488" y="4818063"/>
              <a:ext cx="400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17" name="Line 65"/>
            <p:cNvSpPr>
              <a:spLocks noChangeShapeType="1"/>
            </p:cNvSpPr>
            <p:nvPr/>
          </p:nvSpPr>
          <p:spPr bwMode="auto">
            <a:xfrm>
              <a:off x="1812925" y="5103813"/>
              <a:ext cx="971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18" name="Rectangle 66"/>
            <p:cNvSpPr>
              <a:spLocks noChangeArrowheads="1"/>
            </p:cNvSpPr>
            <p:nvPr/>
          </p:nvSpPr>
          <p:spPr bwMode="auto">
            <a:xfrm>
              <a:off x="2743200" y="4441825"/>
              <a:ext cx="33823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DS</a:t>
              </a:r>
            </a:p>
          </p:txBody>
        </p:sp>
        <p:sp>
          <p:nvSpPr>
            <p:cNvPr id="53319" name="Rectangle 67"/>
            <p:cNvSpPr>
              <a:spLocks noChangeArrowheads="1"/>
            </p:cNvSpPr>
            <p:nvPr/>
          </p:nvSpPr>
          <p:spPr bwMode="auto">
            <a:xfrm>
              <a:off x="2743200" y="4711700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RS</a:t>
              </a:r>
            </a:p>
          </p:txBody>
        </p:sp>
        <p:sp>
          <p:nvSpPr>
            <p:cNvPr id="53320" name="Arc 68"/>
            <p:cNvSpPr>
              <a:spLocks/>
            </p:cNvSpPr>
            <p:nvPr/>
          </p:nvSpPr>
          <p:spPr bwMode="auto">
            <a:xfrm>
              <a:off x="2640013" y="5338763"/>
              <a:ext cx="146050" cy="96837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21" name="Line 69"/>
            <p:cNvSpPr>
              <a:spLocks noChangeShapeType="1"/>
            </p:cNvSpPr>
            <p:nvPr/>
          </p:nvSpPr>
          <p:spPr bwMode="auto">
            <a:xfrm>
              <a:off x="1468438" y="5391150"/>
              <a:ext cx="11922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22" name="Line 70"/>
            <p:cNvSpPr>
              <a:spLocks noChangeShapeType="1"/>
            </p:cNvSpPr>
            <p:nvPr/>
          </p:nvSpPr>
          <p:spPr bwMode="auto">
            <a:xfrm>
              <a:off x="1114425" y="5665788"/>
              <a:ext cx="16748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23" name="Rectangle 71"/>
            <p:cNvSpPr>
              <a:spLocks noChangeArrowheads="1"/>
            </p:cNvSpPr>
            <p:nvPr/>
          </p:nvSpPr>
          <p:spPr bwMode="auto">
            <a:xfrm>
              <a:off x="3683000" y="4760913"/>
              <a:ext cx="479299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DMA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53324" name="Rectangle 72"/>
            <p:cNvSpPr>
              <a:spLocks noChangeArrowheads="1"/>
            </p:cNvSpPr>
            <p:nvPr/>
          </p:nvSpPr>
          <p:spPr bwMode="auto">
            <a:xfrm>
              <a:off x="3484563" y="4935538"/>
              <a:ext cx="77425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Controller</a:t>
              </a:r>
            </a:p>
          </p:txBody>
        </p:sp>
        <p:sp>
          <p:nvSpPr>
            <p:cNvPr id="53325" name="Rectangle 73"/>
            <p:cNvSpPr>
              <a:spLocks noChangeArrowheads="1"/>
            </p:cNvSpPr>
            <p:nvPr/>
          </p:nvSpPr>
          <p:spPr bwMode="auto">
            <a:xfrm>
              <a:off x="6632575" y="4197350"/>
              <a:ext cx="1017588" cy="16113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53326" name="Rectangle 74"/>
            <p:cNvSpPr>
              <a:spLocks noChangeArrowheads="1"/>
            </p:cNvSpPr>
            <p:nvPr/>
          </p:nvSpPr>
          <p:spPr bwMode="auto">
            <a:xfrm>
              <a:off x="6907213" y="4697413"/>
              <a:ext cx="376707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I/O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53327" name="Rectangle 75"/>
            <p:cNvSpPr>
              <a:spLocks noChangeArrowheads="1"/>
            </p:cNvSpPr>
            <p:nvPr/>
          </p:nvSpPr>
          <p:spPr bwMode="auto">
            <a:xfrm>
              <a:off x="6586538" y="4875213"/>
              <a:ext cx="78867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Peripheral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53328" name="Rectangle 76"/>
            <p:cNvSpPr>
              <a:spLocks noChangeArrowheads="1"/>
            </p:cNvSpPr>
            <p:nvPr/>
          </p:nvSpPr>
          <p:spPr bwMode="auto">
            <a:xfrm>
              <a:off x="6737350" y="5049838"/>
              <a:ext cx="56105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device</a:t>
              </a:r>
            </a:p>
          </p:txBody>
        </p:sp>
        <p:sp>
          <p:nvSpPr>
            <p:cNvPr id="53329" name="Arc 77"/>
            <p:cNvSpPr>
              <a:spLocks/>
            </p:cNvSpPr>
            <p:nvPr/>
          </p:nvSpPr>
          <p:spPr bwMode="auto">
            <a:xfrm>
              <a:off x="6480175" y="4559300"/>
              <a:ext cx="146050" cy="9525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30" name="Line 78"/>
            <p:cNvSpPr>
              <a:spLocks noChangeShapeType="1"/>
            </p:cNvSpPr>
            <p:nvPr/>
          </p:nvSpPr>
          <p:spPr bwMode="auto">
            <a:xfrm>
              <a:off x="4865688" y="4613275"/>
              <a:ext cx="163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31" name="Arc 79"/>
            <p:cNvSpPr>
              <a:spLocks/>
            </p:cNvSpPr>
            <p:nvPr/>
          </p:nvSpPr>
          <p:spPr bwMode="auto">
            <a:xfrm>
              <a:off x="4881563" y="5434013"/>
              <a:ext cx="146050" cy="95250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32" name="Line 80"/>
            <p:cNvSpPr>
              <a:spLocks noChangeShapeType="1"/>
            </p:cNvSpPr>
            <p:nvPr/>
          </p:nvSpPr>
          <p:spPr bwMode="auto">
            <a:xfrm>
              <a:off x="5011738" y="5475288"/>
              <a:ext cx="15890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33" name="Rectangle 81"/>
            <p:cNvSpPr>
              <a:spLocks noChangeArrowheads="1"/>
            </p:cNvSpPr>
            <p:nvPr/>
          </p:nvSpPr>
          <p:spPr bwMode="auto">
            <a:xfrm>
              <a:off x="5040313" y="5251450"/>
              <a:ext cx="9585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DMA request</a:t>
              </a:r>
            </a:p>
          </p:txBody>
        </p:sp>
        <p:sp>
          <p:nvSpPr>
            <p:cNvPr id="53334" name="Rectangle 82"/>
            <p:cNvSpPr>
              <a:spLocks noChangeArrowheads="1"/>
            </p:cNvSpPr>
            <p:nvPr/>
          </p:nvSpPr>
          <p:spPr bwMode="auto">
            <a:xfrm>
              <a:off x="5273675" y="4384675"/>
              <a:ext cx="74539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DMA ack.</a:t>
              </a:r>
            </a:p>
          </p:txBody>
        </p:sp>
        <p:sp>
          <p:nvSpPr>
            <p:cNvPr id="53335" name="Line 83"/>
            <p:cNvSpPr>
              <a:spLocks noChangeShapeType="1"/>
            </p:cNvSpPr>
            <p:nvPr/>
          </p:nvSpPr>
          <p:spPr bwMode="auto">
            <a:xfrm>
              <a:off x="3052763" y="2536825"/>
              <a:ext cx="27860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36" name="Line 84"/>
            <p:cNvSpPr>
              <a:spLocks noChangeShapeType="1"/>
            </p:cNvSpPr>
            <p:nvPr/>
          </p:nvSpPr>
          <p:spPr bwMode="auto">
            <a:xfrm>
              <a:off x="3578225" y="2822575"/>
              <a:ext cx="277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37" name="Rectangle 85"/>
            <p:cNvSpPr>
              <a:spLocks noChangeArrowheads="1"/>
            </p:cNvSpPr>
            <p:nvPr/>
          </p:nvSpPr>
          <p:spPr bwMode="auto">
            <a:xfrm>
              <a:off x="4643438" y="2332038"/>
              <a:ext cx="92974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Read control</a:t>
              </a:r>
            </a:p>
          </p:txBody>
        </p:sp>
        <p:sp>
          <p:nvSpPr>
            <p:cNvPr id="53338" name="Rectangle 86"/>
            <p:cNvSpPr>
              <a:spLocks noChangeArrowheads="1"/>
            </p:cNvSpPr>
            <p:nvPr/>
          </p:nvSpPr>
          <p:spPr bwMode="auto">
            <a:xfrm>
              <a:off x="4660900" y="2620963"/>
              <a:ext cx="96821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Write control</a:t>
              </a:r>
            </a:p>
          </p:txBody>
        </p:sp>
        <p:sp>
          <p:nvSpPr>
            <p:cNvPr id="53339" name="Line 87"/>
            <p:cNvSpPr>
              <a:spLocks noChangeShapeType="1"/>
            </p:cNvSpPr>
            <p:nvPr/>
          </p:nvSpPr>
          <p:spPr bwMode="auto">
            <a:xfrm>
              <a:off x="4441825" y="3121025"/>
              <a:ext cx="32083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40" name="Line 88"/>
            <p:cNvSpPr>
              <a:spLocks noChangeShapeType="1"/>
            </p:cNvSpPr>
            <p:nvPr/>
          </p:nvSpPr>
          <p:spPr bwMode="auto">
            <a:xfrm>
              <a:off x="2174875" y="3397250"/>
              <a:ext cx="47355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41" name="Rectangle 89"/>
            <p:cNvSpPr>
              <a:spLocks noChangeArrowheads="1"/>
            </p:cNvSpPr>
            <p:nvPr/>
          </p:nvSpPr>
          <p:spPr bwMode="auto">
            <a:xfrm>
              <a:off x="4695825" y="2911475"/>
              <a:ext cx="69730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Data bus</a:t>
              </a:r>
            </a:p>
          </p:txBody>
        </p:sp>
        <p:sp>
          <p:nvSpPr>
            <p:cNvPr id="53342" name="Rectangle 90"/>
            <p:cNvSpPr>
              <a:spLocks noChangeArrowheads="1"/>
            </p:cNvSpPr>
            <p:nvPr/>
          </p:nvSpPr>
          <p:spPr bwMode="auto">
            <a:xfrm>
              <a:off x="4676775" y="3186113"/>
              <a:ext cx="88966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Address bus</a:t>
              </a:r>
            </a:p>
          </p:txBody>
        </p:sp>
        <p:sp>
          <p:nvSpPr>
            <p:cNvPr id="53343" name="Arc 91"/>
            <p:cNvSpPr>
              <a:spLocks/>
            </p:cNvSpPr>
            <p:nvPr/>
          </p:nvSpPr>
          <p:spPr bwMode="auto">
            <a:xfrm>
              <a:off x="7353300" y="4060825"/>
              <a:ext cx="119063" cy="11906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44" name="Arc 92"/>
            <p:cNvSpPr>
              <a:spLocks/>
            </p:cNvSpPr>
            <p:nvPr/>
          </p:nvSpPr>
          <p:spPr bwMode="auto">
            <a:xfrm>
              <a:off x="7353300" y="3109913"/>
              <a:ext cx="119063" cy="11747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45" name="Line 93"/>
            <p:cNvSpPr>
              <a:spLocks noChangeShapeType="1"/>
            </p:cNvSpPr>
            <p:nvPr/>
          </p:nvSpPr>
          <p:spPr bwMode="auto">
            <a:xfrm>
              <a:off x="7412038" y="3227388"/>
              <a:ext cx="0" cy="8429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46" name="Rectangle 94"/>
            <p:cNvSpPr>
              <a:spLocks noChangeArrowheads="1"/>
            </p:cNvSpPr>
            <p:nvPr/>
          </p:nvSpPr>
          <p:spPr bwMode="auto">
            <a:xfrm>
              <a:off x="1982788" y="3625850"/>
              <a:ext cx="65082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Address</a:t>
              </a:r>
            </a:p>
            <a:p>
              <a:pPr eaLnBrk="1" hangingPunct="1"/>
              <a:endParaRPr lang="en-US" altLang="ko-KR" sz="1100" b="1">
                <a:latin typeface="Calibri" panose="020F0502020204030204" pitchFamily="34" charset="0"/>
              </a:endParaRPr>
            </a:p>
          </p:txBody>
        </p:sp>
        <p:sp>
          <p:nvSpPr>
            <p:cNvPr id="53347" name="Rectangle 95"/>
            <p:cNvSpPr>
              <a:spLocks noChangeArrowheads="1"/>
            </p:cNvSpPr>
            <p:nvPr/>
          </p:nvSpPr>
          <p:spPr bwMode="auto">
            <a:xfrm>
              <a:off x="2081213" y="3771900"/>
              <a:ext cx="52418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latin typeface="Calibri" panose="020F0502020204030204" pitchFamily="34" charset="0"/>
                </a:rPr>
                <a:t>select</a:t>
              </a:r>
            </a:p>
          </p:txBody>
        </p:sp>
        <p:sp>
          <p:nvSpPr>
            <p:cNvPr id="53348" name="Rectangle 96"/>
            <p:cNvSpPr>
              <a:spLocks noChangeArrowheads="1"/>
            </p:cNvSpPr>
            <p:nvPr/>
          </p:nvSpPr>
          <p:spPr bwMode="auto">
            <a:xfrm>
              <a:off x="2005013" y="3617913"/>
              <a:ext cx="755650" cy="4032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53349" name="Arc 97"/>
            <p:cNvSpPr>
              <a:spLocks/>
            </p:cNvSpPr>
            <p:nvPr/>
          </p:nvSpPr>
          <p:spPr bwMode="auto">
            <a:xfrm>
              <a:off x="2370138" y="3481388"/>
              <a:ext cx="119062" cy="119062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350" name="Line 98"/>
            <p:cNvSpPr>
              <a:spLocks noChangeShapeType="1"/>
            </p:cNvSpPr>
            <p:nvPr/>
          </p:nvSpPr>
          <p:spPr bwMode="auto">
            <a:xfrm>
              <a:off x="2428875" y="3405188"/>
              <a:ext cx="0" cy="873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51" name="Line 99"/>
            <p:cNvSpPr>
              <a:spLocks noChangeShapeType="1"/>
            </p:cNvSpPr>
            <p:nvPr/>
          </p:nvSpPr>
          <p:spPr bwMode="auto">
            <a:xfrm>
              <a:off x="2520950" y="4032250"/>
              <a:ext cx="0" cy="5064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52" name="Line 100"/>
            <p:cNvSpPr>
              <a:spLocks noChangeShapeType="1"/>
            </p:cNvSpPr>
            <p:nvPr/>
          </p:nvSpPr>
          <p:spPr bwMode="auto">
            <a:xfrm>
              <a:off x="2259013" y="4037013"/>
              <a:ext cx="0" cy="7858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53" name="Line 101"/>
            <p:cNvSpPr>
              <a:spLocks noChangeShapeType="1"/>
            </p:cNvSpPr>
            <p:nvPr/>
          </p:nvSpPr>
          <p:spPr bwMode="auto">
            <a:xfrm>
              <a:off x="1812925" y="1903413"/>
              <a:ext cx="0" cy="32051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54" name="Line 103"/>
            <p:cNvSpPr>
              <a:spLocks noChangeShapeType="1"/>
            </p:cNvSpPr>
            <p:nvPr/>
          </p:nvSpPr>
          <p:spPr bwMode="auto">
            <a:xfrm>
              <a:off x="1117600" y="1320800"/>
              <a:ext cx="0" cy="43497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55" name="Line 106"/>
            <p:cNvSpPr>
              <a:spLocks noChangeShapeType="1"/>
            </p:cNvSpPr>
            <p:nvPr/>
          </p:nvSpPr>
          <p:spPr bwMode="auto">
            <a:xfrm>
              <a:off x="1479550" y="1608138"/>
              <a:ext cx="0" cy="38052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68667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27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A2381ADE-64BD-49EF-A675-A54816252281}" type="slidenum">
              <a:rPr lang="en-US" altLang="en-US">
                <a:latin typeface="Calibri" panose="020F0502020204030204" pitchFamily="34" charset="0"/>
              </a:rPr>
              <a:pPr eaLnBrk="1" hangingPunct="1"/>
              <a:t>72</a:t>
            </a:fld>
            <a:r>
              <a:rPr lang="en-US" altLang="en-US">
                <a:latin typeface="Calibri" panose="020F0502020204030204" pitchFamily="34" charset="0"/>
              </a:rPr>
              <a:t>				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7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Processor - Channel</a:t>
            </a:r>
          </a:p>
        </p:txBody>
      </p:sp>
      <p:sp>
        <p:nvSpPr>
          <p:cNvPr id="54278" name="Rectangle 4"/>
          <p:cNvSpPr>
            <a:spLocks noChangeArrowheads="1"/>
          </p:cNvSpPr>
          <p:nvPr/>
        </p:nvSpPr>
        <p:spPr bwMode="auto">
          <a:xfrm>
            <a:off x="1744663" y="1276443"/>
            <a:ext cx="8839200" cy="175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b="1" u="sng" dirty="0">
                <a:latin typeface="Calibri" panose="020F0502020204030204" pitchFamily="34" charset="0"/>
              </a:rPr>
              <a:t>Channel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- Processor with direct memory access capability that communicates with I/O devices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- Channel accesses memory by cycle stealing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- Unlike DMA Controller, IOP can fetch and execute its own instruction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- IOP Instructions (Commands) specially designed to facilitate I/O transfer.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</a:t>
            </a:r>
          </a:p>
        </p:txBody>
      </p:sp>
      <p:grpSp>
        <p:nvGrpSpPr>
          <p:cNvPr id="54279" name="Group 149"/>
          <p:cNvGrpSpPr>
            <a:grpSpLocks/>
          </p:cNvGrpSpPr>
          <p:nvPr/>
        </p:nvGrpSpPr>
        <p:grpSpPr bwMode="auto">
          <a:xfrm>
            <a:off x="2847975" y="3302709"/>
            <a:ext cx="6496050" cy="2065337"/>
            <a:chOff x="1800225" y="4425950"/>
            <a:chExt cx="6496050" cy="2065338"/>
          </a:xfrm>
        </p:grpSpPr>
        <p:sp>
          <p:nvSpPr>
            <p:cNvPr id="54280" name="Oval 5"/>
            <p:cNvSpPr>
              <a:spLocks noChangeArrowheads="1"/>
            </p:cNvSpPr>
            <p:nvPr/>
          </p:nvSpPr>
          <p:spPr bwMode="auto">
            <a:xfrm>
              <a:off x="5572125" y="5337175"/>
              <a:ext cx="484188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81" name="Rectangle 6"/>
            <p:cNvSpPr>
              <a:spLocks noChangeArrowheads="1"/>
            </p:cNvSpPr>
            <p:nvPr/>
          </p:nvSpPr>
          <p:spPr bwMode="auto">
            <a:xfrm>
              <a:off x="5600700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82" name="Line 7"/>
            <p:cNvSpPr>
              <a:spLocks noChangeShapeType="1"/>
            </p:cNvSpPr>
            <p:nvPr/>
          </p:nvSpPr>
          <p:spPr bwMode="auto">
            <a:xfrm flipH="1">
              <a:off x="5821363" y="5740400"/>
              <a:ext cx="0" cy="2778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3" name="Oval 8"/>
            <p:cNvSpPr>
              <a:spLocks noChangeArrowheads="1"/>
            </p:cNvSpPr>
            <p:nvPr/>
          </p:nvSpPr>
          <p:spPr bwMode="auto">
            <a:xfrm>
              <a:off x="6267450" y="5337175"/>
              <a:ext cx="485775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84" name="Rectangle 9"/>
            <p:cNvSpPr>
              <a:spLocks noChangeArrowheads="1"/>
            </p:cNvSpPr>
            <p:nvPr/>
          </p:nvSpPr>
          <p:spPr bwMode="auto">
            <a:xfrm>
              <a:off x="6281738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85" name="Line 10"/>
            <p:cNvSpPr>
              <a:spLocks noChangeShapeType="1"/>
            </p:cNvSpPr>
            <p:nvPr/>
          </p:nvSpPr>
          <p:spPr bwMode="auto">
            <a:xfrm>
              <a:off x="6518275" y="5740400"/>
              <a:ext cx="0" cy="273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6" name="Oval 11"/>
            <p:cNvSpPr>
              <a:spLocks noChangeArrowheads="1"/>
            </p:cNvSpPr>
            <p:nvPr/>
          </p:nvSpPr>
          <p:spPr bwMode="auto">
            <a:xfrm>
              <a:off x="6950075" y="5337175"/>
              <a:ext cx="484188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87" name="Rectangle 12"/>
            <p:cNvSpPr>
              <a:spLocks noChangeArrowheads="1"/>
            </p:cNvSpPr>
            <p:nvPr/>
          </p:nvSpPr>
          <p:spPr bwMode="auto">
            <a:xfrm>
              <a:off x="6977063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88" name="Line 13"/>
            <p:cNvSpPr>
              <a:spLocks noChangeShapeType="1"/>
            </p:cNvSpPr>
            <p:nvPr/>
          </p:nvSpPr>
          <p:spPr bwMode="auto">
            <a:xfrm flipH="1">
              <a:off x="7199313" y="5740400"/>
              <a:ext cx="0" cy="273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9" name="Oval 14"/>
            <p:cNvSpPr>
              <a:spLocks noChangeArrowheads="1"/>
            </p:cNvSpPr>
            <p:nvPr/>
          </p:nvSpPr>
          <p:spPr bwMode="auto">
            <a:xfrm>
              <a:off x="7631113" y="5337175"/>
              <a:ext cx="500062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90" name="Rectangle 15"/>
            <p:cNvSpPr>
              <a:spLocks noChangeArrowheads="1"/>
            </p:cNvSpPr>
            <p:nvPr/>
          </p:nvSpPr>
          <p:spPr bwMode="auto">
            <a:xfrm>
              <a:off x="7659688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91" name="Rectangle 17"/>
            <p:cNvSpPr>
              <a:spLocks noChangeArrowheads="1"/>
            </p:cNvSpPr>
            <p:nvPr/>
          </p:nvSpPr>
          <p:spPr bwMode="auto">
            <a:xfrm>
              <a:off x="5962650" y="5037138"/>
              <a:ext cx="1542346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Peripheral devices</a:t>
              </a:r>
            </a:p>
          </p:txBody>
        </p:sp>
        <p:sp>
          <p:nvSpPr>
            <p:cNvPr id="54292" name="Line 18"/>
            <p:cNvSpPr>
              <a:spLocks noChangeShapeType="1"/>
            </p:cNvSpPr>
            <p:nvPr/>
          </p:nvSpPr>
          <p:spPr bwMode="auto">
            <a:xfrm>
              <a:off x="5146675" y="6018213"/>
              <a:ext cx="3149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3" name="Rectangle 19"/>
            <p:cNvSpPr>
              <a:spLocks noChangeArrowheads="1"/>
            </p:cNvSpPr>
            <p:nvPr/>
          </p:nvSpPr>
          <p:spPr bwMode="auto">
            <a:xfrm>
              <a:off x="6311900" y="6008688"/>
              <a:ext cx="734176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I/O bus</a:t>
              </a:r>
            </a:p>
          </p:txBody>
        </p:sp>
        <p:sp>
          <p:nvSpPr>
            <p:cNvPr id="54294" name="Rectangle 20"/>
            <p:cNvSpPr>
              <a:spLocks noChangeArrowheads="1"/>
            </p:cNvSpPr>
            <p:nvPr/>
          </p:nvSpPr>
          <p:spPr bwMode="auto">
            <a:xfrm>
              <a:off x="3995738" y="5729288"/>
              <a:ext cx="1146149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Input-output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295" name="Rectangle 21"/>
            <p:cNvSpPr>
              <a:spLocks noChangeArrowheads="1"/>
            </p:cNvSpPr>
            <p:nvPr/>
          </p:nvSpPr>
          <p:spPr bwMode="auto">
            <a:xfrm>
              <a:off x="4075113" y="5899150"/>
              <a:ext cx="946799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processor 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296" name="Rectangle 22"/>
            <p:cNvSpPr>
              <a:spLocks noChangeArrowheads="1"/>
            </p:cNvSpPr>
            <p:nvPr/>
          </p:nvSpPr>
          <p:spPr bwMode="auto">
            <a:xfrm>
              <a:off x="4273550" y="6083300"/>
              <a:ext cx="561052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(IOP)</a:t>
              </a:r>
            </a:p>
          </p:txBody>
        </p:sp>
        <p:sp>
          <p:nvSpPr>
            <p:cNvPr id="54297" name="Rectangle 23"/>
            <p:cNvSpPr>
              <a:spLocks noChangeArrowheads="1"/>
            </p:cNvSpPr>
            <p:nvPr/>
          </p:nvSpPr>
          <p:spPr bwMode="auto">
            <a:xfrm>
              <a:off x="3951288" y="5605463"/>
              <a:ext cx="1189037" cy="8128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98" name="Rectangle 24"/>
            <p:cNvSpPr>
              <a:spLocks noChangeArrowheads="1"/>
            </p:cNvSpPr>
            <p:nvPr/>
          </p:nvSpPr>
          <p:spPr bwMode="auto">
            <a:xfrm>
              <a:off x="4181475" y="4483100"/>
              <a:ext cx="717313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Central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299" name="Rectangle 25"/>
            <p:cNvSpPr>
              <a:spLocks noChangeArrowheads="1"/>
            </p:cNvSpPr>
            <p:nvPr/>
          </p:nvSpPr>
          <p:spPr bwMode="auto">
            <a:xfrm>
              <a:off x="4029075" y="4656138"/>
              <a:ext cx="972447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processing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300" name="Rectangle 26"/>
            <p:cNvSpPr>
              <a:spLocks noChangeArrowheads="1"/>
            </p:cNvSpPr>
            <p:nvPr/>
          </p:nvSpPr>
          <p:spPr bwMode="auto">
            <a:xfrm>
              <a:off x="4059238" y="4827588"/>
              <a:ext cx="94256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unit (CPU)</a:t>
              </a:r>
            </a:p>
          </p:txBody>
        </p:sp>
        <p:sp>
          <p:nvSpPr>
            <p:cNvPr id="54301" name="Rectangle 27"/>
            <p:cNvSpPr>
              <a:spLocks noChangeArrowheads="1"/>
            </p:cNvSpPr>
            <p:nvPr/>
          </p:nvSpPr>
          <p:spPr bwMode="auto">
            <a:xfrm>
              <a:off x="3951288" y="4425950"/>
              <a:ext cx="1165225" cy="7366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302" name="Rectangle 28"/>
            <p:cNvSpPr>
              <a:spLocks noChangeArrowheads="1"/>
            </p:cNvSpPr>
            <p:nvPr/>
          </p:nvSpPr>
          <p:spPr bwMode="auto">
            <a:xfrm>
              <a:off x="1800225" y="4770438"/>
              <a:ext cx="1090613" cy="12303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303" name="Rectangle 29"/>
            <p:cNvSpPr>
              <a:spLocks noChangeArrowheads="1"/>
            </p:cNvSpPr>
            <p:nvPr/>
          </p:nvSpPr>
          <p:spPr bwMode="auto">
            <a:xfrm>
              <a:off x="1858963" y="5233988"/>
              <a:ext cx="821508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Memory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304" name="Rectangle 30"/>
            <p:cNvSpPr>
              <a:spLocks noChangeArrowheads="1"/>
            </p:cNvSpPr>
            <p:nvPr/>
          </p:nvSpPr>
          <p:spPr bwMode="auto">
            <a:xfrm>
              <a:off x="2041525" y="5405438"/>
              <a:ext cx="482505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unit</a:t>
              </a:r>
            </a:p>
          </p:txBody>
        </p:sp>
        <p:sp>
          <p:nvSpPr>
            <p:cNvPr id="54305" name="Arc 31"/>
            <p:cNvSpPr>
              <a:spLocks/>
            </p:cNvSpPr>
            <p:nvPr/>
          </p:nvSpPr>
          <p:spPr bwMode="auto">
            <a:xfrm>
              <a:off x="3802063" y="4778375"/>
              <a:ext cx="142875" cy="9366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06" name="Arc 32"/>
            <p:cNvSpPr>
              <a:spLocks/>
            </p:cNvSpPr>
            <p:nvPr/>
          </p:nvSpPr>
          <p:spPr bwMode="auto">
            <a:xfrm>
              <a:off x="3429000" y="4778375"/>
              <a:ext cx="142875" cy="93663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07" name="Line 33"/>
            <p:cNvSpPr>
              <a:spLocks noChangeShapeType="1"/>
            </p:cNvSpPr>
            <p:nvPr/>
          </p:nvSpPr>
          <p:spPr bwMode="auto">
            <a:xfrm>
              <a:off x="3568700" y="4832350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08" name="Arc 34"/>
            <p:cNvSpPr>
              <a:spLocks/>
            </p:cNvSpPr>
            <p:nvPr/>
          </p:nvSpPr>
          <p:spPr bwMode="auto">
            <a:xfrm>
              <a:off x="3802063" y="5961063"/>
              <a:ext cx="142875" cy="92075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09" name="Arc 35"/>
            <p:cNvSpPr>
              <a:spLocks/>
            </p:cNvSpPr>
            <p:nvPr/>
          </p:nvSpPr>
          <p:spPr bwMode="auto">
            <a:xfrm>
              <a:off x="3429000" y="5961063"/>
              <a:ext cx="142875" cy="92075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10" name="Line 36"/>
            <p:cNvSpPr>
              <a:spLocks noChangeShapeType="1"/>
            </p:cNvSpPr>
            <p:nvPr/>
          </p:nvSpPr>
          <p:spPr bwMode="auto">
            <a:xfrm>
              <a:off x="3575050" y="6008688"/>
              <a:ext cx="241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1" name="Line 37"/>
            <p:cNvSpPr>
              <a:spLocks noChangeShapeType="1"/>
            </p:cNvSpPr>
            <p:nvPr/>
          </p:nvSpPr>
          <p:spPr bwMode="auto">
            <a:xfrm>
              <a:off x="3429000" y="4425950"/>
              <a:ext cx="0" cy="20653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2" name="Arc 39"/>
            <p:cNvSpPr>
              <a:spLocks/>
            </p:cNvSpPr>
            <p:nvPr/>
          </p:nvSpPr>
          <p:spPr bwMode="auto">
            <a:xfrm>
              <a:off x="3286125" y="5332413"/>
              <a:ext cx="144463" cy="9366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13" name="Arc 40"/>
            <p:cNvSpPr>
              <a:spLocks/>
            </p:cNvSpPr>
            <p:nvPr/>
          </p:nvSpPr>
          <p:spPr bwMode="auto">
            <a:xfrm>
              <a:off x="2914650" y="5332413"/>
              <a:ext cx="142875" cy="93662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14" name="Line 41"/>
            <p:cNvSpPr>
              <a:spLocks noChangeShapeType="1"/>
            </p:cNvSpPr>
            <p:nvPr/>
          </p:nvSpPr>
          <p:spPr bwMode="auto">
            <a:xfrm>
              <a:off x="3048000" y="5381625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5" name="Line 43"/>
            <p:cNvSpPr>
              <a:spLocks noChangeShapeType="1"/>
            </p:cNvSpPr>
            <p:nvPr/>
          </p:nvSpPr>
          <p:spPr bwMode="auto">
            <a:xfrm flipH="1">
              <a:off x="7905750" y="5732463"/>
              <a:ext cx="0" cy="2809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6" name="Rectangle 45"/>
            <p:cNvSpPr>
              <a:spLocks noChangeArrowheads="1"/>
            </p:cNvSpPr>
            <p:nvPr/>
          </p:nvSpPr>
          <p:spPr bwMode="auto">
            <a:xfrm rot="16200000" flipH="1">
              <a:off x="2964195" y="5228530"/>
              <a:ext cx="113281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 dirty="0">
                  <a:latin typeface="Calibri" panose="020F0502020204030204" pitchFamily="34" charset="0"/>
                </a:rPr>
                <a:t>Memory Bus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97091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27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A2381ADE-64BD-49EF-A675-A54816252281}" type="slidenum">
              <a:rPr lang="en-US" altLang="en-US">
                <a:latin typeface="Calibri" panose="020F0502020204030204" pitchFamily="34" charset="0"/>
              </a:rPr>
              <a:pPr eaLnBrk="1" hangingPunct="1"/>
              <a:t>73</a:t>
            </a:fld>
            <a:r>
              <a:rPr lang="en-US" altLang="en-US">
                <a:latin typeface="Calibri" panose="020F0502020204030204" pitchFamily="34" charset="0"/>
              </a:rPr>
              <a:t>				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7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I/O Processor - Channel</a:t>
            </a:r>
          </a:p>
        </p:txBody>
      </p:sp>
      <p:sp>
        <p:nvSpPr>
          <p:cNvPr id="54278" name="Rectangle 4"/>
          <p:cNvSpPr>
            <a:spLocks noChangeArrowheads="1"/>
          </p:cNvSpPr>
          <p:nvPr/>
        </p:nvSpPr>
        <p:spPr bwMode="auto">
          <a:xfrm>
            <a:off x="1752600" y="1466934"/>
            <a:ext cx="8839200" cy="230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- Data gathered in IOP at device rate and bit capacity while CPU executing own program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- Transfer between IOP and Device similar to Programmed I/O and 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    transfer between IOP and Memory similar to DMA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      - CPU is master while IOP is slave processor</a:t>
            </a:r>
          </a:p>
          <a:p>
            <a:pPr eaLnBrk="1" hangingPunct="1"/>
            <a:r>
              <a:rPr lang="en-US" altLang="ko-KR" b="1" dirty="0">
                <a:latin typeface="Calibri" panose="020F0502020204030204" pitchFamily="34" charset="0"/>
              </a:rPr>
              <a:t>- CPU initiates the channel by executing a channel I/O class instruction and once initiated, channel operates independent of the CPU </a:t>
            </a:r>
          </a:p>
          <a:p>
            <a:pPr eaLnBrk="1" latinLnBrk="1" hangingPunct="1"/>
            <a:endParaRPr lang="en-US" altLang="ko-KR" b="1" dirty="0">
              <a:latin typeface="Calibri" panose="020F0502020204030204" pitchFamily="34" charset="0"/>
            </a:endParaRPr>
          </a:p>
        </p:txBody>
      </p:sp>
      <p:grpSp>
        <p:nvGrpSpPr>
          <p:cNvPr id="54279" name="Group 149"/>
          <p:cNvGrpSpPr>
            <a:grpSpLocks/>
          </p:cNvGrpSpPr>
          <p:nvPr/>
        </p:nvGrpSpPr>
        <p:grpSpPr bwMode="auto">
          <a:xfrm>
            <a:off x="3048000" y="4130278"/>
            <a:ext cx="6496050" cy="2065337"/>
            <a:chOff x="1800225" y="4425950"/>
            <a:chExt cx="6496050" cy="2065338"/>
          </a:xfrm>
        </p:grpSpPr>
        <p:sp>
          <p:nvSpPr>
            <p:cNvPr id="54280" name="Oval 5"/>
            <p:cNvSpPr>
              <a:spLocks noChangeArrowheads="1"/>
            </p:cNvSpPr>
            <p:nvPr/>
          </p:nvSpPr>
          <p:spPr bwMode="auto">
            <a:xfrm>
              <a:off x="5572125" y="5337175"/>
              <a:ext cx="484188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81" name="Rectangle 6"/>
            <p:cNvSpPr>
              <a:spLocks noChangeArrowheads="1"/>
            </p:cNvSpPr>
            <p:nvPr/>
          </p:nvSpPr>
          <p:spPr bwMode="auto">
            <a:xfrm>
              <a:off x="5600700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82" name="Line 7"/>
            <p:cNvSpPr>
              <a:spLocks noChangeShapeType="1"/>
            </p:cNvSpPr>
            <p:nvPr/>
          </p:nvSpPr>
          <p:spPr bwMode="auto">
            <a:xfrm flipH="1">
              <a:off x="5821363" y="5740400"/>
              <a:ext cx="0" cy="2778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3" name="Oval 8"/>
            <p:cNvSpPr>
              <a:spLocks noChangeArrowheads="1"/>
            </p:cNvSpPr>
            <p:nvPr/>
          </p:nvSpPr>
          <p:spPr bwMode="auto">
            <a:xfrm>
              <a:off x="6267450" y="5337175"/>
              <a:ext cx="485775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84" name="Rectangle 9"/>
            <p:cNvSpPr>
              <a:spLocks noChangeArrowheads="1"/>
            </p:cNvSpPr>
            <p:nvPr/>
          </p:nvSpPr>
          <p:spPr bwMode="auto">
            <a:xfrm>
              <a:off x="6281738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85" name="Line 10"/>
            <p:cNvSpPr>
              <a:spLocks noChangeShapeType="1"/>
            </p:cNvSpPr>
            <p:nvPr/>
          </p:nvSpPr>
          <p:spPr bwMode="auto">
            <a:xfrm>
              <a:off x="6518275" y="5740400"/>
              <a:ext cx="0" cy="273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6" name="Oval 11"/>
            <p:cNvSpPr>
              <a:spLocks noChangeArrowheads="1"/>
            </p:cNvSpPr>
            <p:nvPr/>
          </p:nvSpPr>
          <p:spPr bwMode="auto">
            <a:xfrm>
              <a:off x="6950075" y="5337175"/>
              <a:ext cx="484188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87" name="Rectangle 12"/>
            <p:cNvSpPr>
              <a:spLocks noChangeArrowheads="1"/>
            </p:cNvSpPr>
            <p:nvPr/>
          </p:nvSpPr>
          <p:spPr bwMode="auto">
            <a:xfrm>
              <a:off x="6977063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88" name="Line 13"/>
            <p:cNvSpPr>
              <a:spLocks noChangeShapeType="1"/>
            </p:cNvSpPr>
            <p:nvPr/>
          </p:nvSpPr>
          <p:spPr bwMode="auto">
            <a:xfrm flipH="1">
              <a:off x="7199313" y="5740400"/>
              <a:ext cx="0" cy="273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9" name="Oval 14"/>
            <p:cNvSpPr>
              <a:spLocks noChangeArrowheads="1"/>
            </p:cNvSpPr>
            <p:nvPr/>
          </p:nvSpPr>
          <p:spPr bwMode="auto">
            <a:xfrm>
              <a:off x="7631113" y="5337175"/>
              <a:ext cx="500062" cy="392113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90" name="Rectangle 15"/>
            <p:cNvSpPr>
              <a:spLocks noChangeArrowheads="1"/>
            </p:cNvSpPr>
            <p:nvPr/>
          </p:nvSpPr>
          <p:spPr bwMode="auto">
            <a:xfrm>
              <a:off x="7659688" y="5405438"/>
              <a:ext cx="39273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PD</a:t>
              </a:r>
            </a:p>
          </p:txBody>
        </p:sp>
        <p:sp>
          <p:nvSpPr>
            <p:cNvPr id="54291" name="Rectangle 17"/>
            <p:cNvSpPr>
              <a:spLocks noChangeArrowheads="1"/>
            </p:cNvSpPr>
            <p:nvPr/>
          </p:nvSpPr>
          <p:spPr bwMode="auto">
            <a:xfrm>
              <a:off x="5962650" y="5037138"/>
              <a:ext cx="1542346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Peripheral devices</a:t>
              </a:r>
            </a:p>
          </p:txBody>
        </p:sp>
        <p:sp>
          <p:nvSpPr>
            <p:cNvPr id="54292" name="Line 18"/>
            <p:cNvSpPr>
              <a:spLocks noChangeShapeType="1"/>
            </p:cNvSpPr>
            <p:nvPr/>
          </p:nvSpPr>
          <p:spPr bwMode="auto">
            <a:xfrm>
              <a:off x="5146675" y="6018213"/>
              <a:ext cx="3149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3" name="Rectangle 19"/>
            <p:cNvSpPr>
              <a:spLocks noChangeArrowheads="1"/>
            </p:cNvSpPr>
            <p:nvPr/>
          </p:nvSpPr>
          <p:spPr bwMode="auto">
            <a:xfrm>
              <a:off x="6311900" y="6008688"/>
              <a:ext cx="734176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I/O bus</a:t>
              </a:r>
            </a:p>
          </p:txBody>
        </p:sp>
        <p:sp>
          <p:nvSpPr>
            <p:cNvPr id="54294" name="Rectangle 20"/>
            <p:cNvSpPr>
              <a:spLocks noChangeArrowheads="1"/>
            </p:cNvSpPr>
            <p:nvPr/>
          </p:nvSpPr>
          <p:spPr bwMode="auto">
            <a:xfrm>
              <a:off x="3995738" y="5729288"/>
              <a:ext cx="1146149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Input-output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295" name="Rectangle 21"/>
            <p:cNvSpPr>
              <a:spLocks noChangeArrowheads="1"/>
            </p:cNvSpPr>
            <p:nvPr/>
          </p:nvSpPr>
          <p:spPr bwMode="auto">
            <a:xfrm>
              <a:off x="4075113" y="5899150"/>
              <a:ext cx="946799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processor 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296" name="Rectangle 22"/>
            <p:cNvSpPr>
              <a:spLocks noChangeArrowheads="1"/>
            </p:cNvSpPr>
            <p:nvPr/>
          </p:nvSpPr>
          <p:spPr bwMode="auto">
            <a:xfrm>
              <a:off x="4273550" y="6083300"/>
              <a:ext cx="561052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(IOP)</a:t>
              </a:r>
            </a:p>
          </p:txBody>
        </p:sp>
        <p:sp>
          <p:nvSpPr>
            <p:cNvPr id="54297" name="Rectangle 23"/>
            <p:cNvSpPr>
              <a:spLocks noChangeArrowheads="1"/>
            </p:cNvSpPr>
            <p:nvPr/>
          </p:nvSpPr>
          <p:spPr bwMode="auto">
            <a:xfrm>
              <a:off x="3951288" y="5605463"/>
              <a:ext cx="1189037" cy="8128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298" name="Rectangle 24"/>
            <p:cNvSpPr>
              <a:spLocks noChangeArrowheads="1"/>
            </p:cNvSpPr>
            <p:nvPr/>
          </p:nvSpPr>
          <p:spPr bwMode="auto">
            <a:xfrm>
              <a:off x="4181475" y="4483100"/>
              <a:ext cx="717313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Central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299" name="Rectangle 25"/>
            <p:cNvSpPr>
              <a:spLocks noChangeArrowheads="1"/>
            </p:cNvSpPr>
            <p:nvPr/>
          </p:nvSpPr>
          <p:spPr bwMode="auto">
            <a:xfrm>
              <a:off x="4029075" y="4656138"/>
              <a:ext cx="972447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processing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300" name="Rectangle 26"/>
            <p:cNvSpPr>
              <a:spLocks noChangeArrowheads="1"/>
            </p:cNvSpPr>
            <p:nvPr/>
          </p:nvSpPr>
          <p:spPr bwMode="auto">
            <a:xfrm>
              <a:off x="4059238" y="4827588"/>
              <a:ext cx="942567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unit (CPU)</a:t>
              </a:r>
            </a:p>
          </p:txBody>
        </p:sp>
        <p:sp>
          <p:nvSpPr>
            <p:cNvPr id="54301" name="Rectangle 27"/>
            <p:cNvSpPr>
              <a:spLocks noChangeArrowheads="1"/>
            </p:cNvSpPr>
            <p:nvPr/>
          </p:nvSpPr>
          <p:spPr bwMode="auto">
            <a:xfrm>
              <a:off x="3951288" y="4425950"/>
              <a:ext cx="1165225" cy="7366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302" name="Rectangle 28"/>
            <p:cNvSpPr>
              <a:spLocks noChangeArrowheads="1"/>
            </p:cNvSpPr>
            <p:nvPr/>
          </p:nvSpPr>
          <p:spPr bwMode="auto">
            <a:xfrm>
              <a:off x="1800225" y="4770438"/>
              <a:ext cx="1090613" cy="12303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400" b="1">
                <a:latin typeface="Calibri" panose="020F0502020204030204" pitchFamily="34" charset="0"/>
              </a:endParaRPr>
            </a:p>
          </p:txBody>
        </p:sp>
        <p:sp>
          <p:nvSpPr>
            <p:cNvPr id="54303" name="Rectangle 29"/>
            <p:cNvSpPr>
              <a:spLocks noChangeArrowheads="1"/>
            </p:cNvSpPr>
            <p:nvPr/>
          </p:nvSpPr>
          <p:spPr bwMode="auto">
            <a:xfrm>
              <a:off x="1858963" y="5233988"/>
              <a:ext cx="821508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Memory</a:t>
              </a:r>
            </a:p>
            <a:p>
              <a:pPr ea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54304" name="Rectangle 30"/>
            <p:cNvSpPr>
              <a:spLocks noChangeArrowheads="1"/>
            </p:cNvSpPr>
            <p:nvPr/>
          </p:nvSpPr>
          <p:spPr bwMode="auto">
            <a:xfrm>
              <a:off x="2041525" y="5405438"/>
              <a:ext cx="482505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unit</a:t>
              </a:r>
            </a:p>
          </p:txBody>
        </p:sp>
        <p:sp>
          <p:nvSpPr>
            <p:cNvPr id="54305" name="Arc 31"/>
            <p:cNvSpPr>
              <a:spLocks/>
            </p:cNvSpPr>
            <p:nvPr/>
          </p:nvSpPr>
          <p:spPr bwMode="auto">
            <a:xfrm>
              <a:off x="3802063" y="4778375"/>
              <a:ext cx="142875" cy="9366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06" name="Arc 32"/>
            <p:cNvSpPr>
              <a:spLocks/>
            </p:cNvSpPr>
            <p:nvPr/>
          </p:nvSpPr>
          <p:spPr bwMode="auto">
            <a:xfrm>
              <a:off x="3429000" y="4778375"/>
              <a:ext cx="142875" cy="93663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07" name="Line 33"/>
            <p:cNvSpPr>
              <a:spLocks noChangeShapeType="1"/>
            </p:cNvSpPr>
            <p:nvPr/>
          </p:nvSpPr>
          <p:spPr bwMode="auto">
            <a:xfrm>
              <a:off x="3568700" y="4832350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08" name="Arc 34"/>
            <p:cNvSpPr>
              <a:spLocks/>
            </p:cNvSpPr>
            <p:nvPr/>
          </p:nvSpPr>
          <p:spPr bwMode="auto">
            <a:xfrm>
              <a:off x="3802063" y="5961063"/>
              <a:ext cx="142875" cy="92075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09" name="Arc 35"/>
            <p:cNvSpPr>
              <a:spLocks/>
            </p:cNvSpPr>
            <p:nvPr/>
          </p:nvSpPr>
          <p:spPr bwMode="auto">
            <a:xfrm>
              <a:off x="3429000" y="5961063"/>
              <a:ext cx="142875" cy="92075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10" name="Line 36"/>
            <p:cNvSpPr>
              <a:spLocks noChangeShapeType="1"/>
            </p:cNvSpPr>
            <p:nvPr/>
          </p:nvSpPr>
          <p:spPr bwMode="auto">
            <a:xfrm>
              <a:off x="3575050" y="6008688"/>
              <a:ext cx="241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1" name="Line 37"/>
            <p:cNvSpPr>
              <a:spLocks noChangeShapeType="1"/>
            </p:cNvSpPr>
            <p:nvPr/>
          </p:nvSpPr>
          <p:spPr bwMode="auto">
            <a:xfrm>
              <a:off x="3429000" y="4425950"/>
              <a:ext cx="0" cy="20653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2" name="Arc 39"/>
            <p:cNvSpPr>
              <a:spLocks/>
            </p:cNvSpPr>
            <p:nvPr/>
          </p:nvSpPr>
          <p:spPr bwMode="auto">
            <a:xfrm>
              <a:off x="3286125" y="5332413"/>
              <a:ext cx="144463" cy="9366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13" name="Arc 40"/>
            <p:cNvSpPr>
              <a:spLocks/>
            </p:cNvSpPr>
            <p:nvPr/>
          </p:nvSpPr>
          <p:spPr bwMode="auto">
            <a:xfrm>
              <a:off x="2914650" y="5332413"/>
              <a:ext cx="142875" cy="93662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14" name="Line 41"/>
            <p:cNvSpPr>
              <a:spLocks noChangeShapeType="1"/>
            </p:cNvSpPr>
            <p:nvPr/>
          </p:nvSpPr>
          <p:spPr bwMode="auto">
            <a:xfrm>
              <a:off x="3048000" y="5381625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5" name="Line 43"/>
            <p:cNvSpPr>
              <a:spLocks noChangeShapeType="1"/>
            </p:cNvSpPr>
            <p:nvPr/>
          </p:nvSpPr>
          <p:spPr bwMode="auto">
            <a:xfrm flipH="1">
              <a:off x="7905750" y="5732463"/>
              <a:ext cx="0" cy="2809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6" name="Rectangle 45"/>
            <p:cNvSpPr>
              <a:spLocks noChangeArrowheads="1"/>
            </p:cNvSpPr>
            <p:nvPr/>
          </p:nvSpPr>
          <p:spPr bwMode="auto">
            <a:xfrm rot="16200000" flipH="1">
              <a:off x="2964195" y="5228530"/>
              <a:ext cx="113281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Memory Bus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88959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5299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Input/Output Organization		               </a:t>
            </a:r>
            <a:fld id="{D355974F-0FA1-41F9-8826-F48D0F83AD98}" type="slidenum">
              <a:rPr lang="en-US" altLang="en-US">
                <a:latin typeface="Calibri" panose="020F0502020204030204" pitchFamily="34" charset="0"/>
              </a:rPr>
              <a:pPr eaLnBrk="1" hangingPunct="1"/>
              <a:t>74</a:t>
            </a:fld>
            <a:r>
              <a:rPr lang="en-US" altLang="en-US">
                <a:latin typeface="Calibri" panose="020F0502020204030204" pitchFamily="34" charset="0"/>
              </a:rPr>
              <a:t>				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01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 dirty="0">
                <a:latin typeface="Calibri" panose="020F0502020204030204" pitchFamily="34" charset="0"/>
              </a:rPr>
              <a:t> Channel CPU Communication</a:t>
            </a:r>
          </a:p>
        </p:txBody>
      </p:sp>
      <p:grpSp>
        <p:nvGrpSpPr>
          <p:cNvPr id="55302" name="Group 101"/>
          <p:cNvGrpSpPr>
            <a:grpSpLocks/>
          </p:cNvGrpSpPr>
          <p:nvPr/>
        </p:nvGrpSpPr>
        <p:grpSpPr bwMode="auto">
          <a:xfrm>
            <a:off x="3322638" y="1409700"/>
            <a:ext cx="5516562" cy="4838700"/>
            <a:chOff x="1658938" y="1098550"/>
            <a:chExt cx="5516562" cy="4838497"/>
          </a:xfrm>
        </p:grpSpPr>
        <p:sp>
          <p:nvSpPr>
            <p:cNvPr id="55303" name="Rectangle 3"/>
            <p:cNvSpPr>
              <a:spLocks noChangeArrowheads="1"/>
            </p:cNvSpPr>
            <p:nvPr/>
          </p:nvSpPr>
          <p:spPr bwMode="auto">
            <a:xfrm>
              <a:off x="1836738" y="1501775"/>
              <a:ext cx="122777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Send instruction</a:t>
              </a:r>
            </a:p>
            <a:p>
              <a:pPr eaLnBrk="1" latin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04" name="Rectangle 4"/>
            <p:cNvSpPr>
              <a:spLocks noChangeArrowheads="1"/>
            </p:cNvSpPr>
            <p:nvPr/>
          </p:nvSpPr>
          <p:spPr bwMode="auto">
            <a:xfrm>
              <a:off x="1878013" y="1654175"/>
              <a:ext cx="117397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to test IOP.path</a:t>
              </a:r>
            </a:p>
          </p:txBody>
        </p:sp>
        <p:sp>
          <p:nvSpPr>
            <p:cNvPr id="55305" name="Rectangle 5"/>
            <p:cNvSpPr>
              <a:spLocks noChangeArrowheads="1"/>
            </p:cNvSpPr>
            <p:nvPr/>
          </p:nvSpPr>
          <p:spPr bwMode="auto">
            <a:xfrm>
              <a:off x="1666875" y="1450975"/>
              <a:ext cx="2008188" cy="479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06" name="Rectangle 6"/>
            <p:cNvSpPr>
              <a:spLocks noChangeArrowheads="1"/>
            </p:cNvSpPr>
            <p:nvPr/>
          </p:nvSpPr>
          <p:spPr bwMode="auto">
            <a:xfrm>
              <a:off x="1666875" y="2193925"/>
              <a:ext cx="2008188" cy="53816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07" name="Rectangle 7"/>
            <p:cNvSpPr>
              <a:spLocks noChangeArrowheads="1"/>
            </p:cNvSpPr>
            <p:nvPr/>
          </p:nvSpPr>
          <p:spPr bwMode="auto">
            <a:xfrm>
              <a:off x="1658938" y="2198688"/>
              <a:ext cx="1625639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If status OK, then send</a:t>
              </a:r>
            </a:p>
            <a:p>
              <a:pPr eaLnBrk="1" latin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08" name="Rectangle 8"/>
            <p:cNvSpPr>
              <a:spLocks noChangeArrowheads="1"/>
            </p:cNvSpPr>
            <p:nvPr/>
          </p:nvSpPr>
          <p:spPr bwMode="auto">
            <a:xfrm>
              <a:off x="1839913" y="2351088"/>
              <a:ext cx="145219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start I/O instruction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09" name="Rectangle 9"/>
            <p:cNvSpPr>
              <a:spLocks noChangeArrowheads="1"/>
            </p:cNvSpPr>
            <p:nvPr/>
          </p:nvSpPr>
          <p:spPr bwMode="auto">
            <a:xfrm>
              <a:off x="2354263" y="2506663"/>
              <a:ext cx="6051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to IOP.</a:t>
              </a:r>
            </a:p>
          </p:txBody>
        </p:sp>
        <p:sp>
          <p:nvSpPr>
            <p:cNvPr id="55310" name="Rectangle 10"/>
            <p:cNvSpPr>
              <a:spLocks noChangeArrowheads="1"/>
            </p:cNvSpPr>
            <p:nvPr/>
          </p:nvSpPr>
          <p:spPr bwMode="auto">
            <a:xfrm>
              <a:off x="1666875" y="3005138"/>
              <a:ext cx="2008188" cy="4699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11" name="Rectangle 11"/>
            <p:cNvSpPr>
              <a:spLocks noChangeArrowheads="1"/>
            </p:cNvSpPr>
            <p:nvPr/>
          </p:nvSpPr>
          <p:spPr bwMode="auto">
            <a:xfrm>
              <a:off x="1793875" y="3055938"/>
              <a:ext cx="1432509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CPU continues with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12" name="Rectangle 12"/>
            <p:cNvSpPr>
              <a:spLocks noChangeArrowheads="1"/>
            </p:cNvSpPr>
            <p:nvPr/>
          </p:nvSpPr>
          <p:spPr bwMode="auto">
            <a:xfrm>
              <a:off x="1908175" y="3211513"/>
              <a:ext cx="127233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another program</a:t>
              </a:r>
            </a:p>
          </p:txBody>
        </p:sp>
        <p:sp>
          <p:nvSpPr>
            <p:cNvPr id="55313" name="Rectangle 13"/>
            <p:cNvSpPr>
              <a:spLocks noChangeArrowheads="1"/>
            </p:cNvSpPr>
            <p:nvPr/>
          </p:nvSpPr>
          <p:spPr bwMode="auto">
            <a:xfrm>
              <a:off x="5291138" y="1817688"/>
              <a:ext cx="1483805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Transfer status word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14" name="Rectangle 14"/>
            <p:cNvSpPr>
              <a:spLocks noChangeArrowheads="1"/>
            </p:cNvSpPr>
            <p:nvPr/>
          </p:nvSpPr>
          <p:spPr bwMode="auto">
            <a:xfrm>
              <a:off x="5676900" y="1973263"/>
              <a:ext cx="89050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to memory</a:t>
              </a:r>
            </a:p>
          </p:txBody>
        </p:sp>
        <p:sp>
          <p:nvSpPr>
            <p:cNvPr id="55315" name="Rectangle 15"/>
            <p:cNvSpPr>
              <a:spLocks noChangeArrowheads="1"/>
            </p:cNvSpPr>
            <p:nvPr/>
          </p:nvSpPr>
          <p:spPr bwMode="auto">
            <a:xfrm>
              <a:off x="5167313" y="1766888"/>
              <a:ext cx="2008187" cy="4714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16" name="Rectangle 16"/>
            <p:cNvSpPr>
              <a:spLocks noChangeArrowheads="1"/>
            </p:cNvSpPr>
            <p:nvPr/>
          </p:nvSpPr>
          <p:spPr bwMode="auto">
            <a:xfrm>
              <a:off x="5167313" y="2513013"/>
              <a:ext cx="2008187" cy="4699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17" name="Rectangle 17"/>
            <p:cNvSpPr>
              <a:spLocks noChangeArrowheads="1"/>
            </p:cNvSpPr>
            <p:nvPr/>
          </p:nvSpPr>
          <p:spPr bwMode="auto">
            <a:xfrm>
              <a:off x="5451475" y="2563813"/>
              <a:ext cx="1166154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Access memory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18" name="Rectangle 18"/>
            <p:cNvSpPr>
              <a:spLocks noChangeArrowheads="1"/>
            </p:cNvSpPr>
            <p:nvPr/>
          </p:nvSpPr>
          <p:spPr bwMode="auto">
            <a:xfrm>
              <a:off x="5451475" y="2717800"/>
              <a:ext cx="120911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for IOP program</a:t>
              </a:r>
            </a:p>
          </p:txBody>
        </p:sp>
        <p:sp>
          <p:nvSpPr>
            <p:cNvPr id="55319" name="Rectangle 19"/>
            <p:cNvSpPr>
              <a:spLocks noChangeArrowheads="1"/>
            </p:cNvSpPr>
            <p:nvPr/>
          </p:nvSpPr>
          <p:spPr bwMode="auto">
            <a:xfrm>
              <a:off x="5249863" y="3241675"/>
              <a:ext cx="1555299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Conduct I/O transfers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20" name="Rectangle 20"/>
            <p:cNvSpPr>
              <a:spLocks noChangeArrowheads="1"/>
            </p:cNvSpPr>
            <p:nvPr/>
          </p:nvSpPr>
          <p:spPr bwMode="auto">
            <a:xfrm>
              <a:off x="5610225" y="3397250"/>
              <a:ext cx="924934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using DMA;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21" name="Rectangle 21"/>
            <p:cNvSpPr>
              <a:spLocks noChangeArrowheads="1"/>
            </p:cNvSpPr>
            <p:nvPr/>
          </p:nvSpPr>
          <p:spPr bwMode="auto">
            <a:xfrm>
              <a:off x="5221288" y="3551238"/>
              <a:ext cx="158037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Prepare status report.</a:t>
              </a:r>
            </a:p>
          </p:txBody>
        </p:sp>
        <p:sp>
          <p:nvSpPr>
            <p:cNvPr id="55322" name="Rectangle 22"/>
            <p:cNvSpPr>
              <a:spLocks noChangeArrowheads="1"/>
            </p:cNvSpPr>
            <p:nvPr/>
          </p:nvSpPr>
          <p:spPr bwMode="auto">
            <a:xfrm>
              <a:off x="5167313" y="3255963"/>
              <a:ext cx="2008187" cy="5381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23" name="Rectangle 23"/>
            <p:cNvSpPr>
              <a:spLocks noChangeArrowheads="1"/>
            </p:cNvSpPr>
            <p:nvPr/>
          </p:nvSpPr>
          <p:spPr bwMode="auto">
            <a:xfrm>
              <a:off x="5167313" y="4057650"/>
              <a:ext cx="2008187" cy="3937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24" name="Rectangle 24"/>
            <p:cNvSpPr>
              <a:spLocks noChangeArrowheads="1"/>
            </p:cNvSpPr>
            <p:nvPr/>
          </p:nvSpPr>
          <p:spPr bwMode="auto">
            <a:xfrm>
              <a:off x="5243513" y="4060825"/>
              <a:ext cx="168655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I/O transfer completed;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25" name="Rectangle 25"/>
            <p:cNvSpPr>
              <a:spLocks noChangeArrowheads="1"/>
            </p:cNvSpPr>
            <p:nvPr/>
          </p:nvSpPr>
          <p:spPr bwMode="auto">
            <a:xfrm>
              <a:off x="5562600" y="4214813"/>
              <a:ext cx="1062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Interrupt CPU</a:t>
              </a:r>
            </a:p>
          </p:txBody>
        </p:sp>
        <p:sp>
          <p:nvSpPr>
            <p:cNvPr id="55326" name="Rectangle 26"/>
            <p:cNvSpPr>
              <a:spLocks noChangeArrowheads="1"/>
            </p:cNvSpPr>
            <p:nvPr/>
          </p:nvSpPr>
          <p:spPr bwMode="auto">
            <a:xfrm>
              <a:off x="1666875" y="4308475"/>
              <a:ext cx="2008188" cy="3286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27" name="Rectangle 27"/>
            <p:cNvSpPr>
              <a:spLocks noChangeArrowheads="1"/>
            </p:cNvSpPr>
            <p:nvPr/>
          </p:nvSpPr>
          <p:spPr bwMode="auto">
            <a:xfrm>
              <a:off x="1878013" y="4359275"/>
              <a:ext cx="137960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Request IOP status</a:t>
              </a:r>
            </a:p>
          </p:txBody>
        </p:sp>
        <p:sp>
          <p:nvSpPr>
            <p:cNvPr id="55328" name="Rectangle 28"/>
            <p:cNvSpPr>
              <a:spLocks noChangeArrowheads="1"/>
            </p:cNvSpPr>
            <p:nvPr/>
          </p:nvSpPr>
          <p:spPr bwMode="auto">
            <a:xfrm>
              <a:off x="5308600" y="4799013"/>
              <a:ext cx="1483805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Transfer status word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29" name="Rectangle 29"/>
            <p:cNvSpPr>
              <a:spLocks noChangeArrowheads="1"/>
            </p:cNvSpPr>
            <p:nvPr/>
          </p:nvSpPr>
          <p:spPr bwMode="auto">
            <a:xfrm>
              <a:off x="5364163" y="4946650"/>
              <a:ext cx="14428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to memory location</a:t>
              </a:r>
            </a:p>
          </p:txBody>
        </p:sp>
        <p:sp>
          <p:nvSpPr>
            <p:cNvPr id="55330" name="Rectangle 30"/>
            <p:cNvSpPr>
              <a:spLocks noChangeArrowheads="1"/>
            </p:cNvSpPr>
            <p:nvPr/>
          </p:nvSpPr>
          <p:spPr bwMode="auto">
            <a:xfrm>
              <a:off x="5167313" y="4746625"/>
              <a:ext cx="2008187" cy="4714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31" name="Rectangle 31"/>
            <p:cNvSpPr>
              <a:spLocks noChangeArrowheads="1"/>
            </p:cNvSpPr>
            <p:nvPr/>
          </p:nvSpPr>
          <p:spPr bwMode="auto">
            <a:xfrm>
              <a:off x="1666875" y="4933950"/>
              <a:ext cx="2008188" cy="4699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55332" name="Rectangle 32"/>
            <p:cNvSpPr>
              <a:spLocks noChangeArrowheads="1"/>
            </p:cNvSpPr>
            <p:nvPr/>
          </p:nvSpPr>
          <p:spPr bwMode="auto">
            <a:xfrm>
              <a:off x="1749425" y="4979988"/>
              <a:ext cx="134838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Check status word</a:t>
              </a:r>
            </a:p>
            <a:p>
              <a:pPr eaLnBrk="1" hangingPunct="1"/>
              <a:endParaRPr lang="en-US" altLang="ko-KR" sz="1200" b="1">
                <a:latin typeface="Calibri" panose="020F0502020204030204" pitchFamily="34" charset="0"/>
              </a:endParaRPr>
            </a:p>
          </p:txBody>
        </p:sp>
        <p:sp>
          <p:nvSpPr>
            <p:cNvPr id="55333" name="Rectangle 33"/>
            <p:cNvSpPr>
              <a:spLocks noChangeArrowheads="1"/>
            </p:cNvSpPr>
            <p:nvPr/>
          </p:nvSpPr>
          <p:spPr bwMode="auto">
            <a:xfrm>
              <a:off x="1749425" y="5138738"/>
              <a:ext cx="141218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for correct transfer.</a:t>
              </a:r>
            </a:p>
          </p:txBody>
        </p:sp>
        <p:sp>
          <p:nvSpPr>
            <p:cNvPr id="55334" name="Rectangle 34"/>
            <p:cNvSpPr>
              <a:spLocks noChangeArrowheads="1"/>
            </p:cNvSpPr>
            <p:nvPr/>
          </p:nvSpPr>
          <p:spPr bwMode="auto">
            <a:xfrm>
              <a:off x="2109788" y="5662613"/>
              <a:ext cx="76482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Continue</a:t>
              </a:r>
            </a:p>
          </p:txBody>
        </p:sp>
        <p:sp>
          <p:nvSpPr>
            <p:cNvPr id="55335" name="Rectangle 35"/>
            <p:cNvSpPr>
              <a:spLocks noChangeArrowheads="1"/>
            </p:cNvSpPr>
            <p:nvPr/>
          </p:nvSpPr>
          <p:spPr bwMode="auto">
            <a:xfrm>
              <a:off x="1720850" y="1098550"/>
              <a:ext cx="117019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CPU operations</a:t>
              </a:r>
            </a:p>
          </p:txBody>
        </p:sp>
        <p:sp>
          <p:nvSpPr>
            <p:cNvPr id="55336" name="Rectangle 36"/>
            <p:cNvSpPr>
              <a:spLocks noChangeArrowheads="1"/>
            </p:cNvSpPr>
            <p:nvPr/>
          </p:nvSpPr>
          <p:spPr bwMode="auto">
            <a:xfrm>
              <a:off x="5091113" y="1108075"/>
              <a:ext cx="113332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Calibri" panose="020F0502020204030204" pitchFamily="34" charset="0"/>
                </a:rPr>
                <a:t>IOP operations</a:t>
              </a:r>
            </a:p>
          </p:txBody>
        </p:sp>
        <p:sp>
          <p:nvSpPr>
            <p:cNvPr id="55337" name="Arc 37"/>
            <p:cNvSpPr>
              <a:spLocks/>
            </p:cNvSpPr>
            <p:nvPr/>
          </p:nvSpPr>
          <p:spPr bwMode="auto">
            <a:xfrm>
              <a:off x="5024438" y="1814513"/>
              <a:ext cx="136525" cy="85725"/>
            </a:xfrm>
            <a:custGeom>
              <a:avLst/>
              <a:gdLst>
                <a:gd name="T0" fmla="*/ 2147483647 w 21600"/>
                <a:gd name="T1" fmla="*/ 2147483647 h 17223"/>
                <a:gd name="T2" fmla="*/ 2147483647 w 21600"/>
                <a:gd name="T3" fmla="*/ 0 h 17223"/>
                <a:gd name="T4" fmla="*/ 2147483647 w 21600"/>
                <a:gd name="T5" fmla="*/ 2147483647 h 1722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23"/>
                <a:gd name="T11" fmla="*/ 21600 w 21600"/>
                <a:gd name="T12" fmla="*/ 17223 h 172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23" fill="none" extrusionOk="0">
                  <a:moveTo>
                    <a:pt x="678" y="17223"/>
                  </a:moveTo>
                  <a:cubicBezTo>
                    <a:pt x="228" y="15467"/>
                    <a:pt x="0" y="13663"/>
                    <a:pt x="0" y="11851"/>
                  </a:cubicBezTo>
                  <a:cubicBezTo>
                    <a:pt x="-1" y="7639"/>
                    <a:pt x="1230" y="3520"/>
                    <a:pt x="3541" y="0"/>
                  </a:cubicBezTo>
                </a:path>
                <a:path w="21600" h="17223" stroke="0" extrusionOk="0">
                  <a:moveTo>
                    <a:pt x="678" y="17223"/>
                  </a:moveTo>
                  <a:cubicBezTo>
                    <a:pt x="228" y="15467"/>
                    <a:pt x="0" y="13663"/>
                    <a:pt x="0" y="11851"/>
                  </a:cubicBezTo>
                  <a:cubicBezTo>
                    <a:pt x="-1" y="7639"/>
                    <a:pt x="1230" y="3520"/>
                    <a:pt x="3541" y="0"/>
                  </a:cubicBezTo>
                  <a:lnTo>
                    <a:pt x="21600" y="11851"/>
                  </a:lnTo>
                  <a:lnTo>
                    <a:pt x="678" y="172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38" name="Line 38"/>
            <p:cNvSpPr>
              <a:spLocks noChangeShapeType="1"/>
            </p:cNvSpPr>
            <p:nvPr/>
          </p:nvSpPr>
          <p:spPr bwMode="auto">
            <a:xfrm>
              <a:off x="3703638" y="1708150"/>
              <a:ext cx="1320800" cy="152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39" name="Arc 39"/>
            <p:cNvSpPr>
              <a:spLocks/>
            </p:cNvSpPr>
            <p:nvPr/>
          </p:nvSpPr>
          <p:spPr bwMode="auto">
            <a:xfrm>
              <a:off x="3695700" y="2254250"/>
              <a:ext cx="136525" cy="82550"/>
            </a:xfrm>
            <a:custGeom>
              <a:avLst/>
              <a:gdLst>
                <a:gd name="T0" fmla="*/ 2147483647 w 21600"/>
                <a:gd name="T1" fmla="*/ 0 h 17423"/>
                <a:gd name="T2" fmla="*/ 2147483647 w 21600"/>
                <a:gd name="T3" fmla="*/ 2147483647 h 17423"/>
                <a:gd name="T4" fmla="*/ 0 w 21600"/>
                <a:gd name="T5" fmla="*/ 2147483647 h 1742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23"/>
                <a:gd name="T11" fmla="*/ 21600 w 21600"/>
                <a:gd name="T12" fmla="*/ 17423 h 174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23" fill="none" extrusionOk="0">
                  <a:moveTo>
                    <a:pt x="17971" y="0"/>
                  </a:moveTo>
                  <a:cubicBezTo>
                    <a:pt x="20337" y="3548"/>
                    <a:pt x="21600" y="7717"/>
                    <a:pt x="21600" y="11982"/>
                  </a:cubicBezTo>
                  <a:cubicBezTo>
                    <a:pt x="21600" y="13817"/>
                    <a:pt x="21365" y="15646"/>
                    <a:pt x="20903" y="17422"/>
                  </a:cubicBezTo>
                </a:path>
                <a:path w="21600" h="17423" stroke="0" extrusionOk="0">
                  <a:moveTo>
                    <a:pt x="17971" y="0"/>
                  </a:moveTo>
                  <a:cubicBezTo>
                    <a:pt x="20337" y="3548"/>
                    <a:pt x="21600" y="7717"/>
                    <a:pt x="21600" y="11982"/>
                  </a:cubicBezTo>
                  <a:cubicBezTo>
                    <a:pt x="21600" y="13817"/>
                    <a:pt x="21365" y="15646"/>
                    <a:pt x="20903" y="17422"/>
                  </a:cubicBezTo>
                  <a:lnTo>
                    <a:pt x="0" y="11982"/>
                  </a:lnTo>
                  <a:lnTo>
                    <a:pt x="1797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40" name="Line 40"/>
            <p:cNvSpPr>
              <a:spLocks noChangeShapeType="1"/>
            </p:cNvSpPr>
            <p:nvPr/>
          </p:nvSpPr>
          <p:spPr bwMode="auto">
            <a:xfrm flipH="1">
              <a:off x="3789363" y="2144713"/>
              <a:ext cx="1377950" cy="1539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1" name="Arc 41"/>
            <p:cNvSpPr>
              <a:spLocks/>
            </p:cNvSpPr>
            <p:nvPr/>
          </p:nvSpPr>
          <p:spPr bwMode="auto">
            <a:xfrm>
              <a:off x="5024438" y="2681288"/>
              <a:ext cx="136525" cy="82550"/>
            </a:xfrm>
            <a:custGeom>
              <a:avLst/>
              <a:gdLst>
                <a:gd name="T0" fmla="*/ 2147483647 w 21600"/>
                <a:gd name="T1" fmla="*/ 2147483647 h 17223"/>
                <a:gd name="T2" fmla="*/ 2147483647 w 21600"/>
                <a:gd name="T3" fmla="*/ 0 h 17223"/>
                <a:gd name="T4" fmla="*/ 2147483647 w 21600"/>
                <a:gd name="T5" fmla="*/ 2147483647 h 1722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23"/>
                <a:gd name="T11" fmla="*/ 21600 w 21600"/>
                <a:gd name="T12" fmla="*/ 17223 h 172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23" fill="none" extrusionOk="0">
                  <a:moveTo>
                    <a:pt x="678" y="17223"/>
                  </a:moveTo>
                  <a:cubicBezTo>
                    <a:pt x="228" y="15467"/>
                    <a:pt x="0" y="13663"/>
                    <a:pt x="0" y="11851"/>
                  </a:cubicBezTo>
                  <a:cubicBezTo>
                    <a:pt x="-1" y="7639"/>
                    <a:pt x="1230" y="3520"/>
                    <a:pt x="3541" y="0"/>
                  </a:cubicBezTo>
                </a:path>
                <a:path w="21600" h="17223" stroke="0" extrusionOk="0">
                  <a:moveTo>
                    <a:pt x="678" y="17223"/>
                  </a:moveTo>
                  <a:cubicBezTo>
                    <a:pt x="228" y="15467"/>
                    <a:pt x="0" y="13663"/>
                    <a:pt x="0" y="11851"/>
                  </a:cubicBezTo>
                  <a:cubicBezTo>
                    <a:pt x="-1" y="7639"/>
                    <a:pt x="1230" y="3520"/>
                    <a:pt x="3541" y="0"/>
                  </a:cubicBezTo>
                  <a:lnTo>
                    <a:pt x="21600" y="11851"/>
                  </a:lnTo>
                  <a:lnTo>
                    <a:pt x="678" y="172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42" name="Line 42"/>
            <p:cNvSpPr>
              <a:spLocks noChangeShapeType="1"/>
            </p:cNvSpPr>
            <p:nvPr/>
          </p:nvSpPr>
          <p:spPr bwMode="auto">
            <a:xfrm>
              <a:off x="3681413" y="2555875"/>
              <a:ext cx="1343025" cy="1698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3" name="Arc 43"/>
            <p:cNvSpPr>
              <a:spLocks/>
            </p:cNvSpPr>
            <p:nvPr/>
          </p:nvSpPr>
          <p:spPr bwMode="auto">
            <a:xfrm>
              <a:off x="2581275" y="2886075"/>
              <a:ext cx="107950" cy="103188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44" name="Line 44"/>
            <p:cNvSpPr>
              <a:spLocks noChangeShapeType="1"/>
            </p:cNvSpPr>
            <p:nvPr/>
          </p:nvSpPr>
          <p:spPr bwMode="auto">
            <a:xfrm>
              <a:off x="2635250" y="2732088"/>
              <a:ext cx="0" cy="1635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5" name="Arc 45"/>
            <p:cNvSpPr>
              <a:spLocks/>
            </p:cNvSpPr>
            <p:nvPr/>
          </p:nvSpPr>
          <p:spPr bwMode="auto">
            <a:xfrm>
              <a:off x="6153150" y="3136900"/>
              <a:ext cx="111125" cy="10477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46" name="Line 46"/>
            <p:cNvSpPr>
              <a:spLocks noChangeShapeType="1"/>
            </p:cNvSpPr>
            <p:nvPr/>
          </p:nvSpPr>
          <p:spPr bwMode="auto">
            <a:xfrm>
              <a:off x="6207125" y="2989263"/>
              <a:ext cx="0" cy="1587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7" name="Arc 47"/>
            <p:cNvSpPr>
              <a:spLocks/>
            </p:cNvSpPr>
            <p:nvPr/>
          </p:nvSpPr>
          <p:spPr bwMode="auto">
            <a:xfrm>
              <a:off x="6153150" y="3937000"/>
              <a:ext cx="111125" cy="10477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48" name="Line 48"/>
            <p:cNvSpPr>
              <a:spLocks noChangeShapeType="1"/>
            </p:cNvSpPr>
            <p:nvPr/>
          </p:nvSpPr>
          <p:spPr bwMode="auto">
            <a:xfrm>
              <a:off x="6207125" y="3794125"/>
              <a:ext cx="0" cy="152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9" name="Arc 49"/>
            <p:cNvSpPr>
              <a:spLocks/>
            </p:cNvSpPr>
            <p:nvPr/>
          </p:nvSpPr>
          <p:spPr bwMode="auto">
            <a:xfrm>
              <a:off x="2581275" y="4189413"/>
              <a:ext cx="107950" cy="103187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50" name="Line 50"/>
            <p:cNvSpPr>
              <a:spLocks noChangeShapeType="1"/>
            </p:cNvSpPr>
            <p:nvPr/>
          </p:nvSpPr>
          <p:spPr bwMode="auto">
            <a:xfrm>
              <a:off x="2635250" y="3478213"/>
              <a:ext cx="0" cy="7207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1" name="Arc 51"/>
            <p:cNvSpPr>
              <a:spLocks/>
            </p:cNvSpPr>
            <p:nvPr/>
          </p:nvSpPr>
          <p:spPr bwMode="auto">
            <a:xfrm>
              <a:off x="3695700" y="4398963"/>
              <a:ext cx="136525" cy="85725"/>
            </a:xfrm>
            <a:custGeom>
              <a:avLst/>
              <a:gdLst>
                <a:gd name="T0" fmla="*/ 2147483647 w 21600"/>
                <a:gd name="T1" fmla="*/ 0 h 17423"/>
                <a:gd name="T2" fmla="*/ 2147483647 w 21600"/>
                <a:gd name="T3" fmla="*/ 2147483647 h 17423"/>
                <a:gd name="T4" fmla="*/ 0 w 21600"/>
                <a:gd name="T5" fmla="*/ 2147483647 h 1742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23"/>
                <a:gd name="T11" fmla="*/ 21600 w 21600"/>
                <a:gd name="T12" fmla="*/ 17423 h 174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23" fill="none" extrusionOk="0">
                  <a:moveTo>
                    <a:pt x="17971" y="0"/>
                  </a:moveTo>
                  <a:cubicBezTo>
                    <a:pt x="20337" y="3548"/>
                    <a:pt x="21600" y="7717"/>
                    <a:pt x="21600" y="11982"/>
                  </a:cubicBezTo>
                  <a:cubicBezTo>
                    <a:pt x="21600" y="13817"/>
                    <a:pt x="21365" y="15646"/>
                    <a:pt x="20903" y="17422"/>
                  </a:cubicBezTo>
                </a:path>
                <a:path w="21600" h="17423" stroke="0" extrusionOk="0">
                  <a:moveTo>
                    <a:pt x="17971" y="0"/>
                  </a:moveTo>
                  <a:cubicBezTo>
                    <a:pt x="20337" y="3548"/>
                    <a:pt x="21600" y="7717"/>
                    <a:pt x="21600" y="11982"/>
                  </a:cubicBezTo>
                  <a:cubicBezTo>
                    <a:pt x="21600" y="13817"/>
                    <a:pt x="21365" y="15646"/>
                    <a:pt x="20903" y="17422"/>
                  </a:cubicBezTo>
                  <a:lnTo>
                    <a:pt x="0" y="11982"/>
                  </a:lnTo>
                  <a:lnTo>
                    <a:pt x="1797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52" name="Line 52"/>
            <p:cNvSpPr>
              <a:spLocks noChangeShapeType="1"/>
            </p:cNvSpPr>
            <p:nvPr/>
          </p:nvSpPr>
          <p:spPr bwMode="auto">
            <a:xfrm flipH="1">
              <a:off x="3789363" y="4292600"/>
              <a:ext cx="1377950" cy="152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3" name="Arc 53"/>
            <p:cNvSpPr>
              <a:spLocks/>
            </p:cNvSpPr>
            <p:nvPr/>
          </p:nvSpPr>
          <p:spPr bwMode="auto">
            <a:xfrm>
              <a:off x="5024438" y="4849813"/>
              <a:ext cx="136525" cy="79375"/>
            </a:xfrm>
            <a:custGeom>
              <a:avLst/>
              <a:gdLst>
                <a:gd name="T0" fmla="*/ 2147483647 w 21600"/>
                <a:gd name="T1" fmla="*/ 2147483647 h 16618"/>
                <a:gd name="T2" fmla="*/ 2147483647 w 21600"/>
                <a:gd name="T3" fmla="*/ 0 h 16618"/>
                <a:gd name="T4" fmla="*/ 2147483647 w 21600"/>
                <a:gd name="T5" fmla="*/ 2147483647 h 16618"/>
                <a:gd name="T6" fmla="*/ 0 60000 65536"/>
                <a:gd name="T7" fmla="*/ 0 60000 65536"/>
                <a:gd name="T8" fmla="*/ 0 60000 65536"/>
                <a:gd name="T9" fmla="*/ 0 w 21600"/>
                <a:gd name="T10" fmla="*/ 0 h 16618"/>
                <a:gd name="T11" fmla="*/ 21600 w 21600"/>
                <a:gd name="T12" fmla="*/ 16618 h 166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6618" fill="none" extrusionOk="0">
                  <a:moveTo>
                    <a:pt x="184" y="16618"/>
                  </a:moveTo>
                  <a:cubicBezTo>
                    <a:pt x="61" y="15683"/>
                    <a:pt x="0" y="14742"/>
                    <a:pt x="0" y="13800"/>
                  </a:cubicBezTo>
                  <a:cubicBezTo>
                    <a:pt x="-1" y="8759"/>
                    <a:pt x="1762" y="3877"/>
                    <a:pt x="4983" y="0"/>
                  </a:cubicBezTo>
                </a:path>
                <a:path w="21600" h="16618" stroke="0" extrusionOk="0">
                  <a:moveTo>
                    <a:pt x="184" y="16618"/>
                  </a:moveTo>
                  <a:cubicBezTo>
                    <a:pt x="61" y="15683"/>
                    <a:pt x="0" y="14742"/>
                    <a:pt x="0" y="13800"/>
                  </a:cubicBezTo>
                  <a:cubicBezTo>
                    <a:pt x="-1" y="8759"/>
                    <a:pt x="1762" y="3877"/>
                    <a:pt x="4983" y="0"/>
                  </a:cubicBezTo>
                  <a:lnTo>
                    <a:pt x="21600" y="13800"/>
                  </a:lnTo>
                  <a:lnTo>
                    <a:pt x="184" y="166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54" name="Line 54"/>
            <p:cNvSpPr>
              <a:spLocks noChangeShapeType="1"/>
            </p:cNvSpPr>
            <p:nvPr/>
          </p:nvSpPr>
          <p:spPr bwMode="auto">
            <a:xfrm>
              <a:off x="3681413" y="4573588"/>
              <a:ext cx="1363662" cy="320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5" name="Arc 55"/>
            <p:cNvSpPr>
              <a:spLocks/>
            </p:cNvSpPr>
            <p:nvPr/>
          </p:nvSpPr>
          <p:spPr bwMode="auto">
            <a:xfrm>
              <a:off x="3695700" y="5146675"/>
              <a:ext cx="136525" cy="82550"/>
            </a:xfrm>
            <a:custGeom>
              <a:avLst/>
              <a:gdLst>
                <a:gd name="T0" fmla="*/ 2147483647 w 21600"/>
                <a:gd name="T1" fmla="*/ 0 h 17359"/>
                <a:gd name="T2" fmla="*/ 2147483647 w 21600"/>
                <a:gd name="T3" fmla="*/ 2147483647 h 17359"/>
                <a:gd name="T4" fmla="*/ 0 w 21600"/>
                <a:gd name="T5" fmla="*/ 2147483647 h 17359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59"/>
                <a:gd name="T11" fmla="*/ 21600 w 21600"/>
                <a:gd name="T12" fmla="*/ 17359 h 173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59" fill="none" extrusionOk="0">
                  <a:moveTo>
                    <a:pt x="18187" y="0"/>
                  </a:moveTo>
                  <a:cubicBezTo>
                    <a:pt x="20415" y="3477"/>
                    <a:pt x="21600" y="7521"/>
                    <a:pt x="21600" y="11652"/>
                  </a:cubicBezTo>
                  <a:cubicBezTo>
                    <a:pt x="21600" y="13580"/>
                    <a:pt x="21341" y="15499"/>
                    <a:pt x="20832" y="17359"/>
                  </a:cubicBezTo>
                </a:path>
                <a:path w="21600" h="17359" stroke="0" extrusionOk="0">
                  <a:moveTo>
                    <a:pt x="18187" y="0"/>
                  </a:moveTo>
                  <a:cubicBezTo>
                    <a:pt x="20415" y="3477"/>
                    <a:pt x="21600" y="7521"/>
                    <a:pt x="21600" y="11652"/>
                  </a:cubicBezTo>
                  <a:cubicBezTo>
                    <a:pt x="21600" y="13580"/>
                    <a:pt x="21341" y="15499"/>
                    <a:pt x="20832" y="17359"/>
                  </a:cubicBezTo>
                  <a:lnTo>
                    <a:pt x="0" y="11652"/>
                  </a:lnTo>
                  <a:lnTo>
                    <a:pt x="181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56" name="Line 56"/>
            <p:cNvSpPr>
              <a:spLocks noChangeShapeType="1"/>
            </p:cNvSpPr>
            <p:nvPr/>
          </p:nvSpPr>
          <p:spPr bwMode="auto">
            <a:xfrm flipH="1">
              <a:off x="3789363" y="5057775"/>
              <a:ext cx="1377950" cy="133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7" name="Arc 57"/>
            <p:cNvSpPr>
              <a:spLocks/>
            </p:cNvSpPr>
            <p:nvPr/>
          </p:nvSpPr>
          <p:spPr bwMode="auto">
            <a:xfrm>
              <a:off x="2581275" y="5557838"/>
              <a:ext cx="107950" cy="10477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58" name="Line 58"/>
            <p:cNvSpPr>
              <a:spLocks noChangeShapeType="1"/>
            </p:cNvSpPr>
            <p:nvPr/>
          </p:nvSpPr>
          <p:spPr bwMode="auto">
            <a:xfrm>
              <a:off x="2635250" y="54102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70738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3640</TotalTime>
  <Words>5165</Words>
  <Application>Microsoft Office PowerPoint</Application>
  <PresentationFormat>Widescreen</PresentationFormat>
  <Paragraphs>1024</Paragraphs>
  <Slides>74</Slides>
  <Notes>3</Notes>
  <HiddenSlides>2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4" baseType="lpstr">
      <vt:lpstr>Aptos</vt:lpstr>
      <vt:lpstr>Aptos Display</vt:lpstr>
      <vt:lpstr>Arial</vt:lpstr>
      <vt:lpstr>Calibri</vt:lpstr>
      <vt:lpstr>Monotype Sorts</vt:lpstr>
      <vt:lpstr>Mulish</vt:lpstr>
      <vt:lpstr>Times New Roman</vt:lpstr>
      <vt:lpstr>Wingdings</vt:lpstr>
      <vt:lpstr>1_Office Theme</vt:lpstr>
      <vt:lpstr>VISIO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Programmed I/O</vt:lpstr>
      <vt:lpstr>PowerPoint Presentation</vt:lpstr>
      <vt:lpstr>Interrupted I/O</vt:lpstr>
      <vt:lpstr>Interrupted I/O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Dr. Swapnil Srivastava</cp:lastModifiedBy>
  <cp:revision>104</cp:revision>
  <dcterms:created xsi:type="dcterms:W3CDTF">2024-12-19T08:47:23Z</dcterms:created>
  <dcterms:modified xsi:type="dcterms:W3CDTF">2026-03-11T04:48:57Z</dcterms:modified>
</cp:coreProperties>
</file>